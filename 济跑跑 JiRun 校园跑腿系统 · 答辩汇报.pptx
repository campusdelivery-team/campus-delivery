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notesMasterIdLst>
    <p:notesMasterId r:id="rId16"/>
  </p:notesMasterIdLst>
  <p:sldSz cx="12192000" cy="6858000" type="custom"/>
  <p:notesSz cx="12192000" cy="6858000"/>
  <p:embeddedFontLst>
    <p:embeddedFont>
      <p:font typeface="Mi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开场：各位老师好，我们组的项目是济跑跑——面向校园场景的中转分发与跑腿服务管理系统。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讲清楚为什么做这个系统：校园跑腿需求真实存在但缺乏协同；三类角色形成完整业务闭环。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工作量总览：24 张表、16 个控制器、84 个动作端点、55 个视图；强调 15 个以上功能点含实质业务逻辑。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强调五层结构与接口隔离：Controller 只依赖 Service 接口，绝不直连数据库；事务由统一的 TransactionManager 管理。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数据库设计是评分重点：24 表全部有主键、31 个外键、141 个检查约束；用任务明细拆表论证 3NF；讲 reviews 的复合外键设计。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核心业务逻辑第一页：任务状态机。重点讲状态迁移规则和并发控制：FOR UPDATE 行锁 + 状态前置校验 + 唯一约束兜底。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核心业务逻辑第二页：资金与信誉。讲信誉分规则表、评价修改删除时的差额回滚、结算只纳入无争议记录。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界面页：展示首页首屏和运营后台视觉，讲统一布局、角色化导航、操作反馈、品牌配色。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鲁棒性与扩展性：连接串三级配置链；安全清单逐条可讲：认证、会话校验、授权、防伪、参数化、错误页、密码哈希。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测试页亮点是缺陷闭环案例：ORA-00933 从页面报错到 C# raw string 根因、修复、真实库复现验证、回归通过——体现工程质量。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分工页：答辩前替换为真实姓名与分工。每人要能讲清自己的模块、关键决策和工作量证据。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收尾：重申工作量与设计要点，一句话总结，留出提问时间。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8_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F3A"/>
            </a:gs>
            <a:gs pos="100000">
              <a:srgbClr val="0B4FB3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/>
          <p:cNvPicPr/>
          <p:nvPr/>
        </p:nvPicPr>
        <p:blipFill>
          <a:blip r:embed="rId2"/>
          <a:srcRect l="20297" r="20297"/>
          <a:stretch>
            <a:fillRect/>
          </a:stretch>
        </p:blipFill>
        <p:spPr>
          <a:xfrm>
            <a:off x="6604000" y="1143000"/>
            <a:ext cx="4826000" cy="45720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228600" dist="101600" dir="5400000" sx="100000" sy="100000" kx="0" ky="0" algn="bl" rotWithShape="0">
              <a:srgbClr val="000000">
                <a:alpha val="40000"/>
              </a:srgbClr>
            </a:outerShdw>
          </a:effectLst>
        </p:spPr>
      </p:pic>
      <p:pic>
        <p:nvPicPr>
          <p:cNvPr id="3" name="logo"/>
          <p:cNvPicPr/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889000" y="12192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4" name="kicker"/>
          <p:cNvSpPr txBox="1"/>
          <p:nvPr/>
        </p:nvSpPr>
        <p:spPr>
          <a:xfrm>
            <a:off x="1905000" y="12700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 spc="300" kern="0">
                <a:solidFill>
                  <a:srgbClr val="00A6A6"/>
                </a:solidFill>
                <a:latin typeface="MiSans"/>
                <a:ea typeface="MiSans"/>
              </a:rPr>
              <a:t>数据库课程设计 · 答辩汇报</a:t>
            </a:r>
            <a:endParaRPr lang="en-US" sz="1400" noProof="1"/>
          </a:p>
        </p:txBody>
      </p:sp>
      <p:sp>
        <p:nvSpPr>
          <p:cNvPr id="5" name="title"/>
          <p:cNvSpPr txBox="1"/>
          <p:nvPr/>
        </p:nvSpPr>
        <p:spPr>
          <a:xfrm>
            <a:off x="838200" y="2286000"/>
            <a:ext cx="6604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5600" noProof="1" b="1">
                <a:solidFill>
                  <a:srgbClr val="FFFFFF"/>
                </a:solidFill>
                <a:latin typeface="MiSans"/>
                <a:ea typeface="MiSans"/>
              </a:rPr>
              <a:t>济跑跑 JiRun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200" noProof="1">
                <a:solidFill>
                  <a:srgbClr val="DCE7F5"/>
                </a:solidFill>
                <a:latin typeface="MiSans"/>
                <a:ea typeface="MiSans"/>
              </a:rPr>
              <a:t>校园中转分发与跑腿服务管理系统</a:t>
            </a:r>
            <a:endParaRPr lang="en-US" sz="1600" noProof="1"/>
          </a:p>
        </p:txBody>
      </p:sp>
      <p:sp>
        <p:nvSpPr>
          <p:cNvPr id="6" name="slogan"/>
          <p:cNvSpPr txBox="1"/>
          <p:nvPr/>
        </p:nvSpPr>
        <p:spPr>
          <a:xfrm>
            <a:off x="889000" y="4013200"/>
            <a:ext cx="533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F59E0B"/>
                </a:solidFill>
                <a:latin typeface="MiSans"/>
                <a:ea typeface="MiSans"/>
              </a:rPr>
              <a:t>校内需求，一路送达</a:t>
            </a:r>
            <a:endParaRPr lang="en-US" sz="1600" noProof="1"/>
          </a:p>
        </p:txBody>
      </p:sp>
      <p:sp>
        <p:nvSpPr>
          <p:cNvPr id="7" name="divider"/>
          <p:cNvSpPr/>
          <p:nvPr/>
        </p:nvSpPr>
        <p:spPr>
          <a:xfrm>
            <a:off x="889000" y="4546600"/>
            <a:ext cx="9144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8" name="meta"/>
          <p:cNvSpPr txBox="1"/>
          <p:nvPr/>
        </p:nvSpPr>
        <p:spPr>
          <a:xfrm>
            <a:off x="889000" y="4826000"/>
            <a:ext cx="5461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B8C7DE"/>
                </a:solidFill>
                <a:latin typeface="MiSans"/>
                <a:ea typeface="MiSans"/>
              </a:rPr>
              <a:t>课程名称：《数据库系统》课程设计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B8C7DE"/>
                </a:solidFill>
                <a:latin typeface="MiSans"/>
                <a:ea typeface="MiSans"/>
              </a:rPr>
              <a:t>小组成员：成员A · 成员B · 成员C · 成员D（答辩前替换）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B8C7DE"/>
                </a:solidFill>
                <a:latin typeface="MiSans"/>
                <a:ea typeface="MiSans"/>
              </a:rPr>
              <a:t>汇报日期：2026 年 8 月</a:t>
            </a:r>
            <a:endParaRPr lang="en-US" sz="13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01 · 项目背景与需求分析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校园里的“最后一公里”谁来跑？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02 / 12</a:t>
            </a:r>
            <a:endParaRPr lang="en-US" sz="1200" noProof="1"/>
          </a:p>
        </p:txBody>
      </p:sp>
      <p:sp>
        <p:nvSpPr>
          <p:cNvPr id="6" name="pain1"/>
          <p:cNvSpPr/>
          <p:nvPr/>
        </p:nvSpPr>
        <p:spPr>
          <a:xfrm>
            <a:off x="762000" y="1600200"/>
            <a:ext cx="34544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7" name="pain1icon"/>
          <p:cNvSpPr/>
          <p:nvPr>
            <p:extLst>
              <p:ext uri="{F5677B7D-0D2A-4D9B-9A5C-6D8D7D0E5A5D}">
                <pptd:icon encoding="base64url">eyJpY29uTmFtZSI6ImZhczpib3hlcy1zdGFja2VkIn0</pptd:icon>
              </p:ext>
            </p:extLst>
          </p:nvPr>
        </p:nvSpPr>
        <p:spPr>
          <a:xfrm>
            <a:off x="1016000" y="182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lnTo>
                  <a:pt x="224" y="64"/>
                </a:lnTo>
                <a:cubicBezTo>
                  <a:pt x="224" y="73"/>
                  <a:pt x="231" y="80"/>
                  <a:pt x="240" y="80"/>
                </a:cubicBezTo>
                <a:lnTo>
                  <a:pt x="272" y="80"/>
                </a:lnTo>
                <a:cubicBezTo>
                  <a:pt x="281" y="80"/>
                  <a:pt x="288" y="73"/>
                  <a:pt x="288" y="64"/>
                </a:cubicBezTo>
                <a:lnTo>
                  <a:pt x="288" y="0"/>
                </a:lnTo>
                <a:lnTo>
                  <a:pt x="320" y="0"/>
                </a:lnTo>
                <a:cubicBezTo>
                  <a:pt x="355" y="0"/>
                  <a:pt x="384" y="29"/>
                  <a:pt x="384" y="64"/>
                </a:cubicBezTo>
                <a:lnTo>
                  <a:pt x="384" y="192"/>
                </a:lnTo>
                <a:cubicBezTo>
                  <a:pt x="384" y="198"/>
                  <a:pt x="383" y="203"/>
                  <a:pt x="382" y="208"/>
                </a:cubicBezTo>
                <a:lnTo>
                  <a:pt x="130" y="208"/>
                </a:lnTo>
                <a:cubicBezTo>
                  <a:pt x="129" y="203"/>
                  <a:pt x="128" y="198"/>
                  <a:pt x="128" y="192"/>
                </a:cubicBezTo>
                <a:lnTo>
                  <a:pt x="128" y="64"/>
                </a:lnTo>
                <a:cubicBezTo>
                  <a:pt x="128" y="29"/>
                  <a:pt x="157" y="0"/>
                  <a:pt x="192" y="0"/>
                </a:cubicBezTo>
                <a:lnTo>
                  <a:pt x="224" y="0"/>
                </a:lnTo>
                <a:close/>
              </a:path>
              <a:path w="512" h="512">
                <a:moveTo>
                  <a:pt x="320" y="512"/>
                </a:moveTo>
                <a:cubicBezTo>
                  <a:pt x="309" y="512"/>
                  <a:pt x="298" y="509"/>
                  <a:pt x="289" y="504"/>
                </a:cubicBezTo>
                <a:cubicBezTo>
                  <a:pt x="299" y="488"/>
                  <a:pt x="304" y="468"/>
                  <a:pt x="304" y="448"/>
                </a:cubicBezTo>
                <a:lnTo>
                  <a:pt x="304" y="320"/>
                </a:lnTo>
                <a:cubicBezTo>
                  <a:pt x="304" y="300"/>
                  <a:pt x="299" y="281"/>
                  <a:pt x="289" y="264"/>
                </a:cubicBezTo>
                <a:cubicBezTo>
                  <a:pt x="298" y="259"/>
                  <a:pt x="309" y="256"/>
                  <a:pt x="320" y="256"/>
                </a:cubicBezTo>
                <a:lnTo>
                  <a:pt x="352" y="256"/>
                </a:lnTo>
                <a:lnTo>
                  <a:pt x="352" y="320"/>
                </a:lnTo>
                <a:cubicBezTo>
                  <a:pt x="352" y="329"/>
                  <a:pt x="359" y="336"/>
                  <a:pt x="368" y="336"/>
                </a:cubicBezTo>
                <a:lnTo>
                  <a:pt x="400" y="336"/>
                </a:lnTo>
                <a:cubicBezTo>
                  <a:pt x="409" y="336"/>
                  <a:pt x="416" y="329"/>
                  <a:pt x="416" y="320"/>
                </a:cubicBezTo>
                <a:lnTo>
                  <a:pt x="416" y="256"/>
                </a:lnTo>
                <a:lnTo>
                  <a:pt x="448" y="256"/>
                </a:lnTo>
                <a:cubicBezTo>
                  <a:pt x="483" y="256"/>
                  <a:pt x="512" y="285"/>
                  <a:pt x="512" y="320"/>
                </a:cubicBezTo>
                <a:lnTo>
                  <a:pt x="512" y="448"/>
                </a:lnTo>
                <a:cubicBezTo>
                  <a:pt x="512" y="483"/>
                  <a:pt x="483" y="512"/>
                  <a:pt x="448" y="512"/>
                </a:cubicBezTo>
                <a:lnTo>
                  <a:pt x="320" y="512"/>
                </a:lnTo>
                <a:close/>
              </a:path>
              <a:path w="512" h="512">
                <a:moveTo>
                  <a:pt x="0" y="320"/>
                </a:moveTo>
                <a:cubicBezTo>
                  <a:pt x="0" y="285"/>
                  <a:pt x="29" y="256"/>
                  <a:pt x="64" y="256"/>
                </a:cubicBezTo>
                <a:lnTo>
                  <a:pt x="96" y="256"/>
                </a:lnTo>
                <a:lnTo>
                  <a:pt x="96" y="320"/>
                </a:lnTo>
                <a:cubicBezTo>
                  <a:pt x="96" y="329"/>
                  <a:pt x="103" y="336"/>
                  <a:pt x="112" y="336"/>
                </a:cubicBezTo>
                <a:lnTo>
                  <a:pt x="144" y="336"/>
                </a:lnTo>
                <a:cubicBezTo>
                  <a:pt x="153" y="336"/>
                  <a:pt x="160" y="329"/>
                  <a:pt x="160" y="320"/>
                </a:cubicBezTo>
                <a:lnTo>
                  <a:pt x="160" y="256"/>
                </a:lnTo>
                <a:lnTo>
                  <a:pt x="192" y="256"/>
                </a:lnTo>
                <a:cubicBezTo>
                  <a:pt x="227" y="256"/>
                  <a:pt x="256" y="285"/>
                  <a:pt x="256" y="320"/>
                </a:cubicBezTo>
                <a:lnTo>
                  <a:pt x="256" y="448"/>
                </a:lnTo>
                <a:cubicBezTo>
                  <a:pt x="256" y="483"/>
                  <a:pt x="227" y="512"/>
                  <a:pt x="19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320"/>
                </a:lnTo>
                <a:close/>
              </a:path>
            </a:pathLst>
          </a:custGeom>
          <a:solidFill>
            <a:srgbClr val="0B4FB3"/>
          </a:solidFill>
          <a:ln>
            <a:noFill/>
          </a:ln>
        </p:spPr>
      </p:sp>
      <p:sp>
        <p:nvSpPr>
          <p:cNvPr id="8" name="pain1text"/>
          <p:cNvSpPr txBox="1"/>
          <p:nvPr/>
        </p:nvSpPr>
        <p:spPr>
          <a:xfrm>
            <a:off x="1016000" y="2286000"/>
            <a:ext cx="2997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02033"/>
                </a:solidFill>
                <a:latin typeface="MiSans"/>
                <a:ea typeface="MiSans"/>
              </a:rPr>
              <a:t>需求分散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快递代取、外卖分发、私人跑腿散落在各群聊，无人统一管理</a:t>
            </a:r>
            <a:endParaRPr lang="en-US" sz="1300" noProof="1"/>
          </a:p>
        </p:txBody>
      </p:sp>
      <p:sp>
        <p:nvSpPr>
          <p:cNvPr id="9" name="pain2"/>
          <p:cNvSpPr/>
          <p:nvPr/>
        </p:nvSpPr>
        <p:spPr>
          <a:xfrm>
            <a:off x="4368800" y="1600200"/>
            <a:ext cx="34544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0" name="pain2icon"/>
          <p:cNvSpPr/>
          <p:nvPr>
            <p:extLst>
              <p:ext uri="{F5677B7D-0D2A-4D9B-9A5C-6D8D7D0E5A5D}">
                <pptd:icon encoding="base64url">eyJpY29uTmFtZSI6ImZhczpzaHVmZmxlIn0</pptd:icon>
              </p:ext>
            </p:extLst>
          </p:nvPr>
        </p:nvSpPr>
        <p:spPr>
          <a:xfrm>
            <a:off x="4622800" y="182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04" y="34"/>
                </a:moveTo>
                <a:cubicBezTo>
                  <a:pt x="416" y="29"/>
                  <a:pt x="430" y="32"/>
                  <a:pt x="439" y="41"/>
                </a:cubicBezTo>
                <a:lnTo>
                  <a:pt x="503" y="105"/>
                </a:lnTo>
                <a:cubicBezTo>
                  <a:pt x="509" y="111"/>
                  <a:pt x="512" y="119"/>
                  <a:pt x="512" y="128"/>
                </a:cubicBezTo>
                <a:cubicBezTo>
                  <a:pt x="512" y="136"/>
                  <a:pt x="509" y="145"/>
                  <a:pt x="503" y="151"/>
                </a:cubicBezTo>
                <a:lnTo>
                  <a:pt x="439" y="215"/>
                </a:lnTo>
                <a:cubicBezTo>
                  <a:pt x="430" y="224"/>
                  <a:pt x="416" y="226"/>
                  <a:pt x="404" y="221"/>
                </a:cubicBezTo>
                <a:cubicBezTo>
                  <a:pt x="392" y="216"/>
                  <a:pt x="384" y="205"/>
                  <a:pt x="384" y="192"/>
                </a:cubicBezTo>
                <a:lnTo>
                  <a:pt x="384" y="160"/>
                </a:lnTo>
                <a:lnTo>
                  <a:pt x="352" y="160"/>
                </a:lnTo>
                <a:cubicBezTo>
                  <a:pt x="342" y="160"/>
                  <a:pt x="332" y="165"/>
                  <a:pt x="326" y="173"/>
                </a:cubicBezTo>
                <a:lnTo>
                  <a:pt x="294" y="216"/>
                </a:lnTo>
                <a:lnTo>
                  <a:pt x="254" y="163"/>
                </a:lnTo>
                <a:lnTo>
                  <a:pt x="275" y="134"/>
                </a:lnTo>
                <a:cubicBezTo>
                  <a:pt x="293" y="110"/>
                  <a:pt x="322" y="96"/>
                  <a:pt x="352" y="96"/>
                </a:cubicBezTo>
                <a:lnTo>
                  <a:pt x="384" y="96"/>
                </a:lnTo>
                <a:lnTo>
                  <a:pt x="384" y="64"/>
                </a:lnTo>
                <a:cubicBezTo>
                  <a:pt x="384" y="51"/>
                  <a:pt x="392" y="39"/>
                  <a:pt x="404" y="34"/>
                </a:cubicBezTo>
                <a:close/>
              </a:path>
              <a:path w="512" h="512">
                <a:moveTo>
                  <a:pt x="154" y="296"/>
                </a:moveTo>
                <a:lnTo>
                  <a:pt x="194" y="349"/>
                </a:lnTo>
                <a:lnTo>
                  <a:pt x="173" y="378"/>
                </a:lnTo>
                <a:cubicBezTo>
                  <a:pt x="155" y="402"/>
                  <a:pt x="126" y="416"/>
                  <a:pt x="96" y="416"/>
                </a:cubicBezTo>
                <a:lnTo>
                  <a:pt x="32" y="416"/>
                </a:lnTo>
                <a:cubicBezTo>
                  <a:pt x="14" y="416"/>
                  <a:pt x="0" y="402"/>
                  <a:pt x="0" y="384"/>
                </a:cubicBezTo>
                <a:cubicBezTo>
                  <a:pt x="0" y="366"/>
                  <a:pt x="14" y="352"/>
                  <a:pt x="32" y="352"/>
                </a:cubicBezTo>
                <a:lnTo>
                  <a:pt x="96" y="352"/>
                </a:lnTo>
                <a:cubicBezTo>
                  <a:pt x="106" y="352"/>
                  <a:pt x="116" y="347"/>
                  <a:pt x="122" y="339"/>
                </a:cubicBezTo>
                <a:lnTo>
                  <a:pt x="154" y="296"/>
                </a:lnTo>
                <a:close/>
              </a:path>
              <a:path w="512" h="512">
                <a:moveTo>
                  <a:pt x="439" y="471"/>
                </a:moveTo>
                <a:cubicBezTo>
                  <a:pt x="429" y="480"/>
                  <a:pt x="416" y="483"/>
                  <a:pt x="404" y="478"/>
                </a:cubicBezTo>
                <a:cubicBezTo>
                  <a:pt x="392" y="473"/>
                  <a:pt x="384" y="461"/>
                  <a:pt x="384" y="448"/>
                </a:cubicBezTo>
                <a:lnTo>
                  <a:pt x="384" y="416"/>
                </a:lnTo>
                <a:lnTo>
                  <a:pt x="352" y="416"/>
                </a:lnTo>
                <a:cubicBezTo>
                  <a:pt x="322" y="416"/>
                  <a:pt x="293" y="402"/>
                  <a:pt x="275" y="378"/>
                </a:cubicBezTo>
                <a:lnTo>
                  <a:pt x="122" y="173"/>
                </a:lnTo>
                <a:cubicBezTo>
                  <a:pt x="116" y="165"/>
                  <a:pt x="106" y="160"/>
                  <a:pt x="96" y="160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cubicBezTo>
                  <a:pt x="126" y="96"/>
                  <a:pt x="155" y="110"/>
                  <a:pt x="173" y="134"/>
                </a:cubicBezTo>
                <a:lnTo>
                  <a:pt x="326" y="339"/>
                </a:lnTo>
                <a:cubicBezTo>
                  <a:pt x="332" y="347"/>
                  <a:pt x="342" y="352"/>
                  <a:pt x="352" y="352"/>
                </a:cubicBezTo>
                <a:lnTo>
                  <a:pt x="384" y="352"/>
                </a:lnTo>
                <a:lnTo>
                  <a:pt x="384" y="320"/>
                </a:lnTo>
                <a:cubicBezTo>
                  <a:pt x="384" y="307"/>
                  <a:pt x="392" y="295"/>
                  <a:pt x="404" y="290"/>
                </a:cubicBezTo>
                <a:cubicBezTo>
                  <a:pt x="416" y="285"/>
                  <a:pt x="430" y="288"/>
                  <a:pt x="439" y="297"/>
                </a:cubicBezTo>
                <a:lnTo>
                  <a:pt x="503" y="361"/>
                </a:lnTo>
                <a:cubicBezTo>
                  <a:pt x="509" y="367"/>
                  <a:pt x="512" y="375"/>
                  <a:pt x="512" y="384"/>
                </a:cubicBezTo>
                <a:cubicBezTo>
                  <a:pt x="512" y="392"/>
                  <a:pt x="509" y="401"/>
                  <a:pt x="503" y="407"/>
                </a:cubicBezTo>
                <a:lnTo>
                  <a:pt x="439" y="471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11" name="pain2text"/>
          <p:cNvSpPr txBox="1"/>
          <p:nvPr/>
        </p:nvSpPr>
        <p:spPr>
          <a:xfrm>
            <a:off x="4622800" y="2286000"/>
            <a:ext cx="2997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02033"/>
                </a:solidFill>
                <a:latin typeface="MiSans"/>
                <a:ea typeface="MiSans"/>
              </a:rPr>
              <a:t>缺乏协同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发单、接单、送达、收款全靠口头约定，过程不可追溯</a:t>
            </a:r>
            <a:endParaRPr lang="en-US" sz="1300" noProof="1"/>
          </a:p>
        </p:txBody>
      </p:sp>
      <p:sp>
        <p:nvSpPr>
          <p:cNvPr id="12" name="pain3"/>
          <p:cNvSpPr/>
          <p:nvPr/>
        </p:nvSpPr>
        <p:spPr>
          <a:xfrm>
            <a:off x="7975600" y="1600200"/>
            <a:ext cx="34544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3" name="pain3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8229600" y="182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14" name="pain3text"/>
          <p:cNvSpPr txBox="1"/>
          <p:nvPr/>
        </p:nvSpPr>
        <p:spPr>
          <a:xfrm>
            <a:off x="8229600" y="2286000"/>
            <a:ext cx="2997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02033"/>
                </a:solidFill>
                <a:latin typeface="MiSans"/>
                <a:ea typeface="MiSans"/>
              </a:rPr>
              <a:t>信任与结算难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酬劳纠纷无凭据，跑腿员信誉与收入结算缺乏依据</a:t>
            </a:r>
            <a:endParaRPr lang="en-US" sz="1300" noProof="1"/>
          </a:p>
        </p:txBody>
      </p:sp>
      <p:sp>
        <p:nvSpPr>
          <p:cNvPr id="15" name="roleslabel"/>
          <p:cNvSpPr txBox="1"/>
          <p:nvPr/>
        </p:nvSpPr>
        <p:spPr>
          <a:xfrm>
            <a:off x="762000" y="3352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三类角色，一个平台</a:t>
            </a:r>
            <a:endParaRPr lang="en-US" sz="1500" noProof="1"/>
          </a:p>
        </p:txBody>
      </p:sp>
      <p:sp>
        <p:nvSpPr>
          <p:cNvPr id="16" name="role1"/>
          <p:cNvSpPr/>
          <p:nvPr/>
        </p:nvSpPr>
        <p:spPr>
          <a:xfrm>
            <a:off x="762000" y="3708400"/>
            <a:ext cx="3454400" cy="812800"/>
          </a:xfrm>
          <a:prstGeom prst="roundRect">
            <a:avLst>
              <a:gd name="adj" fmla="val 12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17" name="role1text"/>
          <p:cNvSpPr txBox="1"/>
          <p:nvPr/>
        </p:nvSpPr>
        <p:spPr>
          <a:xfrm>
            <a:off x="965200" y="38100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普通用户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发布任务 · 支付 · 评价投诉</a:t>
            </a:r>
            <a:endParaRPr lang="en-US" sz="1300" noProof="1"/>
          </a:p>
        </p:txBody>
      </p:sp>
      <p:sp>
        <p:nvSpPr>
          <p:cNvPr id="18" name="role2"/>
          <p:cNvSpPr/>
          <p:nvPr/>
        </p:nvSpPr>
        <p:spPr>
          <a:xfrm>
            <a:off x="4368800" y="3708400"/>
            <a:ext cx="3454400" cy="812800"/>
          </a:xfrm>
          <a:prstGeom prst="roundRect">
            <a:avLst>
              <a:gd name="adj" fmla="val 12000"/>
            </a:avLst>
          </a:prstGeom>
          <a:solidFill>
            <a:srgbClr val="E0F5F5"/>
          </a:solidFill>
          <a:ln>
            <a:noFill/>
          </a:ln>
        </p:spPr>
      </p:sp>
      <p:sp>
        <p:nvSpPr>
          <p:cNvPr id="19" name="role2text"/>
          <p:cNvSpPr txBox="1"/>
          <p:nvPr/>
        </p:nvSpPr>
        <p:spPr>
          <a:xfrm>
            <a:off x="4572000" y="38100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跑腿员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实名审核 · 接单配送 · 结算提现</a:t>
            </a:r>
            <a:endParaRPr lang="en-US" sz="1300" noProof="1"/>
          </a:p>
        </p:txBody>
      </p:sp>
      <p:sp>
        <p:nvSpPr>
          <p:cNvPr id="20" name="role3"/>
          <p:cNvSpPr/>
          <p:nvPr/>
        </p:nvSpPr>
        <p:spPr>
          <a:xfrm>
            <a:off x="7975600" y="3708400"/>
            <a:ext cx="3454400" cy="812800"/>
          </a:xfrm>
          <a:prstGeom prst="roundRect">
            <a:avLst>
              <a:gd name="adj" fmla="val 12000"/>
            </a:avLst>
          </a:prstGeom>
          <a:solidFill>
            <a:srgbClr val="FDF3E0"/>
          </a:solidFill>
          <a:ln>
            <a:noFill/>
          </a:ln>
        </p:spPr>
      </p:sp>
      <p:sp>
        <p:nvSpPr>
          <p:cNvPr id="21" name="role3text"/>
          <p:cNvSpPr txBox="1"/>
          <p:nvPr/>
        </p:nvSpPr>
        <p:spPr>
          <a:xfrm>
            <a:off x="8178800" y="38100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管理员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派单调度 · 审核 · 审计报表</a:t>
            </a:r>
            <a:endParaRPr lang="en-US" sz="1300" noProof="1"/>
          </a:p>
        </p:txBody>
      </p:sp>
      <p:sp>
        <p:nvSpPr>
          <p:cNvPr id="22" name="looplabel"/>
          <p:cNvSpPr txBox="1"/>
          <p:nvPr/>
        </p:nvSpPr>
        <p:spPr>
          <a:xfrm>
            <a:off x="762000" y="480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核心业务闭环</a:t>
            </a:r>
            <a:endParaRPr lang="en-US" sz="1500" noProof="1"/>
          </a:p>
        </p:txBody>
      </p:sp>
      <p:sp>
        <p:nvSpPr>
          <p:cNvPr id="23" name="flowbg"/>
          <p:cNvSpPr/>
          <p:nvPr/>
        </p:nvSpPr>
        <p:spPr>
          <a:xfrm>
            <a:off x="762000" y="5181600"/>
            <a:ext cx="106680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24" name="flowtext"/>
          <p:cNvSpPr txBox="1"/>
          <p:nvPr/>
        </p:nvSpPr>
        <p:spPr>
          <a:xfrm>
            <a:off x="1016000" y="53848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02033"/>
                </a:solidFill>
                <a:latin typeface="MiSans"/>
                <a:ea typeface="MiSans"/>
              </a:rPr>
              <a:t>发布任务 → 派单/抢单 → 配送送达 → 确认收货 → 支付 → 评价/投诉 →（退款）→ 结算 → 审计</a:t>
            </a:r>
            <a:endParaRPr lang="en-US" sz="1500" noProof="1"/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每个环节都有数据库状态记录，全程可追溯、可审计</a:t>
            </a:r>
            <a:endParaRPr lang="en-US" sz="15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02 · 系统功能总览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功能全景：20+ 功能点覆盖三类角色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03 / 12</a:t>
            </a:r>
            <a:endParaRPr lang="en-US" sz="1200" noProof="1"/>
          </a:p>
        </p:txBody>
      </p:sp>
      <p:sp>
        <p:nvSpPr>
          <p:cNvPr id="6" name="stat1bg"/>
          <p:cNvSpPr/>
          <p:nvPr/>
        </p:nvSpPr>
        <p:spPr>
          <a:xfrm>
            <a:off x="762000" y="1574800"/>
            <a:ext cx="2514600" cy="109220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2700000" scaled="1"/>
          </a:gradFill>
          <a:ln>
            <a:noFill/>
          </a:ln>
        </p:spPr>
      </p:sp>
      <p:sp>
        <p:nvSpPr>
          <p:cNvPr id="7" name="stat1"/>
          <p:cNvSpPr txBox="1"/>
          <p:nvPr/>
        </p:nvSpPr>
        <p:spPr>
          <a:xfrm>
            <a:off x="762000" y="1676400"/>
            <a:ext cx="2514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24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noProof="1">
                <a:solidFill>
                  <a:srgbClr val="DCE7F5"/>
                </a:solidFill>
                <a:latin typeface="MiSans"/>
                <a:ea typeface="MiSans"/>
              </a:rPr>
              <a:t>数据库表（要求 ≥ 12）</a:t>
            </a:r>
            <a:endParaRPr lang="en-US" sz="1600" noProof="1"/>
          </a:p>
        </p:txBody>
      </p:sp>
      <p:sp>
        <p:nvSpPr>
          <p:cNvPr id="8" name="stat2bg"/>
          <p:cNvSpPr/>
          <p:nvPr/>
        </p:nvSpPr>
        <p:spPr>
          <a:xfrm>
            <a:off x="3479800" y="1574800"/>
            <a:ext cx="2514600" cy="1092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9" name="stat2"/>
          <p:cNvSpPr txBox="1"/>
          <p:nvPr/>
        </p:nvSpPr>
        <p:spPr>
          <a:xfrm>
            <a:off x="3479800" y="1676400"/>
            <a:ext cx="2514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84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动作端点 · 16 个控制器</a:t>
            </a:r>
            <a:endParaRPr lang="en-US" sz="1600" noProof="1"/>
          </a:p>
        </p:txBody>
      </p:sp>
      <p:sp>
        <p:nvSpPr>
          <p:cNvPr id="10" name="stat3bg"/>
          <p:cNvSpPr/>
          <p:nvPr/>
        </p:nvSpPr>
        <p:spPr>
          <a:xfrm>
            <a:off x="6197600" y="1574800"/>
            <a:ext cx="2514600" cy="1092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1" name="stat3"/>
          <p:cNvSpPr txBox="1"/>
          <p:nvPr/>
        </p:nvSpPr>
        <p:spPr>
          <a:xfrm>
            <a:off x="6197600" y="1676400"/>
            <a:ext cx="2514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55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Razor 视图页面</a:t>
            </a:r>
            <a:endParaRPr lang="en-US" sz="1600" noProof="1"/>
          </a:p>
        </p:txBody>
      </p:sp>
      <p:sp>
        <p:nvSpPr>
          <p:cNvPr id="12" name="stat4bg"/>
          <p:cNvSpPr/>
          <p:nvPr/>
        </p:nvSpPr>
        <p:spPr>
          <a:xfrm>
            <a:off x="8915400" y="1574800"/>
            <a:ext cx="2514600" cy="1092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3" name="stat4"/>
          <p:cNvSpPr txBox="1"/>
          <p:nvPr/>
        </p:nvSpPr>
        <p:spPr>
          <a:xfrm>
            <a:off x="8915400" y="1676400"/>
            <a:ext cx="2514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15+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200"/>
              </a:spcBef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含业务逻辑的功能点</a:t>
            </a:r>
            <a:endParaRPr lang="en-US" sz="1600" noProof="1"/>
          </a:p>
        </p:txBody>
      </p:sp>
      <p:sp>
        <p:nvSpPr>
          <p:cNvPr id="14" name="modtitle"/>
          <p:cNvSpPr txBox="1"/>
          <p:nvPr/>
        </p:nvSpPr>
        <p:spPr>
          <a:xfrm>
            <a:off x="762000" y="292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十大功能模块</a:t>
            </a:r>
            <a:endParaRPr lang="en-US" sz="1500" noProof="1"/>
          </a:p>
        </p:txBody>
      </p:sp>
      <p:graphicFrame>
        <p:nvGraphicFramePr>
          <p:cNvPr id="15" name="modtable"/>
          <p:cNvGraphicFramePr>
            <a:graphicFrameLocks noGrp="1"/>
          </p:cNvGraphicFramePr>
          <p:nvPr/>
        </p:nvGraphicFramePr>
        <p:xfrm>
          <a:off x="762000" y="3302000"/>
          <a:ext cx="10668000" cy="2997200"/>
        </p:xfrm>
        <a:graphic>
          <a:graphicData uri="http://schemas.openxmlformats.org/drawingml/2006/table">
            <a:tbl>
              <a:tblPr/>
              <a:tblGrid>
                <a:gridCol w="1706880"/>
                <a:gridCol w="3627120"/>
                <a:gridCol w="1706880"/>
                <a:gridCol w="3627120"/>
              </a:tblGrid>
              <a:tr h="4196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功能点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功能点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</a:tr>
              <a:tr h="5155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账户与地址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注册 / 登录 / 资料 / 账号状态 / 地址 CRUD / 默认地址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任务中心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发布（餐饮/快递/私人）/ 列表 / 详情 / 取消 / 大厅接单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55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配送执行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派单 / 接单 / 送达上报 / 收货确认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支付退款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订单支付 / 状态查询 / 退款申请与审批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5155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评价投诉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发表（星级+信誉分联动）/ 修改 / 删除 / 列表 / 投诉处理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结算中心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候选计算 / 结算单生成 / 确认 / 打款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55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审计监督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支付 / 退款 / 状态日志三类审计登记与核查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运营报表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交易额、净收入、订单量等运营汇总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5155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基础数据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节点 / 服务类型 / 节点-服务规则管理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运维诊断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数据库连接状态诊断页（管理员）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03 · 总体设计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MVC 五层架构：每层只跟下一层说话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04 / 12</a:t>
            </a:r>
            <a:endParaRPr lang="en-US" sz="1200" noProof="1"/>
          </a:p>
        </p:txBody>
      </p:sp>
      <p:sp>
        <p:nvSpPr>
          <p:cNvPr id="6" name="layer1"/>
          <p:cNvSpPr/>
          <p:nvPr/>
        </p:nvSpPr>
        <p:spPr>
          <a:xfrm>
            <a:off x="762000" y="1676400"/>
            <a:ext cx="5334000" cy="78740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7" name="layer1text"/>
          <p:cNvSpPr txBox="1"/>
          <p:nvPr/>
        </p:nvSpPr>
        <p:spPr>
          <a:xfrm>
            <a:off x="1066800" y="17526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① View 视图层</a:t>
            </a:r>
            <a:endParaRPr lang="en-US" sz="14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55 个 Razor 页面，只负责渲染与表单提交</a:t>
            </a:r>
            <a:endParaRPr lang="en-US" sz="1400" noProof="1"/>
          </a:p>
        </p:txBody>
      </p:sp>
      <p:sp>
        <p:nvSpPr>
          <p:cNvPr id="8" name="arrow1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3276600" y="24892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9" name="layer2"/>
          <p:cNvSpPr/>
          <p:nvPr/>
        </p:nvSpPr>
        <p:spPr>
          <a:xfrm>
            <a:off x="762000" y="2743200"/>
            <a:ext cx="5334000" cy="78740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10" name="layer2text"/>
          <p:cNvSpPr txBox="1"/>
          <p:nvPr/>
        </p:nvSpPr>
        <p:spPr>
          <a:xfrm>
            <a:off x="1066800" y="28194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② Controller 控制层</a:t>
            </a:r>
            <a:endParaRPr lang="en-US" sz="14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16 个控制器：参数校验、权限拦截、调用 Service</a:t>
            </a:r>
            <a:endParaRPr lang="en-US" sz="1400" noProof="1"/>
          </a:p>
        </p:txBody>
      </p:sp>
      <p:sp>
        <p:nvSpPr>
          <p:cNvPr id="11" name="arrow2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3276600" y="35560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2" name="layer3"/>
          <p:cNvSpPr/>
          <p:nvPr/>
        </p:nvSpPr>
        <p:spPr>
          <a:xfrm>
            <a:off x="762000" y="3810000"/>
            <a:ext cx="5334000" cy="787400"/>
          </a:xfrm>
          <a:prstGeom prst="roundRect">
            <a:avLst>
              <a:gd name="adj" fmla="val 10000"/>
            </a:avLst>
          </a:prstGeom>
          <a:solidFill>
            <a:srgbClr val="E0F5F5"/>
          </a:solidFill>
          <a:ln>
            <a:noFill/>
          </a:ln>
        </p:spPr>
      </p:sp>
      <p:sp>
        <p:nvSpPr>
          <p:cNvPr id="13" name="layer3text"/>
          <p:cNvSpPr txBox="1"/>
          <p:nvPr/>
        </p:nvSpPr>
        <p:spPr>
          <a:xfrm>
            <a:off x="1066800" y="38862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③ Service 业务逻辑层</a:t>
            </a:r>
            <a:endParaRPr lang="en-US" sz="14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业务规则、状态机、事务编排的核心所在</a:t>
            </a:r>
            <a:endParaRPr lang="en-US" sz="1400" noProof="1"/>
          </a:p>
        </p:txBody>
      </p:sp>
      <p:sp>
        <p:nvSpPr>
          <p:cNvPr id="14" name="arrow3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3276600" y="46228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5" name="layer4"/>
          <p:cNvSpPr/>
          <p:nvPr/>
        </p:nvSpPr>
        <p:spPr>
          <a:xfrm>
            <a:off x="762000" y="4876800"/>
            <a:ext cx="5334000" cy="7874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>
            <a:noFill/>
          </a:ln>
        </p:spPr>
      </p:sp>
      <p:sp>
        <p:nvSpPr>
          <p:cNvPr id="16" name="layer4text"/>
          <p:cNvSpPr txBox="1"/>
          <p:nvPr/>
        </p:nvSpPr>
        <p:spPr>
          <a:xfrm>
            <a:off x="1066800" y="49530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④ Repository 数据访问层</a:t>
            </a:r>
            <a:endParaRPr lang="en-US" sz="14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唯一接触 SQL 的层，全部参数化查询</a:t>
            </a:r>
            <a:endParaRPr lang="en-US" sz="1400" noProof="1"/>
          </a:p>
        </p:txBody>
      </p:sp>
      <p:sp>
        <p:nvSpPr>
          <p:cNvPr id="17" name="arrow4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3276600" y="56896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8" name="layer5"/>
          <p:cNvSpPr/>
          <p:nvPr/>
        </p:nvSpPr>
        <p:spPr>
          <a:xfrm>
            <a:off x="762000" y="5943600"/>
            <a:ext cx="5334000" cy="5842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19" name="layer5text"/>
          <p:cNvSpPr txBox="1"/>
          <p:nvPr/>
        </p:nvSpPr>
        <p:spPr>
          <a:xfrm>
            <a:off x="1066800" y="5994400"/>
            <a:ext cx="482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⑤ Oracle 数据库（19c · 云端共享）</a:t>
            </a:r>
            <a:endParaRPr lang="en-US" sz="1400" noProof="1"/>
          </a:p>
        </p:txBody>
      </p:sp>
      <p:sp>
        <p:nvSpPr>
          <p:cNvPr id="20" name="rulescard"/>
          <p:cNvSpPr/>
          <p:nvPr/>
        </p:nvSpPr>
        <p:spPr>
          <a:xfrm>
            <a:off x="6553200" y="1676400"/>
            <a:ext cx="4876800" cy="4851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21" name="rulestitle"/>
          <p:cNvSpPr txBox="1"/>
          <p:nvPr/>
        </p:nvSpPr>
        <p:spPr>
          <a:xfrm>
            <a:off x="6858000" y="1930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B1F3A"/>
                </a:solidFill>
                <a:latin typeface="MiSans"/>
                <a:ea typeface="MiSans"/>
              </a:rPr>
              <a:t>架构纪律（答辩要点）</a:t>
            </a:r>
            <a:endParaRPr lang="en-US" sz="1600" noProof="1"/>
          </a:p>
        </p:txBody>
      </p:sp>
      <p:sp>
        <p:nvSpPr>
          <p:cNvPr id="22" name="rules"/>
          <p:cNvSpPr txBox="1"/>
          <p:nvPr/>
        </p:nvSpPr>
        <p:spPr>
          <a:xfrm>
            <a:off x="6858000" y="2362200"/>
            <a:ext cx="4318000" cy="401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接口隔离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：Service / Repository 均定义接口，依赖注入装配</a:t>
            </a:r>
            <a:endParaRPr lang="en-US" sz="13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零越层调用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：Controller 不引用任何 Repository 或 SQL（全量代码扫描验证）</a:t>
            </a:r>
            <a:endParaRPr lang="en-US" sz="13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统一事务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：IRepositoryTransactionManager 管理跨表写入，失败整体回滚</a:t>
            </a:r>
            <a:endParaRPr lang="en-US" sz="13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按钮不碰库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：页面提交 → 控制器 → 服务 → 仓储，事件与 SQL 完全隔离</a:t>
            </a:r>
            <a:endParaRPr lang="en-US" sz="13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五层文档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：mvc-five-layer-spec.md / layered-architecture.md 固化约定</a:t>
            </a:r>
            <a:endParaRPr lang="en-US" sz="13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04 · 数据库设计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24 张表 · 满足第三范式 · 约束完备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05 / 12</a:t>
            </a:r>
            <a:endParaRPr lang="en-US" sz="1200" noProof="1"/>
          </a:p>
        </p:txBody>
      </p:sp>
      <p:sp>
        <p:nvSpPr>
          <p:cNvPr id="6" name="leftcard"/>
          <p:cNvSpPr/>
          <p:nvPr/>
        </p:nvSpPr>
        <p:spPr>
          <a:xfrm>
            <a:off x="762000" y="1600200"/>
            <a:ext cx="51308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7" name="lefttitle"/>
          <p:cNvSpPr txBox="1"/>
          <p:nvPr/>
        </p:nvSpPr>
        <p:spPr>
          <a:xfrm>
            <a:off x="1041400" y="1803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完整性约束（线上实测统计）</a:t>
            </a:r>
            <a:endParaRPr lang="en-US" sz="1500" noProof="1"/>
          </a:p>
        </p:txBody>
      </p:sp>
      <p:sp>
        <p:nvSpPr>
          <p:cNvPr id="8" name="leftbody"/>
          <p:cNvSpPr txBox="1"/>
          <p:nvPr/>
        </p:nvSpPr>
        <p:spPr>
          <a:xfrm>
            <a:off x="1041400" y="2184400"/>
            <a:ext cx="46228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主键 </a:t>
            </a: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24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个 —— 每张表一个，无一缺失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外键 </a:t>
            </a: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31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个 —— 引用关系全覆盖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检查约束 </a:t>
            </a: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141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个 —— 枚举、取值范围入库即校验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唯一约束 </a:t>
            </a: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7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个 —— 如"一任务一评价"</a:t>
            </a:r>
            <a:endParaRPr lang="en-US" sz="1350" noProof="1"/>
          </a:p>
        </p:txBody>
      </p:sp>
      <p:sp>
        <p:nvSpPr>
          <p:cNvPr id="9" name="rightcard"/>
          <p:cNvSpPr/>
          <p:nvPr/>
        </p:nvSpPr>
        <p:spPr>
          <a:xfrm>
            <a:off x="6299200" y="1600200"/>
            <a:ext cx="5130800" cy="218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0" name="righttitle"/>
          <p:cNvSpPr txBox="1"/>
          <p:nvPr/>
        </p:nvSpPr>
        <p:spPr>
          <a:xfrm>
            <a:off x="6578600" y="1803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命名与规范</a:t>
            </a:r>
            <a:endParaRPr lang="en-US" sz="1500" noProof="1"/>
          </a:p>
        </p:txBody>
      </p:sp>
      <p:sp>
        <p:nvSpPr>
          <p:cNvPr id="11" name="rightbody"/>
          <p:cNvSpPr txBox="1"/>
          <p:nvPr/>
        </p:nvSpPr>
        <p:spPr>
          <a:xfrm>
            <a:off x="6578600" y="2184400"/>
            <a:ext cx="46228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表名：单数 snake_case（tasks / assign_records）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约束前缀：</a:t>
            </a: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PK_ / FK_ / UK_ / CK_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状态字段：英文枚举（WAITING / PAID …）+ 检查约束兜底</a:t>
            </a:r>
            <a:endParaRPr lang="en-US" sz="1350" noProof="1"/>
          </a:p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金额、时间、布尔标志语义统一，见数据字典文档</a:t>
            </a:r>
            <a:endParaRPr lang="en-US" sz="1350" noProof="1"/>
          </a:p>
        </p:txBody>
      </p:sp>
      <p:sp>
        <p:nvSpPr>
          <p:cNvPr id="12" name="fnfcard"/>
          <p:cNvSpPr/>
          <p:nvPr/>
        </p:nvSpPr>
        <p:spPr>
          <a:xfrm>
            <a:off x="762000" y="4013200"/>
            <a:ext cx="10668000" cy="1168400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13" name="fnftitle"/>
          <p:cNvSpPr txBox="1"/>
          <p:nvPr/>
        </p:nvSpPr>
        <p:spPr>
          <a:xfrm>
            <a:off x="1041400" y="4191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4FB3"/>
                </a:solidFill>
                <a:latin typeface="MiSans"/>
                <a:ea typeface="MiSans"/>
              </a:rPr>
              <a:t>第三范式论证：任务明细的拆表决策</a:t>
            </a:r>
            <a:endParaRPr lang="en-US" sz="1500" noProof="1"/>
          </a:p>
        </p:txBody>
      </p:sp>
      <p:sp>
        <p:nvSpPr>
          <p:cNvPr id="14" name="fnfbody"/>
          <p:cNvSpPr txBox="1"/>
          <p:nvPr/>
        </p:nvSpPr>
        <p:spPr>
          <a:xfrm>
            <a:off x="1041400" y="45212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若把餐饮、快递、私人三类任务的专有字段全部塞进 tasks 宽表，将产生大量可空列与冗余。拆为 food_delivery_details / express_pickup_details / private_task_details 三张明细表后，所有非主属性只依赖本表主键，无部分依赖、无传递依赖。</a:t>
            </a:r>
            <a:endParaRPr lang="en-US" sz="1300" noProof="1"/>
          </a:p>
        </p:txBody>
      </p:sp>
      <p:sp>
        <p:nvSpPr>
          <p:cNvPr id="15" name="fkcard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6" name="fktitle"/>
          <p:cNvSpPr txBox="1"/>
          <p:nvPr/>
        </p:nvSpPr>
        <p:spPr>
          <a:xfrm>
            <a:off x="1041400" y="5562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F59E0B"/>
                </a:solidFill>
                <a:latin typeface="MiSans"/>
                <a:ea typeface="MiSans"/>
              </a:rPr>
              <a:t>设计亮点：reviews 的复合外键</a:t>
            </a:r>
            <a:endParaRPr lang="en-US" sz="1500" noProof="1"/>
          </a:p>
        </p:txBody>
      </p:sp>
      <p:sp>
        <p:nvSpPr>
          <p:cNvPr id="17" name="fkbody"/>
          <p:cNvSpPr txBox="1"/>
          <p:nvPr/>
        </p:nvSpPr>
        <p:spPr>
          <a:xfrm>
            <a:off x="1041400" y="586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reviews 通过 </a:t>
            </a:r>
            <a:r>
              <a:rPr lang="en-US" sz="1300" noProof="1" b="1">
                <a:solidFill>
                  <a:srgbClr val="102033"/>
                </a:solidFill>
                <a:latin typeface="MiSans"/>
                <a:ea typeface="MiSans"/>
              </a:rPr>
              <a:t>(record_id, task_id) 复合外键</a:t>
            </a: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绑定"同一任务的真实接派记录"，配合 UK_REVIEWS_TASK 唯一约束，从数据库层面保证"一项任务最多一条评价"，而不是只靠应用代码自觉。</a:t>
            </a: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05 · 核心业务逻辑 ①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任务全生命周期状态机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06 / 12</a:t>
            </a:r>
            <a:endParaRPr lang="en-US" sz="1200" noProof="1"/>
          </a:p>
        </p:txBody>
      </p:sp>
      <p:sp>
        <p:nvSpPr>
          <p:cNvPr id="6" name="st1"/>
          <p:cNvSpPr/>
          <p:nvPr/>
        </p:nvSpPr>
        <p:spPr>
          <a:xfrm>
            <a:off x="762000" y="1905000"/>
            <a:ext cx="1854200" cy="685800"/>
          </a:xfrm>
          <a:prstGeom prst="roundRect">
            <a:avLst>
              <a:gd name="adj" fmla="val 14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7" name="st1t"/>
          <p:cNvSpPr txBox="1"/>
          <p:nvPr/>
        </p:nvSpPr>
        <p:spPr>
          <a:xfrm>
            <a:off x="762000" y="1905000"/>
            <a:ext cx="1854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B4FB3"/>
                </a:solidFill>
                <a:latin typeface="MiSans"/>
                <a:ea typeface="MiSans"/>
              </a:rPr>
              <a:t>待接单 WAITING</a:t>
            </a:r>
            <a:endParaRPr lang="en-US" sz="1400" noProof="1"/>
          </a:p>
        </p:txBody>
      </p:sp>
      <p:sp>
        <p:nvSpPr>
          <p:cNvPr id="8" name="ar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269240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9" name="st2"/>
          <p:cNvSpPr/>
          <p:nvPr/>
        </p:nvSpPr>
        <p:spPr>
          <a:xfrm>
            <a:off x="3073400" y="1905000"/>
            <a:ext cx="1854200" cy="685800"/>
          </a:xfrm>
          <a:prstGeom prst="roundRect">
            <a:avLst>
              <a:gd name="adj" fmla="val 14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10" name="st2t"/>
          <p:cNvSpPr txBox="1"/>
          <p:nvPr/>
        </p:nvSpPr>
        <p:spPr>
          <a:xfrm>
            <a:off x="3073400" y="1905000"/>
            <a:ext cx="1854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B4FB3"/>
                </a:solidFill>
                <a:latin typeface="MiSans"/>
                <a:ea typeface="MiSans"/>
              </a:rPr>
              <a:t>已接派 ASSIGNED</a:t>
            </a:r>
            <a:endParaRPr lang="en-US" sz="1400" noProof="1"/>
          </a:p>
        </p:txBody>
      </p:sp>
      <p:sp>
        <p:nvSpPr>
          <p:cNvPr id="11" name="ar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500380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2" name="st3"/>
          <p:cNvSpPr/>
          <p:nvPr/>
        </p:nvSpPr>
        <p:spPr>
          <a:xfrm>
            <a:off x="5384800" y="1905000"/>
            <a:ext cx="1854200" cy="685800"/>
          </a:xfrm>
          <a:prstGeom prst="roundRect">
            <a:avLst>
              <a:gd name="adj" fmla="val 14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13" name="st3t"/>
          <p:cNvSpPr txBox="1"/>
          <p:nvPr/>
        </p:nvSpPr>
        <p:spPr>
          <a:xfrm>
            <a:off x="5384800" y="1905000"/>
            <a:ext cx="1854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B4FB3"/>
                </a:solidFill>
                <a:latin typeface="MiSans"/>
                <a:ea typeface="MiSans"/>
              </a:rPr>
              <a:t>配送中 DELIVERING</a:t>
            </a:r>
            <a:endParaRPr lang="en-US" sz="1400" noProof="1"/>
          </a:p>
        </p:txBody>
      </p:sp>
      <p:sp>
        <p:nvSpPr>
          <p:cNvPr id="14" name="ar3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731520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5" name="st4"/>
          <p:cNvSpPr/>
          <p:nvPr/>
        </p:nvSpPr>
        <p:spPr>
          <a:xfrm>
            <a:off x="7696200" y="1905000"/>
            <a:ext cx="1854200" cy="685800"/>
          </a:xfrm>
          <a:prstGeom prst="roundRect">
            <a:avLst>
              <a:gd name="adj" fmla="val 14000"/>
            </a:avLst>
          </a:prstGeom>
          <a:solidFill>
            <a:srgbClr val="E0F5F5"/>
          </a:solidFill>
          <a:ln>
            <a:noFill/>
          </a:ln>
        </p:spPr>
      </p:sp>
      <p:sp>
        <p:nvSpPr>
          <p:cNvPr id="16" name="st4t"/>
          <p:cNvSpPr txBox="1"/>
          <p:nvPr/>
        </p:nvSpPr>
        <p:spPr>
          <a:xfrm>
            <a:off x="7696200" y="1905000"/>
            <a:ext cx="1854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0A6A6"/>
                </a:solidFill>
                <a:latin typeface="MiSans"/>
                <a:ea typeface="MiSans"/>
              </a:rPr>
              <a:t>已完成 FINISHED</a:t>
            </a:r>
            <a:endParaRPr lang="en-US" sz="1400" noProof="1"/>
          </a:p>
        </p:txBody>
      </p:sp>
      <p:sp>
        <p:nvSpPr>
          <p:cNvPr id="17" name="ar4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962660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8" name="st5"/>
          <p:cNvSpPr/>
          <p:nvPr/>
        </p:nvSpPr>
        <p:spPr>
          <a:xfrm>
            <a:off x="10007600" y="1905000"/>
            <a:ext cx="1422400" cy="6858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2700000" scaled="1"/>
          </a:gradFill>
          <a:ln>
            <a:noFill/>
          </a:ln>
        </p:spPr>
      </p:sp>
      <p:sp>
        <p:nvSpPr>
          <p:cNvPr id="19" name="st5t"/>
          <p:cNvSpPr txBox="1"/>
          <p:nvPr/>
        </p:nvSpPr>
        <p:spPr>
          <a:xfrm>
            <a:off x="10007600" y="1905000"/>
            <a:ext cx="1422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已支付 PAID</a:t>
            </a:r>
            <a:endParaRPr lang="en-US" sz="1400" noProof="1"/>
          </a:p>
        </p:txBody>
      </p:sp>
      <p:sp>
        <p:nvSpPr>
          <p:cNvPr id="20" name="stcancel"/>
          <p:cNvSpPr/>
          <p:nvPr/>
        </p:nvSpPr>
        <p:spPr>
          <a:xfrm>
            <a:off x="762000" y="2819400"/>
            <a:ext cx="1854200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</p:spPr>
      </p:sp>
      <p:sp>
        <p:nvSpPr>
          <p:cNvPr id="21" name="stcancelt"/>
          <p:cNvSpPr txBox="1"/>
          <p:nvPr/>
        </p:nvSpPr>
        <p:spPr>
          <a:xfrm>
            <a:off x="762000" y="28194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64748B"/>
                </a:solidFill>
                <a:latin typeface="MiSans"/>
                <a:ea typeface="MiSans"/>
              </a:rPr>
              <a:t>已取消 CANCELLED</a:t>
            </a:r>
            <a:endParaRPr lang="en-US" sz="1300" noProof="1"/>
          </a:p>
        </p:txBody>
      </p:sp>
      <p:sp>
        <p:nvSpPr>
          <p:cNvPr id="22" name="cancelnote"/>
          <p:cNvSpPr txBox="1"/>
          <p:nvPr/>
        </p:nvSpPr>
        <p:spPr>
          <a:xfrm>
            <a:off x="2819400" y="2870200"/>
            <a:ext cx="584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64748B"/>
                </a:solidFill>
                <a:latin typeface="MiSans"/>
                <a:ea typeface="MiSans"/>
              </a:rPr>
              <a:t>仅"待接单"状态、且仅发布人本人可取消（SQL 层面 WHERE 双条件保证）</a:t>
            </a:r>
            <a:endParaRPr lang="en-US" sz="1250" noProof="1"/>
          </a:p>
        </p:txBody>
      </p:sp>
      <p:sp>
        <p:nvSpPr>
          <p:cNvPr id="23" name="rulecard"/>
          <p:cNvSpPr/>
          <p:nvPr/>
        </p:nvSpPr>
        <p:spPr>
          <a:xfrm>
            <a:off x="762000" y="3708400"/>
            <a:ext cx="513080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24" name="ruletitle"/>
          <p:cNvSpPr txBox="1"/>
          <p:nvPr/>
        </p:nvSpPr>
        <p:spPr>
          <a:xfrm>
            <a:off x="1041400" y="3911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状态迁移的业务规则</a:t>
            </a:r>
            <a:endParaRPr lang="en-US" sz="1500" noProof="1"/>
          </a:p>
        </p:txBody>
      </p:sp>
      <p:sp>
        <p:nvSpPr>
          <p:cNvPr id="25" name="rulebody"/>
          <p:cNvSpPr txBox="1"/>
          <p:nvPr/>
        </p:nvSpPr>
        <p:spPr>
          <a:xfrm>
            <a:off x="1041400" y="4292600"/>
            <a:ext cx="4622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接单后生成 assign_records，记录接派人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送达 → 收货确认 → 才能进入支付环节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只有</a:t>
            </a:r>
            <a:r>
              <a:rPr lang="en-US" sz="1300" noProof="1" b="1">
                <a:solidFill>
                  <a:srgbClr val="102033"/>
                </a:solidFill>
                <a:latin typeface="MiSans"/>
                <a:ea typeface="MiSans"/>
              </a:rPr>
              <a:t>已完成 + 已支付 + 无在途退款</a:t>
            </a: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的任务才能评价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每次状态变化写入 task_status_logs，全程可追溯</a:t>
            </a:r>
            <a:endParaRPr lang="en-US" sz="1300" noProof="1"/>
          </a:p>
        </p:txBody>
      </p:sp>
      <p:sp>
        <p:nvSpPr>
          <p:cNvPr id="26" name="lockcard"/>
          <p:cNvSpPr/>
          <p:nvPr/>
        </p:nvSpPr>
        <p:spPr>
          <a:xfrm>
            <a:off x="6299200" y="3708400"/>
            <a:ext cx="513080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27" name="locktitle"/>
          <p:cNvSpPr txBox="1"/>
          <p:nvPr/>
        </p:nvSpPr>
        <p:spPr>
          <a:xfrm>
            <a:off x="6578600" y="3911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并发控制：两人同时抢一单怎么办？</a:t>
            </a:r>
            <a:endParaRPr lang="en-US" sz="1500" noProof="1"/>
          </a:p>
        </p:txBody>
      </p:sp>
      <p:sp>
        <p:nvSpPr>
          <p:cNvPr id="28" name="lockbody"/>
          <p:cNvSpPr txBox="1"/>
          <p:nvPr/>
        </p:nvSpPr>
        <p:spPr>
          <a:xfrm>
            <a:off x="6578600" y="4292600"/>
            <a:ext cx="4622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接单事务内 </a:t>
            </a: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SELECT … FOR UPDATE</a:t>
            </a: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 锁定任务行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更新时带状态前置条件（WHERE task_status = 'WAITING'），受影响行数为 0 即失败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数据库唯一约束兜底，杜绝超卖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02033"/>
                </a:solidFill>
                <a:latin typeface="MiSans"/>
                <a:ea typeface="MiSans"/>
              </a:rPr>
              <a:t>· 全程显式事务，异常自动回滚</a:t>
            </a:r>
            <a:endParaRPr lang="en-US" sz="13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06 · 核心业务逻辑 ②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资金链路与信誉分联动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07 / 12</a:t>
            </a:r>
            <a:endParaRPr lang="en-US" sz="1200" noProof="1"/>
          </a:p>
        </p:txBody>
      </p:sp>
      <p:sp>
        <p:nvSpPr>
          <p:cNvPr id="6" name="creditlabel"/>
          <p:cNvSpPr txBox="1"/>
          <p:nvPr/>
        </p:nvSpPr>
        <p:spPr>
          <a:xfrm>
            <a:off x="762000" y="1600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评价 → 跑腿员信誉分规则</a:t>
            </a:r>
            <a:endParaRPr lang="en-US" sz="1500" noProof="1"/>
          </a:p>
        </p:txBody>
      </p:sp>
      <p:graphicFrame>
        <p:nvGraphicFramePr>
          <p:cNvPr id="7" name="credittable"/>
          <p:cNvGraphicFramePr>
            <a:graphicFrameLocks noGrp="1"/>
          </p:cNvGraphicFramePr>
          <p:nvPr/>
        </p:nvGraphicFramePr>
        <p:xfrm>
          <a:off x="762000" y="1981200"/>
          <a:ext cx="5130800" cy="2362200"/>
        </p:xfrm>
        <a:graphic>
          <a:graphicData uri="http://schemas.openxmlformats.org/drawingml/2006/table">
            <a:tbl>
              <a:tblPr/>
              <a:tblGrid>
                <a:gridCol w="1282700"/>
                <a:gridCol w="1924050"/>
                <a:gridCol w="1924050"/>
              </a:tblGrid>
              <a:tr h="44881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评分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信誉变动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业务含义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</a:tr>
              <a:tr h="382676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★★★★★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00A6A6"/>
                          </a:solidFill>
                          <a:latin typeface="Times New Roman"/>
                          <a:ea typeface="Times New Roman"/>
                        </a:rPr>
                        <a:t>+2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优质服务奖励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2676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★★★★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00A6A6"/>
                          </a:solidFill>
                          <a:latin typeface="Times New Roman"/>
                          <a:ea typeface="Times New Roman"/>
                        </a:rPr>
                        <a:t>+1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良好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82676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★★★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64748B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中性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2676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★★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59E0B"/>
                          </a:solidFill>
                          <a:latin typeface="Times New Roman"/>
                          <a:ea typeface="Times New Roman"/>
                        </a:rPr>
                        <a:t>-1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警告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82676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DC2626"/>
                          </a:solidFill>
                          <a:latin typeface="Times New Roman"/>
                          <a:ea typeface="Times New Roman"/>
                        </a:rPr>
                        <a:t>-2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差评惩戒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reditnote"/>
          <p:cNvSpPr txBox="1"/>
          <p:nvPr/>
        </p:nvSpPr>
        <p:spPr>
          <a:xfrm>
            <a:off x="762000" y="44704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4748B"/>
                </a:solidFill>
                <a:latin typeface="MiSans"/>
                <a:ea typeface="MiSans"/>
              </a:rPr>
              <a:t>信誉分下限 0：GREATEST(0, score + delta)，不会扣成负数</a:t>
            </a:r>
            <a:endParaRPr lang="en-US" sz="1250" noProof="1"/>
          </a:p>
        </p:txBody>
      </p:sp>
      <p:sp>
        <p:nvSpPr>
          <p:cNvPr id="9" name="chainlabel"/>
          <p:cNvSpPr txBox="1"/>
          <p:nvPr/>
        </p:nvSpPr>
        <p:spPr>
          <a:xfrm>
            <a:off x="6299200" y="1600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支付 → 退款 → 结算的账务链路</a:t>
            </a:r>
            <a:endParaRPr lang="en-US" sz="1500" noProof="1"/>
          </a:p>
        </p:txBody>
      </p:sp>
      <p:sp>
        <p:nvSpPr>
          <p:cNvPr id="10" name="chainbg"/>
          <p:cNvSpPr/>
          <p:nvPr/>
        </p:nvSpPr>
        <p:spPr>
          <a:xfrm>
            <a:off x="6299200" y="1981200"/>
            <a:ext cx="5130800" cy="127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1" name="chaintext"/>
          <p:cNvSpPr txBox="1"/>
          <p:nvPr/>
        </p:nvSpPr>
        <p:spPr>
          <a:xfrm>
            <a:off x="6553200" y="2133600"/>
            <a:ext cx="46228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payments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（已支付）→ 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refunds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（审批拦截）→ 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settlements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（跑腿员结算）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000000"/>
                </a:solidFill>
                <a:latin typeface="MiSans"/>
                <a:ea typeface="MiSans"/>
              </a:rPr>
              <a:t>结算只纳入：已支付 + 已完成 + 无争议 + 未结算的记录，多条件 SQL 过滤</a:t>
            </a:r>
            <a:endParaRPr lang="en-US" sz="1300" noProof="1"/>
          </a:p>
        </p:txBody>
      </p:sp>
      <p:sp>
        <p:nvSpPr>
          <p:cNvPr id="12" name="txnlabel"/>
          <p:cNvSpPr txBox="1"/>
          <p:nvPr/>
        </p:nvSpPr>
        <p:spPr>
          <a:xfrm>
            <a:off x="6299200" y="3505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事务一致性示例：评价入库 + 信誉分更新</a:t>
            </a:r>
            <a:endParaRPr lang="en-US" sz="1500" noProof="1"/>
          </a:p>
        </p:txBody>
      </p:sp>
      <p:sp>
        <p:nvSpPr>
          <p:cNvPr id="13" name="txnbg"/>
          <p:cNvSpPr/>
          <p:nvPr/>
        </p:nvSpPr>
        <p:spPr>
          <a:xfrm>
            <a:off x="6299200" y="3886200"/>
            <a:ext cx="5130800" cy="1320800"/>
          </a:xfrm>
          <a:prstGeom prst="roundRect">
            <a:avLst>
              <a:gd name="adj" fmla="val 9000"/>
            </a:avLst>
          </a:prstGeom>
          <a:solidFill>
            <a:srgbClr val="0B1F3A"/>
          </a:solidFill>
          <a:ln>
            <a:noFill/>
          </a:ln>
        </p:spPr>
      </p:sp>
      <p:sp>
        <p:nvSpPr>
          <p:cNvPr id="14" name="txntext"/>
          <p:cNvSpPr txBox="1"/>
          <p:nvPr/>
        </p:nvSpPr>
        <p:spPr>
          <a:xfrm>
            <a:off x="6553200" y="3962400"/>
            <a:ext cx="46228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CE7F5"/>
                </a:solidFill>
                <a:latin typeface="Consolas"/>
                <a:ea typeface="MiSans"/>
              </a:rPr>
              <a:t>BEGIN TRANSACTION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CE7F5"/>
                </a:solidFill>
                <a:latin typeface="Consolas"/>
                <a:ea typeface="MiSans"/>
              </a:rPr>
              <a:t>INSERT reviews …            -- ① 评价入库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CE7F5"/>
                </a:solidFill>
                <a:latin typeface="Consolas"/>
                <a:ea typeface="MiSans"/>
              </a:rPr>
              <a:t>UPDATE runners SET credit …   -- ② 信誉联动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CE7F5"/>
                </a:solidFill>
                <a:latin typeface="Consolas"/>
                <a:ea typeface="MiSans"/>
              </a:rPr>
              <a:t>-- ②失败 → ROLLBACK，①不落库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DCE7F5"/>
                </a:solidFill>
                <a:latin typeface="Consolas"/>
                <a:ea typeface="MiSans"/>
              </a:rPr>
              <a:t>COMMIT</a:t>
            </a:r>
            <a:endParaRPr lang="en-US" sz="1200" noProof="1"/>
          </a:p>
        </p:txBody>
      </p:sp>
      <p:sp>
        <p:nvSpPr>
          <p:cNvPr id="15" name="editnote"/>
          <p:cNvSpPr/>
          <p:nvPr/>
        </p:nvSpPr>
        <p:spPr>
          <a:xfrm>
            <a:off x="762000" y="5283200"/>
            <a:ext cx="10668000" cy="11684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>
            <a:noFill/>
          </a:ln>
        </p:spPr>
      </p:sp>
      <p:sp>
        <p:nvSpPr>
          <p:cNvPr id="16" name="editnotetext"/>
          <p:cNvSpPr txBox="1"/>
          <p:nvPr/>
        </p:nvSpPr>
        <p:spPr>
          <a:xfrm>
            <a:off x="1066800" y="5461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细节见功底：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评价允许修改与删除，但信誉分不重来——按"新旧评分差额"做增量调整，删除时等额回滚；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每次调整记录实际生效的 credit_delta，配合 GREATEST 下限保护，账务永远对得上。</a:t>
            </a:r>
            <a:endParaRPr lang="en-US" sz="13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07 · 用户界面设计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界面：轻快、可信、清爽、有校园感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08 / 12</a:t>
            </a:r>
            <a:endParaRPr lang="en-US" sz="1200" noProof="1"/>
          </a:p>
        </p:txBody>
      </p:sp>
      <p:pic>
        <p:nvPicPr>
          <p:cNvPr id="6" name="img1"/>
          <p:cNvPicPr/>
          <p:nvPr/>
        </p:nvPicPr>
        <p:blipFill>
          <a:blip r:embed="rId2"/>
          <a:srcRect l="4976" r="4976"/>
          <a:stretch>
            <a:fillRect/>
          </a:stretch>
        </p:blipFill>
        <p:spPr>
          <a:xfrm>
            <a:off x="762000" y="1651000"/>
            <a:ext cx="5080000" cy="3175000"/>
          </a:xfrm>
          <a:prstGeom prst="roundRect">
            <a:avLst>
              <a:gd name="adj" fmla="val 6000"/>
            </a:avLst>
          </a:prstGeom>
          <a:ln>
            <a:noFill/>
          </a:ln>
          <a:effectLst>
            <a:outerShdw blurRad="152400" dist="63500" dir="5400000" sx="100000" sy="100000" kx="0" ky="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img1cap"/>
          <p:cNvSpPr txBox="1"/>
          <p:nvPr/>
        </p:nvSpPr>
        <p:spPr>
          <a:xfrm>
            <a:off x="762000" y="4927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首页首屏：产品定位 + 校园路线视觉</a:t>
            </a:r>
            <a:endParaRPr lang="en-US" sz="1200" noProof="1"/>
          </a:p>
        </p:txBody>
      </p:sp>
      <p:pic>
        <p:nvPicPr>
          <p:cNvPr id="8" name="img2"/>
          <p:cNvPicPr/>
          <p:nvPr/>
        </p:nvPicPr>
        <p:blipFill>
          <a:blip r:embed="rId3"/>
          <a:srcRect t="27000" b="27000"/>
          <a:stretch>
            <a:fillRect/>
          </a:stretch>
        </p:blipFill>
        <p:spPr>
          <a:xfrm>
            <a:off x="762000" y="5283200"/>
            <a:ext cx="5080000" cy="1168400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1016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9" name="uicard"/>
          <p:cNvSpPr/>
          <p:nvPr/>
        </p:nvSpPr>
        <p:spPr>
          <a:xfrm>
            <a:off x="6350000" y="1651000"/>
            <a:ext cx="5080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0" name="uicardtitle"/>
          <p:cNvSpPr txBox="1"/>
          <p:nvPr/>
        </p:nvSpPr>
        <p:spPr>
          <a:xfrm>
            <a:off x="6654800" y="19050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B1F3A"/>
                </a:solidFill>
                <a:latin typeface="MiSans"/>
                <a:ea typeface="MiSans"/>
              </a:rPr>
              <a:t>设计要点</a:t>
            </a:r>
            <a:endParaRPr lang="en-US" sz="1600" noProof="1"/>
          </a:p>
        </p:txBody>
      </p:sp>
      <p:sp>
        <p:nvSpPr>
          <p:cNvPr id="11" name="uicardbody"/>
          <p:cNvSpPr txBox="1"/>
          <p:nvPr/>
        </p:nvSpPr>
        <p:spPr>
          <a:xfrm>
            <a:off x="6654800" y="2336800"/>
            <a:ext cx="4470400" cy="393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2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品牌配色体系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：校园蓝 #0B4FB3、活力青 #00A6A6、订单橙 #F59E0B，按钮统一蓝青渐变</a:t>
            </a:r>
            <a:endParaRPr lang="en-US" sz="1350" noProof="1"/>
          </a:p>
          <a:p>
            <a:pPr>
              <a:lnSpc>
                <a:spcPct val="162000"/>
              </a:lnSpc>
              <a:spcBef>
                <a:spcPts val="9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角色化导航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：普通用户 / 跑腿员 / 管理员登录后看到各自工作流入口</a:t>
            </a:r>
            <a:endParaRPr lang="en-US" sz="1350" noProof="1"/>
          </a:p>
          <a:p>
            <a:pPr>
              <a:lnSpc>
                <a:spcPct val="162000"/>
              </a:lnSpc>
              <a:spcBef>
                <a:spcPts val="9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操作有回音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：每次提交都有成功 / 失败提示（TempData 消息条）</a:t>
            </a:r>
            <a:endParaRPr lang="en-US" sz="1350" noProof="1"/>
          </a:p>
          <a:p>
            <a:pPr>
              <a:lnSpc>
                <a:spcPct val="162000"/>
              </a:lnSpc>
              <a:spcBef>
                <a:spcPts val="9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统一组件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：表格、表单、状态标签、分页器全站同一风格</a:t>
            </a:r>
            <a:endParaRPr lang="en-US" sz="1350" noProof="1"/>
          </a:p>
          <a:p>
            <a:pPr>
              <a:lnSpc>
                <a:spcPct val="162000"/>
              </a:lnSpc>
              <a:spcBef>
                <a:spcPts val="900"/>
              </a:spcBef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</a:t>
            </a:r>
            <a:r>
              <a:rPr lang="en-US" sz="1350" noProof="1" b="1">
                <a:solidFill>
                  <a:srgbClr val="102033"/>
                </a:solidFill>
                <a:latin typeface="MiSans"/>
                <a:ea typeface="MiSans"/>
              </a:rPr>
              <a:t>后台克制清爽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：信息密度优先，不堆砌装饰</a:t>
            </a:r>
            <a:endParaRPr lang="en-US" sz="13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08 · 工程质量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鲁棒性与安全性设计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09 / 12</a:t>
            </a:r>
            <a:endParaRPr lang="en-US" sz="1200" noProof="1"/>
          </a:p>
        </p:txBody>
      </p:sp>
      <p:sp>
        <p:nvSpPr>
          <p:cNvPr id="6" name="cfglabel"/>
          <p:cNvSpPr txBox="1"/>
          <p:nvPr/>
        </p:nvSpPr>
        <p:spPr>
          <a:xfrm>
            <a:off x="762000" y="1600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B1F3A"/>
                </a:solidFill>
                <a:latin typeface="MiSans"/>
                <a:ea typeface="MiSans"/>
              </a:rPr>
              <a:t>连接串三级配置链（改库不改代码）</a:t>
            </a:r>
            <a:endParaRPr lang="en-US" sz="1500" noProof="1"/>
          </a:p>
        </p:txBody>
      </p:sp>
      <p:sp>
        <p:nvSpPr>
          <p:cNvPr id="7" name="cfg1"/>
          <p:cNvSpPr/>
          <p:nvPr/>
        </p:nvSpPr>
        <p:spPr>
          <a:xfrm>
            <a:off x="762000" y="2006600"/>
            <a:ext cx="3454400" cy="1219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8" name="cfg1t"/>
          <p:cNvSpPr txBox="1"/>
          <p:nvPr/>
        </p:nvSpPr>
        <p:spPr>
          <a:xfrm>
            <a:off x="990600" y="2159000"/>
            <a:ext cx="2997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① appsettings.json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入库但留空占位，定义配置结构</a:t>
            </a:r>
            <a:endParaRPr lang="en-US" sz="1250" noProof="1"/>
          </a:p>
        </p:txBody>
      </p:sp>
      <p:sp>
        <p:nvSpPr>
          <p:cNvPr id="9" name="cfgar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4292600" y="246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0" name="cfg2"/>
          <p:cNvSpPr/>
          <p:nvPr/>
        </p:nvSpPr>
        <p:spPr>
          <a:xfrm>
            <a:off x="4648200" y="2006600"/>
            <a:ext cx="3454400" cy="1219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1" name="cfg2t"/>
          <p:cNvSpPr txBox="1"/>
          <p:nvPr/>
        </p:nvSpPr>
        <p:spPr>
          <a:xfrm>
            <a:off x="4876800" y="2159000"/>
            <a:ext cx="2997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000000"/>
                </a:solidFill>
                <a:latin typeface="MiSans"/>
                <a:ea typeface="MiSans"/>
              </a:rPr>
              <a:t>② appsettings.Local.json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本地开发用，已 gitignore 不入库</a:t>
            </a:r>
            <a:endParaRPr lang="en-US" sz="1250" noProof="1"/>
          </a:p>
        </p:txBody>
      </p:sp>
      <p:sp>
        <p:nvSpPr>
          <p:cNvPr id="12" name="cfgar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8178800" y="246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3" name="cfg3"/>
          <p:cNvSpPr/>
          <p:nvPr/>
        </p:nvSpPr>
        <p:spPr>
          <a:xfrm>
            <a:off x="8534400" y="2006600"/>
            <a:ext cx="2895600" cy="121920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2700000" scaled="1"/>
          </a:gradFill>
          <a:ln>
            <a:noFill/>
          </a:ln>
        </p:spPr>
      </p:sp>
      <p:sp>
        <p:nvSpPr>
          <p:cNvPr id="14" name="cfg3t"/>
          <p:cNvSpPr txBox="1"/>
          <p:nvPr/>
        </p:nvSpPr>
        <p:spPr>
          <a:xfrm>
            <a:off x="8763000" y="2159000"/>
            <a:ext cx="2489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③ 环境变量覆盖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DCE7F5"/>
                </a:solidFill>
                <a:latin typeface="MiSans"/>
                <a:ea typeface="MiSans"/>
              </a:rPr>
              <a:t>服务器注入真实连接串</a:t>
            </a:r>
            <a:endParaRPr lang="en-US" sz="1250" noProof="1"/>
          </a:p>
        </p:txBody>
      </p:sp>
      <p:sp>
        <p:nvSpPr>
          <p:cNvPr id="15" name="seccard"/>
          <p:cNvSpPr/>
          <p:nvPr/>
        </p:nvSpPr>
        <p:spPr>
          <a:xfrm>
            <a:off x="762000" y="3581400"/>
            <a:ext cx="10668000" cy="287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6" name="sectitle"/>
          <p:cNvSpPr txBox="1"/>
          <p:nvPr/>
        </p:nvSpPr>
        <p:spPr>
          <a:xfrm>
            <a:off x="1066800" y="3810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B1F3A"/>
                </a:solidFill>
                <a:latin typeface="MiSans"/>
                <a:ea typeface="MiSans"/>
              </a:rPr>
              <a:t>安全清单（逐条可验证）</a:t>
            </a:r>
            <a:endParaRPr lang="en-US" sz="1600" noProof="1"/>
          </a:p>
        </p:txBody>
      </p:sp>
      <p:sp>
        <p:nvSpPr>
          <p:cNvPr id="17" name="secleft"/>
          <p:cNvSpPr txBox="1"/>
          <p:nvPr/>
        </p:nvSpPr>
        <p:spPr>
          <a:xfrm>
            <a:off x="1066800" y="4241800"/>
            <a:ext cx="4953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Cookie 认证 + 每次请求校验账号状态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角色授权 [Authorize(Roles=…)]，管理页隔离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全站 POST 防伪令牌（AntiForgery）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全部 SQL 参数化，杜绝注入</a:t>
            </a:r>
            <a:endParaRPr lang="en-US" sz="1350" noProof="1"/>
          </a:p>
        </p:txBody>
      </p:sp>
      <p:sp>
        <p:nvSpPr>
          <p:cNvPr id="18" name="secright"/>
          <p:cNvSpPr txBox="1"/>
          <p:nvPr/>
        </p:nvSpPr>
        <p:spPr>
          <a:xfrm>
            <a:off x="6477000" y="4241800"/>
            <a:ext cx="46482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统一错误页，不向浏览器泄露堆栈和 SQL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密码 PBKDF2 加盐哈希存储，附旧格式迁移工具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账号停用即时生效（会话校验时强制登出）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 b="1">
                <a:solidFill>
                  <a:srgbClr val="000000"/>
                </a:solidFill>
                <a:latin typeface="MiSans"/>
                <a:ea typeface="MiSans"/>
              </a:rPr>
              <a:t>✓</a:t>
            </a:r>
            <a:r>
              <a:rPr lang="en-US" sz="1350" noProof="1">
                <a:solidFill>
                  <a:srgbClr val="102033"/>
                </a:solidFill>
                <a:latin typeface="MiSans"/>
                <a:ea typeface="MiSans"/>
              </a:rPr>
              <a:t> SSH 隧道访问数据库，1521 端口不公网暴露</a:t>
            </a:r>
            <a:endParaRPr lang="en-US" sz="13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09 · 测试与验收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自动化测试 + 全流程人工验收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10 / 12</a:t>
            </a:r>
            <a:endParaRPr lang="en-US" sz="1200" noProof="1"/>
          </a:p>
        </p:txBody>
      </p:sp>
      <p:sp>
        <p:nvSpPr>
          <p:cNvPr id="6" name="t1bg"/>
          <p:cNvSpPr/>
          <p:nvPr/>
        </p:nvSpPr>
        <p:spPr>
          <a:xfrm>
            <a:off x="762000" y="1600200"/>
            <a:ext cx="3454400" cy="1397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7" name="t1"/>
          <p:cNvSpPr txBox="1"/>
          <p:nvPr/>
        </p:nvSpPr>
        <p:spPr>
          <a:xfrm>
            <a:off x="762000" y="1752600"/>
            <a:ext cx="3454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200" noProof="1" b="1">
                <a:solidFill>
                  <a:srgbClr val="000000"/>
                </a:solidFill>
                <a:latin typeface="MiSans"/>
                <a:ea typeface="MiSans"/>
              </a:rPr>
              <a:t>39 / 39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服务层单元测试全部通过</a:t>
            </a:r>
            <a:endParaRPr lang="en-US" sz="1600" noProof="1"/>
          </a:p>
        </p:txBody>
      </p:sp>
      <p:sp>
        <p:nvSpPr>
          <p:cNvPr id="8" name="t2bg"/>
          <p:cNvSpPr/>
          <p:nvPr/>
        </p:nvSpPr>
        <p:spPr>
          <a:xfrm>
            <a:off x="4368800" y="1600200"/>
            <a:ext cx="3454400" cy="1397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9" name="t2"/>
          <p:cNvSpPr txBox="1"/>
          <p:nvPr/>
        </p:nvSpPr>
        <p:spPr>
          <a:xfrm>
            <a:off x="4368800" y="1752600"/>
            <a:ext cx="3454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200" noProof="1" b="1">
                <a:solidFill>
                  <a:srgbClr val="000000"/>
                </a:solidFill>
                <a:latin typeface="MiSans"/>
                <a:ea typeface="MiSans"/>
              </a:rPr>
              <a:t>20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条业务流程人工验收用例</a:t>
            </a:r>
            <a:endParaRPr lang="en-US" sz="1600" noProof="1"/>
          </a:p>
        </p:txBody>
      </p:sp>
      <p:sp>
        <p:nvSpPr>
          <p:cNvPr id="10" name="t3bg"/>
          <p:cNvSpPr/>
          <p:nvPr/>
        </p:nvSpPr>
        <p:spPr>
          <a:xfrm>
            <a:off x="7975600" y="1600200"/>
            <a:ext cx="3454400" cy="1397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1" name="t3"/>
          <p:cNvSpPr txBox="1"/>
          <p:nvPr/>
        </p:nvSpPr>
        <p:spPr>
          <a:xfrm>
            <a:off x="7975600" y="1752600"/>
            <a:ext cx="3454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200" noProof="1" b="1">
                <a:solidFill>
                  <a:srgbClr val="000000"/>
                </a:solidFill>
                <a:latin typeface="MiSans"/>
                <a:ea typeface="MiSans"/>
              </a:rPr>
              <a:t>5 项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000000"/>
                </a:solidFill>
                <a:latin typeface="MiSans"/>
                <a:ea typeface="MiSans"/>
              </a:rPr>
              <a:t>缺陷登记 · 截图 + SQL 双证据留档</a:t>
            </a:r>
            <a:endParaRPr lang="en-US" sz="1600" noProof="1"/>
          </a:p>
        </p:txBody>
      </p:sp>
      <p:sp>
        <p:nvSpPr>
          <p:cNvPr id="12" name="casecard"/>
          <p:cNvSpPr/>
          <p:nvPr/>
        </p:nvSpPr>
        <p:spPr>
          <a:xfrm>
            <a:off x="762000" y="3302000"/>
            <a:ext cx="10668000" cy="314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7F5"/>
            </a:solidFill>
          </a:ln>
        </p:spPr>
      </p:sp>
      <p:sp>
        <p:nvSpPr>
          <p:cNvPr id="13" name="casetitle"/>
          <p:cNvSpPr txBox="1"/>
          <p:nvPr/>
        </p:nvSpPr>
        <p:spPr>
          <a:xfrm>
            <a:off x="1066800" y="3505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B1F3A"/>
                </a:solidFill>
                <a:latin typeface="MiSans"/>
                <a:ea typeface="MiSans"/>
              </a:rPr>
              <a:t>缺陷闭环案例：管理员评价列表 500（BUG-20260816-03）</a:t>
            </a:r>
            <a:endParaRPr lang="en-US" sz="1600" noProof="1"/>
          </a:p>
        </p:txBody>
      </p:sp>
      <p:sp>
        <p:nvSpPr>
          <p:cNvPr id="14" name="casestep1"/>
          <p:cNvSpPr/>
          <p:nvPr/>
        </p:nvSpPr>
        <p:spPr>
          <a:xfrm>
            <a:off x="1066800" y="3987800"/>
            <a:ext cx="2362200" cy="1905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>
            <a:noFill/>
          </a:ln>
        </p:spPr>
      </p:sp>
      <p:sp>
        <p:nvSpPr>
          <p:cNvPr id="15" name="casestep1t"/>
          <p:cNvSpPr txBox="1"/>
          <p:nvPr/>
        </p:nvSpPr>
        <p:spPr>
          <a:xfrm>
            <a:off x="1244600" y="4140200"/>
            <a:ext cx="20066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① 发现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/Review/All 进入统一错误页，HTTP 500</a:t>
            </a:r>
            <a:endParaRPr lang="en-US" sz="1200" noProof="1"/>
          </a:p>
        </p:txBody>
      </p:sp>
      <p:sp>
        <p:nvSpPr>
          <p:cNvPr id="16" name="casear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3479800" y="477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7" name="casestep2"/>
          <p:cNvSpPr/>
          <p:nvPr/>
        </p:nvSpPr>
        <p:spPr>
          <a:xfrm>
            <a:off x="3784600" y="3987800"/>
            <a:ext cx="2362200" cy="1905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>
            <a:noFill/>
          </a:ln>
        </p:spPr>
      </p:sp>
      <p:sp>
        <p:nvSpPr>
          <p:cNvPr id="18" name="casestep2t"/>
          <p:cNvSpPr txBox="1"/>
          <p:nvPr/>
        </p:nvSpPr>
        <p:spPr>
          <a:xfrm>
            <a:off x="3962400" y="4140200"/>
            <a:ext cx="20066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② 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日志 ORA-00933：C# raw string 首尾换行不计入，两段 SQL 粘连</a:t>
            </a:r>
            <a:endParaRPr lang="en-US" sz="1200" noProof="1"/>
          </a:p>
        </p:txBody>
      </p:sp>
      <p:sp>
        <p:nvSpPr>
          <p:cNvPr id="19" name="casear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197600" y="477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20" name="casestep3"/>
          <p:cNvSpPr/>
          <p:nvPr/>
        </p:nvSpPr>
        <p:spPr>
          <a:xfrm>
            <a:off x="6502400" y="3987800"/>
            <a:ext cx="2362200" cy="1905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>
            <a:noFill/>
          </a:ln>
        </p:spPr>
      </p:sp>
      <p:sp>
        <p:nvSpPr>
          <p:cNvPr id="21" name="casestep3t"/>
          <p:cNvSpPr txBox="1"/>
          <p:nvPr/>
        </p:nvSpPr>
        <p:spPr>
          <a:xfrm>
            <a:off x="6680200" y="4140200"/>
            <a:ext cx="20066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③ 修复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3 处拼接补显式分隔符；真实 19c 库复现并验证</a:t>
            </a:r>
            <a:endParaRPr lang="en-US" sz="1200" noProof="1"/>
          </a:p>
        </p:txBody>
      </p:sp>
      <p:sp>
        <p:nvSpPr>
          <p:cNvPr id="22" name="casear3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8915400" y="477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23" name="casestep4"/>
          <p:cNvSpPr/>
          <p:nvPr/>
        </p:nvSpPr>
        <p:spPr>
          <a:xfrm>
            <a:off x="9220200" y="3987800"/>
            <a:ext cx="2209800" cy="1905000"/>
          </a:xfrm>
          <a:prstGeom prst="roundRect">
            <a:avLst>
              <a:gd name="adj" fmla="val 9000"/>
            </a:avLst>
          </a:prstGeom>
          <a:solidFill>
            <a:srgbClr val="E0F5F5"/>
          </a:solidFill>
          <a:ln>
            <a:noFill/>
          </a:ln>
        </p:spPr>
      </p:sp>
      <p:sp>
        <p:nvSpPr>
          <p:cNvPr id="24" name="casestep4t"/>
          <p:cNvSpPr txBox="1"/>
          <p:nvPr/>
        </p:nvSpPr>
        <p:spPr>
          <a:xfrm>
            <a:off x="9398000" y="4140200"/>
            <a:ext cx="18796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④ 回归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000000"/>
                </a:solidFill>
                <a:latin typeface="MiSans"/>
                <a:ea typeface="MiSans"/>
              </a:rPr>
              <a:t>编译 0 错误，39 项测试全过，页面恢复</a:t>
            </a:r>
            <a:endParaRPr lang="en-US" sz="1200" noProof="1"/>
          </a:p>
        </p:txBody>
      </p:sp>
      <p:sp>
        <p:nvSpPr>
          <p:cNvPr id="25" name="casenote"/>
          <p:cNvSpPr txBox="1"/>
          <p:nvPr/>
        </p:nvSpPr>
        <p:spPr>
          <a:xfrm>
            <a:off x="1066800" y="60452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全部验收证据留档于 docs/test-evidence/（截图 + 只读 SQL 输出），可随时复查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00A6A6"/>
                </a:solidFill>
                <a:latin typeface="MiSans"/>
                <a:ea typeface="MiSans"/>
              </a:rPr>
              <a:t>10 · 团队协作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35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0B1F3A"/>
                </a:solidFill>
                <a:latin typeface="MiSans"/>
                <a:ea typeface="MiSans"/>
              </a:rPr>
              <a:t>分工与个人贡献</a:t>
            </a:r>
            <a:endParaRPr lang="en-US" sz="3000" noProof="1"/>
          </a:p>
        </p:txBody>
      </p:sp>
      <p:sp>
        <p:nvSpPr>
          <p:cNvPr id="4" name="titlebar"/>
          <p:cNvSpPr/>
          <p:nvPr/>
        </p:nvSpPr>
        <p:spPr>
          <a:xfrm>
            <a:off x="762000" y="1270000"/>
            <a:ext cx="711200" cy="50800"/>
          </a:xfrm>
          <a:prstGeom prst="rect">
            <a:avLst/>
          </a:prstGeom>
          <a:gradFill rotWithShape="1">
            <a:gsLst>
              <a:gs pos="0">
                <a:srgbClr val="0B4FB3"/>
              </a:gs>
              <a:gs pos="100000">
                <a:srgbClr val="00A6A6"/>
              </a:gs>
            </a:gsLst>
            <a:lin ang="0" scaled="1"/>
          </a:gradFill>
          <a:ln>
            <a:noFill/>
          </a:ln>
        </p:spPr>
      </p:sp>
      <p:sp>
        <p:nvSpPr>
          <p:cNvPr id="5" name="pagenum"/>
          <p:cNvSpPr txBox="1"/>
          <p:nvPr/>
        </p:nvSpPr>
        <p:spPr>
          <a:xfrm>
            <a:off x="11176000" y="6413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64748B"/>
                </a:solidFill>
                <a:latin typeface="MiSans"/>
                <a:ea typeface="MiSans"/>
              </a:rPr>
              <a:t>11 / 12</a:t>
            </a:r>
            <a:endParaRPr lang="en-US" sz="1200" noProof="1"/>
          </a:p>
        </p:txBody>
      </p:sp>
      <p:graphicFrame>
        <p:nvGraphicFramePr>
          <p:cNvPr id="6" name="teamtable"/>
          <p:cNvGraphicFramePr>
            <a:graphicFrameLocks noGrp="1"/>
          </p:cNvGraphicFramePr>
          <p:nvPr/>
        </p:nvGraphicFramePr>
        <p:xfrm>
          <a:off x="762000" y="1676400"/>
          <a:ext cx="10668000" cy="3403600"/>
        </p:xfrm>
        <a:graphic>
          <a:graphicData uri="http://schemas.openxmlformats.org/drawingml/2006/table">
            <a:tbl>
              <a:tblPr/>
              <a:tblGrid>
                <a:gridCol w="1493520"/>
                <a:gridCol w="3200400"/>
                <a:gridCol w="3627120"/>
                <a:gridCol w="2346960"/>
              </a:tblGrid>
              <a:tr h="47650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负责模块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关键贡献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工作量证据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0B4FB3"/>
                    </a:solidFill>
                  </a:tcPr>
                </a:tc>
              </a:tr>
              <a:tr h="585419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成员A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账户 / 地址 / 用户管理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账号生命周期、密码哈希迁移工具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提交记录 + 测试用例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419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成员B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任务 / 接派 / 配送执行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任务状态机、并发接单控制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提交记录 + 验收截图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585419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成员C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支付 / 退款 / 评价 / 投诉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资金链路、信誉分联动、ORA-00933 缺陷修复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提交记录 + 缺陷记录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419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成员D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结算 / 审计 / 报表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结算候选算法、三类审计核查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提交记录 + SQL 证据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585419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全组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数据库设计 / 文档 / 联调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24 表设计、14 份文档、云端共享库联调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docs/ 目录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CE7F5"/>
                      </a:solidFill>
                    </a:lnL>
                    <a:lnR w="12700">
                      <a:solidFill>
                        <a:srgbClr val="DCE7F5"/>
                      </a:solidFill>
                    </a:lnR>
                    <a:lnT w="12700">
                      <a:solidFill>
                        <a:srgbClr val="DCE7F5"/>
                      </a:solidFill>
                    </a:lnT>
                    <a:lnB w="12700">
                      <a:solidFill>
                        <a:srgbClr val="DCE7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ipcard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</p:spPr>
      </p:sp>
      <p:sp>
        <p:nvSpPr>
          <p:cNvPr id="8" name="tiptext"/>
          <p:cNvSpPr txBox="1"/>
          <p:nvPr/>
        </p:nvSpPr>
        <p:spPr>
          <a:xfrm>
            <a:off x="1066800" y="55626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答辩自述建议：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每人用 30 秒讲清三件事——我负责的模块是什么、我做了哪个关键设计决策、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它解决了什么问题。避免只报模块名，要讲出"为什么这么做"。</a:t>
            </a:r>
            <a:endParaRPr lang="en-US" sz="13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F3A"/>
            </a:gs>
            <a:gs pos="100000">
              <a:srgbClr val="0B4FB3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5588000" y="889000"/>
            <a:ext cx="1016000" cy="1016000"/>
          </a:xfrm>
          <a:prstGeom prst="rect">
            <a:avLst/>
          </a:prstGeom>
          <a:ln>
            <a:noFill/>
          </a:ln>
        </p:spPr>
      </p:pic>
      <p:sp>
        <p:nvSpPr>
          <p:cNvPr id="3" name="title"/>
          <p:cNvSpPr txBox="1"/>
          <p:nvPr/>
        </p:nvSpPr>
        <p:spPr>
          <a:xfrm>
            <a:off x="1651000" y="21590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600" noProof="1" b="1">
                <a:solidFill>
                  <a:srgbClr val="FFFFFF"/>
                </a:solidFill>
                <a:latin typeface="MiSans"/>
                <a:ea typeface="MiSans"/>
              </a:rPr>
              <a:t>总结与展望</a:t>
            </a:r>
            <a:endParaRPr lang="en-US" sz="3600" noProof="1"/>
          </a:p>
        </p:txBody>
      </p:sp>
      <p:sp>
        <p:nvSpPr>
          <p:cNvPr id="4" name="stats"/>
          <p:cNvSpPr txBox="1"/>
          <p:nvPr/>
        </p:nvSpPr>
        <p:spPr>
          <a:xfrm>
            <a:off x="1651000" y="3098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DCE7F5"/>
                </a:solidFill>
                <a:latin typeface="MiSans"/>
                <a:ea typeface="MiSans"/>
              </a:rPr>
              <a:t>24</a:t>
            </a:r>
            <a:r>
              <a:rPr lang="en-US" sz="1600" noProof="1">
                <a:solidFill>
                  <a:srgbClr val="DCE7F5"/>
                </a:solidFill>
                <a:latin typeface="MiSans"/>
                <a:ea typeface="MiSans"/>
              </a:rPr>
              <a:t> 张表 · </a:t>
            </a:r>
            <a:r>
              <a:rPr lang="en-US" sz="1600" noProof="1" b="1">
                <a:solidFill>
                  <a:srgbClr val="DCE7F5"/>
                </a:solidFill>
                <a:latin typeface="MiSans"/>
                <a:ea typeface="MiSans"/>
              </a:rPr>
              <a:t>84</a:t>
            </a:r>
            <a:r>
              <a:rPr lang="en-US" sz="1600" noProof="1">
                <a:solidFill>
                  <a:srgbClr val="DCE7F5"/>
                </a:solidFill>
                <a:latin typeface="MiSans"/>
                <a:ea typeface="MiSans"/>
              </a:rPr>
              <a:t> 个端点 · </a:t>
            </a:r>
            <a:r>
              <a:rPr lang="en-US" sz="1600" noProof="1" b="1">
                <a:solidFill>
                  <a:srgbClr val="DCE7F5"/>
                </a:solidFill>
                <a:latin typeface="MiSans"/>
                <a:ea typeface="MiSans"/>
              </a:rPr>
              <a:t>五层</a:t>
            </a:r>
            <a:r>
              <a:rPr lang="en-US" sz="1600" noProof="1">
                <a:solidFill>
                  <a:srgbClr val="DCE7F5"/>
                </a:solidFill>
                <a:latin typeface="MiSans"/>
                <a:ea typeface="MiSans"/>
              </a:rPr>
              <a:t> MVC · </a:t>
            </a:r>
            <a:r>
              <a:rPr lang="en-US" sz="1600" noProof="1" b="1">
                <a:solidFill>
                  <a:srgbClr val="DCE7F5"/>
                </a:solidFill>
                <a:latin typeface="MiSans"/>
                <a:ea typeface="MiSans"/>
              </a:rPr>
              <a:t>39</a:t>
            </a:r>
            <a:r>
              <a:rPr lang="en-US" sz="1600" noProof="1">
                <a:solidFill>
                  <a:srgbClr val="DCE7F5"/>
                </a:solidFill>
                <a:latin typeface="MiSans"/>
                <a:ea typeface="MiSans"/>
              </a:rPr>
              <a:t> 项测试 · 完整业务闭环</a:t>
            </a:r>
            <a:endParaRPr lang="en-US" sz="1600" noProof="1"/>
          </a:p>
        </p:txBody>
      </p:sp>
      <p:sp>
        <p:nvSpPr>
          <p:cNvPr id="5" name="outlookcard"/>
          <p:cNvSpPr/>
          <p:nvPr/>
        </p:nvSpPr>
        <p:spPr>
          <a:xfrm>
            <a:off x="2413000" y="38862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6" name="outlook"/>
          <p:cNvSpPr txBox="1"/>
          <p:nvPr/>
        </p:nvSpPr>
        <p:spPr>
          <a:xfrm>
            <a:off x="2870200" y="4089400"/>
            <a:ext cx="6451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 b="1">
                <a:solidFill>
                  <a:srgbClr val="F59E0B"/>
                </a:solidFill>
                <a:latin typeface="MiSans"/>
                <a:ea typeface="MiSans"/>
              </a:rPr>
              <a:t>展望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DCE7F5"/>
                </a:solidFill>
                <a:latin typeface="MiSans"/>
                <a:ea typeface="MiSans"/>
              </a:rPr>
              <a:t>· 消息通知：任务状态实时推送给发单方与跑腿员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DCE7F5"/>
                </a:solidFill>
                <a:latin typeface="MiSans"/>
                <a:ea typeface="MiSans"/>
              </a:rPr>
              <a:t>· 智能派单：按跑腿员位置、负载与信誉分自动撮合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DCE7F5"/>
                </a:solidFill>
                <a:latin typeface="MiSans"/>
                <a:ea typeface="MiSans"/>
              </a:rPr>
              <a:t>· 移动端：小程序 / App 形态覆盖更多使用场景</a:t>
            </a:r>
            <a:endParaRPr lang="en-US" sz="1400" noProof="1"/>
          </a:p>
        </p:txBody>
      </p:sp>
      <p:sp>
        <p:nvSpPr>
          <p:cNvPr id="7" name="slogan"/>
          <p:cNvSpPr txBox="1"/>
          <p:nvPr/>
        </p:nvSpPr>
        <p:spPr>
          <a:xfrm>
            <a:off x="1651000" y="58166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F59E0B"/>
                </a:solidFill>
                <a:latin typeface="MiSans"/>
                <a:ea typeface="MiSans"/>
              </a:rPr>
              <a:t>校内需求，一路送达 —— 感谢聆听，请老师批评指正</a:t>
            </a:r>
            <a:endParaRPr lang="en-US" sz="17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12</Slides>
</Properties>
</file>

<file path=docProps/core.xml><?xml version="1.0" encoding="utf-8"?>
<cp:coreProperties xmlns:dc="http://purl.org/dc/elements/1.1/" xmlns:cp="http://schemas.openxmlformats.org/package/2006/metadata/core-properties">
  <dc:title>济跑跑 JiRun 校园跑腿系统 · 答辩汇报</dc:title>
  <dc:subject>济跑跑 JiRun 校园跑腿系统 · 答辩汇报</dc:subject>
  <dc:creator>Kimi</dc:creato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>{"Label":"济跑跑 JiRun 校园跑腿系统 · 答辩汇报","ContentProducer":"001191110108MACG2KBH8F10000","ProduceID":"jirun-defense","ReservedCode1":"","ContentPropagator":"001191110108MACG2KBH8F20000","PropagateID":"agent:main:main:conversation:71b352a6-5491-4bea-aad8-4595a3a568b8","ReservedCode2":""}</vt:lpwstr>
  </property>
</Properties>
</file>