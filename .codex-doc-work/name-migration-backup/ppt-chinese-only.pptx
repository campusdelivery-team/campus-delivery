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34918ebf9e47d9" /><Relationship Type="http://schemas.openxmlformats.org/officeDocument/2006/relationships/extended-properties" Target="/docProps/app.xml" Id="Rddd2396923e54d8a" /><Relationship Type="http://schemas.openxmlformats.org/officeDocument/2006/relationships/officeDocument" Target="/ppt/presentation.xml" Id="Rd26e2b53514b466a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60fdf03a194f4662"/>
  </p:sldMasterIdLst>
  <p:notesMasterIdLst>
    <p:notesMasterId xmlns:r="http://schemas.openxmlformats.org/officeDocument/2006/relationships" r:id="Re8043195352c4204"/>
  </p:notesMasterIdLst>
  <p:sldIdLst>
    <p:sldId xmlns:r="http://schemas.openxmlformats.org/officeDocument/2006/relationships" id="256" r:id="R96abd21794104e0d"/>
    <p:sldId xmlns:r="http://schemas.openxmlformats.org/officeDocument/2006/relationships" id="257" r:id="Re14784a11e454c7c"/>
    <p:sldId xmlns:r="http://schemas.openxmlformats.org/officeDocument/2006/relationships" id="258" r:id="R2d0fe08fd70c4d8b"/>
    <p:sldId xmlns:r="http://schemas.openxmlformats.org/officeDocument/2006/relationships" id="259" r:id="Re4fb8744fcdf481e"/>
    <p:sldId xmlns:r="http://schemas.openxmlformats.org/officeDocument/2006/relationships" id="260" r:id="R6b8dd8d022db4906"/>
    <p:sldId xmlns:r="http://schemas.openxmlformats.org/officeDocument/2006/relationships" id="261" r:id="R2974e4e97e2947bd"/>
    <p:sldId xmlns:r="http://schemas.openxmlformats.org/officeDocument/2006/relationships" id="262" r:id="R78382d1714384022"/>
    <p:sldId xmlns:r="http://schemas.openxmlformats.org/officeDocument/2006/relationships" id="263" r:id="R0a3592fc49864826"/>
    <p:sldId xmlns:r="http://schemas.openxmlformats.org/officeDocument/2006/relationships" id="264" r:id="R2ea16e6453254a98"/>
    <p:sldId xmlns:r="http://schemas.openxmlformats.org/officeDocument/2006/relationships" id="265" r:id="R773d0138ceb34371"/>
    <p:sldId xmlns:r="http://schemas.openxmlformats.org/officeDocument/2006/relationships" id="266" r:id="R764f06ea8f3b4bd4"/>
    <p:sldId xmlns:r="http://schemas.openxmlformats.org/officeDocument/2006/relationships" id="267" r:id="Raf503fe2f0914c22"/>
    <p:sldId xmlns:r="http://schemas.openxmlformats.org/officeDocument/2006/relationships" id="268" r:id="R1e5b145c9efe4b51"/>
    <p:sldId xmlns:r="http://schemas.openxmlformats.org/officeDocument/2006/relationships" id="269" r:id="R8bf06fec64e04e5a"/>
    <p:sldId xmlns:r="http://schemas.openxmlformats.org/officeDocument/2006/relationships" id="270" r:id="R40ca60306b9044e9"/>
    <p:sldId xmlns:r="http://schemas.openxmlformats.org/officeDocument/2006/relationships" id="271" r:id="R9bdd3e943d74494b"/>
    <p:sldId xmlns:r="http://schemas.openxmlformats.org/officeDocument/2006/relationships" id="272" r:id="Re52acac8a3b04213"/>
    <p:sldId xmlns:r="http://schemas.openxmlformats.org/officeDocument/2006/relationships" id="273" r:id="Rdb43887be2414641"/>
    <p:sldId xmlns:r="http://schemas.openxmlformats.org/officeDocument/2006/relationships" id="274" r:id="R6015fa62b6544fdc"/>
    <p:sldId xmlns:r="http://schemas.openxmlformats.org/officeDocument/2006/relationships" id="275" r:id="R4ca95a2764254e3d"/>
    <p:sldId xmlns:r="http://schemas.openxmlformats.org/officeDocument/2006/relationships" id="276" r:id="Ra093b7d780bd4e27"/>
    <p:sldId xmlns:r="http://schemas.openxmlformats.org/officeDocument/2006/relationships" id="277" r:id="R167f1d97d4594b5a"/>
    <p:sldId xmlns:r="http://schemas.openxmlformats.org/officeDocument/2006/relationships" id="278" r:id="Rb818f78af4e946db"/>
    <p:sldId xmlns:r="http://schemas.openxmlformats.org/officeDocument/2006/relationships" id="279" r:id="R2acca3cb151b41c9"/>
    <p:sldId xmlns:r="http://schemas.openxmlformats.org/officeDocument/2006/relationships" id="280" r:id="R352de8be44a34675"/>
    <p:sldId xmlns:r="http://schemas.openxmlformats.org/officeDocument/2006/relationships" id="281" r:id="R07ca9620f5af42fc"/>
    <p:sldId xmlns:r="http://schemas.openxmlformats.org/officeDocument/2006/relationships" id="282" r:id="Rad24d51fc0e647cc"/>
    <p:sldId xmlns:r="http://schemas.openxmlformats.org/officeDocument/2006/relationships" id="283" r:id="R6298d9a97e4c4da3"/>
    <p:sldId xmlns:r="http://schemas.openxmlformats.org/officeDocument/2006/relationships" id="284" r:id="R182ed9e6948a4079"/>
    <p:sldId xmlns:r="http://schemas.openxmlformats.org/officeDocument/2006/relationships" id="285" r:id="R675b69054ec042fc"/>
    <p:sldId xmlns:r="http://schemas.openxmlformats.org/officeDocument/2006/relationships" id="286" r:id="Rf24e1b9aa8ce4f9d"/>
    <p:sldId xmlns:r="http://schemas.openxmlformats.org/officeDocument/2006/relationships" id="287" r:id="R3305ca7d15f24027"/>
    <p:sldId xmlns:r="http://schemas.openxmlformats.org/officeDocument/2006/relationships" id="288" r:id="R95ac08e6c89b4541"/>
    <p:sldId xmlns:r="http://schemas.openxmlformats.org/officeDocument/2006/relationships" id="289" r:id="Rdee5433f9ece4684"/>
    <p:sldId xmlns:r="http://schemas.openxmlformats.org/officeDocument/2006/relationships" id="290" r:id="Rcf431776dfd5485f"/>
    <p:sldId xmlns:r="http://schemas.openxmlformats.org/officeDocument/2006/relationships" id="291" r:id="Rac566d2b92314828"/>
    <p:sldId xmlns:r="http://schemas.openxmlformats.org/officeDocument/2006/relationships" id="292" r:id="R038c5e51a038460b"/>
    <p:sldId xmlns:r="http://schemas.openxmlformats.org/officeDocument/2006/relationships" id="293" r:id="Rf509e8ceb85b4a44"/>
    <p:sldId xmlns:r="http://schemas.openxmlformats.org/officeDocument/2006/relationships" id="294" r:id="R2cdf3d04c4254aad"/>
    <p:sldId xmlns:r="http://schemas.openxmlformats.org/officeDocument/2006/relationships" id="295" r:id="Re08d4ee3b72e428c"/>
    <p:sldId xmlns:r="http://schemas.openxmlformats.org/officeDocument/2006/relationships" id="296" r:id="Rea32acf7d98e4ca6"/>
    <p:sldId xmlns:r="http://schemas.openxmlformats.org/officeDocument/2006/relationships" id="297" r:id="R2eb168048478421c"/>
    <p:sldId xmlns:r="http://schemas.openxmlformats.org/officeDocument/2006/relationships" id="298" r:id="R36087756cf554e65"/>
    <p:sldId xmlns:r="http://schemas.openxmlformats.org/officeDocument/2006/relationships" id="299" r:id="Rf0d9b3609221452b"/>
  </p:sldIdLst>
  <p:sldSz cx="12192000" cy="6858000"/>
  <p:notesSz cx="6858000" cy="9144000"/>
  <p:embeddedFontLst>
    <p:embeddedFont>
      <p:font typeface="MiSans"/>
      <p:regular xmlns:r="http://schemas.openxmlformats.org/officeDocument/2006/relationships" r:id="Ra0a0dd4de6cb4c78"/>
    </p:embeddedFont>
    <p:embeddedFont>
      <p:font typeface="JetBrains Mono"/>
      <p:regular xmlns:r="http://schemas.openxmlformats.org/officeDocument/2006/relationships" r:id="Ra8073917e6e04d23"/>
    </p:embeddedFont>
    <p:embeddedFont>
      <p:font typeface="等线"/>
      <p:regular xmlns:r="http://schemas.openxmlformats.org/officeDocument/2006/relationships" r:id="Rf738be4425664082"/>
      <p:bold xmlns:r="http://schemas.openxmlformats.org/officeDocument/2006/relationships" r:id="R79c5c56b45a34c0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82144b1fe84f32" /><Relationship Type="http://schemas.openxmlformats.org/officeDocument/2006/relationships/slideMaster" Target="/ppt/slideMasters/slideMaster1.xml" Id="R60fdf03a194f4662" /><Relationship Type="http://schemas.openxmlformats.org/officeDocument/2006/relationships/notesMaster" Target="/ppt/notesMasters/notesMaster1.xml" Id="Re8043195352c4204" /><Relationship Type="http://schemas.openxmlformats.org/officeDocument/2006/relationships/presProps" Target="/ppt/presProps.xml" Id="Rbcfce24b9acb4555" /><Relationship Type="http://schemas.openxmlformats.org/officeDocument/2006/relationships/viewProps" Target="/ppt/viewProps.xml" Id="R2a583c679f9b4127" /><Relationship Type="http://schemas.openxmlformats.org/officeDocument/2006/relationships/tableStyles" Target="/ppt/tableStyles.xml" Id="R80e067a6fc7b49a7" /><Relationship Type="http://schemas.openxmlformats.org/officeDocument/2006/relationships/font" Target="/ppt/fonts/font.dat" Id="Ra0a0dd4de6cb4c78" /><Relationship Type="http://schemas.openxmlformats.org/officeDocument/2006/relationships/font" Target="/ppt/fonts/font2.dat" Id="Ra8073917e6e04d23" /><Relationship Type="http://schemas.openxmlformats.org/officeDocument/2006/relationships/font" Target="/ppt/fonts/font3.dat" Id="Rf738be4425664082" /><Relationship Type="http://schemas.openxmlformats.org/officeDocument/2006/relationships/font" Target="/ppt/fonts/font4.dat" Id="R79c5c56b45a34c0e" /><Relationship Type="http://schemas.openxmlformats.org/officeDocument/2006/relationships/slide" Target="/ppt/slides/slide1.xml" Id="R96abd21794104e0d" /><Relationship Type="http://schemas.openxmlformats.org/officeDocument/2006/relationships/slide" Target="/ppt/slides/slide2.xml" Id="Re14784a11e454c7c" /><Relationship Type="http://schemas.openxmlformats.org/officeDocument/2006/relationships/slide" Target="/ppt/slides/slide3.xml" Id="R2d0fe08fd70c4d8b" /><Relationship Type="http://schemas.openxmlformats.org/officeDocument/2006/relationships/slide" Target="/ppt/slides/slide4.xml" Id="Re4fb8744fcdf481e" /><Relationship Type="http://schemas.openxmlformats.org/officeDocument/2006/relationships/slide" Target="/ppt/slides/slide5.xml" Id="R6b8dd8d022db4906" /><Relationship Type="http://schemas.openxmlformats.org/officeDocument/2006/relationships/slide" Target="/ppt/slides/slide6.xml" Id="R2974e4e97e2947bd" /><Relationship Type="http://schemas.openxmlformats.org/officeDocument/2006/relationships/slide" Target="/ppt/slides/slide7.xml" Id="R78382d1714384022" /><Relationship Type="http://schemas.openxmlformats.org/officeDocument/2006/relationships/slide" Target="/ppt/slides/slide8.xml" Id="R0a3592fc49864826" /><Relationship Type="http://schemas.openxmlformats.org/officeDocument/2006/relationships/slide" Target="/ppt/slides/slide9.xml" Id="R2ea16e6453254a98" /><Relationship Type="http://schemas.openxmlformats.org/officeDocument/2006/relationships/slide" Target="/ppt/slides/slide10.xml" Id="R773d0138ceb34371" /><Relationship Type="http://schemas.openxmlformats.org/officeDocument/2006/relationships/slide" Target="/ppt/slides/slide11.xml" Id="R764f06ea8f3b4bd4" /><Relationship Type="http://schemas.openxmlformats.org/officeDocument/2006/relationships/slide" Target="/ppt/slides/slide12.xml" Id="Raf503fe2f0914c22" /><Relationship Type="http://schemas.openxmlformats.org/officeDocument/2006/relationships/slide" Target="/ppt/slides/slide13.xml" Id="R1e5b145c9efe4b51" /><Relationship Type="http://schemas.openxmlformats.org/officeDocument/2006/relationships/slide" Target="/ppt/slides/slide14.xml" Id="R8bf06fec64e04e5a" /><Relationship Type="http://schemas.openxmlformats.org/officeDocument/2006/relationships/slide" Target="/ppt/slides/slide15.xml" Id="R40ca60306b9044e9" /><Relationship Type="http://schemas.openxmlformats.org/officeDocument/2006/relationships/slide" Target="/ppt/slides/slide16.xml" Id="R9bdd3e943d74494b" /><Relationship Type="http://schemas.openxmlformats.org/officeDocument/2006/relationships/slide" Target="/ppt/slides/slide17.xml" Id="Re52acac8a3b04213" /><Relationship Type="http://schemas.openxmlformats.org/officeDocument/2006/relationships/slide" Target="/ppt/slides/slide18.xml" Id="Rdb43887be2414641" /><Relationship Type="http://schemas.openxmlformats.org/officeDocument/2006/relationships/slide" Target="/ppt/slides/slide19.xml" Id="R6015fa62b6544fdc" /><Relationship Type="http://schemas.openxmlformats.org/officeDocument/2006/relationships/slide" Target="/ppt/slides/slide20.xml" Id="R4ca95a2764254e3d" /><Relationship Type="http://schemas.openxmlformats.org/officeDocument/2006/relationships/slide" Target="/ppt/slides/slide21.xml" Id="Ra093b7d780bd4e27" /><Relationship Type="http://schemas.openxmlformats.org/officeDocument/2006/relationships/slide" Target="/ppt/slides/slide22.xml" Id="R167f1d97d4594b5a" /><Relationship Type="http://schemas.openxmlformats.org/officeDocument/2006/relationships/slide" Target="/ppt/slides/slide23.xml" Id="Rb818f78af4e946db" /><Relationship Type="http://schemas.openxmlformats.org/officeDocument/2006/relationships/slide" Target="/ppt/slides/slide24.xml" Id="R2acca3cb151b41c9" /><Relationship Type="http://schemas.openxmlformats.org/officeDocument/2006/relationships/slide" Target="/ppt/slides/slide25.xml" Id="R352de8be44a34675" /><Relationship Type="http://schemas.openxmlformats.org/officeDocument/2006/relationships/slide" Target="/ppt/slides/slide26.xml" Id="R07ca9620f5af42fc" /><Relationship Type="http://schemas.openxmlformats.org/officeDocument/2006/relationships/slide" Target="/ppt/slides/slide27.xml" Id="Rad24d51fc0e647cc" /><Relationship Type="http://schemas.openxmlformats.org/officeDocument/2006/relationships/slide" Target="/ppt/slides/slide28.xml" Id="R6298d9a97e4c4da3" /><Relationship Type="http://schemas.openxmlformats.org/officeDocument/2006/relationships/slide" Target="/ppt/slides/slide29.xml" Id="R182ed9e6948a4079" /><Relationship Type="http://schemas.openxmlformats.org/officeDocument/2006/relationships/slide" Target="/ppt/slides/slide30.xml" Id="R675b69054ec042fc" /><Relationship Type="http://schemas.openxmlformats.org/officeDocument/2006/relationships/slide" Target="/ppt/slides/slide31.xml" Id="Rf24e1b9aa8ce4f9d" /><Relationship Type="http://schemas.openxmlformats.org/officeDocument/2006/relationships/slide" Target="/ppt/slides/slide32.xml" Id="R3305ca7d15f24027" /><Relationship Type="http://schemas.openxmlformats.org/officeDocument/2006/relationships/slide" Target="/ppt/slides/slide33.xml" Id="R95ac08e6c89b4541" /><Relationship Type="http://schemas.openxmlformats.org/officeDocument/2006/relationships/slide" Target="/ppt/slides/slide34.xml" Id="Rdee5433f9ece4684" /><Relationship Type="http://schemas.openxmlformats.org/officeDocument/2006/relationships/slide" Target="/ppt/slides/slide35.xml" Id="Rcf431776dfd5485f" /><Relationship Type="http://schemas.openxmlformats.org/officeDocument/2006/relationships/slide" Target="/ppt/slides/slide36.xml" Id="Rac566d2b92314828" /><Relationship Type="http://schemas.openxmlformats.org/officeDocument/2006/relationships/slide" Target="/ppt/slides/slide37.xml" Id="R038c5e51a038460b" /><Relationship Type="http://schemas.openxmlformats.org/officeDocument/2006/relationships/slide" Target="/ppt/slides/slide38.xml" Id="Rf509e8ceb85b4a44" /><Relationship Type="http://schemas.openxmlformats.org/officeDocument/2006/relationships/slide" Target="/ppt/slides/slide39.xml" Id="R2cdf3d04c4254aad" /><Relationship Type="http://schemas.openxmlformats.org/officeDocument/2006/relationships/slide" Target="/ppt/slides/slide40.xml" Id="Re08d4ee3b72e428c" /><Relationship Type="http://schemas.openxmlformats.org/officeDocument/2006/relationships/slide" Target="/ppt/slides/slide41.xml" Id="Rea32acf7d98e4ca6" /><Relationship Type="http://schemas.openxmlformats.org/officeDocument/2006/relationships/slide" Target="/ppt/slides/slide42.xml" Id="R2eb168048478421c" /><Relationship Type="http://schemas.openxmlformats.org/officeDocument/2006/relationships/slide" Target="/ppt/slides/slide43.xml" Id="R36087756cf554e65" /><Relationship Type="http://schemas.openxmlformats.org/officeDocument/2006/relationships/slide" Target="/ppt/slides/slide44.xml" Id="Rf0d9b360922145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04c092085444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d51c0866fb402e" /><Relationship Type="http://schemas.openxmlformats.org/officeDocument/2006/relationships/notesMaster" Target="/ppt/notesMasters/notesMaster1.xml" Id="R4b75a15e2a6a49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f1e3986dc54ec4" /><Relationship Type="http://schemas.openxmlformats.org/officeDocument/2006/relationships/notesMaster" Target="/ppt/notesMasters/notesMaster1.xml" Id="R6260fdaa94b244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5712c3d890457a" /><Relationship Type="http://schemas.openxmlformats.org/officeDocument/2006/relationships/notesMaster" Target="/ppt/notesMasters/notesMaster1.xml" Id="R266b9156054040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aed0c582a1458d" /><Relationship Type="http://schemas.openxmlformats.org/officeDocument/2006/relationships/notesMaster" Target="/ppt/notesMasters/notesMaster1.xml" Id="R3a538d8caddb45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a8e776272d4b25" /><Relationship Type="http://schemas.openxmlformats.org/officeDocument/2006/relationships/notesMaster" Target="/ppt/notesMasters/notesMaster1.xml" Id="Rb2daa1b4c96a45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b85f292acd4c28" /><Relationship Type="http://schemas.openxmlformats.org/officeDocument/2006/relationships/notesMaster" Target="/ppt/notesMasters/notesMaster1.xml" Id="Rebe7515eea1b49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bd8656e6a345d4" /><Relationship Type="http://schemas.openxmlformats.org/officeDocument/2006/relationships/notesMaster" Target="/ppt/notesMasters/notesMaster1.xml" Id="R673fcc970a0d41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2fec01762c4511" /><Relationship Type="http://schemas.openxmlformats.org/officeDocument/2006/relationships/notesMaster" Target="/ppt/notesMasters/notesMaster1.xml" Id="R0022bad1297047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3b5266aee74778" /><Relationship Type="http://schemas.openxmlformats.org/officeDocument/2006/relationships/notesMaster" Target="/ppt/notesMasters/notesMaster1.xml" Id="R7bf46ebe511e45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cf6cfd8de741a5" /><Relationship Type="http://schemas.openxmlformats.org/officeDocument/2006/relationships/notesMaster" Target="/ppt/notesMasters/notesMaster1.xml" Id="Re69e18ae8c5249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76cb7e108b4f6e" /><Relationship Type="http://schemas.openxmlformats.org/officeDocument/2006/relationships/notesMaster" Target="/ppt/notesMasters/notesMaster1.xml" Id="R0c0e6e1a67bf4f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2d07af2cf24162" /><Relationship Type="http://schemas.openxmlformats.org/officeDocument/2006/relationships/notesMaster" Target="/ppt/notesMasters/notesMaster1.xml" Id="Re8ead8cae02946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a1f0a69abf4c10" /><Relationship Type="http://schemas.openxmlformats.org/officeDocument/2006/relationships/notesMaster" Target="/ppt/notesMasters/notesMaster1.xml" Id="R6ef1f7ae57cb47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4643c458744764" /><Relationship Type="http://schemas.openxmlformats.org/officeDocument/2006/relationships/notesMaster" Target="/ppt/notesMasters/notesMaster1.xml" Id="R0d8d56ee92f341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5ec4b24b9c4f4c" /><Relationship Type="http://schemas.openxmlformats.org/officeDocument/2006/relationships/notesMaster" Target="/ppt/notesMasters/notesMaster1.xml" Id="Rc8b04eaa7bdf40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4a1c50313a64fbb" /><Relationship Type="http://schemas.openxmlformats.org/officeDocument/2006/relationships/notesMaster" Target="/ppt/notesMasters/notesMaster1.xml" Id="Re47cf82ef6c147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259c51da40846c5" /><Relationship Type="http://schemas.openxmlformats.org/officeDocument/2006/relationships/notesMaster" Target="/ppt/notesMasters/notesMaster1.xml" Id="Raa30f61736ac42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069c95b8d54567" /><Relationship Type="http://schemas.openxmlformats.org/officeDocument/2006/relationships/notesMaster" Target="/ppt/notesMasters/notesMaster1.xml" Id="R6b5df4af17bc4d7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507f79dcfc44ca" /><Relationship Type="http://schemas.openxmlformats.org/officeDocument/2006/relationships/notesMaster" Target="/ppt/notesMasters/notesMaster1.xml" Id="R713f717c0559416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497b6d78305445d" /><Relationship Type="http://schemas.openxmlformats.org/officeDocument/2006/relationships/notesMaster" Target="/ppt/notesMasters/notesMaster1.xml" Id="Ra32f1244cc73490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5ca6e2a9c4a44c4" /><Relationship Type="http://schemas.openxmlformats.org/officeDocument/2006/relationships/notesMaster" Target="/ppt/notesMasters/notesMaster1.xml" Id="R9bb3ff9f5e8a43d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5baaedf897b45ea" /><Relationship Type="http://schemas.openxmlformats.org/officeDocument/2006/relationships/notesMaster" Target="/ppt/notesMasters/notesMaster1.xml" Id="R6b56050f49de4f8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93d5a26072f4246" /><Relationship Type="http://schemas.openxmlformats.org/officeDocument/2006/relationships/notesMaster" Target="/ppt/notesMasters/notesMaster1.xml" Id="Rd2d40a72a38e4dd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cfad59b59bd49c4" /><Relationship Type="http://schemas.openxmlformats.org/officeDocument/2006/relationships/notesMaster" Target="/ppt/notesMasters/notesMaster1.xml" Id="R098bd5a6e04b4c9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9e7cd6cc8bc464d" /><Relationship Type="http://schemas.openxmlformats.org/officeDocument/2006/relationships/notesMaster" Target="/ppt/notesMasters/notesMaster1.xml" Id="R378c09931138431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741358f65964949" /><Relationship Type="http://schemas.openxmlformats.org/officeDocument/2006/relationships/notesMaster" Target="/ppt/notesMasters/notesMaster1.xml" Id="Rcf24284d3e654d3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a9ca984b2fb419b" /><Relationship Type="http://schemas.openxmlformats.org/officeDocument/2006/relationships/notesMaster" Target="/ppt/notesMasters/notesMaster1.xml" Id="R5cd279b25591475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02bc03ba52647e8" /><Relationship Type="http://schemas.openxmlformats.org/officeDocument/2006/relationships/notesMaster" Target="/ppt/notesMasters/notesMaster1.xml" Id="R5c130ffb10174e4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21a69bcc0754918" /><Relationship Type="http://schemas.openxmlformats.org/officeDocument/2006/relationships/notesMaster" Target="/ppt/notesMasters/notesMaster1.xml" Id="Recf53ec0be51486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c7dc0b6d06a4191" /><Relationship Type="http://schemas.openxmlformats.org/officeDocument/2006/relationships/notesMaster" Target="/ppt/notesMasters/notesMaster1.xml" Id="R522bb49d94dd452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10886da03394d95" /><Relationship Type="http://schemas.openxmlformats.org/officeDocument/2006/relationships/notesMaster" Target="/ppt/notesMasters/notesMaster1.xml" Id="R1bf6cf9b98c1454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11f892d24d8464b" /><Relationship Type="http://schemas.openxmlformats.org/officeDocument/2006/relationships/notesMaster" Target="/ppt/notesMasters/notesMaster1.xml" Id="R00192790f5d34ba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4d405e2c40f4639" /><Relationship Type="http://schemas.openxmlformats.org/officeDocument/2006/relationships/notesMaster" Target="/ppt/notesMasters/notesMaster1.xml" Id="Rf62858a628324ec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2d95b7cdb834415" /><Relationship Type="http://schemas.openxmlformats.org/officeDocument/2006/relationships/notesMaster" Target="/ppt/notesMasters/notesMaster1.xml" Id="R59898ec40f924e7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8d0567dcf3a46ce" /><Relationship Type="http://schemas.openxmlformats.org/officeDocument/2006/relationships/notesMaster" Target="/ppt/notesMasters/notesMaster1.xml" Id="R624e4c4dce904a7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b8e9768b93e42b4" /><Relationship Type="http://schemas.openxmlformats.org/officeDocument/2006/relationships/notesMaster" Target="/ppt/notesMasters/notesMaster1.xml" Id="Rfe6d41dbbcec47e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eca1665c9d747ef" /><Relationship Type="http://schemas.openxmlformats.org/officeDocument/2006/relationships/notesMaster" Target="/ppt/notesMasters/notesMaster1.xml" Id="Rce53aaf207904c2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18d987507874f60" /><Relationship Type="http://schemas.openxmlformats.org/officeDocument/2006/relationships/notesMaster" Target="/ppt/notesMasters/notesMaster1.xml" Id="R9003e0cc9578412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640c433258440d8" /><Relationship Type="http://schemas.openxmlformats.org/officeDocument/2006/relationships/notesMaster" Target="/ppt/notesMasters/notesMaster1.xml" Id="R2ef512523ab34a9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00fb0e211f44881" /><Relationship Type="http://schemas.openxmlformats.org/officeDocument/2006/relationships/notesMaster" Target="/ppt/notesMasters/notesMaster1.xml" Id="R938a6d40709146b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75d4476e6ff4675" /><Relationship Type="http://schemas.openxmlformats.org/officeDocument/2006/relationships/notesMaster" Target="/ppt/notesMasters/notesMaster1.xml" Id="R4e4a6f6377f1419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c2666ce3ab847a6" /><Relationship Type="http://schemas.openxmlformats.org/officeDocument/2006/relationships/notesMaster" Target="/ppt/notesMasters/notesMaster1.xml" Id="R746a7279b40d42a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aa92e8faf094874" /><Relationship Type="http://schemas.openxmlformats.org/officeDocument/2006/relationships/notesMaster" Target="/ppt/notesMasters/notesMaster1.xml" Id="Rdd810d95168e47f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7284a008a174b1d" /><Relationship Type="http://schemas.openxmlformats.org/officeDocument/2006/relationships/notesMaster" Target="/ppt/notesMasters/notesMaster1.xml" Id="R50df2e65d19d42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分层细节（口头说明）：Controller 只注入 Service 接口，Service 只注入 Repository 接口；越层引用由静态门禁检查拦截。该约束保证了 Oracle 类型与 SQL 不会泄漏到业务层与表现层，也使仓储可以用测试替身替换。</a:t>
            </a:r>
          </a:p>
          <a:p xmlns:a="http://schemas.openxmlformats.org/drawingml/2006/main">
            <a:r>
              <a:t>数据口径示例（口头说明）：nodes.node_type 存 GATE / STATION / DISTRIBUTION，Service 转换为「校门 / 驿站 / 分发点」后交 View 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功能点与业务规则统计明细见课程设计报告；汇报时按五个功能域口头展开，不必逐条点数。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状态机在数据库中的实现（口头说明）：task_status 保存英文状态代码，页面显示中文名称；接单起每次状态变更写入 task_status_logs 并绑定接派记录；状态更新与日志写入在同一事务内提交；已接派任务不再出现在任务大厅，避免重复接单。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并发指标（口头说明）：300 并发为设计期估算，未做生产压测；并发正确性由行锁机制与抢单冲突场景测试保障，答辩时如实说明。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图注细节（口头说明）：任务与外卖分发、快递代取、私人转交三类明细构成弱实体联系；服务类型与节点的多对多联系在逻辑设计阶段独立为 service_node_rules 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备问（组合外键）：(publisher_user_id, address_no) 引用 user_addresses，(service_type_id, node_id) 引用 service_node_rules，保证任务的服务类型与交接节点必须存在适用规则；task_status 默认 CREATED，由 CHECK 约束限定 10 个合法取值。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分解论证（口头说明）：实例 1，若任务表混存三类专有字段，大量列长期为空（插入异常），类型扩展要改主表结构；实例 2，适用节点若登记在服务类型表中，节点增删要反复改主表。分解后更新只影响一行。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备问（约束与索引）：一任务一评价由 uk_reviews_task 唯一约束强制；支付流水号唯一由 uk_payments_trade_no 约束强制；单默认地址由函数唯一索引 uk_user_addresses_one_default（CASE WHEN is_default = 'Y' THEN user_id END）实现；服务类型名称唯一索引为 UPPER(TRIM(service_name)) 函数索引，_ci 表示大小写不敏感。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界面截图提示（答辩前操作</a:t>
            </a:r>
            <a:r>
              <a:t>）：</a:t>
            </a:r>
            <a:r>
              <a:t>济跑跑品牌标识与前端页面展示已完成改版，请将改版后的真实系统截图插入两个占位框，两张截图同比例、同基线</a:t>
            </a:r>
            <a:r>
              <a:t>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口头补充：完整建库脚本见课程设计报告附录。最初方案用 version 乐观锁做冲突检测，迁移 Oracle 后统一改为 SELECT … FOR UPDATE 行锁，语义更直接，也便于在端到端用例中验证互斥效果。</a:t>
            </a:r>
          </a:p>
          <a:p xmlns:a="http://schemas.openxmlformats.org/drawingml/2006/main">
            <a:r>
              <a:t>行锁修复经过（口头说明）：初期实现未启用行锁，并发测试暴露两名跑腿员重复接单问题；引入 SELECT … FOR UPDATE 行锁后消除。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本章节由十位组员依次汇报，每人两页：职责与数据范围、核心实现与验证。口头串场按业务链路：账户→基础资料→任务发布→接单派单→支付退款→评价投诉→结算报表→测试→总集成。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口头介绍提纲：负责把各成员代码合成为一个可运行系统——搭建骨架、连接 Oracle、实现公共 Layout 与菜单、编写权限过滤，最后统一联调。备问：越层引用由静态门禁检查拦截；集成质量由 TC-INT-01～05 验证（公网 HTTPS、四类角色导航、31 个页面路由、自动化门禁）。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口头介绍提纲：先讲静态门禁如何守住五层边界，再讲集成验证（Release 构建 0 警告 0 错误、52/52 自动化测试、31 路由抽查）。备问：POST 防伪 47/47 为静态门禁清点结果，见组员1证据目录。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口头介绍提纲：把数据库设计文档转为可执行建表脚本（24 张表），统一枚举中英文口径，准备初始化与测试数据。备问：脚本按 002–007 编号顺序执行、可复跑。注意：TC-DB-01～06 证据待归档，答辩前补齐。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口头介绍提纲：强调脚本与数据字典一致性、枚举对齐。如实说明：模块测试证据归档尚待提交，用例设计已完成。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口头介绍提纲：注册登录采用 PasswordHasher 带盐哈希；账号含封禁与注销生命周期。缺陷修复案例：注销账号手机号被占用导致无法重新注册，已修复。备问：跨用户地址越权由用例 TC012 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口头介绍提纲：先讲哈希与唯一约束，再讲单默认地址函数唯一索引（CASE WHEN 实现），最后讲越权拦截用例。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口头介绍提纲：基础资料是全系统运行前提——节点、服务类型、适用规则、跑腿员资质从这里维护。备问：服务与节点为多对多，独立为 service_node_rules 后由联合主键约束。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口头介绍提纲：讲 service_node_rules 在下单链路的作用（组合外键强制匹配）与跑腿员审核状态机。证据 22 张截图已归档。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口头介绍提纲：主单与三类明细分离是设计核心——公共字段入 tasks，专有字段按类型分表。备问：为何不用宽表——专有字段差异大，宽表空值多、扩展需改主表。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口头介绍提纲：重点讲两个组合外键与弱实体建模；取消规则仅 WAITING 可自助取消。如实说明证据归档进度。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口头介绍提纲：按"检索→行锁→校验→同事务写"顺序讲抢单链路；重派由管理员新增 REASSIGN 记录。缺陷修复案例：初期未启用行锁出现重复接单，引入行锁后消除。注意：证据归档待提交。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口头介绍提纲：重点讲 FOR UPDATE 行锁互斥与同事务留痕；备问：已接派任务从任务大厅检索中排除，配合行锁消除重复接单。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口头介绍提纲：支付时点在确认收货之后，支付状态与任务状态联动；退款走登记—审核两步。规则补强：已结算订单禁止发起普通退款。备问：重复支付由 third_trade_no 唯一约束防止。注意：证据归档待提交。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口头介绍提纲：讲支付后置设计与退款审核链路；主动讲"已结算订单禁止普通退款"规则补强。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口头介绍提纲：评价受唯一约束（一任务一评），评分经 credit_delta 换算回写跑腿员信用分；投诉由管理员处理并联动信誉分。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口头介绍提纲：先讲唯一约束，再讲 credit_delta 计算与回写，最后讲投诉流程；用 TC-REVIEW 证据支撑（9 份记录、5 份 SQL、21 张截图）。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口头介绍提纲：结算前校验跑腿员归属，退款或投诉中的支付不进入结算；审计覆盖三类对象；报表按月生成、CSV 导出，删除报表保留审计日志。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口头介绍提纲：按结算规则→审计→报表顺序讲；备问：删报表留审计是为保证审计记录完整性。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口头介绍提纲：把各成员测试证据收拢为测试报告与归档索引；维护共享 Oracle 写入型端到端用例；整理演示截图与答辩材料。备问：自动化 52/52、E2E 主链路与并发、五模块手工证据已归档，四模块待提交。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口头介绍提纲：强调"结论以执行记录为准"——每条结论对应记录、SQL 与截图；说明归档进度与索引维护机制。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测试分布（口头说明）：总集成 TC-INT-01～05、账户与权限、基础资料 TC-BASE-01～08、评价投诉与信誉 TC-REVIEW-01～09、结算审计报表 TC-SETTLE-01～10，记录与截图存档于 docs/test-evidence；数据库基础数据、任务发布、接单派单、支付退款四模块证据待提交，被问及时如实说明。自动化测试 52/52 通过、共享 Oracle 端到端用例通过（报告 9.4 节），测试代码见 backend/tests。</a:t>
            </a:r>
          </a:p>
          <a:p xmlns:a="http://schemas.openxmlformats.org/drawingml/2006/main">
            <a:r>
              <a:t>原子性验证话术（备问）：在事务中手动抛出异常，观察 payments 与 tasks 是否均未写入。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口头补充：实现阶段的调整包括支付时点后置到确认收货、抢单并发控制改用行锁、账号与权限安全加固；表主体结构未变，详见课程设计报告调整说明。</a:t>
            </a:r>
          </a:p>
          <a:p xmlns:a="http://schemas.openxmlformats.org/drawingml/2006/main">
            <a:r>
              <a:t>模块测试证据（口头说明）：总集成、账户权限、基础资料、评价投诉、结算审计报表五个模块记录与截图已存档，其余四模块待提交；自动化测试 52/52 通过（报告 9.4 节）。近期规则补强：禁止已结算订单发起普通退款；报表删除保留审计日志。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c8eb3fef2646fa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6c613a6282495b" /><Relationship Type="http://schemas.openxmlformats.org/officeDocument/2006/relationships/slideLayout" Target="/ppt/slideLayouts/slideLayout1.xml" Id="R1c12afaf19e7422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12afaf19e7422a"/>
  </p:sldLayoutIdLst>
</p:sldMaster>
</file>

<file path=ppt/slideMasters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283a7bb174a0f" /><Relationship Type="http://schemas.openxmlformats.org/officeDocument/2006/relationships/image" Target="/ppt/media/image.png" Id="R8d77a6f14f79499a" /><Relationship Type="http://schemas.openxmlformats.org/officeDocument/2006/relationships/image" Target="/ppt/media/image2.png" Id="Re2c7ec63b1a64f2b" /><Relationship Type="http://schemas.openxmlformats.org/officeDocument/2006/relationships/notesSlide" Target="/ppt/notesSlides/notesSlide1.xml" Id="R758f0cb4c4fc48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d731668104323" /><Relationship Type="http://schemas.openxmlformats.org/officeDocument/2006/relationships/notesSlide" Target="/ppt/notesSlides/notesSlide2.xml" Id="R3b406583817d4e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d2423d1084f94" /><Relationship Type="http://schemas.openxmlformats.org/officeDocument/2006/relationships/notesSlide" Target="/ppt/notesSlides/notesSlide3.xml" Id="Rfbcd94c618dd4f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03f59c38c46a2" /><Relationship Type="http://schemas.openxmlformats.org/officeDocument/2006/relationships/image" Target="/ppt/media/image3.png" Id="Rbaf7385a44c3482d" /><Relationship Type="http://schemas.openxmlformats.org/officeDocument/2006/relationships/notesSlide" Target="/ppt/notesSlides/notesSlide4.xml" Id="R44f5370bb5464c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cd0d0002641ad" /><Relationship Type="http://schemas.openxmlformats.org/officeDocument/2006/relationships/notesSlide" Target="/ppt/notesSlides/notesSlide5.xml" Id="R517c1425b38041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5f58c2bce4912" /><Relationship Type="http://schemas.openxmlformats.org/officeDocument/2006/relationships/notesSlide" Target="/ppt/notesSlides/notesSlide6.xml" Id="Rf448dc11f3a54c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2a278539e416e" /><Relationship Type="http://schemas.openxmlformats.org/officeDocument/2006/relationships/notesSlide" Target="/ppt/notesSlides/notesSlide7.xml" Id="Rd6510e6dab7347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c5b95b5b843b2" /><Relationship Type="http://schemas.openxmlformats.org/officeDocument/2006/relationships/notesSlide" Target="/ppt/notesSlides/notesSlide8.xml" Id="R269dcffa097643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68238b3e24858" /><Relationship Type="http://schemas.openxmlformats.org/officeDocument/2006/relationships/notesSlide" Target="/ppt/notesSlides/notesSlide9.xml" Id="R7c8433d7f1f84d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61c98343342ea" /><Relationship Type="http://schemas.openxmlformats.org/officeDocument/2006/relationships/notesSlide" Target="/ppt/notesSlides/notesSlide10.xml" Id="Rfad730c935c542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a8cd2d11c4ce3" /><Relationship Type="http://schemas.openxmlformats.org/officeDocument/2006/relationships/notesSlide" Target="/ppt/notesSlides/notesSlide11.xml" Id="R6fcf566bb27c4e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99c9e51c54648" /><Relationship Type="http://schemas.openxmlformats.org/officeDocument/2006/relationships/notesSlide" Target="/ppt/notesSlides/notesSlide12.xml" Id="R4f39c2d5d36245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980192a2447f4" /><Relationship Type="http://schemas.openxmlformats.org/officeDocument/2006/relationships/notesSlide" Target="/ppt/notesSlides/notesSlide13.xml" Id="Rae0a7ecf29154d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63a0285f7480b" /><Relationship Type="http://schemas.openxmlformats.org/officeDocument/2006/relationships/notesSlide" Target="/ppt/notesSlides/notesSlide14.xml" Id="R240d660bbf3343a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34724c529465b" /><Relationship Type="http://schemas.openxmlformats.org/officeDocument/2006/relationships/notesSlide" Target="/ppt/notesSlides/notesSlide15.xml" Id="R73dcf35cb7a645d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aea0b079f4c54" /><Relationship Type="http://schemas.openxmlformats.org/officeDocument/2006/relationships/notesSlide" Target="/ppt/notesSlides/notesSlide16.xml" Id="R32890243f1074d2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13a6544fd414c" /><Relationship Type="http://schemas.openxmlformats.org/officeDocument/2006/relationships/notesSlide" Target="/ppt/notesSlides/notesSlide17.xml" Id="R77b96f8ccf4d43b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2210c18814aab" /><Relationship Type="http://schemas.openxmlformats.org/officeDocument/2006/relationships/image" Target="/ppt/media/image4.png" Id="R89d4955101e1417b" /><Relationship Type="http://schemas.openxmlformats.org/officeDocument/2006/relationships/image" Target="/ppt/media/image5.png" Id="R71217444675d44d9" /><Relationship Type="http://schemas.openxmlformats.org/officeDocument/2006/relationships/image" Target="/ppt/media/image6.png" Id="Rf8f3cbeb6e3f4d78" /><Relationship Type="http://schemas.openxmlformats.org/officeDocument/2006/relationships/image" Target="/ppt/media/image7.png" Id="R5b9c9755ea014caa" /><Relationship Type="http://schemas.openxmlformats.org/officeDocument/2006/relationships/image" Target="/ppt/media/image8.png" Id="Rfd6091605611479d" /><Relationship Type="http://schemas.openxmlformats.org/officeDocument/2006/relationships/notesSlide" Target="/ppt/notesSlides/notesSlide18.xml" Id="R29517ef76a0c410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2258df9394057" /><Relationship Type="http://schemas.openxmlformats.org/officeDocument/2006/relationships/notesSlide" Target="/ppt/notesSlides/notesSlide19.xml" Id="R24db4bb68e09423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2e77282ef42cf" /><Relationship Type="http://schemas.openxmlformats.org/officeDocument/2006/relationships/notesSlide" Target="/ppt/notesSlides/notesSlide20.xml" Id="Rd465fb22a8ce4b6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b2fee40b54ebf" /><Relationship Type="http://schemas.openxmlformats.org/officeDocument/2006/relationships/notesSlide" Target="/ppt/notesSlides/notesSlide21.xml" Id="Rcb952607354d43d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ae511aaf5497a" /><Relationship Type="http://schemas.openxmlformats.org/officeDocument/2006/relationships/notesSlide" Target="/ppt/notesSlides/notesSlide22.xml" Id="R03df827682f84e4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a43cc3a1445a0" /><Relationship Type="http://schemas.openxmlformats.org/officeDocument/2006/relationships/notesSlide" Target="/ppt/notesSlides/notesSlide23.xml" Id="R185431b0a8ca4c4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0e35608864c60" /><Relationship Type="http://schemas.openxmlformats.org/officeDocument/2006/relationships/notesSlide" Target="/ppt/notesSlides/notesSlide24.xml" Id="R576673bb532a488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c99ce57894947" /><Relationship Type="http://schemas.openxmlformats.org/officeDocument/2006/relationships/notesSlide" Target="/ppt/notesSlides/notesSlide25.xml" Id="Ra3fb8d8657fe442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0f94d252b4b2a" /><Relationship Type="http://schemas.openxmlformats.org/officeDocument/2006/relationships/notesSlide" Target="/ppt/notesSlides/notesSlide26.xml" Id="R0be0c77cbb1849f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fbbf77472471b" /><Relationship Type="http://schemas.openxmlformats.org/officeDocument/2006/relationships/notesSlide" Target="/ppt/notesSlides/notesSlide27.xml" Id="R686fb9bb9d16441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ff3ec7fc446e6" /><Relationship Type="http://schemas.openxmlformats.org/officeDocument/2006/relationships/notesSlide" Target="/ppt/notesSlides/notesSlide28.xml" Id="R718849722a6c482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4acaa38674ed1" /><Relationship Type="http://schemas.openxmlformats.org/officeDocument/2006/relationships/notesSlide" Target="/ppt/notesSlides/notesSlide29.xml" Id="R9ec56ac245d648b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59d72d7f34c70" /><Relationship Type="http://schemas.openxmlformats.org/officeDocument/2006/relationships/notesSlide" Target="/ppt/notesSlides/notesSlide30.xml" Id="R158efffabd8c4d4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b97f06d844d03" /><Relationship Type="http://schemas.openxmlformats.org/officeDocument/2006/relationships/notesSlide" Target="/ppt/notesSlides/notesSlide31.xml" Id="R2f8954ef376a40d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b687b538b4835" /><Relationship Type="http://schemas.openxmlformats.org/officeDocument/2006/relationships/notesSlide" Target="/ppt/notesSlides/notesSlide32.xml" Id="R211f5fedfb174c2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10c7bd7454681" /><Relationship Type="http://schemas.openxmlformats.org/officeDocument/2006/relationships/notesSlide" Target="/ppt/notesSlides/notesSlide33.xml" Id="R0c248d3cb74d47f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f7b49f6ea4a99" /><Relationship Type="http://schemas.openxmlformats.org/officeDocument/2006/relationships/notesSlide" Target="/ppt/notesSlides/notesSlide34.xml" Id="Ra9ece2b372c54ab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9661b19cb4072" /><Relationship Type="http://schemas.openxmlformats.org/officeDocument/2006/relationships/notesSlide" Target="/ppt/notesSlides/notesSlide35.xml" Id="Rfd520c4cea53466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12f90c97240c4" /><Relationship Type="http://schemas.openxmlformats.org/officeDocument/2006/relationships/notesSlide" Target="/ppt/notesSlides/notesSlide36.xml" Id="R6f8053c03b5f497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1fb9cc0984b08" /><Relationship Type="http://schemas.openxmlformats.org/officeDocument/2006/relationships/notesSlide" Target="/ppt/notesSlides/notesSlide37.xml" Id="R5638761aea01479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7e7fd6ce24ebe" /><Relationship Type="http://schemas.openxmlformats.org/officeDocument/2006/relationships/notesSlide" Target="/ppt/notesSlides/notesSlide38.xml" Id="R81dc126f2fe44aa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e92c1d3c149dd" /><Relationship Type="http://schemas.openxmlformats.org/officeDocument/2006/relationships/notesSlide" Target="/ppt/notesSlides/notesSlide39.xml" Id="R88896086b2be49b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076efccca4c9e" /><Relationship Type="http://schemas.openxmlformats.org/officeDocument/2006/relationships/notesSlide" Target="/ppt/notesSlides/notesSlide40.xml" Id="R199d0e10131547f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1ffc1b9ac4aac" /><Relationship Type="http://schemas.openxmlformats.org/officeDocument/2006/relationships/notesSlide" Target="/ppt/notesSlides/notesSlide41.xml" Id="R0aadb1dc4b724e2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b5b108ffa49d7" /><Relationship Type="http://schemas.openxmlformats.org/officeDocument/2006/relationships/notesSlide" Target="/ppt/notesSlides/notesSlide42.xml" Id="Re50c52f6ef9a4e0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8f54a13c648d3" /><Relationship Type="http://schemas.openxmlformats.org/officeDocument/2006/relationships/notesSlide" Target="/ppt/notesSlides/notesSlide43.xml" Id="Rc6274436ea6e40f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a3a4beceb440d" /><Relationship Type="http://schemas.openxmlformats.org/officeDocument/2006/relationships/image" Target="/ppt/media/image2.png" Id="R72fe73413c824fef" /><Relationship Type="http://schemas.openxmlformats.org/officeDocument/2006/relationships/notesSlide" Target="/ppt/notesSlides/notesSlide44.xml" Id="Rde2fb114edca44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cover-im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7a6f14f79499a"/>
          <a:srcRect xmlns:a="http://schemas.openxmlformats.org/drawingml/2006/main" l="18000" t="0" r="14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0000" y="0"/>
            <a:ext cx="711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img-mask">
            <a:extLst xmlns:a="http://schemas.openxmlformats.org/drawingml/2006/main">
              <a:ext uri="{FF2B5EF4-FFF2-40B4-BE49-F238E27FC236}">
                <a16:creationId xmlns:a16="http://schemas.microsoft.com/office/drawing/2014/main" id="{06D0D567-703B-4BCF-B4EC-386C8406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0"/>
            <a:ext cx="50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logo-box">
            <a:extLst xmlns:a="http://schemas.openxmlformats.org/drawingml/2006/main">
              <a:ext uri="{FF2B5EF4-FFF2-40B4-BE49-F238E27FC236}">
                <a16:creationId xmlns:a16="http://schemas.microsoft.com/office/drawing/2014/main" id="{46B3EB6F-2EB4-4422-B3AD-AB4DEE86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762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logo-text">
            <a:extLst xmlns:a="http://schemas.openxmlformats.org/drawingml/2006/main">
              <a:ext uri="{FF2B5EF4-FFF2-40B4-BE49-F238E27FC236}">
                <a16:creationId xmlns:a16="http://schemas.microsoft.com/office/drawing/2014/main" id="{F7991FC6-3A08-4839-83D7-B930E74E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7620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700"/>
          </a:p>
        </p:txBody>
      </p:sp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29A2E1F1-53AA-4843-BD3A-4EE5DB85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800" y="762000"/>
            <a:ext cx="317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2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济跑跑</a:t>
            </a:r>
            <a:endParaRPr sz="1600"/>
          </a:p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JIRUN CAMPUS RUNNER</a:t>
            </a:r>
            <a:endParaRPr sz="1600"/>
          </a:p>
        </p:txBody>
      </p:sp>
      <p:sp>
        <p:nvSpPr>
          <p:cNvPr id="7" name="cover-line1">
            <a:extLst xmlns:a="http://schemas.openxmlformats.org/drawingml/2006/main">
              <a:ext uri="{FF2B5EF4-FFF2-40B4-BE49-F238E27FC236}">
                <a16:creationId xmlns:a16="http://schemas.microsoft.com/office/drawing/2014/main" id="{7A4FB804-4625-4524-A430-FD75ED36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854200"/>
            <a:ext cx="36576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cover-label">
            <a:extLst xmlns:a="http://schemas.openxmlformats.org/drawingml/2006/main">
              <a:ext uri="{FF2B5EF4-FFF2-40B4-BE49-F238E27FC236}">
                <a16:creationId xmlns:a16="http://schemas.microsoft.com/office/drawing/2014/main" id="{40F01879-4149-4FF0-B803-F420452C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082800"/>
            <a:ext cx="4064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300" b="1" spc="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数据库课程设计 · 答辩汇报</a:t>
            </a:r>
            <a:endParaRPr sz="1300"/>
          </a:p>
        </p:txBody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C2A3B76-A436-4B0C-B2E1-B6738017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540000"/>
            <a:ext cx="4013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33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3300"/>
          </a:p>
        </p:txBody>
      </p:sp>
      <p:sp>
        <p:nvSpPr>
          <p:cNvPr id="10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1148815-83B1-4C3D-BB4F-F7A9B89A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165600"/>
            <a:ext cx="40132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Campus Relay Distribution &amp; Errand Service</a:t>
            </a:r>
            <a:endParaRPr sz="11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Management System</a:t>
            </a:r>
            <a:endParaRPr sz="1100"/>
          </a:p>
        </p:txBody>
      </p:sp>
      <p:sp>
        <p:nvSpPr>
          <p:cNvPr id="11" name="cover-meta">
            <a:extLst xmlns:a="http://schemas.openxmlformats.org/drawingml/2006/main">
              <a:ext uri="{FF2B5EF4-FFF2-40B4-BE49-F238E27FC236}">
                <a16:creationId xmlns:a16="http://schemas.microsoft.com/office/drawing/2014/main" id="{AC06A394-D012-47FA-9B2D-534E5DD3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919472"/>
            <a:ext cx="4013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7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汇报人：</a:t>
            </a: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未定</a:t>
            </a: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　　指导教师：袁时金</a:t>
            </a:r>
            <a:endParaRPr sz="1200"/>
          </a:p>
          <a:p xmlns:a="http://schemas.openxmlformats.org/drawingml/2006/main">
            <a:pPr>
              <a:lnSpc>
                <a:spcPct val="17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小组成员：</a:t>
            </a:r>
            <a:r>
              <a:rPr sz="1200">
                <a:solidFill>
                  <a:srgbClr val="77716A"/>
                </a:solidFill>
              </a:rPr>
              <a:t>刘相成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薛毓哲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唐独彪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李柏言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韩昊苏 </a:t>
            </a:r>
            <a:endParaRPr sz="1200">
              <a:solidFill>
                <a:srgbClr val="77716A"/>
              </a:solidFill>
            </a:endParaRPr>
          </a:p>
          <a:p xmlns:a="http://schemas.openxmlformats.org/drawingml/2006/main">
            <a:pPr>
              <a:lnSpc>
                <a:spcPct val="175000"/>
              </a:lnSpc>
              <a:buNone/>
            </a:pPr>
            <a:r>
              <a:rPr sz="1200">
                <a:solidFill>
                  <a:srgbClr val="77716A"/>
                </a:solidFill>
              </a:rPr>
              <a:t>                     </a:t>
            </a:r>
            <a:r>
              <a:rPr sz="1200">
                <a:solidFill>
                  <a:srgbClr val="77716A"/>
                </a:solidFill>
              </a:rPr>
              <a:t>桑治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崔少坤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谢智行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蒋昊沄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赵崇治</a:t>
            </a:r>
            <a:endParaRPr sz="1200"/>
          </a:p>
          <a:p xmlns:a="http://schemas.openxmlformats.org/drawingml/2006/main">
            <a:pPr>
              <a:lnSpc>
                <a:spcPct val="17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计算机科学与技术学院 · 2026 年 9 月 12 日</a:t>
            </a:r>
            <a:endParaRPr sz="1200"/>
          </a:p>
        </p:txBody>
      </p:sp>
      <p:sp>
        <p:nvSpPr>
          <p:cNvPr id="12" name="cover-line2">
            <a:extLst xmlns:a="http://schemas.openxmlformats.org/drawingml/2006/main">
              <a:ext uri="{FF2B5EF4-FFF2-40B4-BE49-F238E27FC236}">
                <a16:creationId xmlns:a16="http://schemas.microsoft.com/office/drawing/2014/main" id="{F5203998-F80F-4734-A35F-411A402E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248400"/>
            <a:ext cx="36576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cover-note">
            <a:extLst xmlns:a="http://schemas.openxmlformats.org/drawingml/2006/main">
              <a:ext uri="{FF2B5EF4-FFF2-40B4-BE49-F238E27FC236}">
                <a16:creationId xmlns:a16="http://schemas.microsoft.com/office/drawing/2014/main" id="{2079E55B-4DD1-46F1-A696-AD5270C1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350000"/>
            <a:ext cx="40132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pic>
        <p:nvPicPr>
          <p:cNvPr id="28" name="logo-im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7ec63b1a64f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076" y="749300"/>
            <a:ext cx="711200" cy="711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>
            <a:noFill/>
          </a:ln>
          <a:effectLst xmlns:a="http://schemas.openxmlformats.org/drawingml/2006/main"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7708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c-bar">
            <a:extLst xmlns:a="http://schemas.openxmlformats.org/drawingml/2006/main">
              <a:ext uri="{FF2B5EF4-FFF2-40B4-BE49-F238E27FC236}">
                <a16:creationId xmlns:a16="http://schemas.microsoft.com/office/drawing/2014/main" id="{B6C1AFCE-353A-4FAD-B309-B1B85F88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066800"/>
            <a:ext cx="63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oc-title">
            <a:extLst xmlns:a="http://schemas.openxmlformats.org/drawingml/2006/main">
              <a:ext uri="{FF2B5EF4-FFF2-40B4-BE49-F238E27FC236}">
                <a16:creationId xmlns:a16="http://schemas.microsoft.com/office/drawing/2014/main" id="{04A360B0-A77B-4062-A926-BDD479AA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0668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4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目录</a:t>
            </a:r>
            <a:endParaRPr sz="4400"/>
          </a:p>
        </p:txBody>
      </p:sp>
      <p:sp>
        <p:nvSpPr>
          <p:cNvPr id="4" name="toc-en">
            <a:extLst xmlns:a="http://schemas.openxmlformats.org/drawingml/2006/main">
              <a:ext uri="{FF2B5EF4-FFF2-40B4-BE49-F238E27FC236}">
                <a16:creationId xmlns:a16="http://schemas.microsoft.com/office/drawing/2014/main" id="{104A28C5-FDCF-4EF5-8EEC-6A5DEAFE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905000"/>
            <a:ext cx="3048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spc="4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CONTENTS</a:t>
            </a:r>
            <a:endParaRPr sz="1200"/>
          </a:p>
        </p:txBody>
      </p:sp>
      <p:sp>
        <p:nvSpPr>
          <p:cNvPr id="5" name="toc-brand">
            <a:extLst xmlns:a="http://schemas.openxmlformats.org/drawingml/2006/main">
              <a:ext uri="{FF2B5EF4-FFF2-40B4-BE49-F238E27FC236}">
                <a16:creationId xmlns:a16="http://schemas.microsoft.com/office/drawing/2014/main" id="{73938516-B1F1-4274-8B86-BE481A29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969000"/>
            <a:ext cx="330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数据库课程设计答辩</a:t>
            </a:r>
            <a:endParaRPr sz="1000"/>
          </a:p>
        </p:txBody>
      </p:sp>
      <p:sp>
        <p:nvSpPr>
          <p:cNvPr id="6" name="toc-n1">
            <a:extLst xmlns:a="http://schemas.openxmlformats.org/drawingml/2006/main">
              <a:ext uri="{FF2B5EF4-FFF2-40B4-BE49-F238E27FC236}">
                <a16:creationId xmlns:a16="http://schemas.microsoft.com/office/drawing/2014/main" id="{3B68FC9B-AA65-41D1-9BB1-04247201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042415"/>
            <a:ext cx="7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2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01</a:t>
            </a:r>
            <a:endParaRPr sz="2200"/>
          </a:p>
        </p:txBody>
      </p:sp>
      <p:sp>
        <p:nvSpPr>
          <p:cNvPr id="7" name="toc-t1">
            <a:extLst xmlns:a="http://schemas.openxmlformats.org/drawingml/2006/main">
              <a:ext uri="{FF2B5EF4-FFF2-40B4-BE49-F238E27FC236}">
                <a16:creationId xmlns:a16="http://schemas.microsoft.com/office/drawing/2014/main" id="{85A6F6C5-EE94-4F4C-AA6C-0F7CDE8F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1042415"/>
            <a:ext cx="2540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项目概述</a:t>
            </a:r>
            <a:endParaRPr sz="1800"/>
          </a:p>
        </p:txBody>
      </p:sp>
      <p:sp>
        <p:nvSpPr>
          <p:cNvPr id="8" name="toc-d1">
            <a:extLst xmlns:a="http://schemas.openxmlformats.org/drawingml/2006/main">
              <a:ext uri="{FF2B5EF4-FFF2-40B4-BE49-F238E27FC236}">
                <a16:creationId xmlns:a16="http://schemas.microsoft.com/office/drawing/2014/main" id="{71DD22A9-CE7F-4318-BF08-49B79103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1426463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背景与痛点 · 系统定位 · 技术选型与总体架构</a:t>
            </a:r>
            <a:endParaRPr sz="1100"/>
          </a:p>
        </p:txBody>
      </p:sp>
      <p:sp>
        <p:nvSpPr>
          <p:cNvPr id="9" name="toc-l1">
            <a:extLst xmlns:a="http://schemas.openxmlformats.org/drawingml/2006/main">
              <a:ext uri="{FF2B5EF4-FFF2-40B4-BE49-F238E27FC236}">
                <a16:creationId xmlns:a16="http://schemas.microsoft.com/office/drawing/2014/main" id="{435D0F9D-6225-467C-A4AE-64203380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856231"/>
            <a:ext cx="6400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oc-n2">
            <a:extLst xmlns:a="http://schemas.openxmlformats.org/drawingml/2006/main">
              <a:ext uri="{FF2B5EF4-FFF2-40B4-BE49-F238E27FC236}">
                <a16:creationId xmlns:a16="http://schemas.microsoft.com/office/drawing/2014/main" id="{82809C26-020F-4D88-B8BD-E341434E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901952"/>
            <a:ext cx="7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2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02</a:t>
            </a:r>
            <a:endParaRPr sz="2200"/>
          </a:p>
        </p:txBody>
      </p:sp>
      <p:sp>
        <p:nvSpPr>
          <p:cNvPr id="11" name="toc-t2">
            <a:extLst xmlns:a="http://schemas.openxmlformats.org/drawingml/2006/main">
              <a:ext uri="{FF2B5EF4-FFF2-40B4-BE49-F238E27FC236}">
                <a16:creationId xmlns:a16="http://schemas.microsoft.com/office/drawing/2014/main" id="{4FB9F572-57B1-4CC1-AF4E-725A1FBF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1901952"/>
            <a:ext cx="2540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需求分析</a:t>
            </a:r>
            <a:endParaRPr sz="1800"/>
          </a:p>
        </p:txBody>
      </p:sp>
      <p:sp>
        <p:nvSpPr>
          <p:cNvPr id="12" name="toc-d2">
            <a:extLst xmlns:a="http://schemas.openxmlformats.org/drawingml/2006/main">
              <a:ext uri="{FF2B5EF4-FFF2-40B4-BE49-F238E27FC236}">
                <a16:creationId xmlns:a16="http://schemas.microsoft.com/office/drawing/2014/main" id="{38E40E31-9921-43EB-B7EB-4E256263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2286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功能模块 · 核心业务流程与订单状态机 · 数据与非功能需求</a:t>
            </a:r>
            <a:endParaRPr sz="1100"/>
          </a:p>
        </p:txBody>
      </p:sp>
      <p:sp>
        <p:nvSpPr>
          <p:cNvPr id="13" name="toc-l2">
            <a:extLst xmlns:a="http://schemas.openxmlformats.org/drawingml/2006/main">
              <a:ext uri="{FF2B5EF4-FFF2-40B4-BE49-F238E27FC236}">
                <a16:creationId xmlns:a16="http://schemas.microsoft.com/office/drawing/2014/main" id="{F3B20EE8-0482-4225-BBE0-D876F91B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715768"/>
            <a:ext cx="6400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oc-n3">
            <a:extLst xmlns:a="http://schemas.openxmlformats.org/drawingml/2006/main">
              <a:ext uri="{FF2B5EF4-FFF2-40B4-BE49-F238E27FC236}">
                <a16:creationId xmlns:a16="http://schemas.microsoft.com/office/drawing/2014/main" id="{210E83A0-5BDC-41F5-A3BD-5630FF2E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761488"/>
            <a:ext cx="7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2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03</a:t>
            </a:r>
            <a:endParaRPr sz="2200"/>
          </a:p>
        </p:txBody>
      </p:sp>
      <p:sp>
        <p:nvSpPr>
          <p:cNvPr id="15" name="toc-t3">
            <a:extLst xmlns:a="http://schemas.openxmlformats.org/drawingml/2006/main">
              <a:ext uri="{FF2B5EF4-FFF2-40B4-BE49-F238E27FC236}">
                <a16:creationId xmlns:a16="http://schemas.microsoft.com/office/drawing/2014/main" id="{88B4C1A1-F28A-41F7-8D35-748CC14F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2761488"/>
            <a:ext cx="2540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数据库设计</a:t>
            </a:r>
            <a:endParaRPr sz="1800"/>
          </a:p>
        </p:txBody>
      </p:sp>
      <p:sp>
        <p:nvSpPr>
          <p:cNvPr id="16" name="toc-d3">
            <a:extLst xmlns:a="http://schemas.openxmlformats.org/drawingml/2006/main">
              <a:ext uri="{FF2B5EF4-FFF2-40B4-BE49-F238E27FC236}">
                <a16:creationId xmlns:a16="http://schemas.microsoft.com/office/drawing/2014/main" id="{5A1573F9-579E-4323-A1AE-821B7074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3145536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E-R 概念模型 · 关系模式 · 规范化 · 索引与完整性约束</a:t>
            </a:r>
            <a:endParaRPr sz="1100"/>
          </a:p>
        </p:txBody>
      </p:sp>
      <p:sp>
        <p:nvSpPr>
          <p:cNvPr id="17" name="toc-l3">
            <a:extLst xmlns:a="http://schemas.openxmlformats.org/drawingml/2006/main">
              <a:ext uri="{FF2B5EF4-FFF2-40B4-BE49-F238E27FC236}">
                <a16:creationId xmlns:a16="http://schemas.microsoft.com/office/drawing/2014/main" id="{1151081B-1286-4403-9DAA-CEEFFE39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575304"/>
            <a:ext cx="6400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oc-n4">
            <a:extLst xmlns:a="http://schemas.openxmlformats.org/drawingml/2006/main">
              <a:ext uri="{FF2B5EF4-FFF2-40B4-BE49-F238E27FC236}">
                <a16:creationId xmlns:a16="http://schemas.microsoft.com/office/drawing/2014/main" id="{9D8CC7B8-7FD3-42F0-98B6-0D8AC2F4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621024"/>
            <a:ext cx="7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2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04</a:t>
            </a:r>
            <a:endParaRPr sz="2200"/>
          </a:p>
        </p:txBody>
      </p:sp>
      <p:sp>
        <p:nvSpPr>
          <p:cNvPr id="19" name="toc-t4">
            <a:extLst xmlns:a="http://schemas.openxmlformats.org/drawingml/2006/main">
              <a:ext uri="{FF2B5EF4-FFF2-40B4-BE49-F238E27FC236}">
                <a16:creationId xmlns:a16="http://schemas.microsoft.com/office/drawing/2014/main" id="{3435F9E0-A6D6-4E4A-87FB-F563A129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3621024"/>
            <a:ext cx="2540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系统实现</a:t>
            </a:r>
            <a:endParaRPr sz="1800"/>
          </a:p>
        </p:txBody>
      </p:sp>
      <p:sp>
        <p:nvSpPr>
          <p:cNvPr id="20" name="toc-d4">
            <a:extLst xmlns:a="http://schemas.openxmlformats.org/drawingml/2006/main">
              <a:ext uri="{FF2B5EF4-FFF2-40B4-BE49-F238E27FC236}">
                <a16:creationId xmlns:a16="http://schemas.microsoft.com/office/drawing/2014/main" id="{C8E4452C-B553-471D-BCED-3CADDA84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4005072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功能界面展示 · 核心业务 SQL 与事务控制</a:t>
            </a:r>
            <a:endParaRPr sz="1100"/>
          </a:p>
        </p:txBody>
      </p:sp>
      <p:sp>
        <p:nvSpPr>
          <p:cNvPr id="21" name="toc-l4">
            <a:extLst xmlns:a="http://schemas.openxmlformats.org/drawingml/2006/main">
              <a:ext uri="{FF2B5EF4-FFF2-40B4-BE49-F238E27FC236}">
                <a16:creationId xmlns:a16="http://schemas.microsoft.com/office/drawing/2014/main" id="{4052E0DD-9294-41CE-99E7-54686F73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4434840"/>
            <a:ext cx="6400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oc-n5">
            <a:extLst xmlns:a="http://schemas.openxmlformats.org/drawingml/2006/main">
              <a:ext uri="{FF2B5EF4-FFF2-40B4-BE49-F238E27FC236}">
                <a16:creationId xmlns:a16="http://schemas.microsoft.com/office/drawing/2014/main" id="{DB2C7102-D445-4B92-B5B3-D92B6642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5340096"/>
            <a:ext cx="7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2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06</a:t>
            </a:r>
            <a:endParaRPr sz="2200"/>
          </a:p>
        </p:txBody>
      </p:sp>
      <p:sp>
        <p:nvSpPr>
          <p:cNvPr id="23" name="toc-t5">
            <a:extLst xmlns:a="http://schemas.openxmlformats.org/drawingml/2006/main">
              <a:ext uri="{FF2B5EF4-FFF2-40B4-BE49-F238E27FC236}">
                <a16:creationId xmlns:a16="http://schemas.microsoft.com/office/drawing/2014/main" id="{5C0DCD1C-102F-4DF7-84C2-85CC199B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5340096"/>
            <a:ext cx="2540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测试与总结</a:t>
            </a:r>
            <a:endParaRPr sz="1800"/>
          </a:p>
        </p:txBody>
      </p:sp>
      <p:sp>
        <p:nvSpPr>
          <p:cNvPr id="24" name="toc-d5">
            <a:extLst xmlns:a="http://schemas.openxmlformats.org/drawingml/2006/main">
              <a:ext uri="{FF2B5EF4-FFF2-40B4-BE49-F238E27FC236}">
                <a16:creationId xmlns:a16="http://schemas.microsoft.com/office/drawing/2014/main" id="{3CDCA64C-5E76-46FE-A1E5-6F5736EE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5724144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功能与并发测试 · 成果总结 · 不足与展望</a:t>
            </a:r>
            <a:endParaRPr sz="1100"/>
          </a:p>
        </p:txBody>
      </p:sp>
      <p:sp>
        <p:nvSpPr>
          <p:cNvPr id="25" name="toc-l5">
            <a:extLst xmlns:a="http://schemas.openxmlformats.org/drawingml/2006/main">
              <a:ext uri="{FF2B5EF4-FFF2-40B4-BE49-F238E27FC236}">
                <a16:creationId xmlns:a16="http://schemas.microsoft.com/office/drawing/2014/main" id="{FB7F27E5-B949-4FA5-ACD9-586DE4D4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6153912"/>
            <a:ext cx="6400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oc-n5">
            <a:extLst xmlns:a="http://schemas.openxmlformats.org/drawingml/2006/main">
              <a:ext uri="{FF2B5EF4-FFF2-40B4-BE49-F238E27FC236}">
                <a16:creationId xmlns:a16="http://schemas.microsoft.com/office/drawing/2014/main" id="{AE251C93-EA19-490A-AC47-9521F3A9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4480560"/>
            <a:ext cx="7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2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05</a:t>
            </a:r>
            <a:endParaRPr sz="2200"/>
          </a:p>
        </p:txBody>
      </p:sp>
      <p:sp>
        <p:nvSpPr>
          <p:cNvPr id="27" name="toc-t5">
            <a:extLst xmlns:a="http://schemas.openxmlformats.org/drawingml/2006/main">
              <a:ext uri="{FF2B5EF4-FFF2-40B4-BE49-F238E27FC236}">
                <a16:creationId xmlns:a16="http://schemas.microsoft.com/office/drawing/2014/main" id="{293CAE99-B596-4F23-86E7-AC8E5D23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4480560"/>
            <a:ext cx="2540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团队分工</a:t>
            </a:r>
            <a:endParaRPr sz="1800"/>
          </a:p>
        </p:txBody>
      </p:sp>
      <p:sp>
        <p:nvSpPr>
          <p:cNvPr id="28" name="toc-d5">
            <a:extLst xmlns:a="http://schemas.openxmlformats.org/drawingml/2006/main">
              <a:ext uri="{FF2B5EF4-FFF2-40B4-BE49-F238E27FC236}">
                <a16:creationId xmlns:a16="http://schemas.microsoft.com/office/drawing/2014/main" id="{9A883B5E-5442-4EA6-8831-2A5678F9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4864608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角色职责 · 核心实现 · 产出与验证</a:t>
            </a:r>
            <a:endParaRPr sz="1100"/>
          </a:p>
        </p:txBody>
      </p:sp>
      <p:sp>
        <p:nvSpPr>
          <p:cNvPr id="29" name="toc-l5">
            <a:extLst xmlns:a="http://schemas.openxmlformats.org/drawingml/2006/main">
              <a:ext uri="{FF2B5EF4-FFF2-40B4-BE49-F238E27FC236}">
                <a16:creationId xmlns:a16="http://schemas.microsoft.com/office/drawing/2014/main" id="{E8DA9907-2EAE-4A33-A0A7-B2673BA9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5294376"/>
            <a:ext cx="6400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9707796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32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iv-num">
            <a:extLst xmlns:a="http://schemas.openxmlformats.org/drawingml/2006/main">
              <a:ext uri="{FF2B5EF4-FFF2-40B4-BE49-F238E27FC236}">
                <a16:creationId xmlns:a16="http://schemas.microsoft.com/office/drawing/2014/main" id="{23262C23-C8E8-4383-8980-6B83C4F6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524000"/>
            <a:ext cx="4064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01</a:t>
            </a:r>
            <a:endParaRPr sz="14000"/>
          </a:p>
        </p:txBody>
      </p:sp>
      <p:sp>
        <p:nvSpPr>
          <p:cNvPr id="3" name="div-line">
            <a:extLst xmlns:a="http://schemas.openxmlformats.org/drawingml/2006/main">
              <a:ext uri="{FF2B5EF4-FFF2-40B4-BE49-F238E27FC236}">
                <a16:creationId xmlns:a16="http://schemas.microsoft.com/office/drawing/2014/main" id="{1E526FD8-E238-45CB-ADF2-7CC39D37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3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iv-title">
            <a:extLst xmlns:a="http://schemas.openxmlformats.org/drawingml/2006/main">
              <a:ext uri="{FF2B5EF4-FFF2-40B4-BE49-F238E27FC236}">
                <a16:creationId xmlns:a16="http://schemas.microsoft.com/office/drawing/2014/main" id="{A0247E26-55E7-4515-9CAC-DE7A6458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318000"/>
            <a:ext cx="6350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0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项目概述</a:t>
            </a:r>
            <a:endParaRPr sz="4000"/>
          </a:p>
        </p:txBody>
      </p:sp>
      <p:sp>
        <p:nvSpPr>
          <p:cNvPr id="5" name="div-sub">
            <a:extLst xmlns:a="http://schemas.openxmlformats.org/drawingml/2006/main">
              <a:ext uri="{FF2B5EF4-FFF2-40B4-BE49-F238E27FC236}">
                <a16:creationId xmlns:a16="http://schemas.microsoft.com/office/drawing/2014/main" id="{3D0345AE-6165-486E-B44A-65B3BB10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156200"/>
            <a:ext cx="787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rgbClr val="B9B2A6"/>
                </a:solidFill>
                <a:latin typeface="MiSans"/>
                <a:ea typeface="MiSans"/>
                <a:cs typeface="MiSans"/>
              </a:rPr>
              <a:t>背景与需求 · 系统定位 · 技术架构</a:t>
            </a:r>
            <a:endParaRPr sz="1400"/>
          </a:p>
        </p:txBody>
      </p:sp>
      <p:sp>
        <p:nvSpPr>
          <p:cNvPr id="6" name="div-progress">
            <a:extLst xmlns:a="http://schemas.openxmlformats.org/drawingml/2006/main">
              <a:ext uri="{FF2B5EF4-FFF2-40B4-BE49-F238E27FC236}">
                <a16:creationId xmlns:a16="http://schemas.microsoft.com/office/drawing/2014/main" id="{4E6815F7-B52D-4FB7-9C54-0FEA2092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762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100" spc="200">
                <a:solidFill>
                  <a:srgbClr val="8A8478"/>
                </a:solidFill>
                <a:latin typeface="MiSans"/>
                <a:ea typeface="MiSans"/>
                <a:cs typeface="MiSans"/>
              </a:rPr>
              <a:t>SECTION 01 / 06</a:t>
            </a:r>
            <a:endParaRPr sz="1100"/>
          </a:p>
        </p:txBody>
      </p:sp>
      <p:sp>
        <p:nvSpPr>
          <p:cNvPr id="7" name="div-brand">
            <a:extLst xmlns:a="http://schemas.openxmlformats.org/drawingml/2006/main">
              <a:ext uri="{FF2B5EF4-FFF2-40B4-BE49-F238E27FC236}">
                <a16:creationId xmlns:a16="http://schemas.microsoft.com/office/drawing/2014/main" id="{02045505-DE70-423E-B8C0-86359FFE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2992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济跑跑 JIRUN · 数据库课程设计答辩</a:t>
            </a:r>
            <a:endParaRPr sz="1000"/>
          </a:p>
        </p:txBody>
      </p:sp>
      <p:sp>
        <p:nvSpPr>
          <p:cNvPr id="8" name="div-page">
            <a:extLst xmlns:a="http://schemas.openxmlformats.org/drawingml/2006/main">
              <a:ext uri="{FF2B5EF4-FFF2-40B4-BE49-F238E27FC236}">
                <a16:creationId xmlns:a16="http://schemas.microsoft.com/office/drawing/2014/main" id="{304F6467-96AA-4508-9350-C2FF1B02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299200"/>
            <a:ext cx="76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3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890218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79A33C93-B3FF-4DAE-B991-5FF0E99C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23CA608B-BB23-46D5-ACD6-E02380A2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项目背景：校园配送需求旺盛，"最后一公里"管理缺位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751FD5F5-D0F4-4D92-BD4E-51EAF465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01 · 项目概述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0BE54255-6ECC-407E-B383-7BB3F567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bg-intro">
            <a:extLst xmlns:a="http://schemas.openxmlformats.org/drawingml/2006/main">
              <a:ext uri="{FF2B5EF4-FFF2-40B4-BE49-F238E27FC236}">
                <a16:creationId xmlns:a16="http://schemas.microsoft.com/office/drawing/2014/main" id="{69CBCC00-634F-47B4-BF2D-25BE44AB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1244600"/>
            <a:ext cx="5334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300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代取 / 代买 / 转交需求高频分散 · 驿站人工登记 · 信息不透明 · 缺少统一记录</a:t>
            </a:r>
            <a:endParaRPr sz="1300"/>
          </a:p>
        </p:txBody>
      </p:sp>
      <p:sp>
        <p:nvSpPr>
          <p:cNvPr id="9" name="pain1-n">
            <a:extLst xmlns:a="http://schemas.openxmlformats.org/drawingml/2006/main">
              <a:ext uri="{FF2B5EF4-FFF2-40B4-BE49-F238E27FC236}">
                <a16:creationId xmlns:a16="http://schemas.microsoft.com/office/drawing/2014/main" id="{0FAAEA0D-D2F6-4044-817F-ED08DDAB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184400"/>
            <a:ext cx="50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0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01</a:t>
            </a:r>
            <a:endParaRPr sz="2000"/>
          </a:p>
        </p:txBody>
      </p:sp>
      <p:sp>
        <p:nvSpPr>
          <p:cNvPr id="10" name="pain1">
            <a:extLst xmlns:a="http://schemas.openxmlformats.org/drawingml/2006/main">
              <a:ext uri="{FF2B5EF4-FFF2-40B4-BE49-F238E27FC236}">
                <a16:creationId xmlns:a16="http://schemas.microsoft.com/office/drawing/2014/main" id="{2A5BBC7A-A951-46BF-8EB3-BDE181CB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2133600"/>
            <a:ext cx="472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取件效率低</a:t>
            </a:r>
            <a:endParaRPr sz="12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高峰期露天排队，包裹堆积错拿、丢失时有发生，恶劣天气下体验更差</a:t>
            </a:r>
            <a:endParaRPr sz="1250"/>
          </a:p>
        </p:txBody>
      </p:sp>
      <p:sp>
        <p:nvSpPr>
          <p:cNvPr id="11" name="pain1-line">
            <a:extLst xmlns:a="http://schemas.openxmlformats.org/drawingml/2006/main">
              <a:ext uri="{FF2B5EF4-FFF2-40B4-BE49-F238E27FC236}">
                <a16:creationId xmlns:a16="http://schemas.microsoft.com/office/drawing/2014/main" id="{FCA8814A-FAD0-4C08-98A4-902B729D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0480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pain2-n">
            <a:extLst xmlns:a="http://schemas.openxmlformats.org/drawingml/2006/main">
              <a:ext uri="{FF2B5EF4-FFF2-40B4-BE49-F238E27FC236}">
                <a16:creationId xmlns:a16="http://schemas.microsoft.com/office/drawing/2014/main" id="{E4B13684-CD4F-40E5-9883-10F292D4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276600"/>
            <a:ext cx="50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0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02</a:t>
            </a:r>
            <a:endParaRPr sz="2000"/>
          </a:p>
        </p:txBody>
      </p:sp>
      <p:sp>
        <p:nvSpPr>
          <p:cNvPr id="13" name="pain2">
            <a:extLst xmlns:a="http://schemas.openxmlformats.org/drawingml/2006/main">
              <a:ext uri="{FF2B5EF4-FFF2-40B4-BE49-F238E27FC236}">
                <a16:creationId xmlns:a16="http://schemas.microsoft.com/office/drawing/2014/main" id="{820AEB02-FDE1-43D1-B8A5-E232DB4D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3225800"/>
            <a:ext cx="472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中转环节无系统支撑</a:t>
            </a:r>
            <a:endParaRPr sz="12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出入库靠纸质登记与人工核对，包裹状态无法实时跟踪，异常难以定位</a:t>
            </a:r>
            <a:endParaRPr sz="1250"/>
          </a:p>
        </p:txBody>
      </p:sp>
      <p:sp>
        <p:nvSpPr>
          <p:cNvPr id="14" name="pain2-line">
            <a:extLst xmlns:a="http://schemas.openxmlformats.org/drawingml/2006/main">
              <a:ext uri="{FF2B5EF4-FFF2-40B4-BE49-F238E27FC236}">
                <a16:creationId xmlns:a16="http://schemas.microsoft.com/office/drawing/2014/main" id="{E3AF96D2-81A8-42FA-B9CA-7F00CBE1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1402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pain3-n">
            <a:extLst xmlns:a="http://schemas.openxmlformats.org/drawingml/2006/main">
              <a:ext uri="{FF2B5EF4-FFF2-40B4-BE49-F238E27FC236}">
                <a16:creationId xmlns:a16="http://schemas.microsoft.com/office/drawing/2014/main" id="{0B1B6112-901E-48C8-8D44-AEF67503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368800"/>
            <a:ext cx="50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0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03</a:t>
            </a:r>
            <a:endParaRPr sz="2000"/>
          </a:p>
        </p:txBody>
      </p:sp>
      <p:sp>
        <p:nvSpPr>
          <p:cNvPr id="16" name="pain3">
            <a:extLst xmlns:a="http://schemas.openxmlformats.org/drawingml/2006/main">
              <a:ext uri="{FF2B5EF4-FFF2-40B4-BE49-F238E27FC236}">
                <a16:creationId xmlns:a16="http://schemas.microsoft.com/office/drawing/2014/main" id="{03824700-6DCC-491F-9FAF-F6A972B4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4318000"/>
            <a:ext cx="472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跑腿撮合分散无序</a:t>
            </a:r>
            <a:endParaRPr sz="12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代取代买依赖群聊与口头约定，缺乏身份认证、信用与资金保障</a:t>
            </a:r>
            <a:endParaRPr sz="1250"/>
          </a:p>
        </p:txBody>
      </p:sp>
      <p:sp>
        <p:nvSpPr>
          <p:cNvPr id="17" name="bg-concl-line">
            <a:extLst xmlns:a="http://schemas.openxmlformats.org/drawingml/2006/main">
              <a:ext uri="{FF2B5EF4-FFF2-40B4-BE49-F238E27FC236}">
                <a16:creationId xmlns:a16="http://schemas.microsoft.com/office/drawing/2014/main" id="{A2C1F92E-869C-45D0-AFCB-25CC9F5E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54610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ft-line">
            <a:extLst xmlns:a="http://schemas.openxmlformats.org/drawingml/2006/main">
              <a:ext uri="{FF2B5EF4-FFF2-40B4-BE49-F238E27FC236}">
                <a16:creationId xmlns:a16="http://schemas.microsoft.com/office/drawing/2014/main" id="{A7188D50-3224-4C95-8C7C-2647877B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ft-brand">
            <a:extLst xmlns:a="http://schemas.openxmlformats.org/drawingml/2006/main">
              <a:ext uri="{FF2B5EF4-FFF2-40B4-BE49-F238E27FC236}">
                <a16:creationId xmlns:a16="http://schemas.microsoft.com/office/drawing/2014/main" id="{12F2CBD5-AFA1-4CD5-B02C-F07FF311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21" name="ft-page">
            <a:extLst xmlns:a="http://schemas.openxmlformats.org/drawingml/2006/main">
              <a:ext uri="{FF2B5EF4-FFF2-40B4-BE49-F238E27FC236}">
                <a16:creationId xmlns:a16="http://schemas.microsoft.com/office/drawing/2014/main" id="{8290131D-EF53-4961-95C9-AD010626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4 / 44</a:t>
            </a:r>
            <a:endParaRPr sz="1000"/>
          </a:p>
        </p:txBody>
      </p:sp>
      <p:sp>
        <p:nvSpPr>
          <p:cNvPr id="7" name="ph2">
            <a:extLst xmlns:a="http://schemas.openxmlformats.org/drawingml/2006/main">
              <a:ext uri="{FF2B5EF4-FFF2-40B4-BE49-F238E27FC236}">
                <a16:creationId xmlns:a16="http://schemas.microsoft.com/office/drawing/2014/main" id="{77747224-D220-4B45-4005-3516B298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3" y="2006600"/>
            <a:ext cx="600999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716A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ph2-icon">
            <a:extLst xmlns:a="http://schemas.openxmlformats.org/drawingml/2006/main">
              <a:ext uri="{FF2B5EF4-FFF2-40B4-BE49-F238E27FC236}">
                <a16:creationId xmlns:a16="http://schemas.microsoft.com/office/drawing/2014/main" id="{A0B2868D-141F-0A64-22ED-E861BDFF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005" y="3204317"/>
            <a:ext cx="406400" cy="406400"/>
          </a:xfrm>
          <a:custGeom xmlns:a="http://schemas.openxmlformats.org/drawingml/2006/main"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 xmlns:a="http://schemas.openxmlformats.org/drawingml/2006/main">
            <a:srgbClr val="7771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ph2-t">
            <a:extLst xmlns:a="http://schemas.openxmlformats.org/drawingml/2006/main">
              <a:ext uri="{FF2B5EF4-FFF2-40B4-BE49-F238E27FC236}">
                <a16:creationId xmlns:a16="http://schemas.microsoft.com/office/drawing/2014/main" id="{66356F97-97EB-4468-5532-8C99B63F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05" y="3763117"/>
            <a:ext cx="4191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300" b="1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此处替换为实际界面截图</a:t>
            </a:r>
            <a:endParaRPr sz="1600"/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0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建议：工作台页</a:t>
            </a:r>
            <a:endParaRPr sz="1600"/>
          </a:p>
        </p:txBody>
      </p:sp>
      <p:pic>
        <p:nvPicPr>
          <p:cNvPr id="4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7385a44c348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6010" y="2029142"/>
            <a:ext cx="5900597" cy="32540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2291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841E1D0E-89B3-4B73-B5F7-A473FF79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41447F2C-6164-47B3-A5B5-8DB2BF69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系统定位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39626DF2-E448-4335-B7B5-0536A408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01 · 项目概述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CB98E0D9-5B71-4CE3-9D5C-4596F9BB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ole-label">
            <a:extLst xmlns:a="http://schemas.openxmlformats.org/drawingml/2006/main">
              <a:ext uri="{FF2B5EF4-FFF2-40B4-BE49-F238E27FC236}">
                <a16:creationId xmlns:a16="http://schemas.microsoft.com/office/drawing/2014/main" id="{E8595417-6A61-42AC-9F46-B41F19DB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平台四类角色</a:t>
            </a:r>
            <a:endParaRPr sz="1200"/>
          </a:p>
        </p:txBody>
      </p:sp>
      <p:sp>
        <p:nvSpPr>
          <p:cNvPr id="7" name="role1-icon">
            <a:extLst xmlns:a="http://schemas.openxmlformats.org/drawingml/2006/main">
              <a:ext uri="{FF2B5EF4-FFF2-40B4-BE49-F238E27FC236}">
                <a16:creationId xmlns:a16="http://schemas.microsoft.com/office/drawing/2014/main" id="{A119EFAD-F092-4F46-A946-B2F85321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25600"/>
            <a:ext cx="330200" cy="330200"/>
          </a:xfrm>
          <a:custGeom xmlns:a="http://schemas.openxmlformats.org/drawingml/2006/main"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le1">
            <a:extLst xmlns:a="http://schemas.openxmlformats.org/drawingml/2006/main">
              <a:ext uri="{FF2B5EF4-FFF2-40B4-BE49-F238E27FC236}">
                <a16:creationId xmlns:a16="http://schemas.microsoft.com/office/drawing/2014/main" id="{97CF8C6B-D2B1-4903-BBAC-9BC5E9A1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082800"/>
            <a:ext cx="241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普通用户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发布代取、代买、转交需求，在线支付，跟踪订单并评价</a:t>
            </a:r>
            <a:endParaRPr sz="1200"/>
          </a:p>
        </p:txBody>
      </p:sp>
      <p:sp>
        <p:nvSpPr>
          <p:cNvPr id="9" name="role-div1">
            <a:extLst xmlns:a="http://schemas.openxmlformats.org/drawingml/2006/main">
              <a:ext uri="{FF2B5EF4-FFF2-40B4-BE49-F238E27FC236}">
                <a16:creationId xmlns:a16="http://schemas.microsoft.com/office/drawing/2014/main" id="{DF309B69-D00F-4D04-B71A-4F32F04A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1625600"/>
            <a:ext cx="12700" cy="149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le2-icon">
            <a:extLst xmlns:a="http://schemas.openxmlformats.org/drawingml/2006/main">
              <a:ext uri="{FF2B5EF4-FFF2-40B4-BE49-F238E27FC236}">
                <a16:creationId xmlns:a16="http://schemas.microsoft.com/office/drawing/2014/main" id="{17D2C433-48AD-43A7-AE66-B0EFC246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25600"/>
            <a:ext cx="330200" cy="330200"/>
          </a:xfrm>
          <a:custGeom xmlns:a="http://schemas.openxmlformats.org/drawingml/2006/main">
            <a:rect l="l" t="t" r="r" b="b"/>
            <a:pathLst>
              <a:path w="448" h="512">
                <a:moveTo>
                  <a:pt x="257" y="-32"/>
                </a:moveTo>
                <a:cubicBezTo>
                  <a:pt x="287" y="-32"/>
                  <a:pt x="313" y="-7"/>
                  <a:pt x="313" y="24"/>
                </a:cubicBezTo>
                <a:cubicBezTo>
                  <a:pt x="313" y="55"/>
                  <a:pt x="287" y="80"/>
                  <a:pt x="257" y="80"/>
                </a:cubicBezTo>
                <a:cubicBezTo>
                  <a:pt x="226" y="80"/>
                  <a:pt x="201" y="55"/>
                  <a:pt x="201" y="24"/>
                </a:cubicBezTo>
                <a:cubicBezTo>
                  <a:pt x="201" y="-7"/>
                  <a:pt x="226" y="-32"/>
                  <a:pt x="257" y="-32"/>
                </a:cubicBezTo>
                <a:close/>
              </a:path>
              <a:path w="448" h="512">
                <a:moveTo>
                  <a:pt x="124" y="176"/>
                </a:moveTo>
                <a:cubicBezTo>
                  <a:pt x="120" y="176"/>
                  <a:pt x="117" y="178"/>
                  <a:pt x="116" y="181"/>
                </a:cubicBezTo>
                <a:lnTo>
                  <a:pt x="94" y="236"/>
                </a:lnTo>
                <a:cubicBezTo>
                  <a:pt x="88" y="252"/>
                  <a:pt x="69" y="260"/>
                  <a:pt x="53" y="254"/>
                </a:cubicBezTo>
                <a:cubicBezTo>
                  <a:pt x="36" y="247"/>
                  <a:pt x="28" y="229"/>
                  <a:pt x="35" y="212"/>
                </a:cubicBezTo>
                <a:lnTo>
                  <a:pt x="57" y="157"/>
                </a:lnTo>
                <a:cubicBezTo>
                  <a:pt x="68" y="130"/>
                  <a:pt x="94" y="112"/>
                  <a:pt x="124" y="112"/>
                </a:cubicBezTo>
                <a:lnTo>
                  <a:pt x="221" y="112"/>
                </a:lnTo>
                <a:cubicBezTo>
                  <a:pt x="249" y="112"/>
                  <a:pt x="276" y="127"/>
                  <a:pt x="290" y="152"/>
                </a:cubicBezTo>
                <a:lnTo>
                  <a:pt x="323" y="208"/>
                </a:lnTo>
                <a:lnTo>
                  <a:pt x="384" y="208"/>
                </a:lnTo>
                <a:cubicBezTo>
                  <a:pt x="402" y="208"/>
                  <a:pt x="416" y="222"/>
                  <a:pt x="416" y="240"/>
                </a:cubicBezTo>
                <a:cubicBezTo>
                  <a:pt x="416" y="258"/>
                  <a:pt x="402" y="272"/>
                  <a:pt x="384" y="272"/>
                </a:cubicBezTo>
                <a:lnTo>
                  <a:pt x="323" y="272"/>
                </a:lnTo>
                <a:cubicBezTo>
                  <a:pt x="300" y="272"/>
                  <a:pt x="279" y="260"/>
                  <a:pt x="268" y="240"/>
                </a:cubicBezTo>
                <a:lnTo>
                  <a:pt x="258" y="223"/>
                </a:lnTo>
                <a:lnTo>
                  <a:pt x="237" y="294"/>
                </a:lnTo>
                <a:lnTo>
                  <a:pt x="312" y="316"/>
                </a:lnTo>
                <a:cubicBezTo>
                  <a:pt x="340" y="324"/>
                  <a:pt x="354" y="355"/>
                  <a:pt x="342" y="382"/>
                </a:cubicBezTo>
                <a:lnTo>
                  <a:pt x="286" y="509"/>
                </a:lnTo>
                <a:cubicBezTo>
                  <a:pt x="279" y="525"/>
                  <a:pt x="260" y="532"/>
                  <a:pt x="244" y="525"/>
                </a:cubicBezTo>
                <a:cubicBezTo>
                  <a:pt x="227" y="518"/>
                  <a:pt x="220" y="499"/>
                  <a:pt x="227" y="483"/>
                </a:cubicBezTo>
                <a:lnTo>
                  <a:pt x="277" y="372"/>
                </a:lnTo>
                <a:lnTo>
                  <a:pt x="181" y="343"/>
                </a:lnTo>
                <a:cubicBezTo>
                  <a:pt x="148" y="334"/>
                  <a:pt x="129" y="300"/>
                  <a:pt x="137" y="267"/>
                </a:cubicBezTo>
                <a:lnTo>
                  <a:pt x="160" y="176"/>
                </a:lnTo>
                <a:lnTo>
                  <a:pt x="124" y="176"/>
                </a:lnTo>
                <a:close/>
              </a:path>
              <a:path w="448" h="512">
                <a:moveTo>
                  <a:pt x="116" y="357"/>
                </a:moveTo>
                <a:cubicBezTo>
                  <a:pt x="129" y="372"/>
                  <a:pt x="146" y="383"/>
                  <a:pt x="167" y="389"/>
                </a:cubicBezTo>
                <a:lnTo>
                  <a:pt x="172" y="391"/>
                </a:lnTo>
                <a:lnTo>
                  <a:pt x="165" y="410"/>
                </a:lnTo>
                <a:cubicBezTo>
                  <a:pt x="159" y="426"/>
                  <a:pt x="149" y="441"/>
                  <a:pt x="135" y="452"/>
                </a:cubicBezTo>
                <a:lnTo>
                  <a:pt x="53" y="520"/>
                </a:lnTo>
                <a:cubicBezTo>
                  <a:pt x="39" y="531"/>
                  <a:pt x="19" y="529"/>
                  <a:pt x="8" y="516"/>
                </a:cubicBezTo>
                <a:cubicBezTo>
                  <a:pt x="-3" y="502"/>
                  <a:pt x="-1" y="482"/>
                  <a:pt x="12" y="471"/>
                </a:cubicBezTo>
                <a:lnTo>
                  <a:pt x="95" y="403"/>
                </a:lnTo>
                <a:cubicBezTo>
                  <a:pt x="99" y="399"/>
                  <a:pt x="102" y="394"/>
                  <a:pt x="104" y="389"/>
                </a:cubicBezTo>
                <a:lnTo>
                  <a:pt x="116" y="357"/>
                </a:lnTo>
                <a:close/>
              </a:path>
            </a:pathLst>
          </a:cu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ole2">
            <a:extLst xmlns:a="http://schemas.openxmlformats.org/drawingml/2006/main">
              <a:ext uri="{FF2B5EF4-FFF2-40B4-BE49-F238E27FC236}">
                <a16:creationId xmlns:a16="http://schemas.microsoft.com/office/drawing/2014/main" id="{E3C023C4-A2C9-45EB-AD5C-B75DCD42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82800"/>
            <a:ext cx="241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跑腿员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实名认证后接单配送，可同时承接多单，扫码出入站，结算收益，接受信用考核</a:t>
            </a:r>
            <a:endParaRPr sz="1200"/>
          </a:p>
        </p:txBody>
      </p:sp>
      <p:sp>
        <p:nvSpPr>
          <p:cNvPr id="12" name="role-div2">
            <a:extLst xmlns:a="http://schemas.openxmlformats.org/drawingml/2006/main">
              <a:ext uri="{FF2B5EF4-FFF2-40B4-BE49-F238E27FC236}">
                <a16:creationId xmlns:a16="http://schemas.microsoft.com/office/drawing/2014/main" id="{BBD6E6B1-84E5-40D8-B301-CAFBF52D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1625600"/>
            <a:ext cx="12700" cy="149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ole3-icon">
            <a:extLst xmlns:a="http://schemas.openxmlformats.org/drawingml/2006/main">
              <a:ext uri="{FF2B5EF4-FFF2-40B4-BE49-F238E27FC236}">
                <a16:creationId xmlns:a16="http://schemas.microsoft.com/office/drawing/2014/main" id="{1D3EF0EC-91A9-46A4-BD46-C29480C4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1625600"/>
            <a:ext cx="330200" cy="330200"/>
          </a:xfrm>
          <a:custGeom xmlns:a="http://schemas.openxmlformats.org/drawingml/2006/main">
            <a:rect l="l" t="t" r="r" b="b"/>
            <a:pathLst>
              <a:path w="576" h="512">
                <a:moveTo>
                  <a:pt x="0" y="142"/>
                </a:moveTo>
                <a:lnTo>
                  <a:pt x="0" y="480"/>
                </a:lnTo>
                <a:cubicBezTo>
                  <a:pt x="0" y="498"/>
                  <a:pt x="14" y="512"/>
                  <a:pt x="32" y="512"/>
                </a:cubicBezTo>
                <a:cubicBezTo>
                  <a:pt x="50" y="512"/>
                  <a:pt x="64" y="498"/>
                  <a:pt x="64" y="480"/>
                </a:cubicBezTo>
                <a:lnTo>
                  <a:pt x="64" y="240"/>
                </a:lnTo>
                <a:cubicBezTo>
                  <a:pt x="64" y="222"/>
                  <a:pt x="78" y="208"/>
                  <a:pt x="96" y="208"/>
                </a:cubicBezTo>
                <a:lnTo>
                  <a:pt x="480" y="208"/>
                </a:lnTo>
                <a:cubicBezTo>
                  <a:pt x="498" y="208"/>
                  <a:pt x="512" y="222"/>
                  <a:pt x="512" y="240"/>
                </a:cubicBezTo>
                <a:lnTo>
                  <a:pt x="512" y="480"/>
                </a:lnTo>
                <a:cubicBezTo>
                  <a:pt x="512" y="498"/>
                  <a:pt x="526" y="512"/>
                  <a:pt x="544" y="512"/>
                </a:cubicBezTo>
                <a:cubicBezTo>
                  <a:pt x="562" y="512"/>
                  <a:pt x="576" y="498"/>
                  <a:pt x="576" y="480"/>
                </a:cubicBezTo>
                <a:lnTo>
                  <a:pt x="576" y="142"/>
                </a:lnTo>
                <a:cubicBezTo>
                  <a:pt x="576" y="115"/>
                  <a:pt x="558" y="90"/>
                  <a:pt x="532" y="81"/>
                </a:cubicBezTo>
                <a:lnTo>
                  <a:pt x="303" y="5"/>
                </a:lnTo>
                <a:cubicBezTo>
                  <a:pt x="293" y="2"/>
                  <a:pt x="283" y="2"/>
                  <a:pt x="273" y="5"/>
                </a:cubicBezTo>
                <a:lnTo>
                  <a:pt x="44" y="81"/>
                </a:lnTo>
                <a:cubicBezTo>
                  <a:pt x="18" y="90"/>
                  <a:pt x="0" y="115"/>
                  <a:pt x="0" y="142"/>
                </a:cubicBezTo>
                <a:close/>
              </a:path>
              <a:path w="576" h="512">
                <a:moveTo>
                  <a:pt x="464" y="256"/>
                </a:moveTo>
                <a:lnTo>
                  <a:pt x="112" y="256"/>
                </a:lnTo>
                <a:lnTo>
                  <a:pt x="112" y="320"/>
                </a:lnTo>
                <a:lnTo>
                  <a:pt x="464" y="320"/>
                </a:lnTo>
                <a:lnTo>
                  <a:pt x="464" y="256"/>
                </a:lnTo>
                <a:close/>
              </a:path>
              <a:path w="576" h="512">
                <a:moveTo>
                  <a:pt x="112" y="416"/>
                </a:moveTo>
                <a:lnTo>
                  <a:pt x="464" y="416"/>
                </a:lnTo>
                <a:lnTo>
                  <a:pt x="464" y="352"/>
                </a:lnTo>
                <a:lnTo>
                  <a:pt x="112" y="352"/>
                </a:lnTo>
                <a:lnTo>
                  <a:pt x="112" y="416"/>
                </a:lnTo>
                <a:close/>
              </a:path>
              <a:path w="576" h="512">
                <a:moveTo>
                  <a:pt x="464" y="448"/>
                </a:moveTo>
                <a:lnTo>
                  <a:pt x="112" y="448"/>
                </a:lnTo>
                <a:lnTo>
                  <a:pt x="112" y="512"/>
                </a:lnTo>
                <a:lnTo>
                  <a:pt x="464" y="512"/>
                </a:lnTo>
                <a:lnTo>
                  <a:pt x="464" y="448"/>
                </a:lnTo>
                <a:close/>
              </a:path>
            </a:pathLst>
          </a:cu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ole3">
            <a:extLst xmlns:a="http://schemas.openxmlformats.org/drawingml/2006/main">
              <a:ext uri="{FF2B5EF4-FFF2-40B4-BE49-F238E27FC236}">
                <a16:creationId xmlns:a16="http://schemas.microsoft.com/office/drawing/2014/main" id="{2EE54490-CACB-4CD5-AF00-D7E5ABF1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082800"/>
            <a:ext cx="241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中转站管理员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管理站点包裹入库、上架、出库，核对异常件，维护货架库存</a:t>
            </a:r>
            <a:endParaRPr sz="1200"/>
          </a:p>
        </p:txBody>
      </p:sp>
      <p:sp>
        <p:nvSpPr>
          <p:cNvPr id="15" name="role-div3">
            <a:extLst xmlns:a="http://schemas.openxmlformats.org/drawingml/2006/main">
              <a:ext uri="{FF2B5EF4-FFF2-40B4-BE49-F238E27FC236}">
                <a16:creationId xmlns:a16="http://schemas.microsoft.com/office/drawing/2014/main" id="{97766C31-CCB7-4433-8555-E3D6BC23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25600"/>
            <a:ext cx="12700" cy="149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ole4-icon">
            <a:extLst xmlns:a="http://schemas.openxmlformats.org/drawingml/2006/main">
              <a:ext uri="{FF2B5EF4-FFF2-40B4-BE49-F238E27FC236}">
                <a16:creationId xmlns:a16="http://schemas.microsoft.com/office/drawing/2014/main" id="{5ED26AFD-7AF8-49D9-8929-70A0CC55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1625600"/>
            <a:ext cx="330200" cy="330200"/>
          </a:xfrm>
          <a:custGeom xmlns:a="http://schemas.openxmlformats.org/drawingml/2006/main">
            <a:rect l="l" t="t" r="r" b="b"/>
            <a:pathLst>
              <a:path w="576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</a:path>
              <a:path w="576" h="512"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297" y="512"/>
                </a:lnTo>
                <a:cubicBezTo>
                  <a:pt x="261" y="469"/>
                  <a:pt x="240" y="415"/>
                  <a:pt x="240" y="356"/>
                </a:cubicBezTo>
                <a:lnTo>
                  <a:pt x="240" y="325"/>
                </a:lnTo>
                <a:cubicBezTo>
                  <a:pt x="240" y="318"/>
                  <a:pt x="241" y="311"/>
                  <a:pt x="243" y="304"/>
                </a:cubicBezTo>
                <a:lnTo>
                  <a:pt x="194" y="304"/>
                </a:lnTo>
                <a:close/>
              </a:path>
              <a:path w="576" h="512">
                <a:moveTo>
                  <a:pt x="422" y="260"/>
                </a:moveTo>
                <a:lnTo>
                  <a:pt x="310" y="297"/>
                </a:lnTo>
                <a:cubicBezTo>
                  <a:pt x="297" y="301"/>
                  <a:pt x="288" y="313"/>
                  <a:pt x="288" y="327"/>
                </a:cubicBezTo>
                <a:lnTo>
                  <a:pt x="288" y="358"/>
                </a:lnTo>
                <a:cubicBezTo>
                  <a:pt x="288" y="433"/>
                  <a:pt x="331" y="500"/>
                  <a:pt x="398" y="532"/>
                </a:cubicBezTo>
                <a:lnTo>
                  <a:pt x="417" y="541"/>
                </a:lnTo>
                <a:cubicBezTo>
                  <a:pt x="422" y="543"/>
                  <a:pt x="427" y="544"/>
                  <a:pt x="432" y="544"/>
                </a:cubicBezTo>
                <a:cubicBezTo>
                  <a:pt x="437" y="544"/>
                  <a:pt x="442" y="543"/>
                  <a:pt x="447" y="541"/>
                </a:cubicBezTo>
                <a:lnTo>
                  <a:pt x="466" y="532"/>
                </a:lnTo>
                <a:cubicBezTo>
                  <a:pt x="533" y="500"/>
                  <a:pt x="576" y="433"/>
                  <a:pt x="576" y="358"/>
                </a:cubicBezTo>
                <a:lnTo>
                  <a:pt x="576" y="327"/>
                </a:lnTo>
                <a:cubicBezTo>
                  <a:pt x="576" y="313"/>
                  <a:pt x="567" y="301"/>
                  <a:pt x="554" y="297"/>
                </a:cubicBezTo>
                <a:lnTo>
                  <a:pt x="442" y="259"/>
                </a:lnTo>
                <a:cubicBezTo>
                  <a:pt x="436" y="257"/>
                  <a:pt x="428" y="257"/>
                  <a:pt x="422" y="259"/>
                </a:cubicBezTo>
                <a:close/>
                <a:moveTo>
                  <a:pt x="445" y="489"/>
                </a:moveTo>
                <a:lnTo>
                  <a:pt x="432" y="495"/>
                </a:lnTo>
                <a:lnTo>
                  <a:pt x="432" y="307"/>
                </a:lnTo>
                <a:lnTo>
                  <a:pt x="528" y="339"/>
                </a:lnTo>
                <a:lnTo>
                  <a:pt x="528" y="358"/>
                </a:lnTo>
                <a:cubicBezTo>
                  <a:pt x="528" y="414"/>
                  <a:pt x="496" y="465"/>
                  <a:pt x="445" y="489"/>
                </a:cubicBezTo>
                <a:close/>
              </a:path>
            </a:pathLst>
          </a:cu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ole4">
            <a:extLst xmlns:a="http://schemas.openxmlformats.org/drawingml/2006/main">
              <a:ext uri="{FF2B5EF4-FFF2-40B4-BE49-F238E27FC236}">
                <a16:creationId xmlns:a16="http://schemas.microsoft.com/office/drawing/2014/main" id="{58986C69-5283-4729-88AE-3CE6184F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2082800"/>
            <a:ext cx="241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系统管理员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审核跑腿员资质，监控订单，管理角色权限与经营统计</a:t>
            </a:r>
            <a:endParaRPr sz="1200"/>
          </a:p>
        </p:txBody>
      </p:sp>
      <p:sp>
        <p:nvSpPr>
          <p:cNvPr id="18" name="flow-label">
            <a:extLst xmlns:a="http://schemas.openxmlformats.org/drawingml/2006/main">
              <a:ext uri="{FF2B5EF4-FFF2-40B4-BE49-F238E27FC236}">
                <a16:creationId xmlns:a16="http://schemas.microsoft.com/office/drawing/2014/main" id="{4F453FA5-B80A-47E8-8C07-1FED021E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7084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业务流程</a:t>
            </a:r>
            <a:endParaRPr sz="1200"/>
          </a:p>
        </p:txBody>
      </p:sp>
      <p:sp>
        <p:nvSpPr>
          <p:cNvPr id="19" name="fn1">
            <a:extLst xmlns:a="http://schemas.openxmlformats.org/drawingml/2006/main">
              <a:ext uri="{FF2B5EF4-FFF2-40B4-BE49-F238E27FC236}">
                <a16:creationId xmlns:a16="http://schemas.microsoft.com/office/drawing/2014/main" id="{37975956-B467-4EA7-A1BE-F1EA25BB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089400"/>
            <a:ext cx="16256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55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fn1-t">
            <a:extLst xmlns:a="http://schemas.openxmlformats.org/drawingml/2006/main">
              <a:ext uri="{FF2B5EF4-FFF2-40B4-BE49-F238E27FC236}">
                <a16:creationId xmlns:a16="http://schemas.microsoft.com/office/drawing/2014/main" id="{63C3F88A-9C05-4D74-ACD3-D284FD6E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089400"/>
            <a:ext cx="16256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3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用户发布需求</a:t>
            </a:r>
            <a:endParaRPr sz="1300"/>
          </a:p>
        </p:txBody>
      </p:sp>
      <p:sp>
        <p:nvSpPr>
          <p:cNvPr id="21" name="fa1">
            <a:extLst xmlns:a="http://schemas.openxmlformats.org/drawingml/2006/main">
              <a:ext uri="{FF2B5EF4-FFF2-40B4-BE49-F238E27FC236}">
                <a16:creationId xmlns:a16="http://schemas.microsoft.com/office/drawing/2014/main" id="{59B87E8D-C209-4631-A1C1-61C7B8CF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00" y="4368800"/>
            <a:ext cx="533400" cy="152400"/>
          </a:xfrm>
          <a:custGeom xmlns:a="http://schemas.openxmlformats.org/drawingml/2006/main">
            <a:rect l="l" t="t" r="r" b="b"/>
            <a:pathLst>
              <a:path w="42" h="12">
                <a:moveTo>
                  <a:pt x="0" y="6"/>
                </a:moveTo>
                <a:lnTo>
                  <a:pt x="42" y="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8551D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fn2">
            <a:extLst xmlns:a="http://schemas.openxmlformats.org/drawingml/2006/main">
              <a:ext uri="{FF2B5EF4-FFF2-40B4-BE49-F238E27FC236}">
                <a16:creationId xmlns:a16="http://schemas.microsoft.com/office/drawing/2014/main" id="{B195F3F6-6936-4229-A61A-9B946AE8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200" y="4089400"/>
            <a:ext cx="16256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55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fn2-t">
            <a:extLst xmlns:a="http://schemas.openxmlformats.org/drawingml/2006/main">
              <a:ext uri="{FF2B5EF4-FFF2-40B4-BE49-F238E27FC236}">
                <a16:creationId xmlns:a16="http://schemas.microsoft.com/office/drawing/2014/main" id="{376EDBC6-A743-4959-9747-B01A05F0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200" y="4089400"/>
            <a:ext cx="16256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3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跑腿员接单</a:t>
            </a:r>
            <a:endParaRPr sz="1300"/>
          </a:p>
        </p:txBody>
      </p:sp>
      <p:sp>
        <p:nvSpPr>
          <p:cNvPr id="24" name="fa2">
            <a:extLst xmlns:a="http://schemas.openxmlformats.org/drawingml/2006/main">
              <a:ext uri="{FF2B5EF4-FFF2-40B4-BE49-F238E27FC236}">
                <a16:creationId xmlns:a16="http://schemas.microsoft.com/office/drawing/2014/main" id="{0EB1E5C9-239E-41BA-BC0F-07B21E08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68800"/>
            <a:ext cx="533400" cy="152400"/>
          </a:xfrm>
          <a:custGeom xmlns:a="http://schemas.openxmlformats.org/drawingml/2006/main">
            <a:rect l="l" t="t" r="r" b="b"/>
            <a:pathLst>
              <a:path w="42" h="12">
                <a:moveTo>
                  <a:pt x="0" y="6"/>
                </a:moveTo>
                <a:lnTo>
                  <a:pt x="42" y="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8551D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fn3">
            <a:extLst xmlns:a="http://schemas.openxmlformats.org/drawingml/2006/main">
              <a:ext uri="{FF2B5EF4-FFF2-40B4-BE49-F238E27FC236}">
                <a16:creationId xmlns:a16="http://schemas.microsoft.com/office/drawing/2014/main" id="{28E052DE-9106-4D52-AA02-39208BD0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4089400"/>
            <a:ext cx="16256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55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fn3-t">
            <a:extLst xmlns:a="http://schemas.openxmlformats.org/drawingml/2006/main">
              <a:ext uri="{FF2B5EF4-FFF2-40B4-BE49-F238E27FC236}">
                <a16:creationId xmlns:a16="http://schemas.microsoft.com/office/drawing/2014/main" id="{5C897409-C5EA-4693-902F-AB81CF6E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4089400"/>
            <a:ext cx="16256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3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中转站入库</a:t>
            </a:r>
            <a:endParaRPr sz="1300"/>
          </a:p>
        </p:txBody>
      </p:sp>
      <p:sp>
        <p:nvSpPr>
          <p:cNvPr id="27" name="fa3">
            <a:extLst xmlns:a="http://schemas.openxmlformats.org/drawingml/2006/main">
              <a:ext uri="{FF2B5EF4-FFF2-40B4-BE49-F238E27FC236}">
                <a16:creationId xmlns:a16="http://schemas.microsoft.com/office/drawing/2014/main" id="{A5D0D4EA-7B6F-4D6E-B3E2-42236EFC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4368800"/>
            <a:ext cx="533400" cy="152400"/>
          </a:xfrm>
          <a:custGeom xmlns:a="http://schemas.openxmlformats.org/drawingml/2006/main">
            <a:rect l="l" t="t" r="r" b="b"/>
            <a:pathLst>
              <a:path w="42" h="12">
                <a:moveTo>
                  <a:pt x="0" y="6"/>
                </a:moveTo>
                <a:lnTo>
                  <a:pt x="42" y="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8551D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fn4">
            <a:extLst xmlns:a="http://schemas.openxmlformats.org/drawingml/2006/main">
              <a:ext uri="{FF2B5EF4-FFF2-40B4-BE49-F238E27FC236}">
                <a16:creationId xmlns:a16="http://schemas.microsoft.com/office/drawing/2014/main" id="{A4D0C047-4EA3-43FC-86B1-9BA1430B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4089400"/>
            <a:ext cx="16256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55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fn4-t">
            <a:extLst xmlns:a="http://schemas.openxmlformats.org/drawingml/2006/main">
              <a:ext uri="{FF2B5EF4-FFF2-40B4-BE49-F238E27FC236}">
                <a16:creationId xmlns:a16="http://schemas.microsoft.com/office/drawing/2014/main" id="{B99813F6-F614-4D1B-9BED-2BAD6C51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600" y="4089400"/>
            <a:ext cx="16256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3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出库配送</a:t>
            </a:r>
            <a:endParaRPr sz="1300"/>
          </a:p>
        </p:txBody>
      </p:sp>
      <p:sp>
        <p:nvSpPr>
          <p:cNvPr id="30" name="fa4">
            <a:extLst xmlns:a="http://schemas.openxmlformats.org/drawingml/2006/main">
              <a:ext uri="{FF2B5EF4-FFF2-40B4-BE49-F238E27FC236}">
                <a16:creationId xmlns:a16="http://schemas.microsoft.com/office/drawing/2014/main" id="{3D14D9B4-5909-4946-827C-75B2B73C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0" y="4368800"/>
            <a:ext cx="533400" cy="152400"/>
          </a:xfrm>
          <a:custGeom xmlns:a="http://schemas.openxmlformats.org/drawingml/2006/main">
            <a:rect l="l" t="t" r="r" b="b"/>
            <a:pathLst>
              <a:path w="42" h="12">
                <a:moveTo>
                  <a:pt x="0" y="6"/>
                </a:moveTo>
                <a:lnTo>
                  <a:pt x="42" y="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8551D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fn5">
            <a:extLst xmlns:a="http://schemas.openxmlformats.org/drawingml/2006/main">
              <a:ext uri="{FF2B5EF4-FFF2-40B4-BE49-F238E27FC236}">
                <a16:creationId xmlns:a16="http://schemas.microsoft.com/office/drawing/2014/main" id="{71BF2C06-ECB9-4C96-B6CA-180F507D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4089400"/>
            <a:ext cx="17272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fn5-t">
            <a:extLst xmlns:a="http://schemas.openxmlformats.org/drawingml/2006/main">
              <a:ext uri="{FF2B5EF4-FFF2-40B4-BE49-F238E27FC236}">
                <a16:creationId xmlns:a16="http://schemas.microsoft.com/office/drawing/2014/main" id="{FA4F4B35-0B6E-4CD4-B7A5-311CD390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4089400"/>
            <a:ext cx="17272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3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签收支付评价</a:t>
            </a:r>
            <a:endParaRPr sz="1300"/>
          </a:p>
        </p:txBody>
      </p:sp>
      <p:sp>
        <p:nvSpPr>
          <p:cNvPr id="33" name="flow-note-icon">
            <a:extLst xmlns:a="http://schemas.openxmlformats.org/drawingml/2006/main">
              <a:ext uri="{FF2B5EF4-FFF2-40B4-BE49-F238E27FC236}">
                <a16:creationId xmlns:a16="http://schemas.microsoft.com/office/drawing/2014/main" id="{DEACEE6F-240C-42DA-A956-55274784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207000"/>
            <a:ext cx="203200" cy="203200"/>
          </a:xfrm>
          <a:custGeom xmlns:a="http://schemas.openxmlformats.org/drawingml/2006/main">
            <a:rect l="l" t="t" r="r" b="b"/>
            <a:pathLst>
              <a:path w="512" h="512">
                <a:moveTo>
                  <a:pt x="480" y="192"/>
                </a:moveTo>
                <a:lnTo>
                  <a:pt x="488" y="192"/>
                </a:lnTo>
                <a:cubicBezTo>
                  <a:pt x="501" y="192"/>
                  <a:pt x="512" y="181"/>
                  <a:pt x="512" y="168"/>
                </a:cubicBezTo>
                <a:lnTo>
                  <a:pt x="512" y="24"/>
                </a:lnTo>
                <a:cubicBezTo>
                  <a:pt x="512" y="14"/>
                  <a:pt x="506" y="6"/>
                  <a:pt x="497" y="2"/>
                </a:cubicBezTo>
                <a:cubicBezTo>
                  <a:pt x="488" y="-2"/>
                  <a:pt x="478" y="0"/>
                  <a:pt x="471" y="7"/>
                </a:cubicBezTo>
                <a:lnTo>
                  <a:pt x="419" y="59"/>
                </a:lnTo>
                <a:cubicBezTo>
                  <a:pt x="375" y="22"/>
                  <a:pt x="318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ubicBezTo>
                  <a:pt x="79" y="136"/>
                  <a:pt x="159" y="64"/>
                  <a:pt x="256" y="64"/>
                </a:cubicBezTo>
                <a:cubicBezTo>
                  <a:pt x="300" y="64"/>
                  <a:pt x="341" y="79"/>
                  <a:pt x="374" y="104"/>
                </a:cubicBezTo>
                <a:lnTo>
                  <a:pt x="327" y="151"/>
                </a:lnTo>
                <a:cubicBezTo>
                  <a:pt x="320" y="158"/>
                  <a:pt x="318" y="168"/>
                  <a:pt x="322" y="177"/>
                </a:cubicBezTo>
                <a:cubicBezTo>
                  <a:pt x="326" y="186"/>
                  <a:pt x="334" y="192"/>
                  <a:pt x="344" y="192"/>
                </a:cubicBezTo>
                <a:lnTo>
                  <a:pt x="480" y="192"/>
                </a:lnTo>
                <a:close/>
                <a:moveTo>
                  <a:pt x="510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12" y="448"/>
                  <a:pt x="171" y="433"/>
                  <a:pt x="138" y="408"/>
                </a:cubicBezTo>
                <a:lnTo>
                  <a:pt x="185" y="361"/>
                </a:lnTo>
                <a:cubicBezTo>
                  <a:pt x="192" y="354"/>
                  <a:pt x="194" y="344"/>
                  <a:pt x="190" y="335"/>
                </a:cubicBezTo>
                <a:cubicBezTo>
                  <a:pt x="186" y="326"/>
                  <a:pt x="178" y="320"/>
                  <a:pt x="168" y="320"/>
                </a:cubicBezTo>
                <a:lnTo>
                  <a:pt x="24" y="320"/>
                </a:lnTo>
                <a:cubicBezTo>
                  <a:pt x="11" y="320"/>
                  <a:pt x="0" y="331"/>
                  <a:pt x="0" y="344"/>
                </a:cubicBezTo>
                <a:lnTo>
                  <a:pt x="0" y="488"/>
                </a:lnTo>
                <a:cubicBezTo>
                  <a:pt x="0" y="498"/>
                  <a:pt x="6" y="507"/>
                  <a:pt x="15" y="510"/>
                </a:cubicBezTo>
                <a:cubicBezTo>
                  <a:pt x="24" y="514"/>
                  <a:pt x="34" y="512"/>
                  <a:pt x="41" y="505"/>
                </a:cubicBezTo>
                <a:lnTo>
                  <a:pt x="93" y="453"/>
                </a:lnTo>
                <a:cubicBezTo>
                  <a:pt x="137" y="490"/>
                  <a:pt x="194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 xmlns:a="http://schemas.openxmlformats.org/drawingml/2006/main">
            <a:srgbClr val="7771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flow-note">
            <a:extLst xmlns:a="http://schemas.openxmlformats.org/drawingml/2006/main">
              <a:ext uri="{FF2B5EF4-FFF2-40B4-BE49-F238E27FC236}">
                <a16:creationId xmlns:a16="http://schemas.microsoft.com/office/drawing/2014/main" id="{A3180B83-6AE1-40A2-86F5-4F28C1B2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156200"/>
            <a:ext cx="108712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评价回写信用分 · 异常件管理员介入 · 状态 / 资金 / 信用一致性由数据库</a:t>
            </a: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后端</a:t>
            </a: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保障</a:t>
            </a:r>
            <a:endParaRPr sz="1200"/>
          </a:p>
        </p:txBody>
      </p:sp>
      <p:sp>
        <p:nvSpPr>
          <p:cNvPr id="35" name="ft-line">
            <a:extLst xmlns:a="http://schemas.openxmlformats.org/drawingml/2006/main">
              <a:ext uri="{FF2B5EF4-FFF2-40B4-BE49-F238E27FC236}">
                <a16:creationId xmlns:a16="http://schemas.microsoft.com/office/drawing/2014/main" id="{BFE1C104-4346-4CB8-8A96-8EDF4E5A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ft-brand">
            <a:extLst xmlns:a="http://schemas.openxmlformats.org/drawingml/2006/main">
              <a:ext uri="{FF2B5EF4-FFF2-40B4-BE49-F238E27FC236}">
                <a16:creationId xmlns:a16="http://schemas.microsoft.com/office/drawing/2014/main" id="{439EA541-F160-40C2-A15B-8FA2413C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37" name="ft-page">
            <a:extLst xmlns:a="http://schemas.openxmlformats.org/drawingml/2006/main">
              <a:ext uri="{FF2B5EF4-FFF2-40B4-BE49-F238E27FC236}">
                <a16:creationId xmlns:a16="http://schemas.microsoft.com/office/drawing/2014/main" id="{6F69491E-82AA-4C9A-8D82-14210D37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5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935391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hd-title">
            <a:extLst xmlns:a="http://schemas.openxmlformats.org/drawingml/2006/main">
              <a:ext uri="{FF2B5EF4-FFF2-40B4-BE49-F238E27FC236}">
                <a16:creationId xmlns:a16="http://schemas.microsoft.com/office/drawing/2014/main" id="{6C897C76-4940-2B00-E4DC-D1A88BFE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技术架构</a:t>
            </a:r>
            <a:endParaRPr sz="2500"/>
          </a:p>
        </p:txBody>
      </p:sp>
      <p:sp>
        <p:nvSpPr>
          <p:cNvPr id="57" name="hd-sec">
            <a:extLst xmlns:a="http://schemas.openxmlformats.org/drawingml/2006/main">
              <a:ext uri="{FF2B5EF4-FFF2-40B4-BE49-F238E27FC236}">
                <a16:creationId xmlns:a16="http://schemas.microsoft.com/office/drawing/2014/main" id="{5B061668-EB2D-6BE3-3EBC-879F8D83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01 · 项目概述</a:t>
            </a:r>
            <a:endParaRPr sz="1100"/>
          </a:p>
        </p:txBody>
      </p:sp>
      <p:sp>
        <p:nvSpPr>
          <p:cNvPr id="58" name="hd-line">
            <a:extLst xmlns:a="http://schemas.openxmlformats.org/drawingml/2006/main">
              <a:ext uri="{FF2B5EF4-FFF2-40B4-BE49-F238E27FC236}">
                <a16:creationId xmlns:a16="http://schemas.microsoft.com/office/drawing/2014/main" id="{3CE0CEEB-A854-783F-F8C1-308EFD02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layer1">
            <a:extLst xmlns:a="http://schemas.openxmlformats.org/drawingml/2006/main">
              <a:ext uri="{FF2B5EF4-FFF2-40B4-BE49-F238E27FC236}">
                <a16:creationId xmlns:a16="http://schemas.microsoft.com/office/drawing/2014/main" id="{9A06A9C1-D8C6-86FB-6FEE-F9FFD88C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59690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020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layer1-tag">
            <a:extLst xmlns:a="http://schemas.openxmlformats.org/drawingml/2006/main">
              <a:ext uri="{FF2B5EF4-FFF2-40B4-BE49-F238E27FC236}">
                <a16:creationId xmlns:a16="http://schemas.microsoft.com/office/drawing/2014/main" id="{DBB75117-7130-B210-84BA-4C9A8822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635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layer1-t">
            <a:extLst xmlns:a="http://schemas.openxmlformats.org/drawingml/2006/main">
              <a:ext uri="{FF2B5EF4-FFF2-40B4-BE49-F238E27FC236}">
                <a16:creationId xmlns:a16="http://schemas.microsoft.com/office/drawing/2014/main" id="{DE93E5B0-21E9-D9FE-7127-69651A81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20800"/>
            <a:ext cx="553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30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表现层</a:t>
            </a: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　Presentation</a:t>
            </a:r>
            <a:endParaRPr sz="1600"/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0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Razor Views · ViewModels 表单 / 展示模型 · wwwroot 静态资源</a:t>
            </a:r>
            <a:endParaRPr sz="1600"/>
          </a:p>
        </p:txBody>
      </p:sp>
      <p:sp>
        <p:nvSpPr>
          <p:cNvPr id="62" name="ar1">
            <a:extLst xmlns:a="http://schemas.openxmlformats.org/drawingml/2006/main">
              <a:ext uri="{FF2B5EF4-FFF2-40B4-BE49-F238E27FC236}">
                <a16:creationId xmlns:a16="http://schemas.microsoft.com/office/drawing/2014/main" id="{0A094C04-B63A-4EA0-2C57-FDEB9A0C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0" y="2032000"/>
            <a:ext cx="177800" cy="152400"/>
          </a:xfrm>
          <a:custGeom xmlns:a="http://schemas.openxmlformats.org/drawingml/2006/main">
            <a:rect l="l" t="t" r="r" b="b"/>
            <a:pathLst>
              <a:path w="14" h="12">
                <a:moveTo>
                  <a:pt x="7" y="0"/>
                </a:moveTo>
                <a:lnTo>
                  <a:pt x="7" y="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4FB3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layer2">
            <a:extLst xmlns:a="http://schemas.openxmlformats.org/drawingml/2006/main">
              <a:ext uri="{FF2B5EF4-FFF2-40B4-BE49-F238E27FC236}">
                <a16:creationId xmlns:a16="http://schemas.microsoft.com/office/drawing/2014/main" id="{4FC18C00-89DF-5D9D-4102-EFCE9F0D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209800"/>
            <a:ext cx="59690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020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layer2-tag">
            <a:extLst xmlns:a="http://schemas.openxmlformats.org/drawingml/2006/main">
              <a:ext uri="{FF2B5EF4-FFF2-40B4-BE49-F238E27FC236}">
                <a16:creationId xmlns:a16="http://schemas.microsoft.com/office/drawing/2014/main" id="{219BDBDC-3AE2-8334-D309-330247F6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209800"/>
            <a:ext cx="635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layer2-t">
            <a:extLst xmlns:a="http://schemas.openxmlformats.org/drawingml/2006/main">
              <a:ext uri="{FF2B5EF4-FFF2-40B4-BE49-F238E27FC236}">
                <a16:creationId xmlns:a16="http://schemas.microsoft.com/office/drawing/2014/main" id="{A4989901-270F-8FBC-2FD1-A47CDD3F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1400"/>
            <a:ext cx="553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30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控制层</a:t>
            </a: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　Controllers</a:t>
            </a:r>
            <a:endParaRPr sz="1600"/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0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接收请求、绑定参数、调用 Service 接口、返回 View / Redirect</a:t>
            </a:r>
            <a:endParaRPr sz="1600"/>
          </a:p>
        </p:txBody>
      </p:sp>
      <p:sp>
        <p:nvSpPr>
          <p:cNvPr id="66" name="ar2">
            <a:extLst xmlns:a="http://schemas.openxmlformats.org/drawingml/2006/main">
              <a:ext uri="{FF2B5EF4-FFF2-40B4-BE49-F238E27FC236}">
                <a16:creationId xmlns:a16="http://schemas.microsoft.com/office/drawing/2014/main" id="{7A111BAC-095B-8091-4C7C-8D06CDD1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0" y="3022600"/>
            <a:ext cx="177800" cy="152400"/>
          </a:xfrm>
          <a:custGeom xmlns:a="http://schemas.openxmlformats.org/drawingml/2006/main">
            <a:rect l="l" t="t" r="r" b="b"/>
            <a:pathLst>
              <a:path w="14" h="12">
                <a:moveTo>
                  <a:pt x="7" y="0"/>
                </a:moveTo>
                <a:lnTo>
                  <a:pt x="7" y="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4FB3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layer3">
            <a:extLst xmlns:a="http://schemas.openxmlformats.org/drawingml/2006/main">
              <a:ext uri="{FF2B5EF4-FFF2-40B4-BE49-F238E27FC236}">
                <a16:creationId xmlns:a16="http://schemas.microsoft.com/office/drawing/2014/main" id="{BB1750DF-5B06-D7CC-EE94-E46AEDD5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200400"/>
            <a:ext cx="59690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B4FB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layer3-tag">
            <a:extLst xmlns:a="http://schemas.openxmlformats.org/drawingml/2006/main">
              <a:ext uri="{FF2B5EF4-FFF2-40B4-BE49-F238E27FC236}">
                <a16:creationId xmlns:a16="http://schemas.microsoft.com/office/drawing/2014/main" id="{CB824A45-FC11-C000-6B98-83D4C061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200400"/>
            <a:ext cx="635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layer3-t">
            <a:extLst xmlns:a="http://schemas.openxmlformats.org/drawingml/2006/main">
              <a:ext uri="{FF2B5EF4-FFF2-40B4-BE49-F238E27FC236}">
                <a16:creationId xmlns:a16="http://schemas.microsoft.com/office/drawing/2014/main" id="{384D0156-1B53-93FF-6F1E-D6387B07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2000"/>
            <a:ext cx="553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30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业务层</a:t>
            </a: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　Services / Interfaces</a:t>
            </a:r>
            <a:endParaRPr sz="1600"/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0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业务规则、状态判断、事务边界控制、中文显示名转换</a:t>
            </a:r>
            <a:endParaRPr sz="1600"/>
          </a:p>
        </p:txBody>
      </p:sp>
      <p:sp>
        <p:nvSpPr>
          <p:cNvPr id="70" name="ar3">
            <a:extLst xmlns:a="http://schemas.openxmlformats.org/drawingml/2006/main">
              <a:ext uri="{FF2B5EF4-FFF2-40B4-BE49-F238E27FC236}">
                <a16:creationId xmlns:a16="http://schemas.microsoft.com/office/drawing/2014/main" id="{8236195A-C44E-A81D-F666-D0E5A733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0" y="4013200"/>
            <a:ext cx="177800" cy="152400"/>
          </a:xfrm>
          <a:custGeom xmlns:a="http://schemas.openxmlformats.org/drawingml/2006/main">
            <a:rect l="l" t="t" r="r" b="b"/>
            <a:pathLst>
              <a:path w="14" h="12">
                <a:moveTo>
                  <a:pt x="7" y="0"/>
                </a:moveTo>
                <a:lnTo>
                  <a:pt x="7" y="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4FB3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layer4">
            <a:extLst xmlns:a="http://schemas.openxmlformats.org/drawingml/2006/main">
              <a:ext uri="{FF2B5EF4-FFF2-40B4-BE49-F238E27FC236}">
                <a16:creationId xmlns:a16="http://schemas.microsoft.com/office/drawing/2014/main" id="{FDE48483-3FD0-45AD-CD84-D9F7D3D5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91000"/>
            <a:ext cx="59690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020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layer4-tag">
            <a:extLst xmlns:a="http://schemas.openxmlformats.org/drawingml/2006/main">
              <a:ext uri="{FF2B5EF4-FFF2-40B4-BE49-F238E27FC236}">
                <a16:creationId xmlns:a16="http://schemas.microsoft.com/office/drawing/2014/main" id="{AF3225E8-154B-BD7E-511F-F3C8E4C7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91000"/>
            <a:ext cx="635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" name="layer4-t">
            <a:extLst xmlns:a="http://schemas.openxmlformats.org/drawingml/2006/main">
              <a:ext uri="{FF2B5EF4-FFF2-40B4-BE49-F238E27FC236}">
                <a16:creationId xmlns:a16="http://schemas.microsoft.com/office/drawing/2014/main" id="{84782742-4B4C-2037-FD23-12A79F2A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2600"/>
            <a:ext cx="553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30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持久层</a:t>
            </a: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　Repositories / Persistence</a:t>
            </a:r>
            <a:endParaRPr sz="1600"/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0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仓储接口、参数化 SQL、FOR UPDATE 行锁、Oracle 连接工厂</a:t>
            </a:r>
            <a:endParaRPr sz="1600"/>
          </a:p>
        </p:txBody>
      </p:sp>
      <p:sp>
        <p:nvSpPr>
          <p:cNvPr id="74" name="ar4">
            <a:extLst xmlns:a="http://schemas.openxmlformats.org/drawingml/2006/main">
              <a:ext uri="{FF2B5EF4-FFF2-40B4-BE49-F238E27FC236}">
                <a16:creationId xmlns:a16="http://schemas.microsoft.com/office/drawing/2014/main" id="{EE182D49-3997-8967-C9E1-FD203704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0" y="5003800"/>
            <a:ext cx="177800" cy="152400"/>
          </a:xfrm>
          <a:custGeom xmlns:a="http://schemas.openxmlformats.org/drawingml/2006/main">
            <a:rect l="l" t="t" r="r" b="b"/>
            <a:pathLst>
              <a:path w="14" h="12">
                <a:moveTo>
                  <a:pt x="7" y="0"/>
                </a:moveTo>
                <a:lnTo>
                  <a:pt x="7" y="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4FB3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layer5">
            <a:extLst xmlns:a="http://schemas.openxmlformats.org/drawingml/2006/main">
              <a:ext uri="{FF2B5EF4-FFF2-40B4-BE49-F238E27FC236}">
                <a16:creationId xmlns:a16="http://schemas.microsoft.com/office/drawing/2014/main" id="{294F35F5-4331-2B54-B1AB-C7949CEB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181600"/>
            <a:ext cx="59690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layer5-t">
            <a:extLst xmlns:a="http://schemas.openxmlformats.org/drawingml/2006/main">
              <a:ext uri="{FF2B5EF4-FFF2-40B4-BE49-F238E27FC236}">
                <a16:creationId xmlns:a16="http://schemas.microsoft.com/office/drawing/2014/main" id="{111B7937-2C42-08DA-134C-5A91D30B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3200"/>
            <a:ext cx="553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300" b="1">
                <a:solidFill>
                  <a:schemeClr val="bg1"/>
                </a:solidFill>
                <a:latin typeface="MiSans"/>
                <a:ea typeface="MiSans"/>
                <a:cs typeface="MiSans"/>
              </a:rPr>
              <a:t>数据库层</a:t>
            </a:r>
            <a:r>
              <a:rPr sz="1000">
                <a:solidFill>
                  <a:schemeClr val="bg1"/>
                </a:solidFill>
                <a:latin typeface="MiSans"/>
                <a:ea typeface="MiSans"/>
                <a:cs typeface="MiSans"/>
              </a:rPr>
              <a:t>　Oracle 19c</a:t>
            </a:r>
            <a:endParaRPr sz="1600">
              <a:solidFill>
                <a:schemeClr val="bg1"/>
              </a:solidFill>
            </a:endParaRPr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050">
                <a:solidFill>
                  <a:schemeClr val="bg1"/>
                </a:solidFill>
                <a:latin typeface="MiSans"/>
                <a:ea typeface="MiSans"/>
                <a:cs typeface="MiSans"/>
              </a:rPr>
              <a:t>24 张关系表 · 主外键 / 唯一 / 检查约束 · 函数唯一索引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77" name="stack-label">
            <a:extLst xmlns:a="http://schemas.openxmlformats.org/drawingml/2006/main">
              <a:ext uri="{FF2B5EF4-FFF2-40B4-BE49-F238E27FC236}">
                <a16:creationId xmlns:a16="http://schemas.microsoft.com/office/drawing/2014/main" id="{EC5F103F-BF56-3A67-DE45-318FE3C2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1219200"/>
            <a:ext cx="469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调用方向与边界约束</a:t>
            </a:r>
            <a:endParaRPr sz="1200"/>
          </a:p>
        </p:txBody>
      </p:sp>
      <p:sp>
        <p:nvSpPr>
          <p:cNvPr id="78" name="stack-body">
            <a:extLst xmlns:a="http://schemas.openxmlformats.org/drawingml/2006/main">
              <a:ext uri="{FF2B5EF4-FFF2-40B4-BE49-F238E27FC236}">
                <a16:creationId xmlns:a16="http://schemas.microsoft.com/office/drawing/2014/main" id="{01422C9E-5164-96D4-9077-1E7B6208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1574800"/>
            <a:ext cx="4699000" cy="299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</a:pPr>
            <a:r>
              <a:rPr sz="1050">
                <a:solidFill>
                  <a:srgbClr val="102033"/>
                </a:solidFill>
                <a:latin typeface="JetBrains Mono"/>
                <a:ea typeface="JetBrains Mono"/>
                <a:cs typeface="JetBrains Mono"/>
              </a:rPr>
              <a:t>View → Controller → IService → Service</a:t>
            </a:r>
            <a:endParaRPr sz="1150"/>
          </a:p>
          <a:p xmlns:a="http://schemas.openxmlformats.org/drawingml/2006/main">
            <a:pPr>
              <a:lnSpc>
                <a:spcPct val="160000"/>
              </a:lnSpc>
              <a:buNone/>
            </a:pPr>
            <a:r>
              <a:rPr sz="1050">
                <a:solidFill>
                  <a:srgbClr val="102033"/>
                </a:solidFill>
                <a:latin typeface="JetBrains Mono"/>
                <a:ea typeface="JetBrains Mono"/>
                <a:cs typeface="JetBrains Mono"/>
              </a:rPr>
              <a:t>→ IRepository → Repository → Oracle</a:t>
            </a:r>
            <a:endParaRPr sz="1150"/>
          </a:p>
          <a:p xmlns:a="http://schemas.openxmlformats.org/drawingml/2006/main">
            <a:pPr>
              <a:lnSpc>
                <a:spcPct val="160000"/>
              </a:lnSpc>
              <a:spcBef>
                <a:spcPts val="1000"/>
              </a:spcBef>
              <a:buNone/>
            </a:pPr>
            <a:r>
              <a:rPr sz="11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各层接口解耦 · 实现可替换</a:t>
            </a:r>
            <a:endParaRPr sz="1150"/>
          </a:p>
          <a:p xmlns:a="http://schemas.openxmlformats.org/drawingml/2006/main">
            <a:pPr>
              <a:lnSpc>
                <a:spcPct val="160000"/>
              </a:lnSpc>
              <a:spcBef>
                <a:spcPts val="1000"/>
              </a:spcBef>
              <a:buNone/>
            </a:pPr>
            <a:r>
              <a:rPr sz="115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运行环境</a:t>
            </a:r>
            <a:r>
              <a:rPr sz="1150">
                <a:solidFill>
                  <a:srgbClr val="102033"/>
                </a:solidFill>
                <a:latin typeface="MiSans"/>
                <a:ea typeface="MiSans"/>
                <a:cs typeface="MiSans"/>
              </a:rPr>
              <a:t>　.NET SDK 9 · net9.0</a:t>
            </a:r>
            <a:endParaRPr sz="1150"/>
          </a:p>
          <a:p xmlns:a="http://schemas.openxmlformats.org/drawingml/2006/main">
            <a:pPr>
              <a:lnSpc>
                <a:spcPct val="160000"/>
              </a:lnSpc>
              <a:buNone/>
            </a:pPr>
            <a:r>
              <a:rPr sz="115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测试工程</a:t>
            </a:r>
            <a:r>
              <a:rPr sz="1150">
                <a:solidFill>
                  <a:srgbClr val="102033"/>
                </a:solidFill>
                <a:latin typeface="MiSans"/>
                <a:ea typeface="MiSans"/>
                <a:cs typeface="MiSans"/>
              </a:rPr>
              <a:t>　xUnit + 仓储接口测试替身</a:t>
            </a:r>
            <a:endParaRPr sz="1150"/>
          </a:p>
          <a:p xmlns:a="http://schemas.openxmlformats.org/drawingml/2006/main">
            <a:pPr>
              <a:lnSpc>
                <a:spcPct val="160000"/>
              </a:lnSpc>
              <a:buNone/>
            </a:pPr>
            <a:r>
              <a:rPr sz="115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数据口径</a:t>
            </a:r>
            <a:r>
              <a:rPr sz="1150">
                <a:solidFill>
                  <a:srgbClr val="102033"/>
                </a:solidFill>
                <a:latin typeface="MiSans"/>
                <a:ea typeface="MiSans"/>
                <a:cs typeface="MiSans"/>
              </a:rPr>
              <a:t>　英文代码入库，页面显示中文</a:t>
            </a:r>
            <a:endParaRPr sz="1150"/>
          </a:p>
        </p:txBody>
      </p:sp>
      <p:sp>
        <p:nvSpPr>
          <p:cNvPr id="79" name="stack-line">
            <a:extLst xmlns:a="http://schemas.openxmlformats.org/drawingml/2006/main">
              <a:ext uri="{FF2B5EF4-FFF2-40B4-BE49-F238E27FC236}">
                <a16:creationId xmlns:a16="http://schemas.microsoft.com/office/drawing/2014/main" id="{FA681106-DC8C-C39B-B175-2851D396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5537200"/>
            <a:ext cx="4699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stack-note">
            <a:extLst xmlns:a="http://schemas.openxmlformats.org/drawingml/2006/main">
              <a:ext uri="{FF2B5EF4-FFF2-40B4-BE49-F238E27FC236}">
                <a16:creationId xmlns:a16="http://schemas.microsoft.com/office/drawing/2014/main" id="{C971C912-0968-CB74-E360-B503AF20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5689600"/>
            <a:ext cx="469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81" name="ft-line">
            <a:extLst xmlns:a="http://schemas.openxmlformats.org/drawingml/2006/main">
              <a:ext uri="{FF2B5EF4-FFF2-40B4-BE49-F238E27FC236}">
                <a16:creationId xmlns:a16="http://schemas.microsoft.com/office/drawing/2014/main" id="{2EB400EB-5B13-0016-01F8-252A613F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2" name="ft-brand">
            <a:extLst xmlns:a="http://schemas.openxmlformats.org/drawingml/2006/main">
              <a:ext uri="{FF2B5EF4-FFF2-40B4-BE49-F238E27FC236}">
                <a16:creationId xmlns:a16="http://schemas.microsoft.com/office/drawing/2014/main" id="{DAB0864F-A885-3524-A84C-84F99C06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济跑跑 J</a:t>
            </a: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I</a:t>
            </a: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RUN · </a:t>
            </a: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83" name="ft-page">
            <a:extLst xmlns:a="http://schemas.openxmlformats.org/drawingml/2006/main">
              <a:ext uri="{FF2B5EF4-FFF2-40B4-BE49-F238E27FC236}">
                <a16:creationId xmlns:a16="http://schemas.microsoft.com/office/drawing/2014/main" id="{CDF46835-4D8B-A662-E6D9-978D9161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6 / 44</a:t>
            </a:r>
            <a:endParaRPr sz="1000"/>
          </a:p>
        </p:txBody>
      </p:sp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136B2D8F-D2F8-7B00-38F1-272029E4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712137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32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iv-num">
            <a:extLst xmlns:a="http://schemas.openxmlformats.org/drawingml/2006/main">
              <a:ext uri="{FF2B5EF4-FFF2-40B4-BE49-F238E27FC236}">
                <a16:creationId xmlns:a16="http://schemas.microsoft.com/office/drawing/2014/main" id="{752D0976-56F4-4190-B0EF-9FFC4B0A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524000"/>
            <a:ext cx="4064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02</a:t>
            </a:r>
            <a:endParaRPr sz="14000"/>
          </a:p>
        </p:txBody>
      </p:sp>
      <p:sp>
        <p:nvSpPr>
          <p:cNvPr id="3" name="div-line">
            <a:extLst xmlns:a="http://schemas.openxmlformats.org/drawingml/2006/main">
              <a:ext uri="{FF2B5EF4-FFF2-40B4-BE49-F238E27FC236}">
                <a16:creationId xmlns:a16="http://schemas.microsoft.com/office/drawing/2014/main" id="{32D2538A-49CE-4C34-9B7B-720F49F2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3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iv-title">
            <a:extLst xmlns:a="http://schemas.openxmlformats.org/drawingml/2006/main">
              <a:ext uri="{FF2B5EF4-FFF2-40B4-BE49-F238E27FC236}">
                <a16:creationId xmlns:a16="http://schemas.microsoft.com/office/drawing/2014/main" id="{206CDA88-7D26-4B43-A95F-C51F7A25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318000"/>
            <a:ext cx="6350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0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需求分析</a:t>
            </a:r>
            <a:endParaRPr sz="4000"/>
          </a:p>
        </p:txBody>
      </p:sp>
      <p:sp>
        <p:nvSpPr>
          <p:cNvPr id="5" name="div-sub">
            <a:extLst xmlns:a="http://schemas.openxmlformats.org/drawingml/2006/main">
              <a:ext uri="{FF2B5EF4-FFF2-40B4-BE49-F238E27FC236}">
                <a16:creationId xmlns:a16="http://schemas.microsoft.com/office/drawing/2014/main" id="{2DA7E3F7-CC74-4A10-A100-094BDD8D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156200"/>
            <a:ext cx="787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rgbClr val="B9B2A6"/>
                </a:solidFill>
                <a:latin typeface="MiSans"/>
                <a:ea typeface="MiSans"/>
                <a:cs typeface="MiSans"/>
              </a:rPr>
              <a:t>功能架构 · 核心业务流程 · 数据与非功能需求</a:t>
            </a:r>
            <a:endParaRPr sz="1400"/>
          </a:p>
        </p:txBody>
      </p:sp>
      <p:sp>
        <p:nvSpPr>
          <p:cNvPr id="6" name="div-progress">
            <a:extLst xmlns:a="http://schemas.openxmlformats.org/drawingml/2006/main">
              <a:ext uri="{FF2B5EF4-FFF2-40B4-BE49-F238E27FC236}">
                <a16:creationId xmlns:a16="http://schemas.microsoft.com/office/drawing/2014/main" id="{FE01423C-6DDE-4B31-8263-B6384374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762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100" spc="200">
                <a:solidFill>
                  <a:srgbClr val="8A8478"/>
                </a:solidFill>
                <a:latin typeface="MiSans"/>
                <a:ea typeface="MiSans"/>
                <a:cs typeface="MiSans"/>
              </a:rPr>
              <a:t>SECTION 02 / 06</a:t>
            </a:r>
            <a:endParaRPr sz="1100"/>
          </a:p>
        </p:txBody>
      </p:sp>
      <p:sp>
        <p:nvSpPr>
          <p:cNvPr id="7" name="div-brand">
            <a:extLst xmlns:a="http://schemas.openxmlformats.org/drawingml/2006/main">
              <a:ext uri="{FF2B5EF4-FFF2-40B4-BE49-F238E27FC236}">
                <a16:creationId xmlns:a16="http://schemas.microsoft.com/office/drawing/2014/main" id="{D6990C30-FEB3-49E6-960D-396CAEC0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2992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济跑跑 JIRUN · 数据库课程设计答辩</a:t>
            </a:r>
            <a:endParaRPr sz="1000"/>
          </a:p>
        </p:txBody>
      </p:sp>
      <p:sp>
        <p:nvSpPr>
          <p:cNvPr id="8" name="div-page">
            <a:extLst xmlns:a="http://schemas.openxmlformats.org/drawingml/2006/main">
              <a:ext uri="{FF2B5EF4-FFF2-40B4-BE49-F238E27FC236}">
                <a16:creationId xmlns:a16="http://schemas.microsoft.com/office/drawing/2014/main" id="{6A2D39BB-C88D-40A1-AECE-B41D498F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299200"/>
            <a:ext cx="76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7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400297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hd-tick">
            <a:extLst xmlns:a="http://schemas.openxmlformats.org/drawingml/2006/main">
              <a:ext uri="{FF2B5EF4-FFF2-40B4-BE49-F238E27FC236}">
                <a16:creationId xmlns:a16="http://schemas.microsoft.com/office/drawing/2014/main" id="{1D08A911-717B-B799-4359-0A50FCA0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hd-title">
            <a:extLst xmlns:a="http://schemas.openxmlformats.org/drawingml/2006/main">
              <a:ext uri="{FF2B5EF4-FFF2-40B4-BE49-F238E27FC236}">
                <a16:creationId xmlns:a16="http://schemas.microsoft.com/office/drawing/2014/main" id="{42C88B4C-90FE-909B-D8C1-20DFD619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功能需求</a:t>
            </a:r>
            <a:endParaRPr sz="2500"/>
          </a:p>
        </p:txBody>
      </p:sp>
      <p:sp>
        <p:nvSpPr>
          <p:cNvPr id="61" name="hd-sec">
            <a:extLst xmlns:a="http://schemas.openxmlformats.org/drawingml/2006/main">
              <a:ext uri="{FF2B5EF4-FFF2-40B4-BE49-F238E27FC236}">
                <a16:creationId xmlns:a16="http://schemas.microsoft.com/office/drawing/2014/main" id="{B17147CB-4F6E-B452-66E2-3564401E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02 · 需求分析</a:t>
            </a:r>
            <a:endParaRPr sz="1100"/>
          </a:p>
        </p:txBody>
      </p:sp>
      <p:sp>
        <p:nvSpPr>
          <p:cNvPr id="62" name="hd-line">
            <a:extLst xmlns:a="http://schemas.openxmlformats.org/drawingml/2006/main">
              <a:ext uri="{FF2B5EF4-FFF2-40B4-BE49-F238E27FC236}">
                <a16:creationId xmlns:a16="http://schemas.microsoft.com/office/drawing/2014/main" id="{93880704-734E-1F64-39F1-FA24391D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root-box">
            <a:extLst xmlns:a="http://schemas.openxmlformats.org/drawingml/2006/main">
              <a:ext uri="{FF2B5EF4-FFF2-40B4-BE49-F238E27FC236}">
                <a16:creationId xmlns:a16="http://schemas.microsoft.com/office/drawing/2014/main" id="{B491C8D2-A498-61BD-2A75-25785C58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149600"/>
            <a:ext cx="1778000" cy="81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root-t">
            <a:extLst xmlns:a="http://schemas.openxmlformats.org/drawingml/2006/main">
              <a:ext uri="{FF2B5EF4-FFF2-40B4-BE49-F238E27FC236}">
                <a16:creationId xmlns:a16="http://schemas.microsoft.com/office/drawing/2014/main" id="{DDBE997D-65BB-3AF6-E95B-53EA01FC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149600"/>
            <a:ext cx="1778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济跑跑系统</a:t>
            </a:r>
            <a:endParaRPr sz="1600"/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93A8C4"/>
                </a:solidFill>
                <a:latin typeface="MiSans"/>
                <a:ea typeface="MiSans"/>
                <a:cs typeface="MiSans"/>
              </a:rPr>
              <a:t>JIRUN SYSTEM</a:t>
            </a:r>
            <a:endParaRPr sz="1600"/>
          </a:p>
        </p:txBody>
      </p:sp>
      <p:sp>
        <p:nvSpPr>
          <p:cNvPr id="65" name="stub-root">
            <a:extLst xmlns:a="http://schemas.openxmlformats.org/drawingml/2006/main">
              <a:ext uri="{FF2B5EF4-FFF2-40B4-BE49-F238E27FC236}">
                <a16:creationId xmlns:a16="http://schemas.microsoft.com/office/drawing/2014/main" id="{2C259351-C04F-517D-DA7D-80772A76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200" y="3543300"/>
            <a:ext cx="63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spine">
            <a:extLst xmlns:a="http://schemas.openxmlformats.org/drawingml/2006/main">
              <a:ext uri="{FF2B5EF4-FFF2-40B4-BE49-F238E27FC236}">
                <a16:creationId xmlns:a16="http://schemas.microsoft.com/office/drawing/2014/main" id="{70D4C992-C49D-95C9-DA26-2B9D75B2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5100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stub1">
            <a:extLst xmlns:a="http://schemas.openxmlformats.org/drawingml/2006/main">
              <a:ext uri="{FF2B5EF4-FFF2-40B4-BE49-F238E27FC236}">
                <a16:creationId xmlns:a16="http://schemas.microsoft.com/office/drawing/2014/main" id="{71D4D66D-FD7A-A0E9-D23F-8E313A1A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38300"/>
            <a:ext cx="63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stub2">
            <a:extLst xmlns:a="http://schemas.openxmlformats.org/drawingml/2006/main">
              <a:ext uri="{FF2B5EF4-FFF2-40B4-BE49-F238E27FC236}">
                <a16:creationId xmlns:a16="http://schemas.microsoft.com/office/drawing/2014/main" id="{F8A2B5D1-6EED-66C8-6D52-3E6ED861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90800"/>
            <a:ext cx="63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stub3">
            <a:extLst xmlns:a="http://schemas.openxmlformats.org/drawingml/2006/main">
              <a:ext uri="{FF2B5EF4-FFF2-40B4-BE49-F238E27FC236}">
                <a16:creationId xmlns:a16="http://schemas.microsoft.com/office/drawing/2014/main" id="{FFE69346-902B-566C-78D7-BE809853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43300"/>
            <a:ext cx="63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stub4">
            <a:extLst xmlns:a="http://schemas.openxmlformats.org/drawingml/2006/main">
              <a:ext uri="{FF2B5EF4-FFF2-40B4-BE49-F238E27FC236}">
                <a16:creationId xmlns:a16="http://schemas.microsoft.com/office/drawing/2014/main" id="{185F4D19-8192-3E78-75CA-216E131C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95800"/>
            <a:ext cx="63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stub5">
            <a:extLst xmlns:a="http://schemas.openxmlformats.org/drawingml/2006/main">
              <a:ext uri="{FF2B5EF4-FFF2-40B4-BE49-F238E27FC236}">
                <a16:creationId xmlns:a16="http://schemas.microsoft.com/office/drawing/2014/main" id="{FF67CB64-4AF9-C337-434B-6B03FAAF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448300"/>
            <a:ext cx="63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m1-title">
            <a:extLst xmlns:a="http://schemas.openxmlformats.org/drawingml/2006/main">
              <a:ext uri="{FF2B5EF4-FFF2-40B4-BE49-F238E27FC236}">
                <a16:creationId xmlns:a16="http://schemas.microsoft.com/office/drawing/2014/main" id="{586231B5-F2B1-F904-F33F-91375B1D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12954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0B4FB3"/>
                </a:solidFill>
                <a:latin typeface="MiSans"/>
                <a:ea typeface="MiSans"/>
                <a:cs typeface="MiSans"/>
              </a:rPr>
              <a:t>账号与地址</a:t>
            </a:r>
            <a:endParaRPr sz="1500"/>
          </a:p>
        </p:txBody>
      </p:sp>
      <p:sp>
        <p:nvSpPr>
          <p:cNvPr id="73" name="m1-body">
            <a:extLst xmlns:a="http://schemas.openxmlformats.org/drawingml/2006/main">
              <a:ext uri="{FF2B5EF4-FFF2-40B4-BE49-F238E27FC236}">
                <a16:creationId xmlns:a16="http://schemas.microsoft.com/office/drawing/2014/main" id="{9669C09F-3E9A-6205-8DA2-80814E0E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1625600"/>
            <a:ext cx="749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注册登录（带盐哈希）· 账号封禁 / 注销生命周期 · 地址增删改与默认地址唯一</a:t>
            </a:r>
            <a:endParaRPr sz="1150"/>
          </a:p>
        </p:txBody>
      </p:sp>
      <p:sp>
        <p:nvSpPr>
          <p:cNvPr id="74" name="m1-line">
            <a:extLst xmlns:a="http://schemas.openxmlformats.org/drawingml/2006/main">
              <a:ext uri="{FF2B5EF4-FFF2-40B4-BE49-F238E27FC236}">
                <a16:creationId xmlns:a16="http://schemas.microsoft.com/office/drawing/2014/main" id="{504F0EC1-815B-FD8C-967A-8AF4B8CE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2133600"/>
            <a:ext cx="7493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m2-title">
            <a:extLst xmlns:a="http://schemas.openxmlformats.org/drawingml/2006/main">
              <a:ext uri="{FF2B5EF4-FFF2-40B4-BE49-F238E27FC236}">
                <a16:creationId xmlns:a16="http://schemas.microsoft.com/office/drawing/2014/main" id="{61B902CA-465E-54A7-A29F-92A98029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22479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0B4FB3"/>
                </a:solidFill>
                <a:latin typeface="MiSans"/>
                <a:ea typeface="MiSans"/>
                <a:cs typeface="MiSans"/>
              </a:rPr>
              <a:t>基础配置</a:t>
            </a:r>
            <a:endParaRPr sz="1500"/>
          </a:p>
        </p:txBody>
      </p:sp>
      <p:sp>
        <p:nvSpPr>
          <p:cNvPr id="76" name="m2-body">
            <a:extLst xmlns:a="http://schemas.openxmlformats.org/drawingml/2006/main">
              <a:ext uri="{FF2B5EF4-FFF2-40B4-BE49-F238E27FC236}">
                <a16:creationId xmlns:a16="http://schemas.microsoft.com/office/drawing/2014/main" id="{9D1CDACF-C330-4B42-8A61-951BD4DB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2578100"/>
            <a:ext cx="749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节点（校门 / 驿站 / 分发点）启闭维护 · 服务类型与价格规则 · 服务—节点适用绑定</a:t>
            </a:r>
            <a:endParaRPr sz="1150"/>
          </a:p>
        </p:txBody>
      </p:sp>
      <p:sp>
        <p:nvSpPr>
          <p:cNvPr id="77" name="m2-line">
            <a:extLst xmlns:a="http://schemas.openxmlformats.org/drawingml/2006/main">
              <a:ext uri="{FF2B5EF4-FFF2-40B4-BE49-F238E27FC236}">
                <a16:creationId xmlns:a16="http://schemas.microsoft.com/office/drawing/2014/main" id="{9C776686-7147-9F13-6216-277E146D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3086100"/>
            <a:ext cx="7493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m3-title">
            <a:extLst xmlns:a="http://schemas.openxmlformats.org/drawingml/2006/main">
              <a:ext uri="{FF2B5EF4-FFF2-40B4-BE49-F238E27FC236}">
                <a16:creationId xmlns:a16="http://schemas.microsoft.com/office/drawing/2014/main" id="{BA9C3F16-8007-78C8-91C1-651E97CE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32004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0B4FB3"/>
                </a:solidFill>
                <a:latin typeface="MiSans"/>
                <a:ea typeface="MiSans"/>
                <a:cs typeface="MiSans"/>
              </a:rPr>
              <a:t>任务与接派</a:t>
            </a:r>
            <a:endParaRPr sz="1500"/>
          </a:p>
        </p:txBody>
      </p:sp>
      <p:sp>
        <p:nvSpPr>
          <p:cNvPr id="79" name="m3-body">
            <a:extLst xmlns:a="http://schemas.openxmlformats.org/drawingml/2006/main">
              <a:ext uri="{FF2B5EF4-FFF2-40B4-BE49-F238E27FC236}">
                <a16:creationId xmlns:a16="http://schemas.microsoft.com/office/drawing/2014/main" id="{7F084453-BBAC-952C-24AE-D572AC0E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3530600"/>
            <a:ext cx="749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三类任务发布与取消 · 任务大厅抢单 · 管理员派单 / 重派 · 配送状态流转 · 确认收货</a:t>
            </a:r>
            <a:endParaRPr sz="1150"/>
          </a:p>
        </p:txBody>
      </p:sp>
      <p:sp>
        <p:nvSpPr>
          <p:cNvPr id="80" name="m3-line">
            <a:extLst xmlns:a="http://schemas.openxmlformats.org/drawingml/2006/main">
              <a:ext uri="{FF2B5EF4-FFF2-40B4-BE49-F238E27FC236}">
                <a16:creationId xmlns:a16="http://schemas.microsoft.com/office/drawing/2014/main" id="{5542D8D9-3A48-EA43-B802-BE62F4BC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4038600"/>
            <a:ext cx="7493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1" name="m4-title">
            <a:extLst xmlns:a="http://schemas.openxmlformats.org/drawingml/2006/main">
              <a:ext uri="{FF2B5EF4-FFF2-40B4-BE49-F238E27FC236}">
                <a16:creationId xmlns:a16="http://schemas.microsoft.com/office/drawing/2014/main" id="{0A23ABFB-50D7-8051-A77A-957583B2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41529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0B4FB3"/>
                </a:solidFill>
                <a:latin typeface="MiSans"/>
                <a:ea typeface="MiSans"/>
                <a:cs typeface="MiSans"/>
              </a:rPr>
              <a:t>资金与售后</a:t>
            </a:r>
            <a:endParaRPr sz="1500"/>
          </a:p>
        </p:txBody>
      </p:sp>
      <p:sp>
        <p:nvSpPr>
          <p:cNvPr id="82" name="m4-body">
            <a:extLst xmlns:a="http://schemas.openxmlformats.org/drawingml/2006/main">
              <a:ext uri="{FF2B5EF4-FFF2-40B4-BE49-F238E27FC236}">
                <a16:creationId xmlns:a16="http://schemas.microsoft.com/office/drawing/2014/main" id="{370348A8-B0B7-3182-7818-7B23AFF6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4483100"/>
            <a:ext cx="749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收货后支付与稍后付款 · 退款申请与审核 · 一单一评与信誉分联动 · 投诉处理</a:t>
            </a:r>
            <a:endParaRPr sz="1150"/>
          </a:p>
        </p:txBody>
      </p:sp>
      <p:sp>
        <p:nvSpPr>
          <p:cNvPr id="83" name="m4-line">
            <a:extLst xmlns:a="http://schemas.openxmlformats.org/drawingml/2006/main">
              <a:ext uri="{FF2B5EF4-FFF2-40B4-BE49-F238E27FC236}">
                <a16:creationId xmlns:a16="http://schemas.microsoft.com/office/drawing/2014/main" id="{3FE9E4AD-24F8-1897-0D7B-3FB457A2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4991100"/>
            <a:ext cx="7493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4" name="m5-title">
            <a:extLst xmlns:a="http://schemas.openxmlformats.org/drawingml/2006/main">
              <a:ext uri="{FF2B5EF4-FFF2-40B4-BE49-F238E27FC236}">
                <a16:creationId xmlns:a16="http://schemas.microsoft.com/office/drawing/2014/main" id="{3803B649-E38F-3A60-1D97-E527232A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51054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0B4FB3"/>
                </a:solidFill>
                <a:latin typeface="MiSans"/>
                <a:ea typeface="MiSans"/>
                <a:cs typeface="MiSans"/>
              </a:rPr>
              <a:t>结算、审计与报表</a:t>
            </a:r>
            <a:endParaRPr sz="1500"/>
          </a:p>
        </p:txBody>
      </p:sp>
      <p:sp>
        <p:nvSpPr>
          <p:cNvPr id="85" name="m5-body">
            <a:extLst xmlns:a="http://schemas.openxmlformats.org/drawingml/2006/main">
              <a:ext uri="{FF2B5EF4-FFF2-40B4-BE49-F238E27FC236}">
                <a16:creationId xmlns:a16="http://schemas.microsoft.com/office/drawing/2014/main" id="{EC5E519C-9EAE-2672-96BD-5B10D5B9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5435600"/>
            <a:ext cx="749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跑腿员结算单生成 · 支付 / 退款 / 状态日志审计 · 按月统计报表与 CSV 导出</a:t>
            </a:r>
            <a:endParaRPr sz="1150"/>
          </a:p>
        </p:txBody>
      </p:sp>
      <p:sp>
        <p:nvSpPr>
          <p:cNvPr id="86" name="mod-note">
            <a:extLst xmlns:a="http://schemas.openxmlformats.org/drawingml/2006/main">
              <a:ext uri="{FF2B5EF4-FFF2-40B4-BE49-F238E27FC236}">
                <a16:creationId xmlns:a16="http://schemas.microsoft.com/office/drawing/2014/main" id="{062D63A5-1D34-D56A-505A-813157CA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6070600"/>
            <a:ext cx="7747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87" name="ft-line">
            <a:extLst xmlns:a="http://schemas.openxmlformats.org/drawingml/2006/main">
              <a:ext uri="{FF2B5EF4-FFF2-40B4-BE49-F238E27FC236}">
                <a16:creationId xmlns:a16="http://schemas.microsoft.com/office/drawing/2014/main" id="{9FD6A6A2-BDC8-F637-6B1B-B06CAA8E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9" name="ft-page">
            <a:extLst xmlns:a="http://schemas.openxmlformats.org/drawingml/2006/main">
              <a:ext uri="{FF2B5EF4-FFF2-40B4-BE49-F238E27FC236}">
                <a16:creationId xmlns:a16="http://schemas.microsoft.com/office/drawing/2014/main" id="{0464EFD3-2D15-A502-F977-0BA00B6A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8 / 44</a:t>
            </a:r>
            <a:endParaRPr sz="1000"/>
          </a:p>
        </p:txBody>
      </p:sp>
      <p:sp>
        <p:nvSpPr>
          <p:cNvPr id="90" name="ft-brand">
            <a:extLst xmlns:a="http://schemas.openxmlformats.org/drawingml/2006/main">
              <a:ext uri="{FF2B5EF4-FFF2-40B4-BE49-F238E27FC236}">
                <a16:creationId xmlns:a16="http://schemas.microsoft.com/office/drawing/2014/main" id="{500AFD14-1EAB-4BE0-ABA2-A27B6346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34234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hd-tick">
            <a:extLst xmlns:a="http://schemas.openxmlformats.org/drawingml/2006/main">
              <a:ext uri="{FF2B5EF4-FFF2-40B4-BE49-F238E27FC236}">
                <a16:creationId xmlns:a16="http://schemas.microsoft.com/office/drawing/2014/main" id="{2EF9BFD5-282E-79F9-7D0B-E946A761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hd-title">
            <a:extLst xmlns:a="http://schemas.openxmlformats.org/drawingml/2006/main">
              <a:ext uri="{FF2B5EF4-FFF2-40B4-BE49-F238E27FC236}">
                <a16:creationId xmlns:a16="http://schemas.microsoft.com/office/drawing/2014/main" id="{669631E7-48CE-A1AC-3502-8053308F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核心业务流</a:t>
            </a:r>
            <a:endParaRPr sz="2500"/>
          </a:p>
        </p:txBody>
      </p:sp>
      <p:sp>
        <p:nvSpPr>
          <p:cNvPr id="41" name="hd-sec">
            <a:extLst xmlns:a="http://schemas.openxmlformats.org/drawingml/2006/main">
              <a:ext uri="{FF2B5EF4-FFF2-40B4-BE49-F238E27FC236}">
                <a16:creationId xmlns:a16="http://schemas.microsoft.com/office/drawing/2014/main" id="{35BC5832-716E-7835-C1AE-35A9F2E8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02 · 需求分析</a:t>
            </a:r>
            <a:endParaRPr sz="1100"/>
          </a:p>
        </p:txBody>
      </p:sp>
      <p:sp>
        <p:nvSpPr>
          <p:cNvPr id="42" name="hd-line">
            <a:extLst xmlns:a="http://schemas.openxmlformats.org/drawingml/2006/main">
              <a:ext uri="{FF2B5EF4-FFF2-40B4-BE49-F238E27FC236}">
                <a16:creationId xmlns:a16="http://schemas.microsoft.com/office/drawing/2014/main" id="{CBB8944E-8AF3-D2C5-CCCB-1575EAD0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main-label">
            <a:extLst xmlns:a="http://schemas.openxmlformats.org/drawingml/2006/main">
              <a:ext uri="{FF2B5EF4-FFF2-40B4-BE49-F238E27FC236}">
                <a16:creationId xmlns:a16="http://schemas.microsoft.com/office/drawing/2014/main" id="{3CEE5975-4A3D-4AD5-2D8D-F5D3D980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168400"/>
            <a:ext cx="508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100" b="1" spc="1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正常路径</a:t>
            </a:r>
            <a:endParaRPr sz="1100"/>
          </a:p>
        </p:txBody>
      </p:sp>
      <p:sp>
        <p:nvSpPr>
          <p:cNvPr id="44" name="s1">
            <a:extLst xmlns:a="http://schemas.openxmlformats.org/drawingml/2006/main">
              <a:ext uri="{FF2B5EF4-FFF2-40B4-BE49-F238E27FC236}">
                <a16:creationId xmlns:a16="http://schemas.microsoft.com/office/drawing/2014/main" id="{08DF6599-B144-7445-713E-0152C584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498600"/>
            <a:ext cx="16256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B4FB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s1-t">
            <a:extLst xmlns:a="http://schemas.openxmlformats.org/drawingml/2006/main">
              <a:ext uri="{FF2B5EF4-FFF2-40B4-BE49-F238E27FC236}">
                <a16:creationId xmlns:a16="http://schemas.microsoft.com/office/drawing/2014/main" id="{0F11A72B-2B2E-D72D-60B5-CE7C831E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498600"/>
            <a:ext cx="16256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25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待接单</a:t>
            </a:r>
            <a:endParaRPr sz="1600"/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WAITING</a:t>
            </a:r>
            <a:endParaRPr sz="1600"/>
          </a:p>
        </p:txBody>
      </p:sp>
      <p:sp>
        <p:nvSpPr>
          <p:cNvPr id="46" name="a1">
            <a:extLst xmlns:a="http://schemas.openxmlformats.org/drawingml/2006/main">
              <a:ext uri="{FF2B5EF4-FFF2-40B4-BE49-F238E27FC236}">
                <a16:creationId xmlns:a16="http://schemas.microsoft.com/office/drawing/2014/main" id="{80EE1074-B130-FAF9-DA05-1D2A033B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400" y="1752600"/>
            <a:ext cx="254000" cy="152400"/>
          </a:xfrm>
          <a:custGeom xmlns:a="http://schemas.openxmlformats.org/drawingml/2006/main">
            <a:rect l="l" t="t" r="r" b="b"/>
            <a:pathLst>
              <a:path w="20" h="12">
                <a:moveTo>
                  <a:pt x="0" y="6"/>
                </a:moveTo>
                <a:lnTo>
                  <a:pt x="20" y="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4FB3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s2">
            <a:extLst xmlns:a="http://schemas.openxmlformats.org/drawingml/2006/main">
              <a:ext uri="{FF2B5EF4-FFF2-40B4-BE49-F238E27FC236}">
                <a16:creationId xmlns:a16="http://schemas.microsoft.com/office/drawing/2014/main" id="{F8DFF56F-AC98-4C8E-7BD6-284C0419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200" y="1498600"/>
            <a:ext cx="16256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B4FB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s2-t">
            <a:extLst xmlns:a="http://schemas.openxmlformats.org/drawingml/2006/main">
              <a:ext uri="{FF2B5EF4-FFF2-40B4-BE49-F238E27FC236}">
                <a16:creationId xmlns:a16="http://schemas.microsoft.com/office/drawing/2014/main" id="{3623A747-1F0B-C962-414C-F8992D41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200" y="1498600"/>
            <a:ext cx="16256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25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已接单 / 派单</a:t>
            </a:r>
            <a:endParaRPr sz="1600"/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ASSIGNED</a:t>
            </a:r>
            <a:endParaRPr sz="1600"/>
          </a:p>
        </p:txBody>
      </p:sp>
      <p:sp>
        <p:nvSpPr>
          <p:cNvPr id="49" name="a2">
            <a:extLst xmlns:a="http://schemas.openxmlformats.org/drawingml/2006/main">
              <a:ext uri="{FF2B5EF4-FFF2-40B4-BE49-F238E27FC236}">
                <a16:creationId xmlns:a16="http://schemas.microsoft.com/office/drawing/2014/main" id="{C00D4AA3-E45C-BC24-9727-D49A50AA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1752600"/>
            <a:ext cx="254000" cy="152400"/>
          </a:xfrm>
          <a:custGeom xmlns:a="http://schemas.openxmlformats.org/drawingml/2006/main">
            <a:rect l="l" t="t" r="r" b="b"/>
            <a:pathLst>
              <a:path w="20" h="12">
                <a:moveTo>
                  <a:pt x="0" y="6"/>
                </a:moveTo>
                <a:lnTo>
                  <a:pt x="20" y="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4FB3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s3">
            <a:extLst xmlns:a="http://schemas.openxmlformats.org/drawingml/2006/main">
              <a:ext uri="{FF2B5EF4-FFF2-40B4-BE49-F238E27FC236}">
                <a16:creationId xmlns:a16="http://schemas.microsoft.com/office/drawing/2014/main" id="{84E2A03B-263C-CCCE-3FFC-E2D0F400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1498600"/>
            <a:ext cx="16256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B4FB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s3-t">
            <a:extLst xmlns:a="http://schemas.openxmlformats.org/drawingml/2006/main">
              <a:ext uri="{FF2B5EF4-FFF2-40B4-BE49-F238E27FC236}">
                <a16:creationId xmlns:a16="http://schemas.microsoft.com/office/drawing/2014/main" id="{00F87D1C-6979-596D-9C58-A23DF9C0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1498600"/>
            <a:ext cx="16256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25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已取货</a:t>
            </a:r>
            <a:endParaRPr sz="1600"/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PICKED_UP</a:t>
            </a:r>
            <a:endParaRPr sz="1600"/>
          </a:p>
        </p:txBody>
      </p:sp>
      <p:sp>
        <p:nvSpPr>
          <p:cNvPr id="52" name="a3">
            <a:extLst xmlns:a="http://schemas.openxmlformats.org/drawingml/2006/main">
              <a:ext uri="{FF2B5EF4-FFF2-40B4-BE49-F238E27FC236}">
                <a16:creationId xmlns:a16="http://schemas.microsoft.com/office/drawing/2014/main" id="{877777BB-0278-CCCC-B63F-1BE19821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1752600"/>
            <a:ext cx="254000" cy="152400"/>
          </a:xfrm>
          <a:custGeom xmlns:a="http://schemas.openxmlformats.org/drawingml/2006/main">
            <a:rect l="l" t="t" r="r" b="b"/>
            <a:pathLst>
              <a:path w="20" h="12">
                <a:moveTo>
                  <a:pt x="0" y="6"/>
                </a:moveTo>
                <a:lnTo>
                  <a:pt x="20" y="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4FB3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4">
            <a:extLst xmlns:a="http://schemas.openxmlformats.org/drawingml/2006/main">
              <a:ext uri="{FF2B5EF4-FFF2-40B4-BE49-F238E27FC236}">
                <a16:creationId xmlns:a16="http://schemas.microsoft.com/office/drawing/2014/main" id="{1F2FD6A0-8CD5-F87C-B45A-A6C3B232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1498600"/>
            <a:ext cx="16256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B4FB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4-t">
            <a:extLst xmlns:a="http://schemas.openxmlformats.org/drawingml/2006/main">
              <a:ext uri="{FF2B5EF4-FFF2-40B4-BE49-F238E27FC236}">
                <a16:creationId xmlns:a16="http://schemas.microsoft.com/office/drawing/2014/main" id="{BA9E1B45-D20F-B3D2-9A59-C36EBB43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1498600"/>
            <a:ext cx="16256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25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配送中</a:t>
            </a:r>
            <a:endParaRPr sz="1600"/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DELIVERING</a:t>
            </a:r>
            <a:endParaRPr sz="1600"/>
          </a:p>
        </p:txBody>
      </p:sp>
      <p:sp>
        <p:nvSpPr>
          <p:cNvPr id="55" name="a4">
            <a:extLst xmlns:a="http://schemas.openxmlformats.org/drawingml/2006/main">
              <a:ext uri="{FF2B5EF4-FFF2-40B4-BE49-F238E27FC236}">
                <a16:creationId xmlns:a16="http://schemas.microsoft.com/office/drawing/2014/main" id="{05128A43-EBB7-74FB-FCDE-7DB41173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752600"/>
            <a:ext cx="254000" cy="152400"/>
          </a:xfrm>
          <a:custGeom xmlns:a="http://schemas.openxmlformats.org/drawingml/2006/main">
            <a:rect l="l" t="t" r="r" b="b"/>
            <a:pathLst>
              <a:path w="20" h="12">
                <a:moveTo>
                  <a:pt x="0" y="6"/>
                </a:moveTo>
                <a:lnTo>
                  <a:pt x="20" y="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4FB3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s5">
            <a:extLst xmlns:a="http://schemas.openxmlformats.org/drawingml/2006/main">
              <a:ext uri="{FF2B5EF4-FFF2-40B4-BE49-F238E27FC236}">
                <a16:creationId xmlns:a16="http://schemas.microsoft.com/office/drawing/2014/main" id="{815CC9E2-28FF-EDBD-E47A-BA2E2C0E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1498600"/>
            <a:ext cx="16256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B4FB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s5-t">
            <a:extLst xmlns:a="http://schemas.openxmlformats.org/drawingml/2006/main">
              <a:ext uri="{FF2B5EF4-FFF2-40B4-BE49-F238E27FC236}">
                <a16:creationId xmlns:a16="http://schemas.microsoft.com/office/drawing/2014/main" id="{F1B0D024-22CE-8070-29D0-52F9069D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1498600"/>
            <a:ext cx="16256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25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待确认付款</a:t>
            </a:r>
            <a:endParaRPr sz="1600"/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WAIT_CONFIRM</a:t>
            </a:r>
            <a:endParaRPr sz="1600"/>
          </a:p>
        </p:txBody>
      </p:sp>
      <p:sp>
        <p:nvSpPr>
          <p:cNvPr id="58" name="a5">
            <a:extLst xmlns:a="http://schemas.openxmlformats.org/drawingml/2006/main">
              <a:ext uri="{FF2B5EF4-FFF2-40B4-BE49-F238E27FC236}">
                <a16:creationId xmlns:a16="http://schemas.microsoft.com/office/drawing/2014/main" id="{5CE7E70D-940A-A884-224B-43EB3A31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200" y="1752600"/>
            <a:ext cx="203200" cy="152400"/>
          </a:xfrm>
          <a:custGeom xmlns:a="http://schemas.openxmlformats.org/drawingml/2006/main">
            <a:rect l="l" t="t" r="r" b="b"/>
            <a:pathLst>
              <a:path w="16" h="12">
                <a:moveTo>
                  <a:pt x="0" y="6"/>
                </a:moveTo>
                <a:lnTo>
                  <a:pt x="16" y="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4FB3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s6">
            <a:extLst xmlns:a="http://schemas.openxmlformats.org/drawingml/2006/main">
              <a:ext uri="{FF2B5EF4-FFF2-40B4-BE49-F238E27FC236}">
                <a16:creationId xmlns:a16="http://schemas.microsoft.com/office/drawing/2014/main" id="{364C348E-478C-1E01-5454-F608415E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98600"/>
            <a:ext cx="13208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s6-t">
            <a:extLst xmlns:a="http://schemas.openxmlformats.org/drawingml/2006/main">
              <a:ext uri="{FF2B5EF4-FFF2-40B4-BE49-F238E27FC236}">
                <a16:creationId xmlns:a16="http://schemas.microsoft.com/office/drawing/2014/main" id="{67F9A409-26D0-9DC7-896E-6EA0E9EC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98600"/>
            <a:ext cx="13208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2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已完成</a:t>
            </a:r>
            <a:endParaRPr sz="1600"/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C9DCF5"/>
                </a:solidFill>
                <a:latin typeface="JetBrains Mono"/>
                <a:ea typeface="JetBrains Mono"/>
                <a:cs typeface="JetBrains Mono"/>
              </a:rPr>
              <a:t>FINISHED</a:t>
            </a:r>
            <a:endParaRPr sz="1600"/>
          </a:p>
        </p:txBody>
      </p:sp>
      <p:sp>
        <p:nvSpPr>
          <p:cNvPr id="61" name="trig">
            <a:extLst xmlns:a="http://schemas.openxmlformats.org/drawingml/2006/main">
              <a:ext uri="{FF2B5EF4-FFF2-40B4-BE49-F238E27FC236}">
                <a16:creationId xmlns:a16="http://schemas.microsoft.com/office/drawing/2014/main" id="{413E141A-4FB3-3894-E2D4-A7CFDD5E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286000"/>
            <a:ext cx="11176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触发操作：发布任务 → 跑腿员抢单 / 管理员派单 → 取货 → 配送 → 送达待确认 → 用户确认收货并付款；进入 FINISHED 前支付状态必须为 PAID</a:t>
            </a:r>
            <a:endParaRPr sz="1050"/>
          </a:p>
        </p:txBody>
      </p:sp>
      <p:sp>
        <p:nvSpPr>
          <p:cNvPr id="62" name="exc-label">
            <a:extLst xmlns:a="http://schemas.openxmlformats.org/drawingml/2006/main">
              <a:ext uri="{FF2B5EF4-FFF2-40B4-BE49-F238E27FC236}">
                <a16:creationId xmlns:a16="http://schemas.microsoft.com/office/drawing/2014/main" id="{9E32709F-BCD6-4E71-922C-5C93683E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8194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100" b="1" spc="1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异常与售后路径</a:t>
            </a:r>
            <a:endParaRPr sz="1100"/>
          </a:p>
        </p:txBody>
      </p:sp>
      <p:sp>
        <p:nvSpPr>
          <p:cNvPr id="63" name="e1">
            <a:extLst xmlns:a="http://schemas.openxmlformats.org/drawingml/2006/main">
              <a:ext uri="{FF2B5EF4-FFF2-40B4-BE49-F238E27FC236}">
                <a16:creationId xmlns:a16="http://schemas.microsoft.com/office/drawing/2014/main" id="{31CC0D58-85FE-8E61-C873-E7787CC6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149600"/>
            <a:ext cx="190500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5240">
            <a:solidFill>
              <a:srgbClr val="64748B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e1-t">
            <a:extLst xmlns:a="http://schemas.openxmlformats.org/drawingml/2006/main">
              <a:ext uri="{FF2B5EF4-FFF2-40B4-BE49-F238E27FC236}">
                <a16:creationId xmlns:a16="http://schemas.microsoft.com/office/drawing/2014/main" id="{0677F639-9A97-73F4-E627-77CDDA32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149600"/>
            <a:ext cx="190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200" b="1">
                <a:solidFill>
                  <a:srgbClr val="64748B"/>
                </a:solidFill>
                <a:latin typeface="MiSans"/>
                <a:ea typeface="MiSans"/>
                <a:cs typeface="MiSans"/>
              </a:rPr>
              <a:t>已取消</a:t>
            </a:r>
            <a:endParaRPr sz="1600"/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CANCELLED</a:t>
            </a:r>
            <a:endParaRPr sz="1600"/>
          </a:p>
        </p:txBody>
      </p:sp>
      <p:sp>
        <p:nvSpPr>
          <p:cNvPr id="65" name="e1-d">
            <a:extLst xmlns:a="http://schemas.openxmlformats.org/drawingml/2006/main">
              <a:ext uri="{FF2B5EF4-FFF2-40B4-BE49-F238E27FC236}">
                <a16:creationId xmlns:a16="http://schemas.microsoft.com/office/drawing/2014/main" id="{6819929A-0E43-013B-4999-E19A25A5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400" y="3200400"/>
            <a:ext cx="279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0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仅 WAITING 可自助取消；已接单取消须绑定当前接派记录并写状态日志</a:t>
            </a:r>
            <a:endParaRPr sz="1050"/>
          </a:p>
        </p:txBody>
      </p:sp>
      <p:sp>
        <p:nvSpPr>
          <p:cNvPr id="66" name="e2">
            <a:extLst xmlns:a="http://schemas.openxmlformats.org/drawingml/2006/main">
              <a:ext uri="{FF2B5EF4-FFF2-40B4-BE49-F238E27FC236}">
                <a16:creationId xmlns:a16="http://schemas.microsoft.com/office/drawing/2014/main" id="{165635BC-55B6-BF17-CC35-3BCAF920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9600"/>
            <a:ext cx="190500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5240">
            <a:solidFill>
              <a:srgbClr val="64748B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e2-t">
            <a:extLst xmlns:a="http://schemas.openxmlformats.org/drawingml/2006/main">
              <a:ext uri="{FF2B5EF4-FFF2-40B4-BE49-F238E27FC236}">
                <a16:creationId xmlns:a16="http://schemas.microsoft.com/office/drawing/2014/main" id="{31A16F9B-F284-8D94-6924-8640AD50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9600"/>
            <a:ext cx="190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200" b="1">
                <a:solidFill>
                  <a:srgbClr val="64748B"/>
                </a:solidFill>
                <a:latin typeface="MiSans"/>
                <a:ea typeface="MiSans"/>
                <a:cs typeface="MiSans"/>
              </a:rPr>
              <a:t>退款售后中</a:t>
            </a:r>
            <a:endParaRPr sz="1600"/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REFUNDING</a:t>
            </a:r>
            <a:endParaRPr sz="1600"/>
          </a:p>
        </p:txBody>
      </p:sp>
      <p:sp>
        <p:nvSpPr>
          <p:cNvPr id="68" name="e2-d">
            <a:extLst xmlns:a="http://schemas.openxmlformats.org/drawingml/2006/main">
              <a:ext uri="{FF2B5EF4-FFF2-40B4-BE49-F238E27FC236}">
                <a16:creationId xmlns:a16="http://schemas.microsoft.com/office/drawing/2014/main" id="{7C85EDD8-2BE9-75E1-C2D1-0075E9B8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00400"/>
            <a:ext cx="391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0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已付款任务的售后经退款申请—管理员审核处理；跑腿员无法履约时管理员新增 REASSIGN 记录重派，流程已优化</a:t>
            </a:r>
            <a:endParaRPr sz="1050"/>
          </a:p>
        </p:txBody>
      </p:sp>
      <p:sp>
        <p:nvSpPr>
          <p:cNvPr id="69" name="impl-line">
            <a:extLst xmlns:a="http://schemas.openxmlformats.org/drawingml/2006/main">
              <a:ext uri="{FF2B5EF4-FFF2-40B4-BE49-F238E27FC236}">
                <a16:creationId xmlns:a16="http://schemas.microsoft.com/office/drawing/2014/main" id="{4567C189-CF68-B7B7-594A-7A8684BB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148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109" name="st-table"/>
          <p:cNvGraphicFramePr/>
          <p:nvPr/>
        </p:nvGraphicFramePr>
        <p:xfrm>
          <a:off xmlns:a="http://schemas.openxmlformats.org/drawingml/2006/main" x="512064" y="4318000"/>
          <a:ext xmlns:a="http://schemas.openxmlformats.org/drawingml/2006/main" cx="11173968" cy="203511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5920"/>
                <a:gridCol w="2743200"/>
                <a:gridCol w="6784848"/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02033"/>
                      </a:solidFill>
                    </a:lnT>
                    <a:lnB w="19050">
                      <a:solidFill>
                        <a:srgbClr val="102033"/>
                      </a:solidFill>
                    </a:lnB>
                    <a:solidFill>
                      <a:srgbClr val="E4EE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02033"/>
                      </a:solidFill>
                    </a:lnT>
                    <a:lnB w="19050">
                      <a:solidFill>
                        <a:srgbClr val="102033"/>
                      </a:solidFill>
                    </a:lnB>
                    <a:solidFill>
                      <a:srgbClr val="E4EE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允许流转至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02033"/>
                      </a:solidFill>
                    </a:lnT>
                    <a:lnB w="19050">
                      <a:solidFill>
                        <a:srgbClr val="102033"/>
                      </a:solidFill>
                    </a:lnB>
                    <a:solidFill>
                      <a:srgbClr val="E4EE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000">
                          <a:solidFill>
                            <a:srgbClr val="10203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WAITING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102033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待接单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102033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ASSIGNED / CANCELLED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102033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000">
                          <a:solidFill>
                            <a:srgbClr val="10203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ASSIGNED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已接派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PICKED_UP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000">
                          <a:solidFill>
                            <a:srgbClr val="10203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PICKED_UP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已取货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DELIVERING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000">
                          <a:solidFill>
                            <a:srgbClr val="10203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DELIVERING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配送中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WAIT_CONFIRM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000">
                          <a:solidFill>
                            <a:srgbClr val="10203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WAIT_CONFIRM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待确认付款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FINISHED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000">
                          <a:solidFill>
                            <a:srgbClr val="10203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FINISHED 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终态 / 售后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FINISHED 不可再流转；REFUNDING 由管理员处理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3" name="ft-line">
            <a:extLst xmlns:a="http://schemas.openxmlformats.org/drawingml/2006/main">
              <a:ext uri="{FF2B5EF4-FFF2-40B4-BE49-F238E27FC236}">
                <a16:creationId xmlns:a16="http://schemas.microsoft.com/office/drawing/2014/main" id="{BFF6B245-4A29-526A-5359-B121740D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ft-page">
            <a:extLst xmlns:a="http://schemas.openxmlformats.org/drawingml/2006/main">
              <a:ext uri="{FF2B5EF4-FFF2-40B4-BE49-F238E27FC236}">
                <a16:creationId xmlns:a16="http://schemas.microsoft.com/office/drawing/2014/main" id="{1AB1C120-AB3F-A0A4-A5F4-500AD0CB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9 / 44</a:t>
            </a:r>
            <a:endParaRPr sz="1000"/>
          </a:p>
        </p:txBody>
      </p:sp>
      <p:sp>
        <p:nvSpPr>
          <p:cNvPr id="76" name="ft-brand">
            <a:extLst xmlns:a="http://schemas.openxmlformats.org/drawingml/2006/main">
              <a:ext uri="{FF2B5EF4-FFF2-40B4-BE49-F238E27FC236}">
                <a16:creationId xmlns:a16="http://schemas.microsoft.com/office/drawing/2014/main" id="{8F46C9A8-87DB-4079-8861-8CEF4149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958643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B9F0D7A7-EB49-4DD9-BA0D-22B122D1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64CD6B3C-5357-46EA-81A4-EA0AA144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数据需求与非功能需求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1054C9C5-095F-4D17-8AEF-80F17762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02 · 需求分析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3CFCD5E9-52DC-46E1-9363-105DBF92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dl-label">
            <a:extLst xmlns:a="http://schemas.openxmlformats.org/drawingml/2006/main">
              <a:ext uri="{FF2B5EF4-FFF2-40B4-BE49-F238E27FC236}">
                <a16:creationId xmlns:a16="http://schemas.microsoft.com/office/drawing/2014/main" id="{4F76CF8C-9D21-4CAD-B486-B707C2D1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数据需求（四组核心数据）</a:t>
            </a:r>
            <a:endParaRPr sz="1200"/>
          </a:p>
        </p:txBody>
      </p:sp>
      <p:sp>
        <p:nvSpPr>
          <p:cNvPr id="7" name="dg1">
            <a:extLst xmlns:a="http://schemas.openxmlformats.org/drawingml/2006/main">
              <a:ext uri="{FF2B5EF4-FFF2-40B4-BE49-F238E27FC236}">
                <a16:creationId xmlns:a16="http://schemas.microsoft.com/office/drawing/2014/main" id="{2A995D25-422C-4718-9FFA-9154A3CC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002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用户类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用户账号与角色、实名信息、跑腿员认证资料、信用分与信誉变动记录</a:t>
            </a:r>
            <a:endParaRPr sz="1200"/>
          </a:p>
        </p:txBody>
      </p:sp>
      <p:sp>
        <p:nvSpPr>
          <p:cNvPr id="8" name="dg1-line">
            <a:extLst xmlns:a="http://schemas.openxmlformats.org/drawingml/2006/main">
              <a:ext uri="{FF2B5EF4-FFF2-40B4-BE49-F238E27FC236}">
                <a16:creationId xmlns:a16="http://schemas.microsoft.com/office/drawing/2014/main" id="{73C4F5DC-57AC-4538-9406-356B990C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5400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dg2">
            <a:extLst xmlns:a="http://schemas.openxmlformats.org/drawingml/2006/main">
              <a:ext uri="{FF2B5EF4-FFF2-40B4-BE49-F238E27FC236}">
                <a16:creationId xmlns:a16="http://schemas.microsoft.com/office/drawing/2014/main" id="{79A23899-E47D-461D-AADB-0C84D715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7178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订单类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代取 / 代买 / 转交订单、状态流转日志、投诉与处理记录</a:t>
            </a:r>
            <a:endParaRPr sz="1200"/>
          </a:p>
        </p:txBody>
      </p:sp>
      <p:sp>
        <p:nvSpPr>
          <p:cNvPr id="10" name="dg2-line">
            <a:extLst xmlns:a="http://schemas.openxmlformats.org/drawingml/2006/main">
              <a:ext uri="{FF2B5EF4-FFF2-40B4-BE49-F238E27FC236}">
                <a16:creationId xmlns:a16="http://schemas.microsoft.com/office/drawing/2014/main" id="{758538B6-3B37-4752-B5F2-DB66A5C1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6576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dg3">
            <a:extLst xmlns:a="http://schemas.openxmlformats.org/drawingml/2006/main">
              <a:ext uri="{FF2B5EF4-FFF2-40B4-BE49-F238E27FC236}">
                <a16:creationId xmlns:a16="http://schemas.microsoft.com/office/drawing/2014/main" id="{CF8C9B04-12BD-4CFF-B17D-7E431B70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8354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站点类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中转节点及其状态、服务—节点适用规则</a:t>
            </a:r>
            <a:endParaRPr sz="1200"/>
          </a:p>
        </p:txBody>
      </p:sp>
      <p:sp>
        <p:nvSpPr>
          <p:cNvPr id="12" name="dg3-line">
            <a:extLst xmlns:a="http://schemas.openxmlformats.org/drawingml/2006/main">
              <a:ext uri="{FF2B5EF4-FFF2-40B4-BE49-F238E27FC236}">
                <a16:creationId xmlns:a16="http://schemas.microsoft.com/office/drawing/2014/main" id="{83D0B56E-8B17-43D4-BC48-26D4F07C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7752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dg4">
            <a:extLst xmlns:a="http://schemas.openxmlformats.org/drawingml/2006/main">
              <a:ext uri="{FF2B5EF4-FFF2-40B4-BE49-F238E27FC236}">
                <a16:creationId xmlns:a16="http://schemas.microsoft.com/office/drawing/2014/main" id="{7B80A554-E4E1-42F5-A5BF-A6FB1CD5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9530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资金类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支付流水、退款记录、跑腿员收益结算</a:t>
            </a:r>
            <a:endParaRPr sz="1200"/>
          </a:p>
        </p:txBody>
      </p:sp>
      <p:sp>
        <p:nvSpPr>
          <p:cNvPr id="14" name="vdiv">
            <a:extLst xmlns:a="http://schemas.openxmlformats.org/drawingml/2006/main">
              <a:ext uri="{FF2B5EF4-FFF2-40B4-BE49-F238E27FC236}">
                <a16:creationId xmlns:a16="http://schemas.microsoft.com/office/drawing/2014/main" id="{611616DA-4F7C-43A2-BAF3-B2B571D2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19200"/>
            <a:ext cx="127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nf-label">
            <a:extLst xmlns:a="http://schemas.openxmlformats.org/drawingml/2006/main">
              <a:ext uri="{FF2B5EF4-FFF2-40B4-BE49-F238E27FC236}">
                <a16:creationId xmlns:a16="http://schemas.microsoft.com/office/drawing/2014/main" id="{20D02F1E-01E4-4B95-9E2B-24C07CF0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非功能需求（团队设计指标）</a:t>
            </a:r>
            <a:endParaRPr sz="1200"/>
          </a:p>
        </p:txBody>
      </p:sp>
      <p:sp>
        <p:nvSpPr>
          <p:cNvPr id="16" name="nf-body">
            <a:extLst xmlns:a="http://schemas.openxmlformats.org/drawingml/2006/main">
              <a:ext uri="{FF2B5EF4-FFF2-40B4-BE49-F238E27FC236}">
                <a16:creationId xmlns:a16="http://schemas.microsoft.com/office/drawing/2014/main" id="{17BD32B7-E72B-49A8-94B2-386AF98A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00200"/>
            <a:ext cx="5080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并发能力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热点行采用 FOR UPDATE 行锁，避免抢单冲突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数据一致性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下单、支付、状态推进在同一事务内提交，失败整体回滚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安全性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密码加盐哈希存储；按角色最小授权；参数化 SQL 防注入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可扩展性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站点、楼宇、订单类型均可横向扩展，新校区接入不改表结构</a:t>
            </a:r>
            <a:endParaRPr sz="1200"/>
          </a:p>
        </p:txBody>
      </p:sp>
      <p:sp>
        <p:nvSpPr>
          <p:cNvPr id="17" name="nf-line">
            <a:extLst xmlns:a="http://schemas.openxmlformats.org/drawingml/2006/main">
              <a:ext uri="{FF2B5EF4-FFF2-40B4-BE49-F238E27FC236}">
                <a16:creationId xmlns:a16="http://schemas.microsoft.com/office/drawing/2014/main" id="{76569C8C-103C-4F5C-BB6E-55C58A2B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588000"/>
            <a:ext cx="5080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nf-note">
            <a:extLst xmlns:a="http://schemas.openxmlformats.org/drawingml/2006/main">
              <a:ext uri="{FF2B5EF4-FFF2-40B4-BE49-F238E27FC236}">
                <a16:creationId xmlns:a16="http://schemas.microsoft.com/office/drawing/2014/main" id="{BE0835CC-1A0A-4A79-B10E-1F073D39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7404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19" name="ft-line">
            <a:extLst xmlns:a="http://schemas.openxmlformats.org/drawingml/2006/main">
              <a:ext uri="{FF2B5EF4-FFF2-40B4-BE49-F238E27FC236}">
                <a16:creationId xmlns:a16="http://schemas.microsoft.com/office/drawing/2014/main" id="{B46774EB-FB43-4D24-81F7-312F919F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ft-brand">
            <a:extLst xmlns:a="http://schemas.openxmlformats.org/drawingml/2006/main">
              <a:ext uri="{FF2B5EF4-FFF2-40B4-BE49-F238E27FC236}">
                <a16:creationId xmlns:a16="http://schemas.microsoft.com/office/drawing/2014/main" id="{BA478A9C-EA53-4BD0-8CBF-A556E153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21" name="ft-page">
            <a:extLst xmlns:a="http://schemas.openxmlformats.org/drawingml/2006/main">
              <a:ext uri="{FF2B5EF4-FFF2-40B4-BE49-F238E27FC236}">
                <a16:creationId xmlns:a16="http://schemas.microsoft.com/office/drawing/2014/main" id="{02D4904F-7EED-4E3C-B9C5-D18ECE12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10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052812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32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iv-num">
            <a:extLst xmlns:a="http://schemas.openxmlformats.org/drawingml/2006/main">
              <a:ext uri="{FF2B5EF4-FFF2-40B4-BE49-F238E27FC236}">
                <a16:creationId xmlns:a16="http://schemas.microsoft.com/office/drawing/2014/main" id="{87C59954-7F94-43E5-A1C9-D8E2AB25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524000"/>
            <a:ext cx="4064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03</a:t>
            </a:r>
            <a:endParaRPr sz="14000"/>
          </a:p>
        </p:txBody>
      </p:sp>
      <p:sp>
        <p:nvSpPr>
          <p:cNvPr id="3" name="div-line">
            <a:extLst xmlns:a="http://schemas.openxmlformats.org/drawingml/2006/main">
              <a:ext uri="{FF2B5EF4-FFF2-40B4-BE49-F238E27FC236}">
                <a16:creationId xmlns:a16="http://schemas.microsoft.com/office/drawing/2014/main" id="{401BCD89-9DC1-4117-A458-B395F6E7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3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iv-title">
            <a:extLst xmlns:a="http://schemas.openxmlformats.org/drawingml/2006/main">
              <a:ext uri="{FF2B5EF4-FFF2-40B4-BE49-F238E27FC236}">
                <a16:creationId xmlns:a16="http://schemas.microsoft.com/office/drawing/2014/main" id="{FFF50914-330E-4532-B282-454F4810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318000"/>
            <a:ext cx="6350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0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数据库设计</a:t>
            </a:r>
            <a:endParaRPr sz="4000"/>
          </a:p>
        </p:txBody>
      </p:sp>
      <p:sp>
        <p:nvSpPr>
          <p:cNvPr id="5" name="div-sub">
            <a:extLst xmlns:a="http://schemas.openxmlformats.org/drawingml/2006/main">
              <a:ext uri="{FF2B5EF4-FFF2-40B4-BE49-F238E27FC236}">
                <a16:creationId xmlns:a16="http://schemas.microsoft.com/office/drawing/2014/main" id="{15852870-BA28-4481-988A-27D667EF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156200"/>
            <a:ext cx="812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rgbClr val="B9B2A6"/>
                </a:solidFill>
                <a:latin typeface="MiSans"/>
                <a:ea typeface="MiSans"/>
                <a:cs typeface="MiSans"/>
              </a:rPr>
              <a:t>概念模型 · 关系模式 · 规范化 · 索引与约束</a:t>
            </a:r>
            <a:endParaRPr sz="1400"/>
          </a:p>
        </p:txBody>
      </p:sp>
      <p:sp>
        <p:nvSpPr>
          <p:cNvPr id="6" name="div-progress">
            <a:extLst xmlns:a="http://schemas.openxmlformats.org/drawingml/2006/main">
              <a:ext uri="{FF2B5EF4-FFF2-40B4-BE49-F238E27FC236}">
                <a16:creationId xmlns:a16="http://schemas.microsoft.com/office/drawing/2014/main" id="{83A742AE-1A44-4086-A1F4-85DE9875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762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100" spc="200">
                <a:solidFill>
                  <a:srgbClr val="8A8478"/>
                </a:solidFill>
                <a:latin typeface="MiSans"/>
                <a:ea typeface="MiSans"/>
                <a:cs typeface="MiSans"/>
              </a:rPr>
              <a:t>SECTION 03 / 06</a:t>
            </a:r>
            <a:endParaRPr sz="1100"/>
          </a:p>
        </p:txBody>
      </p:sp>
      <p:sp>
        <p:nvSpPr>
          <p:cNvPr id="7" name="div-brand">
            <a:extLst xmlns:a="http://schemas.openxmlformats.org/drawingml/2006/main">
              <a:ext uri="{FF2B5EF4-FFF2-40B4-BE49-F238E27FC236}">
                <a16:creationId xmlns:a16="http://schemas.microsoft.com/office/drawing/2014/main" id="{F2A999FF-F690-4972-8004-2289D743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2992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济跑跑 JIRUN · 数据库课程设计答辩</a:t>
            </a:r>
            <a:endParaRPr sz="1000"/>
          </a:p>
        </p:txBody>
      </p:sp>
      <p:sp>
        <p:nvSpPr>
          <p:cNvPr id="8" name="div-page">
            <a:extLst xmlns:a="http://schemas.openxmlformats.org/drawingml/2006/main">
              <a:ext uri="{FF2B5EF4-FFF2-40B4-BE49-F238E27FC236}">
                <a16:creationId xmlns:a16="http://schemas.microsoft.com/office/drawing/2014/main" id="{4AC600C2-C3E2-4654-AD51-84785532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299200"/>
            <a:ext cx="76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11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405434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9F1889D1-C875-4D83-8847-5FD5E69C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9D1997F7-60E6-47AB-AB45-13413CD1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总体 E-R 图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DAFA4CE7-36B9-43D8-BDC2-55902B24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03 · 数据库设计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C2A0D5AC-45F9-4DF0-8D79-627C989E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er-caption">
            <a:extLst xmlns:a="http://schemas.openxmlformats.org/drawingml/2006/main">
              <a:ext uri="{FF2B5EF4-FFF2-40B4-BE49-F238E27FC236}">
                <a16:creationId xmlns:a16="http://schemas.microsoft.com/office/drawing/2014/main" id="{A4A53DF0-224A-4951-BE00-6481EA29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943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图 2　总体 E-R 图</a:t>
            </a:r>
            <a:endParaRPr sz="1000"/>
          </a:p>
        </p:txBody>
      </p:sp>
      <p:sp>
        <p:nvSpPr>
          <p:cNvPr id="50" name="ft-line">
            <a:extLst xmlns:a="http://schemas.openxmlformats.org/drawingml/2006/main">
              <a:ext uri="{FF2B5EF4-FFF2-40B4-BE49-F238E27FC236}">
                <a16:creationId xmlns:a16="http://schemas.microsoft.com/office/drawing/2014/main" id="{493E9B4E-D685-4978-9AA5-A5058773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ft-brand">
            <a:extLst xmlns:a="http://schemas.openxmlformats.org/drawingml/2006/main">
              <a:ext uri="{FF2B5EF4-FFF2-40B4-BE49-F238E27FC236}">
                <a16:creationId xmlns:a16="http://schemas.microsoft.com/office/drawing/2014/main" id="{247AA437-A286-4958-943E-12A4C0C1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52" name="ft-page">
            <a:extLst xmlns:a="http://schemas.openxmlformats.org/drawingml/2006/main">
              <a:ext uri="{FF2B5EF4-FFF2-40B4-BE49-F238E27FC236}">
                <a16:creationId xmlns:a16="http://schemas.microsoft.com/office/drawing/2014/main" id="{06F0BEA0-844B-43F9-A307-5097AA0C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12 / 44</a:t>
            </a:r>
            <a:endParaRPr sz="1000"/>
          </a:p>
        </p:txBody>
      </p:sp>
      <p:sp>
        <p:nvSpPr>
          <p:cNvPr id="53" name="ent-user">
            <a:extLst xmlns:a="http://schemas.openxmlformats.org/drawingml/2006/main">
              <a:ext uri="{FF2B5EF4-FFF2-40B4-BE49-F238E27FC236}">
                <a16:creationId xmlns:a16="http://schemas.microsoft.com/office/drawing/2014/main" id="{9D1C8F3D-C627-4D29-860F-248AA24C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17373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3272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rIns="54864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用户</a:t>
            </a:r>
            <a:r>
              <a:rPr sz="80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 USER</a:t>
            </a:r>
          </a:p>
          <a:p xmlns:a="http://schemas.openxmlformats.org/drawingml/2006/main">
            <a:pPr algn="ctr">
              <a:buNone/>
            </a:pPr>
            <a:r>
              <a:rPr sz="9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user_id</a:t>
            </a:r>
          </a:p>
          <a:p xmlns:a="http://schemas.openxmlformats.org/drawingml/2006/main">
            <a:pPr algn="ctr">
              <a:buNone/>
            </a:pPr>
            <a:r>
              <a:rPr sz="95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账号 · 手机号</a:t>
            </a:r>
          </a:p>
          <a:p xmlns:a="http://schemas.openxmlformats.org/drawingml/2006/main">
            <a:pPr algn="ctr">
              <a:buNone/>
            </a:pPr>
            <a:r>
              <a:rPr sz="95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角色 · 账号状态</a:t>
            </a:r>
          </a:p>
        </p:txBody>
      </p:sp>
      <p:sp>
        <p:nvSpPr>
          <p:cNvPr id="54" name="ent-task">
            <a:extLst xmlns:a="http://schemas.openxmlformats.org/drawingml/2006/main">
              <a:ext uri="{FF2B5EF4-FFF2-40B4-BE49-F238E27FC236}">
                <a16:creationId xmlns:a16="http://schemas.microsoft.com/office/drawing/2014/main" id="{B3329D59-5F9E-4385-B89D-87D952DF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234440"/>
            <a:ext cx="20574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5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rIns="54864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任务</a:t>
            </a:r>
            <a:r>
              <a:rPr sz="80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 TASKS</a:t>
            </a:r>
          </a:p>
          <a:p xmlns:a="http://schemas.openxmlformats.org/drawingml/2006/main">
            <a:pPr algn="ctr">
              <a:buNone/>
            </a:pPr>
            <a:r>
              <a:rPr sz="9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task_id</a:t>
            </a:r>
          </a:p>
          <a:p xmlns:a="http://schemas.openxmlformats.org/drawingml/2006/main">
            <a:pPr algn="ctr">
              <a:buNone/>
            </a:pPr>
            <a:r>
              <a:rPr sz="95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类型 · 价格 · 状态</a:t>
            </a:r>
          </a:p>
          <a:p xmlns:a="http://schemas.openxmlformats.org/drawingml/2006/main">
            <a:pPr algn="ctr">
              <a:buNone/>
            </a:pPr>
            <a:r>
              <a:rPr sz="95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交接节点</a:t>
            </a:r>
          </a:p>
          <a:p xmlns:a="http://schemas.openxmlformats.org/drawingml/2006/main">
            <a:pPr algn="ctr">
              <a:buNone/>
            </a:pPr>
            <a:r>
              <a:rPr sz="95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发布 / 完成时间</a:t>
            </a:r>
          </a:p>
        </p:txBody>
      </p:sp>
      <p:sp>
        <p:nvSpPr>
          <p:cNvPr id="55" name="ent-node">
            <a:extLst xmlns:a="http://schemas.openxmlformats.org/drawingml/2006/main">
              <a:ext uri="{FF2B5EF4-FFF2-40B4-BE49-F238E27FC236}">
                <a16:creationId xmlns:a16="http://schemas.microsoft.com/office/drawing/2014/main" id="{B28DE145-43C2-44BD-91A3-76DB2220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417320"/>
            <a:ext cx="17373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3272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rIns="54864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节点</a:t>
            </a:r>
            <a:r>
              <a:rPr sz="80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 NODE</a:t>
            </a:r>
          </a:p>
          <a:p xmlns:a="http://schemas.openxmlformats.org/drawingml/2006/main">
            <a:pPr algn="ctr">
              <a:buNone/>
            </a:pPr>
            <a:r>
              <a:rPr sz="9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node_id</a:t>
            </a:r>
          </a:p>
          <a:p xmlns:a="http://schemas.openxmlformats.org/drawingml/2006/main">
            <a:pPr algn="ctr">
              <a:buNone/>
            </a:pPr>
            <a:r>
              <a:rPr sz="95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类型 · 名称 · 位置</a:t>
            </a:r>
          </a:p>
          <a:p xmlns:a="http://schemas.openxmlformats.org/drawingml/2006/main">
            <a:pPr algn="ctr">
              <a:buNone/>
            </a:pPr>
            <a:r>
              <a:rPr sz="95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状态</a:t>
            </a:r>
          </a:p>
        </p:txBody>
      </p:sp>
      <p:sp>
        <p:nvSpPr>
          <p:cNvPr id="56" name="ent-review">
            <a:extLst xmlns:a="http://schemas.openxmlformats.org/drawingml/2006/main">
              <a:ext uri="{FF2B5EF4-FFF2-40B4-BE49-F238E27FC236}">
                <a16:creationId xmlns:a16="http://schemas.microsoft.com/office/drawing/2014/main" id="{76FCE26D-B093-4C2C-B55B-5271C336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43200"/>
            <a:ext cx="182880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3272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rIns="54864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评价</a:t>
            </a:r>
            <a:r>
              <a:rPr sz="80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 REVIEW</a:t>
            </a:r>
          </a:p>
          <a:p xmlns:a="http://schemas.openxmlformats.org/drawingml/2006/main">
            <a:pPr algn="ctr">
              <a:buNone/>
            </a:pPr>
            <a:r>
              <a:rPr sz="9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review_id</a:t>
            </a:r>
          </a:p>
          <a:p xmlns:a="http://schemas.openxmlformats.org/drawingml/2006/main">
            <a:pPr algn="ctr">
              <a:buNone/>
            </a:pPr>
            <a:r>
              <a:rPr sz="95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星级 · 内容</a:t>
            </a:r>
          </a:p>
          <a:p xmlns:a="http://schemas.openxmlformats.org/drawingml/2006/main">
            <a:pPr algn="ctr">
              <a:buNone/>
            </a:pPr>
            <a:r>
              <a:rPr sz="95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信誉变动值</a:t>
            </a:r>
          </a:p>
        </p:txBody>
      </p:sp>
      <p:sp>
        <p:nvSpPr>
          <p:cNvPr id="57" name="ent-runner">
            <a:extLst xmlns:a="http://schemas.openxmlformats.org/drawingml/2006/main">
              <a:ext uri="{FF2B5EF4-FFF2-40B4-BE49-F238E27FC236}">
                <a16:creationId xmlns:a16="http://schemas.microsoft.com/office/drawing/2014/main" id="{26CACB20-9ECA-415A-9B6B-F7F84EF9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69080"/>
            <a:ext cx="17373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3272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rIns="54864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跑腿员</a:t>
            </a:r>
            <a:r>
              <a:rPr sz="80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 RUNNERS</a:t>
            </a:r>
          </a:p>
          <a:p xmlns:a="http://schemas.openxmlformats.org/drawingml/2006/main">
            <a:pPr algn="ctr">
              <a:buNone/>
            </a:pPr>
            <a:r>
              <a:rPr sz="9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runner_id</a:t>
            </a:r>
          </a:p>
          <a:p xmlns:a="http://schemas.openxmlformats.org/drawingml/2006/main">
            <a:pPr algn="ctr">
              <a:buNone/>
            </a:pPr>
            <a:r>
              <a:rPr sz="95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认证状态 · 工作状态</a:t>
            </a:r>
          </a:p>
          <a:p xmlns:a="http://schemas.openxmlformats.org/drawingml/2006/main">
            <a:pPr algn="ctr">
              <a:buNone/>
            </a:pPr>
            <a:r>
              <a:rPr sz="95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信用分</a:t>
            </a:r>
          </a:p>
        </p:txBody>
      </p:sp>
      <p:sp>
        <p:nvSpPr>
          <p:cNvPr id="58" name="ent-assign">
            <a:extLst xmlns:a="http://schemas.openxmlformats.org/drawingml/2006/main">
              <a:ext uri="{FF2B5EF4-FFF2-40B4-BE49-F238E27FC236}">
                <a16:creationId xmlns:a16="http://schemas.microsoft.com/office/drawing/2014/main" id="{C1563AB3-3C91-4DC9-8ED6-1BBAB6A1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023360"/>
            <a:ext cx="205740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3272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rIns="54864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接派记录</a:t>
            </a:r>
            <a:r>
              <a:rPr sz="80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 ASSIGN_RECORD</a:t>
            </a:r>
          </a:p>
          <a:p xmlns:a="http://schemas.openxmlformats.org/drawingml/2006/main">
            <a:pPr algn="ctr">
              <a:buNone/>
            </a:pPr>
            <a:r>
              <a:rPr sz="9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record_id</a:t>
            </a:r>
          </a:p>
          <a:p xmlns:a="http://schemas.openxmlformats.org/drawingml/2006/main">
            <a:pPr algn="ctr">
              <a:buNone/>
            </a:pPr>
            <a:r>
              <a:rPr sz="95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操作类型 · 接派时间</a:t>
            </a:r>
          </a:p>
          <a:p xmlns:a="http://schemas.openxmlformats.org/drawingml/2006/main">
            <a:pPr algn="ctr">
              <a:buNone/>
            </a:pPr>
            <a:r>
              <a:rPr sz="95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重派原因</a:t>
            </a:r>
          </a:p>
        </p:txBody>
      </p:sp>
      <p:sp>
        <p:nvSpPr>
          <p:cNvPr id="59" name="ent-payment">
            <a:extLst xmlns:a="http://schemas.openxmlformats.org/drawingml/2006/main">
              <a:ext uri="{FF2B5EF4-FFF2-40B4-BE49-F238E27FC236}">
                <a16:creationId xmlns:a16="http://schemas.microsoft.com/office/drawing/2014/main" id="{B5EB3C1C-C88C-4B5D-9A31-3B3D641A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069080"/>
            <a:ext cx="17373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3272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rIns="54864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支付单</a:t>
            </a:r>
            <a:r>
              <a:rPr sz="80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 PAYMENT</a:t>
            </a:r>
          </a:p>
          <a:p xmlns:a="http://schemas.openxmlformats.org/drawingml/2006/main">
            <a:pPr algn="ctr">
              <a:buNone/>
            </a:pPr>
            <a:r>
              <a:rPr sz="9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payment_id</a:t>
            </a:r>
          </a:p>
          <a:p xmlns:a="http://schemas.openxmlformats.org/drawingml/2006/main">
            <a:pPr algn="ctr">
              <a:buNone/>
            </a:pPr>
            <a:r>
              <a:rPr sz="95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订单金额 · 实付金额</a:t>
            </a:r>
          </a:p>
          <a:p xmlns:a="http://schemas.openxmlformats.org/drawingml/2006/main">
            <a:pPr algn="ctr">
              <a:buNone/>
            </a:pPr>
            <a:r>
              <a:rPr sz="95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渠道 · 状态</a:t>
            </a:r>
          </a:p>
        </p:txBody>
      </p:sp>
      <p:sp>
        <p:nvSpPr>
          <p:cNvPr id="60" name="ent-settle">
            <a:extLst xmlns:a="http://schemas.openxmlformats.org/drawingml/2006/main">
              <a:ext uri="{FF2B5EF4-FFF2-40B4-BE49-F238E27FC236}">
                <a16:creationId xmlns:a16="http://schemas.microsoft.com/office/drawing/2014/main" id="{1FAD4BCB-8D99-4D36-A60D-D755B421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4069080"/>
            <a:ext cx="14630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3272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rIns="54864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结算单</a:t>
            </a:r>
            <a:r>
              <a:rPr sz="80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 SETTLEMENT</a:t>
            </a:r>
          </a:p>
          <a:p xmlns:a="http://schemas.openxmlformats.org/drawingml/2006/main">
            <a:pPr algn="ctr">
              <a:buNone/>
            </a:pPr>
            <a:r>
              <a:rPr sz="9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settlement_id</a:t>
            </a:r>
          </a:p>
          <a:p xmlns:a="http://schemas.openxmlformats.org/drawingml/2006/main">
            <a:pPr algn="ctr">
              <a:buNone/>
            </a:pPr>
            <a:r>
              <a:rPr sz="95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总额 · 抽成</a:t>
            </a:r>
          </a:p>
          <a:p xmlns:a="http://schemas.openxmlformats.org/drawingml/2006/main">
            <a:pPr algn="ctr">
              <a:buNone/>
            </a:pPr>
            <a:r>
              <a:rPr sz="950" b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净收入 · 状态</a:t>
            </a:r>
          </a:p>
        </p:txBody>
      </p:sp>
      <p:sp>
        <p:nvSpPr>
          <p:cNvPr id="61" name="rel-pub">
            <a:extLst xmlns:a="http://schemas.openxmlformats.org/drawingml/2006/main">
              <a:ext uri="{FF2B5EF4-FFF2-40B4-BE49-F238E27FC236}">
                <a16:creationId xmlns:a16="http://schemas.microsoft.com/office/drawing/2014/main" id="{23DEB6E5-6601-4782-8E36-B8B553CA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828800"/>
            <a:ext cx="868680" cy="54864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DCCB"/>
          </a:solidFill>
          <a:ln xmlns:a="http://schemas.openxmlformats.org/drawingml/2006/main" w="15240">
            <a:solidFill>
              <a:srgbClr val="E855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发布</a:t>
            </a:r>
          </a:p>
        </p:txBody>
      </p:sp>
      <p:sp>
        <p:nvSpPr>
          <p:cNvPr id="62" name="rel-node">
            <a:extLst xmlns:a="http://schemas.openxmlformats.org/drawingml/2006/main">
              <a:ext uri="{FF2B5EF4-FFF2-40B4-BE49-F238E27FC236}">
                <a16:creationId xmlns:a16="http://schemas.microsoft.com/office/drawing/2014/main" id="{365E5787-73EE-41F6-A446-E2E932A6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28800"/>
            <a:ext cx="868680" cy="54864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DCCB"/>
          </a:solidFill>
          <a:ln xmlns:a="http://schemas.openxmlformats.org/drawingml/2006/main" w="15240">
            <a:solidFill>
              <a:srgbClr val="E855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交接</a:t>
            </a:r>
          </a:p>
        </p:txBody>
      </p:sp>
      <p:sp>
        <p:nvSpPr>
          <p:cNvPr id="63" name="rel-review">
            <a:extLst xmlns:a="http://schemas.openxmlformats.org/drawingml/2006/main">
              <a:ext uri="{FF2B5EF4-FFF2-40B4-BE49-F238E27FC236}">
                <a16:creationId xmlns:a16="http://schemas.microsoft.com/office/drawing/2014/main" id="{5C9842A1-12EB-4214-AFC3-FE7DF4DA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51176"/>
            <a:ext cx="822960" cy="3840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DCCB"/>
          </a:solidFill>
          <a:ln xmlns:a="http://schemas.openxmlformats.org/drawingml/2006/main" w="15240">
            <a:solidFill>
              <a:srgbClr val="E855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获得</a:t>
            </a:r>
          </a:p>
        </p:txBody>
      </p:sp>
      <p:sp>
        <p:nvSpPr>
          <p:cNvPr id="64" name="rel-gen">
            <a:extLst xmlns:a="http://schemas.openxmlformats.org/drawingml/2006/main">
              <a:ext uri="{FF2B5EF4-FFF2-40B4-BE49-F238E27FC236}">
                <a16:creationId xmlns:a16="http://schemas.microsoft.com/office/drawing/2014/main" id="{E5CC9339-74A3-4647-99D0-261EB5DA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3291840"/>
            <a:ext cx="822960" cy="50292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DCCB"/>
          </a:solidFill>
          <a:ln xmlns:a="http://schemas.openxmlformats.org/drawingml/2006/main" w="15240">
            <a:solidFill>
              <a:srgbClr val="E855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生成</a:t>
            </a:r>
          </a:p>
        </p:txBody>
      </p:sp>
      <p:sp>
        <p:nvSpPr>
          <p:cNvPr id="65" name="rel-take">
            <a:extLst xmlns:a="http://schemas.openxmlformats.org/drawingml/2006/main">
              <a:ext uri="{FF2B5EF4-FFF2-40B4-BE49-F238E27FC236}">
                <a16:creationId xmlns:a16="http://schemas.microsoft.com/office/drawing/2014/main" id="{D10E6F5C-9955-4C9F-9C3A-DE458C33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4480560"/>
            <a:ext cx="868680" cy="54864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DCCB"/>
          </a:solidFill>
          <a:ln xmlns:a="http://schemas.openxmlformats.org/drawingml/2006/main" w="15240">
            <a:solidFill>
              <a:srgbClr val="E855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承接</a:t>
            </a:r>
          </a:p>
        </p:txBody>
      </p:sp>
      <p:sp>
        <p:nvSpPr>
          <p:cNvPr id="66" name="rel-pay">
            <a:extLst xmlns:a="http://schemas.openxmlformats.org/drawingml/2006/main">
              <a:ext uri="{FF2B5EF4-FFF2-40B4-BE49-F238E27FC236}">
                <a16:creationId xmlns:a16="http://schemas.microsoft.com/office/drawing/2014/main" id="{97EFCB4D-0658-4969-965C-A1ADDC50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80560"/>
            <a:ext cx="868680" cy="54864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DCCB"/>
          </a:solidFill>
          <a:ln xmlns:a="http://schemas.openxmlformats.org/drawingml/2006/main" w="15240">
            <a:solidFill>
              <a:srgbClr val="E855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对应</a:t>
            </a:r>
          </a:p>
        </p:txBody>
      </p:sp>
      <p:sp>
        <p:nvSpPr>
          <p:cNvPr id="67" name="rel-into">
            <a:extLst xmlns:a="http://schemas.openxmlformats.org/drawingml/2006/main">
              <a:ext uri="{FF2B5EF4-FFF2-40B4-BE49-F238E27FC236}">
                <a16:creationId xmlns:a16="http://schemas.microsoft.com/office/drawing/2014/main" id="{4B0AAA19-2E82-4C96-B1D8-FB7AE9B4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480560"/>
            <a:ext cx="731520" cy="54864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DCCB"/>
          </a:solidFill>
          <a:ln xmlns:a="http://schemas.openxmlformats.org/drawingml/2006/main" w="15240">
            <a:solidFill>
              <a:srgbClr val="E855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汇入</a:t>
            </a:r>
          </a:p>
        </p:txBody>
      </p:sp>
      <p:sp>
        <p:nvSpPr>
          <p:cNvPr id="68" name="rel-own">
            <a:extLst xmlns:a="http://schemas.openxmlformats.org/drawingml/2006/main">
              <a:ext uri="{FF2B5EF4-FFF2-40B4-BE49-F238E27FC236}">
                <a16:creationId xmlns:a16="http://schemas.microsoft.com/office/drawing/2014/main" id="{37F67EBE-ED6E-4AE5-A9F3-0254C8B9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541264"/>
            <a:ext cx="822960" cy="36576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DCCB"/>
          </a:solidFill>
          <a:ln xmlns:a="http://schemas.openxmlformats.org/drawingml/2006/main" w="15240">
            <a:solidFill>
              <a:srgbClr val="E855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归属</a:t>
            </a:r>
          </a:p>
        </p:txBody>
      </p:sp>
      <p:sp>
        <p:nvSpPr>
          <p:cNvPr id="69" name="l-pub-1">
            <a:extLst xmlns:a="http://schemas.openxmlformats.org/drawingml/2006/main">
              <a:ext uri="{FF2B5EF4-FFF2-40B4-BE49-F238E27FC236}">
                <a16:creationId xmlns:a16="http://schemas.microsoft.com/office/drawing/2014/main" id="{83D22EF1-E2BF-4405-84EA-4A88DBC0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093976"/>
            <a:ext cx="3200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0" name="l-pub-2">
            <a:extLst xmlns:a="http://schemas.openxmlformats.org/drawingml/2006/main">
              <a:ext uri="{FF2B5EF4-FFF2-40B4-BE49-F238E27FC236}">
                <a16:creationId xmlns:a16="http://schemas.microsoft.com/office/drawing/2014/main" id="{5F363A1F-64DB-41F8-92BE-85D4A49A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93976"/>
            <a:ext cx="45720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1" name="l-node-1">
            <a:extLst xmlns:a="http://schemas.openxmlformats.org/drawingml/2006/main">
              <a:ext uri="{FF2B5EF4-FFF2-40B4-BE49-F238E27FC236}">
                <a16:creationId xmlns:a16="http://schemas.microsoft.com/office/drawing/2014/main" id="{C5C5EDAE-CCCF-48D0-9BEF-496B9EAB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093976"/>
            <a:ext cx="45720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2" name="l-node-2">
            <a:extLst xmlns:a="http://schemas.openxmlformats.org/drawingml/2006/main">
              <a:ext uri="{FF2B5EF4-FFF2-40B4-BE49-F238E27FC236}">
                <a16:creationId xmlns:a16="http://schemas.microsoft.com/office/drawing/2014/main" id="{ED5352B8-A07E-468E-AABA-C9FEE921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93976"/>
            <a:ext cx="45720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3" name="l-rev-1">
            <a:extLst xmlns:a="http://schemas.openxmlformats.org/drawingml/2006/main">
              <a:ext uri="{FF2B5EF4-FFF2-40B4-BE49-F238E27FC236}">
                <a16:creationId xmlns:a16="http://schemas.microsoft.com/office/drawing/2014/main" id="{B5D407CF-700F-422D-9671-AE61EC2E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734056"/>
            <a:ext cx="3200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4" name="l-rev-2">
            <a:extLst xmlns:a="http://schemas.openxmlformats.org/drawingml/2006/main">
              <a:ext uri="{FF2B5EF4-FFF2-40B4-BE49-F238E27FC236}">
                <a16:creationId xmlns:a16="http://schemas.microsoft.com/office/drawing/2014/main" id="{2389C01F-732E-464B-B920-39D796B9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734056"/>
            <a:ext cx="26060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5" name="l-gen-1">
            <a:extLst xmlns:a="http://schemas.openxmlformats.org/drawingml/2006/main">
              <a:ext uri="{FF2B5EF4-FFF2-40B4-BE49-F238E27FC236}">
                <a16:creationId xmlns:a16="http://schemas.microsoft.com/office/drawing/2014/main" id="{18C6778F-F6E0-4762-A915-39E9C2BD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916" y="2971800"/>
            <a:ext cx="18288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6" name="l-gen-2">
            <a:extLst xmlns:a="http://schemas.openxmlformats.org/drawingml/2006/main">
              <a:ext uri="{FF2B5EF4-FFF2-40B4-BE49-F238E27FC236}">
                <a16:creationId xmlns:a16="http://schemas.microsoft.com/office/drawing/2014/main" id="{3762FEC5-AC18-4F58-9C5C-336DDD3D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916" y="3794760"/>
            <a:ext cx="182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7" name="l-take-1">
            <a:extLst xmlns:a="http://schemas.openxmlformats.org/drawingml/2006/main">
              <a:ext uri="{FF2B5EF4-FFF2-40B4-BE49-F238E27FC236}">
                <a16:creationId xmlns:a16="http://schemas.microsoft.com/office/drawing/2014/main" id="{C031C552-B16A-4D65-8ACF-ACEC5C6F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745736"/>
            <a:ext cx="3200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8" name="l-take-2">
            <a:extLst xmlns:a="http://schemas.openxmlformats.org/drawingml/2006/main">
              <a:ext uri="{FF2B5EF4-FFF2-40B4-BE49-F238E27FC236}">
                <a16:creationId xmlns:a16="http://schemas.microsoft.com/office/drawing/2014/main" id="{569623AB-83FE-4269-9E3B-D68B470A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745736"/>
            <a:ext cx="45720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9" name="l-pay-1">
            <a:extLst xmlns:a="http://schemas.openxmlformats.org/drawingml/2006/main">
              <a:ext uri="{FF2B5EF4-FFF2-40B4-BE49-F238E27FC236}">
                <a16:creationId xmlns:a16="http://schemas.microsoft.com/office/drawing/2014/main" id="{F56F1813-8BF7-4F79-83F4-CCE2A6C8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745736"/>
            <a:ext cx="3200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0" name="l-pay-2">
            <a:extLst xmlns:a="http://schemas.openxmlformats.org/drawingml/2006/main">
              <a:ext uri="{FF2B5EF4-FFF2-40B4-BE49-F238E27FC236}">
                <a16:creationId xmlns:a16="http://schemas.microsoft.com/office/drawing/2014/main" id="{7C145172-754D-4BEB-8C1B-DF3C200E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45736"/>
            <a:ext cx="914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1" name="l-into-1">
            <a:extLst xmlns:a="http://schemas.openxmlformats.org/drawingml/2006/main">
              <a:ext uri="{FF2B5EF4-FFF2-40B4-BE49-F238E27FC236}">
                <a16:creationId xmlns:a16="http://schemas.microsoft.com/office/drawing/2014/main" id="{9755927B-8E1A-44EE-9230-E4890D84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4745736"/>
            <a:ext cx="13716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2" name="l-into-2">
            <a:extLst xmlns:a="http://schemas.openxmlformats.org/drawingml/2006/main">
              <a:ext uri="{FF2B5EF4-FFF2-40B4-BE49-F238E27FC236}">
                <a16:creationId xmlns:a16="http://schemas.microsoft.com/office/drawing/2014/main" id="{45EC3A9B-86C3-4DE6-83ED-55B2FCCC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745736"/>
            <a:ext cx="22860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3" name="l-own-1">
            <a:extLst xmlns:a="http://schemas.openxmlformats.org/drawingml/2006/main">
              <a:ext uri="{FF2B5EF4-FFF2-40B4-BE49-F238E27FC236}">
                <a16:creationId xmlns:a16="http://schemas.microsoft.com/office/drawing/2014/main" id="{E4F2CD10-CC73-4F9A-B62F-ABEE3B93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616" y="5440680"/>
            <a:ext cx="18288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4" name="l-own-2">
            <a:extLst xmlns:a="http://schemas.openxmlformats.org/drawingml/2006/main">
              <a:ext uri="{FF2B5EF4-FFF2-40B4-BE49-F238E27FC236}">
                <a16:creationId xmlns:a16="http://schemas.microsoft.com/office/drawing/2014/main" id="{629C5130-AB32-4ECE-8FE2-7BE4AFEB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616" y="5715000"/>
            <a:ext cx="9427464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5" name="l-own-3">
            <a:extLst xmlns:a="http://schemas.openxmlformats.org/drawingml/2006/main">
              <a:ext uri="{FF2B5EF4-FFF2-40B4-BE49-F238E27FC236}">
                <a16:creationId xmlns:a16="http://schemas.microsoft.com/office/drawing/2014/main" id="{99207D8D-60CA-4D1A-96FB-1E4605EE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936" y="5440680"/>
            <a:ext cx="18288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6" name="card-1-2.66">
            <a:extLst xmlns:a="http://schemas.openxmlformats.org/drawingml/2006/main">
              <a:ext uri="{FF2B5EF4-FFF2-40B4-BE49-F238E27FC236}">
                <a16:creationId xmlns:a16="http://schemas.microsoft.com/office/drawing/2014/main" id="{061CFDC5-ADDD-43C9-AF36-8615EFDE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1828800"/>
            <a:ext cx="274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1</a:t>
            </a:r>
          </a:p>
        </p:txBody>
      </p:sp>
      <p:sp>
        <p:nvSpPr>
          <p:cNvPr id="87" name="card-N-4.02">
            <a:extLst xmlns:a="http://schemas.openxmlformats.org/drawingml/2006/main">
              <a:ext uri="{FF2B5EF4-FFF2-40B4-BE49-F238E27FC236}">
                <a16:creationId xmlns:a16="http://schemas.microsoft.com/office/drawing/2014/main" id="{AA33C11A-EF1A-46D2-91AF-C26B0EF0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1828800"/>
            <a:ext cx="274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N</a:t>
            </a:r>
          </a:p>
        </p:txBody>
      </p:sp>
      <p:sp>
        <p:nvSpPr>
          <p:cNvPr id="88" name="card-N-6.72">
            <a:extLst xmlns:a="http://schemas.openxmlformats.org/drawingml/2006/main">
              <a:ext uri="{FF2B5EF4-FFF2-40B4-BE49-F238E27FC236}">
                <a16:creationId xmlns:a16="http://schemas.microsoft.com/office/drawing/2014/main" id="{8F34DFCB-6389-465C-BC5A-E2E5E605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828800"/>
            <a:ext cx="274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N</a:t>
            </a:r>
          </a:p>
        </p:txBody>
      </p:sp>
      <p:sp>
        <p:nvSpPr>
          <p:cNvPr id="89" name="card-1-8.2">
            <a:extLst xmlns:a="http://schemas.openxmlformats.org/drawingml/2006/main">
              <a:ext uri="{FF2B5EF4-FFF2-40B4-BE49-F238E27FC236}">
                <a16:creationId xmlns:a16="http://schemas.microsoft.com/office/drawing/2014/main" id="{B0EFA9A3-FD3E-4983-94FC-0B4EC6FF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1828800"/>
            <a:ext cx="274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1</a:t>
            </a:r>
          </a:p>
        </p:txBody>
      </p:sp>
      <p:sp>
        <p:nvSpPr>
          <p:cNvPr id="90" name="card-1 : 1-7.0">
            <a:extLst xmlns:a="http://schemas.openxmlformats.org/drawingml/2006/main">
              <a:ext uri="{FF2B5EF4-FFF2-40B4-BE49-F238E27FC236}">
                <a16:creationId xmlns:a16="http://schemas.microsoft.com/office/drawing/2014/main" id="{C117546A-00C2-41A4-990A-3A620E50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656"/>
            <a:ext cx="822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1 : 1</a:t>
            </a:r>
          </a:p>
        </p:txBody>
      </p:sp>
      <p:sp>
        <p:nvSpPr>
          <p:cNvPr id="91" name="card-1-5.62">
            <a:extLst xmlns:a="http://schemas.openxmlformats.org/drawingml/2006/main">
              <a:ext uri="{FF2B5EF4-FFF2-40B4-BE49-F238E27FC236}">
                <a16:creationId xmlns:a16="http://schemas.microsoft.com/office/drawing/2014/main" id="{3735E6EF-2DE2-4967-A736-2161D13F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017520"/>
            <a:ext cx="274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1</a:t>
            </a:r>
          </a:p>
        </p:txBody>
      </p:sp>
      <p:sp>
        <p:nvSpPr>
          <p:cNvPr id="92" name="card-N-5.62">
            <a:extLst xmlns:a="http://schemas.openxmlformats.org/drawingml/2006/main">
              <a:ext uri="{FF2B5EF4-FFF2-40B4-BE49-F238E27FC236}">
                <a16:creationId xmlns:a16="http://schemas.microsoft.com/office/drawing/2014/main" id="{AB0EB9ED-2D89-44D4-B36D-D7988F16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822191"/>
            <a:ext cx="274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N</a:t>
            </a:r>
          </a:p>
        </p:txBody>
      </p:sp>
      <p:sp>
        <p:nvSpPr>
          <p:cNvPr id="93" name="card-1-2.66">
            <a:extLst xmlns:a="http://schemas.openxmlformats.org/drawingml/2006/main">
              <a:ext uri="{FF2B5EF4-FFF2-40B4-BE49-F238E27FC236}">
                <a16:creationId xmlns:a16="http://schemas.microsoft.com/office/drawing/2014/main" id="{54DAFF77-9504-4E6E-A4A0-D075AB3B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4480560"/>
            <a:ext cx="274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1</a:t>
            </a:r>
          </a:p>
        </p:txBody>
      </p:sp>
      <p:sp>
        <p:nvSpPr>
          <p:cNvPr id="94" name="card-N-4.02">
            <a:extLst xmlns:a="http://schemas.openxmlformats.org/drawingml/2006/main">
              <a:ext uri="{FF2B5EF4-FFF2-40B4-BE49-F238E27FC236}">
                <a16:creationId xmlns:a16="http://schemas.microsoft.com/office/drawing/2014/main" id="{0DD64080-612D-4D8C-9DF8-29E7B05C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4480560"/>
            <a:ext cx="274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N</a:t>
            </a:r>
          </a:p>
        </p:txBody>
      </p:sp>
      <p:sp>
        <p:nvSpPr>
          <p:cNvPr id="95" name="card-1 : 1-6.98">
            <a:extLst xmlns:a="http://schemas.openxmlformats.org/drawingml/2006/main">
              <a:ext uri="{FF2B5EF4-FFF2-40B4-BE49-F238E27FC236}">
                <a16:creationId xmlns:a16="http://schemas.microsoft.com/office/drawing/2014/main" id="{F3A8DCFF-6732-468F-8564-37D2AAFD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206240"/>
            <a:ext cx="9052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1 : 1</a:t>
            </a:r>
          </a:p>
        </p:txBody>
      </p:sp>
      <p:sp>
        <p:nvSpPr>
          <p:cNvPr id="96" name="card-N : 1-10.0">
            <a:extLst xmlns:a="http://schemas.openxmlformats.org/drawingml/2006/main">
              <a:ext uri="{FF2B5EF4-FFF2-40B4-BE49-F238E27FC236}">
                <a16:creationId xmlns:a16="http://schemas.microsoft.com/office/drawing/2014/main" id="{3E3DAE6B-7CC7-471F-95C7-45A677B1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87952"/>
            <a:ext cx="914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N : 1</a:t>
            </a:r>
          </a:p>
        </p:txBody>
      </p:sp>
      <p:sp>
        <p:nvSpPr>
          <p:cNvPr id="97" name="card-1-1.74">
            <a:extLst xmlns:a="http://schemas.openxmlformats.org/drawingml/2006/main">
              <a:ext uri="{FF2B5EF4-FFF2-40B4-BE49-F238E27FC236}">
                <a16:creationId xmlns:a16="http://schemas.microsoft.com/office/drawing/2014/main" id="{4313D610-6ADA-472B-9AB0-97C2D2D2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5458968"/>
            <a:ext cx="274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1</a:t>
            </a:r>
          </a:p>
        </p:txBody>
      </p:sp>
      <p:sp>
        <p:nvSpPr>
          <p:cNvPr id="98" name="card-N-11.56">
            <a:extLst xmlns:a="http://schemas.openxmlformats.org/drawingml/2006/main">
              <a:ext uri="{FF2B5EF4-FFF2-40B4-BE49-F238E27FC236}">
                <a16:creationId xmlns:a16="http://schemas.microsoft.com/office/drawing/2014/main" id="{F4773307-53EF-4082-878F-CCFD179F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464" y="5458968"/>
            <a:ext cx="274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217815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B0E66D4D-FB6D-4709-AE89-208141E3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CF59847A-C0C7-432A-9EE9-EA8C90AB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逻辑结构设计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993CC0AD-A59F-457A-B2DE-D8A75EB4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03 · 数据库设计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48E14F98-1C84-4403-85D6-D5E73065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17" name="schema-table"/>
          <p:cNvGraphicFramePr/>
          <p:nvPr/>
        </p:nvGraphicFramePr>
        <p:xfrm>
          <a:off xmlns:a="http://schemas.openxmlformats.org/drawingml/2006/main" x="508000" y="1219200"/>
          <a:ext xmlns:a="http://schemas.openxmlformats.org/drawingml/2006/main" cx="11176000" cy="452120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88160"/>
                <a:gridCol w="5811520"/>
                <a:gridCol w="1229360"/>
                <a:gridCol w="2346960"/>
              </a:tblGrid>
              <a:tr h="397866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表名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主要属性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主码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外码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users 用户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username, phone, password_hash, user_role, account_status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user_id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runners 跑腿员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user_id, real_name, identity_info, audit_status, work_status, credit_score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runner_id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user_id → users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tasks 任务主单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publisher_user_id, service_type_id, address_no, node_id, task_title, task_price, urgent_flag, task_status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task_id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组合外键引用 users、user_addresses、service_node_rules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任务明细（外卖 / 代取 / 转交）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food_delivery_details, express_pickup_details, private_task_details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(task_id, detail_no)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task_id → tasks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assign_records 接派记录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task_id, runner_id, operation_type, assigned_at, reassign_reason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task_id → tasks, runner_id → runners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task_status_logs 状态日志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record_id, status_before, status_after, operator_user_id, operated_at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log_id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record_id → assign_records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payments 支付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record_id, order_amount, pay_amount, pay_method, pay_status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payment_id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record_id → assign_records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reviews 评价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task_id, record_id, rating, comment_text, credit_delta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review_id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(record_id, task_id) → assign_records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schema-note-icon">
            <a:extLst xmlns:a="http://schemas.openxmlformats.org/drawingml/2006/main">
              <a:ext uri="{FF2B5EF4-FFF2-40B4-BE49-F238E27FC236}">
                <a16:creationId xmlns:a16="http://schemas.microsoft.com/office/drawing/2014/main" id="{5825A572-5F65-4A96-A280-FB49E155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918200"/>
            <a:ext cx="177800" cy="177800"/>
          </a:xfrm>
          <a:custGeom xmlns:a="http://schemas.openxmlformats.org/drawingml/2006/main">
            <a:rect l="l" t="t" r="r" b="b"/>
            <a:pathLst>
              <a:path w="448" h="512">
                <a:moveTo>
                  <a:pt x="384" y="32"/>
                </a:move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lnTo>
                  <a:pt x="58" y="480"/>
                </a:lnTo>
                <a:cubicBezTo>
                  <a:pt x="25" y="476"/>
                  <a:pt x="0" y="449"/>
                  <a:pt x="0" y="416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lose/>
                <a:moveTo>
                  <a:pt x="64" y="320"/>
                </a:moveTo>
                <a:lnTo>
                  <a:pt x="64" y="416"/>
                </a:lnTo>
                <a:lnTo>
                  <a:pt x="192" y="416"/>
                </a:lnTo>
                <a:lnTo>
                  <a:pt x="192" y="320"/>
                </a:lnTo>
                <a:lnTo>
                  <a:pt x="64" y="320"/>
                </a:lnTo>
                <a:close/>
                <a:moveTo>
                  <a:pt x="256" y="320"/>
                </a:moveTo>
                <a:lnTo>
                  <a:pt x="256" y="416"/>
                </a:lnTo>
                <a:lnTo>
                  <a:pt x="384" y="416"/>
                </a:lnTo>
                <a:lnTo>
                  <a:pt x="384" y="320"/>
                </a:lnTo>
                <a:lnTo>
                  <a:pt x="256" y="320"/>
                </a:lnTo>
                <a:close/>
                <a:moveTo>
                  <a:pt x="64" y="256"/>
                </a:moveTo>
                <a:lnTo>
                  <a:pt x="192" y="256"/>
                </a:lnTo>
                <a:lnTo>
                  <a:pt x="192" y="160"/>
                </a:lnTo>
                <a:lnTo>
                  <a:pt x="64" y="160"/>
                </a:lnTo>
                <a:lnTo>
                  <a:pt x="64" y="256"/>
                </a:lnTo>
                <a:close/>
                <a:moveTo>
                  <a:pt x="256" y="256"/>
                </a:moveTo>
                <a:lnTo>
                  <a:pt x="384" y="256"/>
                </a:lnTo>
                <a:lnTo>
                  <a:pt x="384" y="160"/>
                </a:lnTo>
                <a:lnTo>
                  <a:pt x="256" y="160"/>
                </a:lnTo>
                <a:lnTo>
                  <a:pt x="256" y="256"/>
                </a:lnTo>
                <a:close/>
              </a:path>
            </a:pathLst>
          </a:custGeom>
          <a:solidFill xmlns:a="http://schemas.openxmlformats.org/drawingml/2006/main">
            <a:srgbClr val="7771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chema-note">
            <a:extLst xmlns:a="http://schemas.openxmlformats.org/drawingml/2006/main">
              <a:ext uri="{FF2B5EF4-FFF2-40B4-BE49-F238E27FC236}">
                <a16:creationId xmlns:a16="http://schemas.microsoft.com/office/drawing/2014/main" id="{EFFB1E08-97D9-4B2E-A856-525A2569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5867400"/>
            <a:ext cx="108966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转换规则：实体 → 表 · 弱实体复合主键关联主单 · 1:N 并入 N 端外码 · N:M 独立成表（service_node_rules）· 完整 DDL 见报告附录</a:t>
            </a:r>
            <a:endParaRPr sz="1100"/>
          </a:p>
        </p:txBody>
      </p:sp>
      <p:sp>
        <p:nvSpPr>
          <p:cNvPr id="9" name="ft-line">
            <a:extLst xmlns:a="http://schemas.openxmlformats.org/drawingml/2006/main">
              <a:ext uri="{FF2B5EF4-FFF2-40B4-BE49-F238E27FC236}">
                <a16:creationId xmlns:a16="http://schemas.microsoft.com/office/drawing/2014/main" id="{A676B97C-BD79-42C4-94F1-EE71F23D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t-brand">
            <a:extLst xmlns:a="http://schemas.openxmlformats.org/drawingml/2006/main">
              <a:ext uri="{FF2B5EF4-FFF2-40B4-BE49-F238E27FC236}">
                <a16:creationId xmlns:a16="http://schemas.microsoft.com/office/drawing/2014/main" id="{A9317522-C893-46FC-938A-AFFA8E15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1" name="ft-page">
            <a:extLst xmlns:a="http://schemas.openxmlformats.org/drawingml/2006/main">
              <a:ext uri="{FF2B5EF4-FFF2-40B4-BE49-F238E27FC236}">
                <a16:creationId xmlns:a16="http://schemas.microsoft.com/office/drawing/2014/main" id="{B5678BDD-A732-4156-8761-C6417FA8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13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300661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F6599004-091A-45E0-BE8E-FB6347B5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89485AF4-EBAC-4F3D-99E4-ED212A30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tasks 任务主表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D678CA15-85A6-4DD6-84BD-826A9393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03 · 数据库设计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D874745E-9660-4AFA-830A-EC04DEF6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3" name="orders-table"/>
          <p:cNvGraphicFramePr/>
          <p:nvPr/>
        </p:nvGraphicFramePr>
        <p:xfrm>
          <a:off xmlns:a="http://schemas.openxmlformats.org/drawingml/2006/main" x="508000" y="1219200"/>
          <a:ext xmlns:a="http://schemas.openxmlformats.org/drawingml/2006/main" cx="7112000" cy="537343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06880"/>
                <a:gridCol w="1422400"/>
                <a:gridCol w="1849120"/>
                <a:gridCol w="2133600"/>
              </a:tblGrid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字段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类型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约束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task_id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NUMBER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PK，身份列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任务内部标识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publisher_user_id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NUMBER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FK NOT NULL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发布用户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address_no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NUMBER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联合外键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与发布用户组合引用 user_addresses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service_type_id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NUMBER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联合外键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与 node_id 组合引用服务—节点规则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node_id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NUMBER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FK NOT NULL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交接节点（校门/驿站/分发点）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task_title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VARCHAR2(100 CHAR)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NULL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任务标题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task_price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NUMBER(10,2)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CHECK ≥ 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任务价格，避免浮点误差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urgent_flag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CHAR(1)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CHECK Y/N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加急标志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task_status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VARCHAR2(30 CHAR)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DEFAULT 'CREATED'，CHECK 限定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状态机 10 个合法状态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created_at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DEFAULT SYSDATE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发布时间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completed_at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CHECK ≥ created_at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完成时间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note-label">
            <a:extLst xmlns:a="http://schemas.openxmlformats.org/drawingml/2006/main">
              <a:ext uri="{FF2B5EF4-FFF2-40B4-BE49-F238E27FC236}">
                <a16:creationId xmlns:a16="http://schemas.microsoft.com/office/drawing/2014/main" id="{E54E2ACF-354D-46F6-B5C1-268528FB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219200"/>
            <a:ext cx="355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设计要点</a:t>
            </a:r>
            <a:endParaRPr sz="1200"/>
          </a:p>
        </p:txBody>
      </p:sp>
      <p:sp>
        <p:nvSpPr>
          <p:cNvPr id="8" name="note1">
            <a:extLst xmlns:a="http://schemas.openxmlformats.org/drawingml/2006/main">
              <a:ext uri="{FF2B5EF4-FFF2-40B4-BE49-F238E27FC236}">
                <a16:creationId xmlns:a16="http://schemas.microsoft.com/office/drawing/2014/main" id="{871B3065-ADBA-4BAA-8BEA-4B93256B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600200"/>
            <a:ext cx="35560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主单与明细分离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任务公共字段入 tasks，外卖 / 代取 / 转交专有字段分设明细弱实体表</a:t>
            </a:r>
            <a:endParaRPr sz="1150"/>
          </a:p>
        </p:txBody>
      </p:sp>
      <p:sp>
        <p:nvSpPr>
          <p:cNvPr id="9" name="note1-line">
            <a:extLst xmlns:a="http://schemas.openxmlformats.org/drawingml/2006/main">
              <a:ext uri="{FF2B5EF4-FFF2-40B4-BE49-F238E27FC236}">
                <a16:creationId xmlns:a16="http://schemas.microsoft.com/office/drawing/2014/main" id="{C9A2B47C-D6F0-4CA9-8741-444D44AA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819400"/>
            <a:ext cx="355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note2">
            <a:extLst xmlns:a="http://schemas.openxmlformats.org/drawingml/2006/main">
              <a:ext uri="{FF2B5EF4-FFF2-40B4-BE49-F238E27FC236}">
                <a16:creationId xmlns:a16="http://schemas.microsoft.com/office/drawing/2014/main" id="{04D4628C-09C1-48EF-BBB7-5163F0C7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997200"/>
            <a:ext cx="35560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状态由约束限定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task_status 取值由 CHECK 约束限定，非法状态无法入库</a:t>
            </a:r>
            <a:endParaRPr sz="1150"/>
          </a:p>
        </p:txBody>
      </p:sp>
      <p:sp>
        <p:nvSpPr>
          <p:cNvPr id="11" name="note2-line">
            <a:extLst xmlns:a="http://schemas.openxmlformats.org/drawingml/2006/main">
              <a:ext uri="{FF2B5EF4-FFF2-40B4-BE49-F238E27FC236}">
                <a16:creationId xmlns:a16="http://schemas.microsoft.com/office/drawing/2014/main" id="{DFEDDC9D-7600-481D-B82B-A6E0E459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216400"/>
            <a:ext cx="355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note3">
            <a:extLst xmlns:a="http://schemas.openxmlformats.org/drawingml/2006/main">
              <a:ext uri="{FF2B5EF4-FFF2-40B4-BE49-F238E27FC236}">
                <a16:creationId xmlns:a16="http://schemas.microsoft.com/office/drawing/2014/main" id="{E7AD1A09-10FC-4FE5-BFCC-B932C458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394200"/>
            <a:ext cx="35560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行锁防并发抢单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SELECT … FOR UPDATE 锁定任务行后校验状态，防止重复接单</a:t>
            </a:r>
            <a:endParaRPr sz="1150"/>
          </a:p>
        </p:txBody>
      </p:sp>
      <p:sp>
        <p:nvSpPr>
          <p:cNvPr id="13" name="note3-line">
            <a:extLst xmlns:a="http://schemas.openxmlformats.org/drawingml/2006/main">
              <a:ext uri="{FF2B5EF4-FFF2-40B4-BE49-F238E27FC236}">
                <a16:creationId xmlns:a16="http://schemas.microsoft.com/office/drawing/2014/main" id="{A104EB0A-FDBE-4154-B5AF-FC52BDC5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5613400"/>
            <a:ext cx="355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note4">
            <a:extLst xmlns:a="http://schemas.openxmlformats.org/drawingml/2006/main">
              <a:ext uri="{FF2B5EF4-FFF2-40B4-BE49-F238E27FC236}">
                <a16:creationId xmlns:a16="http://schemas.microsoft.com/office/drawing/2014/main" id="{031D2D2C-A135-4484-8F62-678CC55C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5791200"/>
            <a:ext cx="355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组合外键：服务类型与交接节点绑定规则强制匹配</a:t>
            </a:r>
            <a:endParaRPr sz="1000"/>
          </a:p>
        </p:txBody>
      </p:sp>
      <p:sp>
        <p:nvSpPr>
          <p:cNvPr id="15" name="ft-line">
            <a:extLst xmlns:a="http://schemas.openxmlformats.org/drawingml/2006/main">
              <a:ext uri="{FF2B5EF4-FFF2-40B4-BE49-F238E27FC236}">
                <a16:creationId xmlns:a16="http://schemas.microsoft.com/office/drawing/2014/main" id="{2169AA9D-CC16-4403-B93B-190722F1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ft-brand">
            <a:extLst xmlns:a="http://schemas.openxmlformats.org/drawingml/2006/main">
              <a:ext uri="{FF2B5EF4-FFF2-40B4-BE49-F238E27FC236}">
                <a16:creationId xmlns:a16="http://schemas.microsoft.com/office/drawing/2014/main" id="{05D87AAE-EE95-4A76-9460-0B4A6E51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7" name="ft-page">
            <a:extLst xmlns:a="http://schemas.openxmlformats.org/drawingml/2006/main">
              <a:ext uri="{FF2B5EF4-FFF2-40B4-BE49-F238E27FC236}">
                <a16:creationId xmlns:a16="http://schemas.microsoft.com/office/drawing/2014/main" id="{8831424B-426D-44E5-B3CF-7CCD6DF2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14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916978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4D8E2C7A-0F17-41E3-B6C5-6C73DA29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B71C768E-18C9-457B-9638-7A5016DE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规范化设计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D897BC98-C081-4D16-967C-D218FDF7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03 · 数据库设计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8E3C078B-C1FC-45DE-99AB-1F17A97D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nf1-box">
            <a:extLst xmlns:a="http://schemas.openxmlformats.org/drawingml/2006/main">
              <a:ext uri="{FF2B5EF4-FFF2-40B4-BE49-F238E27FC236}">
                <a16:creationId xmlns:a16="http://schemas.microsoft.com/office/drawing/2014/main" id="{A040897E-9D1E-4A63-AE6C-A43C302A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70000"/>
            <a:ext cx="3429000" cy="93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327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nf1-t">
            <a:extLst xmlns:a="http://schemas.openxmlformats.org/drawingml/2006/main">
              <a:ext uri="{FF2B5EF4-FFF2-40B4-BE49-F238E27FC236}">
                <a16:creationId xmlns:a16="http://schemas.microsoft.com/office/drawing/2014/main" id="{C8640CEA-B167-4F33-B454-48DAFEF3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3970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4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1NF</a:t>
            </a:r>
            <a:r>
              <a:rPr sz="1400">
                <a:solidFill>
                  <a:srgbClr val="23272E"/>
                </a:solidFill>
                <a:latin typeface="MiSans"/>
                <a:ea typeface="MiSans"/>
                <a:cs typeface="MiSans"/>
              </a:rPr>
              <a:t> 属性原子化</a:t>
            </a:r>
            <a:endParaRPr sz="1600"/>
          </a:p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地址拆为校区、楼栋房间等独立列，联系人姓名与电话分列存储</a:t>
            </a:r>
            <a:endParaRPr sz="1600"/>
          </a:p>
        </p:txBody>
      </p:sp>
      <p:sp>
        <p:nvSpPr>
          <p:cNvPr id="8" name="nf-a1">
            <a:extLst xmlns:a="http://schemas.openxmlformats.org/drawingml/2006/main">
              <a:ext uri="{FF2B5EF4-FFF2-40B4-BE49-F238E27FC236}">
                <a16:creationId xmlns:a16="http://schemas.microsoft.com/office/drawing/2014/main" id="{79CAC8E2-7752-4C7F-AF75-2D4685D1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1000"/>
            <a:ext cx="558800" cy="152400"/>
          </a:xfrm>
          <a:custGeom xmlns:a="http://schemas.openxmlformats.org/drawingml/2006/main">
            <a:rect l="l" t="t" r="r" b="b"/>
            <a:pathLst>
              <a:path w="44" h="12">
                <a:moveTo>
                  <a:pt x="0" y="6"/>
                </a:moveTo>
                <a:lnTo>
                  <a:pt x="44" y="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8551D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nf2-box">
            <a:extLst xmlns:a="http://schemas.openxmlformats.org/drawingml/2006/main">
              <a:ext uri="{FF2B5EF4-FFF2-40B4-BE49-F238E27FC236}">
                <a16:creationId xmlns:a16="http://schemas.microsoft.com/office/drawing/2014/main" id="{3A34C33D-BD17-4AD3-908B-B1627E90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270000"/>
            <a:ext cx="3429000" cy="93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327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nf2-t">
            <a:extLst xmlns:a="http://schemas.openxmlformats.org/drawingml/2006/main">
              <a:ext uri="{FF2B5EF4-FFF2-40B4-BE49-F238E27FC236}">
                <a16:creationId xmlns:a16="http://schemas.microsoft.com/office/drawing/2014/main" id="{F17176BC-8C6C-40AD-A1B6-893922CB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200" y="13970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4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2NF</a:t>
            </a:r>
            <a:r>
              <a:rPr sz="1400">
                <a:solidFill>
                  <a:srgbClr val="23272E"/>
                </a:solidFill>
                <a:latin typeface="MiSans"/>
                <a:ea typeface="MiSans"/>
                <a:cs typeface="MiSans"/>
              </a:rPr>
              <a:t> 消除部分依赖</a:t>
            </a:r>
            <a:endParaRPr sz="1600"/>
          </a:p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user_addresses 与任务明细的非主属性完整依赖联合主键</a:t>
            </a:r>
            <a:endParaRPr sz="1600"/>
          </a:p>
        </p:txBody>
      </p:sp>
      <p:sp>
        <p:nvSpPr>
          <p:cNvPr id="11" name="nf-a2">
            <a:extLst xmlns:a="http://schemas.openxmlformats.org/drawingml/2006/main">
              <a:ext uri="{FF2B5EF4-FFF2-40B4-BE49-F238E27FC236}">
                <a16:creationId xmlns:a16="http://schemas.microsoft.com/office/drawing/2014/main" id="{6793E87A-E540-4FD7-8E31-7861A129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1000"/>
            <a:ext cx="558800" cy="152400"/>
          </a:xfrm>
          <a:custGeom xmlns:a="http://schemas.openxmlformats.org/drawingml/2006/main">
            <a:rect l="l" t="t" r="r" b="b"/>
            <a:pathLst>
              <a:path w="44" h="12">
                <a:moveTo>
                  <a:pt x="0" y="6"/>
                </a:moveTo>
                <a:lnTo>
                  <a:pt x="44" y="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8551D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nf3-box">
            <a:extLst xmlns:a="http://schemas.openxmlformats.org/drawingml/2006/main">
              <a:ext uri="{FF2B5EF4-FFF2-40B4-BE49-F238E27FC236}">
                <a16:creationId xmlns:a16="http://schemas.microsoft.com/office/drawing/2014/main" id="{C54DD141-083C-4F4D-B806-2132CBA3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1270000"/>
            <a:ext cx="2794000" cy="93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nf3-t">
            <a:extLst xmlns:a="http://schemas.openxmlformats.org/drawingml/2006/main">
              <a:ext uri="{FF2B5EF4-FFF2-40B4-BE49-F238E27FC236}">
                <a16:creationId xmlns:a16="http://schemas.microsoft.com/office/drawing/2014/main" id="{B03EA51D-DC77-4230-9FE3-B5F36D3B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1397000"/>
            <a:ext cx="241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4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3NF</a:t>
            </a:r>
            <a:r>
              <a:rPr sz="140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 消除传递依赖</a:t>
            </a:r>
            <a:endParaRPr sz="1600"/>
          </a:p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>
                <a:solidFill>
                  <a:srgbClr val="B9B2A6"/>
                </a:solidFill>
                <a:latin typeface="MiSans"/>
                <a:ea typeface="MiSans"/>
                <a:cs typeface="MiSans"/>
              </a:rPr>
              <a:t>全部 24 张表均达到 3NF</a:t>
            </a:r>
            <a:endParaRPr sz="1600"/>
          </a:p>
        </p:txBody>
      </p:sp>
      <p:sp>
        <p:nvSpPr>
          <p:cNvPr id="14" name="ex-label">
            <a:extLst xmlns:a="http://schemas.openxmlformats.org/drawingml/2006/main">
              <a:ext uri="{FF2B5EF4-FFF2-40B4-BE49-F238E27FC236}">
                <a16:creationId xmlns:a16="http://schemas.microsoft.com/office/drawing/2014/main" id="{732DBAFA-5B02-4BBC-973A-F9399FB4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616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典型问题的分解实例</a:t>
            </a:r>
            <a:endParaRPr sz="1200"/>
          </a:p>
        </p:txBody>
      </p:sp>
      <p:sp>
        <p:nvSpPr>
          <p:cNvPr id="15" name="ex1-title">
            <a:extLst xmlns:a="http://schemas.openxmlformats.org/drawingml/2006/main">
              <a:ext uri="{FF2B5EF4-FFF2-40B4-BE49-F238E27FC236}">
                <a16:creationId xmlns:a16="http://schemas.microsoft.com/office/drawing/2014/main" id="{2A2B1E81-9BD2-41C9-BFFB-FEA179EC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997200"/>
            <a:ext cx="533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3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实例 1：任务宽表 → tasks + 类型明细表</a:t>
            </a:r>
            <a:endParaRPr sz="1300"/>
          </a:p>
        </p:txBody>
      </p:sp>
      <p:sp>
        <p:nvSpPr>
          <p:cNvPr id="16" name="ex1-body">
            <a:extLst xmlns:a="http://schemas.openxmlformats.org/drawingml/2006/main">
              <a:ext uri="{FF2B5EF4-FFF2-40B4-BE49-F238E27FC236}">
                <a16:creationId xmlns:a16="http://schemas.microsoft.com/office/drawing/2014/main" id="{BE475347-1012-4C1F-A0FC-0A26FF7A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3274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任务专有字段混入主表 → 空值多、扩展需改主表 → 拆分后 tasks 存公共字段，明细按类型独立</a:t>
            </a:r>
            <a:endParaRPr sz="1150"/>
          </a:p>
        </p:txBody>
      </p:sp>
      <p:sp>
        <p:nvSpPr>
          <p:cNvPr id="17" name="ex2-title">
            <a:extLst xmlns:a="http://schemas.openxmlformats.org/drawingml/2006/main">
              <a:ext uri="{FF2B5EF4-FFF2-40B4-BE49-F238E27FC236}">
                <a16:creationId xmlns:a16="http://schemas.microsoft.com/office/drawing/2014/main" id="{2D6FDF11-3A11-4CE1-A7FB-689E1329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597400"/>
            <a:ext cx="533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3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实例 2：多对多 → service_node_rules 独立成表</a:t>
            </a:r>
            <a:endParaRPr sz="1300"/>
          </a:p>
        </p:txBody>
      </p:sp>
      <p:sp>
        <p:nvSpPr>
          <p:cNvPr id="18" name="ex2-body">
            <a:extLst xmlns:a="http://schemas.openxmlformats.org/drawingml/2006/main">
              <a:ext uri="{FF2B5EF4-FFF2-40B4-BE49-F238E27FC236}">
                <a16:creationId xmlns:a16="http://schemas.microsoft.com/office/drawing/2014/main" id="{0E131A9A-3620-44EB-910A-5E71EED7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9276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服务与节点绑定混登记 → 冗余且难维护 → 独立为 service_node_rules，联合主键约束</a:t>
            </a:r>
            <a:endParaRPr sz="1150"/>
          </a:p>
        </p:txBody>
      </p:sp>
      <p:sp>
        <p:nvSpPr>
          <p:cNvPr id="19" name="vdiv">
            <a:extLst xmlns:a="http://schemas.openxmlformats.org/drawingml/2006/main">
              <a:ext uri="{FF2B5EF4-FFF2-40B4-BE49-F238E27FC236}">
                <a16:creationId xmlns:a16="http://schemas.microsoft.com/office/drawing/2014/main" id="{CD01F89C-61B1-4561-8960-9DA858B5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2743200"/>
            <a:ext cx="12700" cy="340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rade-label">
            <a:extLst xmlns:a="http://schemas.openxmlformats.org/drawingml/2006/main">
              <a:ext uri="{FF2B5EF4-FFF2-40B4-BE49-F238E27FC236}">
                <a16:creationId xmlns:a16="http://schemas.microsoft.com/office/drawing/2014/main" id="{CBBE20C8-8E90-4526-9B7A-53F65F50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2616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有意的反规范化（权衡说明）</a:t>
            </a:r>
            <a:endParaRPr sz="1200"/>
          </a:p>
        </p:txBody>
      </p:sp>
      <p:sp>
        <p:nvSpPr>
          <p:cNvPr id="21" name="trade-body">
            <a:extLst xmlns:a="http://schemas.openxmlformats.org/drawingml/2006/main">
              <a:ext uri="{FF2B5EF4-FFF2-40B4-BE49-F238E27FC236}">
                <a16:creationId xmlns:a16="http://schemas.microsoft.com/office/drawing/2014/main" id="{75A5BF28-0DDB-4B6D-95A4-4A8D178D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2997200"/>
            <a:ext cx="5029200" cy="2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地址引用　任务保存发布时的 (user_id, address_no) 组合外键，地址明细由 user_addresses 统一维护</a:t>
            </a:r>
            <a:endParaRPr sz="1150"/>
          </a:p>
          <a:p xmlns:a="http://schemas.openxmlformats.org/drawingml/2006/main">
            <a:pPr>
              <a:lnSpc>
                <a:spcPct val="160000"/>
              </a:lnSpc>
              <a:spcBef>
                <a:spcPts val="1000"/>
              </a:spcBef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结算统计　结算汇总不设冗余统计列，统计结果写入 settlements 结算单与结算明细，可审计、可重算</a:t>
            </a:r>
            <a:endParaRPr sz="1150"/>
          </a:p>
          <a:p xmlns:a="http://schemas.openxmlformats.org/drawingml/2006/main">
            <a:pPr>
              <a:lnSpc>
                <a:spcPct val="160000"/>
              </a:lnSpc>
              <a:spcBef>
                <a:spcPts val="1000"/>
              </a:spcBef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判断标准　是否引入冗余以写路径一致性保障与读路径频度为依据，未满足条件一律保持规范化</a:t>
            </a:r>
            <a:endParaRPr sz="1150"/>
          </a:p>
        </p:txBody>
      </p:sp>
      <p:sp>
        <p:nvSpPr>
          <p:cNvPr id="22" name="trade-line">
            <a:extLst xmlns:a="http://schemas.openxmlformats.org/drawingml/2006/main">
              <a:ext uri="{FF2B5EF4-FFF2-40B4-BE49-F238E27FC236}">
                <a16:creationId xmlns:a16="http://schemas.microsoft.com/office/drawing/2014/main" id="{9C62C68D-2FED-4D21-ACCE-F0294676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5740400"/>
            <a:ext cx="50292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rade-concl">
            <a:extLst xmlns:a="http://schemas.openxmlformats.org/drawingml/2006/main">
              <a:ext uri="{FF2B5EF4-FFF2-40B4-BE49-F238E27FC236}">
                <a16:creationId xmlns:a16="http://schemas.microsoft.com/office/drawing/2014/main" id="{3A0E824C-1DE0-4E31-9AAC-EF746375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5867400"/>
            <a:ext cx="502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规范化保一致性 · 统计落结算单与报表记录</a:t>
            </a:r>
            <a:endParaRPr sz="1200"/>
          </a:p>
        </p:txBody>
      </p:sp>
      <p:sp>
        <p:nvSpPr>
          <p:cNvPr id="24" name="ft-line">
            <a:extLst xmlns:a="http://schemas.openxmlformats.org/drawingml/2006/main">
              <a:ext uri="{FF2B5EF4-FFF2-40B4-BE49-F238E27FC236}">
                <a16:creationId xmlns:a16="http://schemas.microsoft.com/office/drawing/2014/main" id="{D696C152-2EE6-4BBA-99CA-DB89D369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ft-brand">
            <a:extLst xmlns:a="http://schemas.openxmlformats.org/drawingml/2006/main">
              <a:ext uri="{FF2B5EF4-FFF2-40B4-BE49-F238E27FC236}">
                <a16:creationId xmlns:a16="http://schemas.microsoft.com/office/drawing/2014/main" id="{0050A02E-1968-4B9E-A5F2-2D1A59A9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26" name="ft-page">
            <a:extLst xmlns:a="http://schemas.openxmlformats.org/drawingml/2006/main">
              <a:ext uri="{FF2B5EF4-FFF2-40B4-BE49-F238E27FC236}">
                <a16:creationId xmlns:a16="http://schemas.microsoft.com/office/drawing/2014/main" id="{48613EED-96DB-45FB-AACE-BB40B441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15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965359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F118D390-1DFF-4D68-B99A-642FD1DB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BCBFD19B-4885-44AA-A22B-4EBB5C33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数据库对象设计：索引、完整性约束与事务控制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05196C47-4554-45E5-B9FB-47103DEE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03 · 数据库设计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B8E57C1A-10EB-4373-BE06-4CB8D8E7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q1-title">
            <a:extLst xmlns:a="http://schemas.openxmlformats.org/drawingml/2006/main">
              <a:ext uri="{FF2B5EF4-FFF2-40B4-BE49-F238E27FC236}">
                <a16:creationId xmlns:a16="http://schemas.microsoft.com/office/drawing/2014/main" id="{9587946F-C146-488C-8C8E-921A464D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索引 INDEX</a:t>
            </a:r>
            <a:endParaRPr sz="1500"/>
          </a:p>
        </p:txBody>
      </p:sp>
      <p:sp>
        <p:nvSpPr>
          <p:cNvPr id="7" name="q1-body">
            <a:extLst xmlns:a="http://schemas.openxmlformats.org/drawingml/2006/main">
              <a:ext uri="{FF2B5EF4-FFF2-40B4-BE49-F238E27FC236}">
                <a16:creationId xmlns:a16="http://schemas.microsoft.com/office/drawing/2014/main" id="{801335CE-D613-41E5-BFCD-7DCC4D0A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uk_user_addresses_one_default　单默认地址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uk_service_types_name_ci　名称归一化唯一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idx_tasks_publisher / service / node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idx_tasks_status / created · idx_assign_task / runner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覆盖任务大厅检索、我的任务、接派查询等高频访问</a:t>
            </a:r>
            <a:endParaRPr sz="1100"/>
          </a:p>
        </p:txBody>
      </p:sp>
      <p:sp>
        <p:nvSpPr>
          <p:cNvPr id="8" name="q2-title">
            <a:extLst xmlns:a="http://schemas.openxmlformats.org/drawingml/2006/main">
              <a:ext uri="{FF2B5EF4-FFF2-40B4-BE49-F238E27FC236}">
                <a16:creationId xmlns:a16="http://schemas.microsoft.com/office/drawing/2014/main" id="{1568C49D-51E4-46FB-9B13-F09C26C3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完整性约束 CONSTRAINT</a:t>
            </a:r>
            <a:endParaRPr sz="1500"/>
          </a:p>
        </p:txBody>
      </p:sp>
      <p:sp>
        <p:nvSpPr>
          <p:cNvPr id="9" name="q2-body">
            <a:extLst xmlns:a="http://schemas.openxmlformats.org/drawingml/2006/main">
              <a:ext uri="{FF2B5EF4-FFF2-40B4-BE49-F238E27FC236}">
                <a16:creationId xmlns:a16="http://schemas.microsoft.com/office/drawing/2014/main" id="{D2C9F1B1-8207-4978-9D88-EF026E07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主外键与组合外键　任务—服务—节点匹配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CHECK 约束　状态机取值、金额非负、枚举取值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唯一约束　一任务一评价、支付流水号唯一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业务唯一性同时落实到 Service 层与数据库层</a:t>
            </a:r>
            <a:endParaRPr sz="1100"/>
          </a:p>
        </p:txBody>
      </p:sp>
      <p:sp>
        <p:nvSpPr>
          <p:cNvPr id="10" name="q3-title">
            <a:extLst xmlns:a="http://schemas.openxmlformats.org/drawingml/2006/main">
              <a:ext uri="{FF2B5EF4-FFF2-40B4-BE49-F238E27FC236}">
                <a16:creationId xmlns:a16="http://schemas.microsoft.com/office/drawing/2014/main" id="{2F085D2E-BAAA-473A-BC49-BFBE3124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事务与行锁 TRANSACTION / LOCK</a:t>
            </a:r>
            <a:endParaRPr sz="1500"/>
          </a:p>
        </p:txBody>
      </p:sp>
      <p:sp>
        <p:nvSpPr>
          <p:cNvPr id="11" name="q3-body">
            <a:extLst xmlns:a="http://schemas.openxmlformats.org/drawingml/2006/main">
              <a:ext uri="{FF2B5EF4-FFF2-40B4-BE49-F238E27FC236}">
                <a16:creationId xmlns:a16="http://schemas.microsoft.com/office/drawing/2014/main" id="{14087E3A-6579-41E1-8906-8B7658B1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状态更新与日志写入在同一事务内提交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支付、退款、结算跨表写入，失败整体回滚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SELECT … FOR UPDATE 行锁保护抢单等热点行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自动化测试与 Oracle 端到端用例验证事务边界</a:t>
            </a:r>
            <a:endParaRPr sz="1100"/>
          </a:p>
        </p:txBody>
      </p:sp>
      <p:sp>
        <p:nvSpPr>
          <p:cNvPr id="12" name="q4-title">
            <a:extLst xmlns:a="http://schemas.openxmlformats.org/drawingml/2006/main">
              <a:ext uri="{FF2B5EF4-FFF2-40B4-BE49-F238E27FC236}">
                <a16:creationId xmlns:a16="http://schemas.microsoft.com/office/drawing/2014/main" id="{E12074CD-6606-4866-92B8-74BAB0D9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触发器与存储过程说明</a:t>
            </a:r>
            <a:endParaRPr sz="1500"/>
          </a:p>
        </p:txBody>
      </p:sp>
      <p:sp>
        <p:nvSpPr>
          <p:cNvPr id="13" name="q4-body">
            <a:extLst xmlns:a="http://schemas.openxmlformats.org/drawingml/2006/main">
              <a:ext uri="{FF2B5EF4-FFF2-40B4-BE49-F238E27FC236}">
                <a16:creationId xmlns:a16="http://schemas.microsoft.com/office/drawing/2014/main" id="{C0BE489B-31DC-4F39-B149-0C4FB820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当前实现未使用触发器与存储过程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状态留痕、结算汇总等逻辑集中于持久层参数化 SQL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事务边界显式可控，便于自动化测试与问题定位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列表类查询由服务层封装，敏感字段在展示层脱敏</a:t>
            </a:r>
            <a:endParaRPr sz="1100"/>
          </a:p>
        </p:txBody>
      </p:sp>
      <p:sp>
        <p:nvSpPr>
          <p:cNvPr id="14" name="h-div">
            <a:extLst xmlns:a="http://schemas.openxmlformats.org/drawingml/2006/main">
              <a:ext uri="{FF2B5EF4-FFF2-40B4-BE49-F238E27FC236}">
                <a16:creationId xmlns:a16="http://schemas.microsoft.com/office/drawing/2014/main" id="{B6D61919-C513-4D64-85C9-E33B96B6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581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v-div">
            <a:extLst xmlns:a="http://schemas.openxmlformats.org/drawingml/2006/main">
              <a:ext uri="{FF2B5EF4-FFF2-40B4-BE49-F238E27FC236}">
                <a16:creationId xmlns:a16="http://schemas.microsoft.com/office/drawing/2014/main" id="{23113FA2-7DFF-43A4-B467-03E2FED6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44600"/>
            <a:ext cx="12700" cy="467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bj-concl">
            <a:extLst xmlns:a="http://schemas.openxmlformats.org/drawingml/2006/main">
              <a:ext uri="{FF2B5EF4-FFF2-40B4-BE49-F238E27FC236}">
                <a16:creationId xmlns:a16="http://schemas.microsoft.com/office/drawing/2014/main" id="{CD603888-16B1-44D5-A575-B845BC8B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070600"/>
            <a:ext cx="1117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索引提速、约束保准、行锁防冲突</a:t>
            </a:r>
            <a:endParaRPr sz="1200"/>
          </a:p>
        </p:txBody>
      </p:sp>
      <p:sp>
        <p:nvSpPr>
          <p:cNvPr id="17" name="ft-line">
            <a:extLst xmlns:a="http://schemas.openxmlformats.org/drawingml/2006/main">
              <a:ext uri="{FF2B5EF4-FFF2-40B4-BE49-F238E27FC236}">
                <a16:creationId xmlns:a16="http://schemas.microsoft.com/office/drawing/2014/main" id="{3465AAB6-41A0-4436-B1FF-09CB2CD2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t-brand">
            <a:extLst xmlns:a="http://schemas.openxmlformats.org/drawingml/2006/main">
              <a:ext uri="{FF2B5EF4-FFF2-40B4-BE49-F238E27FC236}">
                <a16:creationId xmlns:a16="http://schemas.microsoft.com/office/drawing/2014/main" id="{576C36F2-3D76-4ABB-95DF-6466C231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9" name="ft-page">
            <a:extLst xmlns:a="http://schemas.openxmlformats.org/drawingml/2006/main">
              <a:ext uri="{FF2B5EF4-FFF2-40B4-BE49-F238E27FC236}">
                <a16:creationId xmlns:a16="http://schemas.microsoft.com/office/drawing/2014/main" id="{A4B771F0-5BBE-4B99-97A9-808F2839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16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884140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32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iv-num">
            <a:extLst xmlns:a="http://schemas.openxmlformats.org/drawingml/2006/main">
              <a:ext uri="{FF2B5EF4-FFF2-40B4-BE49-F238E27FC236}">
                <a16:creationId xmlns:a16="http://schemas.microsoft.com/office/drawing/2014/main" id="{1FDE1AA0-9065-4F03-9501-5993CABC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524000"/>
            <a:ext cx="4064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04</a:t>
            </a:r>
            <a:endParaRPr sz="14000"/>
          </a:p>
        </p:txBody>
      </p:sp>
      <p:sp>
        <p:nvSpPr>
          <p:cNvPr id="3" name="div-line">
            <a:extLst xmlns:a="http://schemas.openxmlformats.org/drawingml/2006/main">
              <a:ext uri="{FF2B5EF4-FFF2-40B4-BE49-F238E27FC236}">
                <a16:creationId xmlns:a16="http://schemas.microsoft.com/office/drawing/2014/main" id="{60315516-D8CE-464D-AB7A-3AB1CF51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3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iv-title">
            <a:extLst xmlns:a="http://schemas.openxmlformats.org/drawingml/2006/main">
              <a:ext uri="{FF2B5EF4-FFF2-40B4-BE49-F238E27FC236}">
                <a16:creationId xmlns:a16="http://schemas.microsoft.com/office/drawing/2014/main" id="{E07D075E-72E8-4E43-9850-B43FCE08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318000"/>
            <a:ext cx="6350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0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系统实现</a:t>
            </a:r>
            <a:endParaRPr sz="4000"/>
          </a:p>
        </p:txBody>
      </p:sp>
      <p:sp>
        <p:nvSpPr>
          <p:cNvPr id="5" name="div-sub">
            <a:extLst xmlns:a="http://schemas.openxmlformats.org/drawingml/2006/main">
              <a:ext uri="{FF2B5EF4-FFF2-40B4-BE49-F238E27FC236}">
                <a16:creationId xmlns:a16="http://schemas.microsoft.com/office/drawing/2014/main" id="{3EC7B9E4-284C-4959-9DC8-9F81E136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156200"/>
            <a:ext cx="787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rgbClr val="B9B2A6"/>
                </a:solidFill>
                <a:latin typeface="MiSans"/>
                <a:ea typeface="MiSans"/>
                <a:cs typeface="MiSans"/>
              </a:rPr>
              <a:t>功能界面 · 核心业务 SQL · 事务控制</a:t>
            </a:r>
            <a:endParaRPr sz="1400"/>
          </a:p>
        </p:txBody>
      </p:sp>
      <p:sp>
        <p:nvSpPr>
          <p:cNvPr id="6" name="div-progress">
            <a:extLst xmlns:a="http://schemas.openxmlformats.org/drawingml/2006/main">
              <a:ext uri="{FF2B5EF4-FFF2-40B4-BE49-F238E27FC236}">
                <a16:creationId xmlns:a16="http://schemas.microsoft.com/office/drawing/2014/main" id="{7D7F453A-484E-40AF-81A0-24FE33E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762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100" spc="200">
                <a:solidFill>
                  <a:srgbClr val="8A8478"/>
                </a:solidFill>
                <a:latin typeface="MiSans"/>
                <a:ea typeface="MiSans"/>
                <a:cs typeface="MiSans"/>
              </a:rPr>
              <a:t>SECTION 04 / 06</a:t>
            </a:r>
            <a:endParaRPr sz="1100"/>
          </a:p>
        </p:txBody>
      </p:sp>
      <p:sp>
        <p:nvSpPr>
          <p:cNvPr id="7" name="div-brand">
            <a:extLst xmlns:a="http://schemas.openxmlformats.org/drawingml/2006/main">
              <a:ext uri="{FF2B5EF4-FFF2-40B4-BE49-F238E27FC236}">
                <a16:creationId xmlns:a16="http://schemas.microsoft.com/office/drawing/2014/main" id="{9E636622-054D-46E0-95A8-8DA90916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2992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济跑跑 JIRUN · 数据库课程设计答辩</a:t>
            </a:r>
            <a:endParaRPr sz="1000"/>
          </a:p>
        </p:txBody>
      </p:sp>
      <p:sp>
        <p:nvSpPr>
          <p:cNvPr id="8" name="div-page">
            <a:extLst xmlns:a="http://schemas.openxmlformats.org/drawingml/2006/main">
              <a:ext uri="{FF2B5EF4-FFF2-40B4-BE49-F238E27FC236}">
                <a16:creationId xmlns:a16="http://schemas.microsoft.com/office/drawing/2014/main" id="{6840C11B-F3CF-4FE2-BC27-E79302F1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299200"/>
            <a:ext cx="76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17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096646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4181446B-30E7-4305-BE83-4E0510EA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469A116D-06E7-4508-98AB-61903002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系统功能界面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E1F17616-13B0-4E01-9995-61E290B7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04 · 系统实现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9300F827-F198-4036-9764-A4D52F5B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ph1">
            <a:extLst xmlns:a="http://schemas.openxmlformats.org/drawingml/2006/main">
              <a:ext uri="{FF2B5EF4-FFF2-40B4-BE49-F238E27FC236}">
                <a16:creationId xmlns:a16="http://schemas.microsoft.com/office/drawing/2014/main" id="{5FC04DBF-D7A4-49EF-9B22-66C83A61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70000"/>
            <a:ext cx="54610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716A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ph1-cap">
            <a:extLst xmlns:a="http://schemas.openxmlformats.org/drawingml/2006/main">
              <a:ext uri="{FF2B5EF4-FFF2-40B4-BE49-F238E27FC236}">
                <a16:creationId xmlns:a16="http://schemas.microsoft.com/office/drawing/2014/main" id="{78617B22-9056-4EB1-B3BC-85EBB936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461000"/>
            <a:ext cx="546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 b="1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用户端</a:t>
            </a: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　发布代取需求、查看订单状态流转、确认送达并评价</a:t>
            </a:r>
            <a:endParaRPr sz="1100"/>
          </a:p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对应数据表：tasks · payments · reviews</a:t>
            </a:r>
            <a:endParaRPr sz="1100"/>
          </a:p>
        </p:txBody>
      </p:sp>
      <p:sp>
        <p:nvSpPr>
          <p:cNvPr id="10" name="ph2">
            <a:extLst xmlns:a="http://schemas.openxmlformats.org/drawingml/2006/main">
              <a:ext uri="{FF2B5EF4-FFF2-40B4-BE49-F238E27FC236}">
                <a16:creationId xmlns:a16="http://schemas.microsoft.com/office/drawing/2014/main" id="{3C00CDD4-D825-4520-BF82-8DDA3C24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270000"/>
            <a:ext cx="54610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716A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ph2-cap">
            <a:extLst xmlns:a="http://schemas.openxmlformats.org/drawingml/2006/main">
              <a:ext uri="{FF2B5EF4-FFF2-40B4-BE49-F238E27FC236}">
                <a16:creationId xmlns:a16="http://schemas.microsoft.com/office/drawing/2014/main" id="{4EBAE797-3ABA-4F27-A55C-C0A2FC5E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5461000"/>
            <a:ext cx="546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 b="1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跑腿端 / 中转站端</a:t>
            </a: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　抢单、扫码出入站、收益结算</a:t>
            </a:r>
            <a:endParaRPr sz="1100"/>
          </a:p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对应数据表：tasks · assign_records · settlements</a:t>
            </a:r>
            <a:endParaRPr sz="1100"/>
          </a:p>
        </p:txBody>
      </p:sp>
      <p:sp>
        <p:nvSpPr>
          <p:cNvPr id="14" name="ui-note">
            <a:extLst xmlns:a="http://schemas.openxmlformats.org/drawingml/2006/main">
              <a:ext uri="{FF2B5EF4-FFF2-40B4-BE49-F238E27FC236}">
                <a16:creationId xmlns:a16="http://schemas.microsoft.com/office/drawing/2014/main" id="{B7932C75-CE0B-4B04-A7A9-0A2F0896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121400"/>
            <a:ext cx="11176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15" name="ft-line">
            <a:extLst xmlns:a="http://schemas.openxmlformats.org/drawingml/2006/main">
              <a:ext uri="{FF2B5EF4-FFF2-40B4-BE49-F238E27FC236}">
                <a16:creationId xmlns:a16="http://schemas.microsoft.com/office/drawing/2014/main" id="{4F0C36C5-ABE2-4EE1-A7B7-38608757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ft-brand">
            <a:extLst xmlns:a="http://schemas.openxmlformats.org/drawingml/2006/main">
              <a:ext uri="{FF2B5EF4-FFF2-40B4-BE49-F238E27FC236}">
                <a16:creationId xmlns:a16="http://schemas.microsoft.com/office/drawing/2014/main" id="{B1AE56B9-2A31-425D-A11F-CAE665C6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7" name="ft-page">
            <a:extLst xmlns:a="http://schemas.openxmlformats.org/drawingml/2006/main">
              <a:ext uri="{FF2B5EF4-FFF2-40B4-BE49-F238E27FC236}">
                <a16:creationId xmlns:a16="http://schemas.microsoft.com/office/drawing/2014/main" id="{6E4BF41A-258D-4387-A9E1-23791EBA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18 / 44</a:t>
            </a:r>
            <a:endParaRPr sz="1000"/>
          </a:p>
        </p:txBody>
      </p:sp>
      <p:pic>
        <p:nvPicPr>
          <p:cNvPr id="35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4955101e141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000" y="1524000"/>
            <a:ext cx="11176000" cy="3623209"/>
          </a:xfrm>
          <a:prstGeom xmlns:a="http://schemas.openxmlformats.org/drawingml/2006/main" prst="rect">
            <a:avLst/>
          </a:prstGeom>
        </p:spPr>
      </p:pic>
      <p:pic>
        <p:nvPicPr>
          <p:cNvPr id="36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17444675d44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1200" y="1689688"/>
            <a:ext cx="8426450" cy="4733546"/>
          </a:xfrm>
          <a:prstGeom xmlns:a="http://schemas.openxmlformats.org/drawingml/2006/main" prst="rect">
            <a:avLst/>
          </a:prstGeom>
        </p:spPr>
      </p:pic>
      <p:pic>
        <p:nvPicPr>
          <p:cNvPr id="37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3cbeb6e3f4d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3617" y="1862618"/>
            <a:ext cx="5170201" cy="4612552"/>
          </a:xfrm>
          <a:prstGeom xmlns:a="http://schemas.openxmlformats.org/drawingml/2006/main" prst="rect">
            <a:avLst/>
          </a:prstGeom>
        </p:spPr>
      </p:pic>
      <p:pic>
        <p:nvPicPr>
          <p:cNvPr id="38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c9755ea014c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518" y="2106968"/>
            <a:ext cx="9124432" cy="4233138"/>
          </a:xfrm>
          <a:prstGeom xmlns:a="http://schemas.openxmlformats.org/drawingml/2006/main" prst="rect">
            <a:avLst/>
          </a:prstGeom>
        </p:spPr>
      </p:pic>
      <p:pic>
        <p:nvPicPr>
          <p:cNvPr id="39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09160561147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19033" y="2324688"/>
            <a:ext cx="10254804" cy="37320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9458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54F41B15-9C0B-4706-A717-174394B3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56AA9161-C285-44B0-8E4B-B70C1292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业务 SQL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55EF289E-8C78-4ED8-9ED0-234AE20D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04 · 系统实现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AAD989BA-1C09-4B08-AB4D-2B136EB4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D6C589C9-BA65-4605-8F1C-00A81A4E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6604000" cy="497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code-tag">
            <a:extLst xmlns:a="http://schemas.openxmlformats.org/drawingml/2006/main">
              <a:ext uri="{FF2B5EF4-FFF2-40B4-BE49-F238E27FC236}">
                <a16:creationId xmlns:a16="http://schemas.microsoft.com/office/drawing/2014/main" id="{72CCBF92-EF48-490A-98C3-FB5D95A6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63500" cy="497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code-text">
            <a:extLst xmlns:a="http://schemas.openxmlformats.org/drawingml/2006/main">
              <a:ext uri="{FF2B5EF4-FFF2-40B4-BE49-F238E27FC236}">
                <a16:creationId xmlns:a16="http://schemas.microsoft.com/office/drawing/2014/main" id="{9E4D371E-B5CA-4350-9AA1-8C6CD1B4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422400"/>
            <a:ext cx="6096000" cy="462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000">
                <a:solidFill>
                  <a:srgbClr val="8A8478"/>
                </a:solidFill>
                <a:latin typeface="JetBrains Mono"/>
                <a:ea typeface="JetBrains Mono"/>
                <a:cs typeface="JetBrains Mono"/>
              </a:rPr>
              <a:t>-- ① 下单：事务内建单并写入任务明细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000">
                <a:solidFill>
                  <a:srgbClr val="EFA04F"/>
                </a:solidFill>
                <a:latin typeface="JetBrains Mono"/>
                <a:ea typeface="JetBrains Mono"/>
                <a:cs typeface="JetBrains Mono"/>
              </a:rPr>
              <a:t>INSERT INTO</a:t>
            </a: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 tasks (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    publisher_user_id, service_type_id,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    address_no, node_id, task_title,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    task_price, urgent_flag, task_status)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000">
                <a:solidFill>
                  <a:srgbClr val="EFA04F"/>
                </a:solidFill>
                <a:latin typeface="JetBrains Mono"/>
                <a:ea typeface="JetBrains Mono"/>
                <a:cs typeface="JetBrains Mono"/>
              </a:rPr>
              <a:t>VALUES</a:t>
            </a: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 (:pubId, :serviceTypeId, :addrNo,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        :nodeId, </a:t>
            </a:r>
            <a:r>
              <a:rPr sz="1000">
                <a:solidFill>
                  <a:srgbClr val="9DC88D"/>
                </a:solidFill>
                <a:latin typeface="JetBrains Mono"/>
                <a:ea typeface="JetBrains Mono"/>
                <a:cs typeface="JetBrains Mono"/>
              </a:rPr>
              <a:t>'代取快递 · 驿站A区至学三楼502'</a:t>
            </a: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,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        3.50, </a:t>
            </a:r>
            <a:r>
              <a:rPr sz="1000">
                <a:solidFill>
                  <a:srgbClr val="9DC88D"/>
                </a:solidFill>
                <a:latin typeface="JetBrains Mono"/>
                <a:ea typeface="JetBrains Mono"/>
                <a:cs typeface="JetBrains Mono"/>
              </a:rPr>
              <a:t>'N'</a:t>
            </a: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000">
                <a:solidFill>
                  <a:srgbClr val="9DC88D"/>
                </a:solidFill>
                <a:latin typeface="JetBrains Mono"/>
                <a:ea typeface="JetBrains Mono"/>
                <a:cs typeface="JetBrains Mono"/>
              </a:rPr>
              <a:t>'WAITING'</a:t>
            </a: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)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000">
                <a:solidFill>
                  <a:srgbClr val="EFA04F"/>
                </a:solidFill>
                <a:latin typeface="JetBrains Mono"/>
                <a:ea typeface="JetBrains Mono"/>
                <a:cs typeface="JetBrains Mono"/>
              </a:rPr>
              <a:t>RETURNING</a:t>
            </a: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 task_id </a:t>
            </a:r>
            <a:r>
              <a:rPr sz="1000">
                <a:solidFill>
                  <a:srgbClr val="EFA04F"/>
                </a:solidFill>
                <a:latin typeface="JetBrains Mono"/>
                <a:ea typeface="JetBrains Mono"/>
                <a:cs typeface="JetBrains Mono"/>
              </a:rPr>
              <a:t>INTO</a:t>
            </a: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 :taskId;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000">
                <a:solidFill>
                  <a:srgbClr val="8A8478"/>
                </a:solidFill>
                <a:latin typeface="JetBrains Mono"/>
                <a:ea typeface="JetBrains Mono"/>
                <a:cs typeface="JetBrains Mono"/>
              </a:rPr>
              <a:t>-- 同一事务内继续写入明细表，最后 COMMIT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</a:pP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000">
                <a:solidFill>
                  <a:srgbClr val="8A8478"/>
                </a:solidFill>
                <a:latin typeface="JetBrains Mono"/>
                <a:ea typeface="JetBrains Mono"/>
                <a:cs typeface="JetBrains Mono"/>
              </a:rPr>
              <a:t>-- ② 抢单：FOR UPDATE 行锁防止并发冲突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000">
                <a:solidFill>
                  <a:srgbClr val="EFA04F"/>
                </a:solidFill>
                <a:latin typeface="JetBrains Mono"/>
                <a:ea typeface="JetBrains Mono"/>
                <a:cs typeface="JetBrains Mono"/>
              </a:rPr>
              <a:t>SELECT</a:t>
            </a: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 task_status </a:t>
            </a:r>
            <a:r>
              <a:rPr sz="1000">
                <a:solidFill>
                  <a:srgbClr val="EFA04F"/>
                </a:solidFill>
                <a:latin typeface="JetBrains Mono"/>
                <a:ea typeface="JetBrains Mono"/>
                <a:cs typeface="JetBrains Mono"/>
              </a:rPr>
              <a:t>FROM</a:t>
            </a: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 tasks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000">
                <a:solidFill>
                  <a:srgbClr val="EFA04F"/>
                </a:solidFill>
                <a:latin typeface="JetBrains Mono"/>
                <a:ea typeface="JetBrains Mono"/>
                <a:cs typeface="JetBrains Mono"/>
              </a:rPr>
              <a:t>WHERE</a:t>
            </a: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 task_id = 10240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  </a:t>
            </a:r>
            <a:r>
              <a:rPr sz="1000">
                <a:solidFill>
                  <a:srgbClr val="EFA04F"/>
                </a:solidFill>
                <a:latin typeface="JetBrains Mono"/>
                <a:ea typeface="JetBrains Mono"/>
                <a:cs typeface="JetBrains Mono"/>
              </a:rPr>
              <a:t>FOR UPDATE</a:t>
            </a: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;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000">
                <a:solidFill>
                  <a:srgbClr val="8A8478"/>
                </a:solidFill>
                <a:latin typeface="JetBrains Mono"/>
                <a:ea typeface="JetBrains Mono"/>
                <a:cs typeface="JetBrains Mono"/>
              </a:rPr>
              <a:t>-- 行锁内校验状态，仅 WAITING 可接单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000">
                <a:solidFill>
                  <a:srgbClr val="EFA04F"/>
                </a:solidFill>
                <a:latin typeface="JetBrains Mono"/>
                <a:ea typeface="JetBrains Mono"/>
                <a:cs typeface="JetBrains Mono"/>
              </a:rPr>
              <a:t>UPDATE</a:t>
            </a: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 tasks </a:t>
            </a:r>
            <a:r>
              <a:rPr sz="1000">
                <a:solidFill>
                  <a:srgbClr val="EFA04F"/>
                </a:solidFill>
                <a:latin typeface="JetBrains Mono"/>
                <a:ea typeface="JetBrains Mono"/>
                <a:cs typeface="JetBrains Mono"/>
              </a:rPr>
              <a:t>SET</a:t>
            </a: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 task_status = </a:t>
            </a:r>
            <a:r>
              <a:rPr sz="1000">
                <a:solidFill>
                  <a:srgbClr val="9DC88D"/>
                </a:solidFill>
                <a:latin typeface="JetBrains Mono"/>
                <a:ea typeface="JetBrains Mono"/>
                <a:cs typeface="JetBrains Mono"/>
              </a:rPr>
              <a:t>'ASSIGNED'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000">
                <a:solidFill>
                  <a:srgbClr val="EFA04F"/>
                </a:solidFill>
                <a:latin typeface="JetBrains Mono"/>
                <a:ea typeface="JetBrains Mono"/>
                <a:cs typeface="JetBrains Mono"/>
              </a:rPr>
              <a:t>WHERE</a:t>
            </a: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 task_id = 10240;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000">
                <a:solidFill>
                  <a:srgbClr val="EFA04F"/>
                </a:solidFill>
                <a:latin typeface="JetBrains Mono"/>
                <a:ea typeface="JetBrains Mono"/>
                <a:cs typeface="JetBrains Mono"/>
              </a:rPr>
              <a:t>INSERT INTO</a:t>
            </a: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 assign_records (task_id, runner_id,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</a:pP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    operation_type, assigned_at) </a:t>
            </a:r>
            <a:r>
              <a:rPr sz="1000">
                <a:solidFill>
                  <a:srgbClr val="EFA04F"/>
                </a:solidFill>
                <a:latin typeface="JetBrains Mono"/>
                <a:ea typeface="JetBrains Mono"/>
                <a:cs typeface="JetBrains Mono"/>
              </a:rPr>
              <a:t>VALUES</a:t>
            </a: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 (10240, 2077, </a:t>
            </a:r>
            <a:r>
              <a:rPr sz="1000">
                <a:solidFill>
                  <a:srgbClr val="9DC88D"/>
                </a:solidFill>
                <a:latin typeface="JetBrains Mono"/>
                <a:ea typeface="JetBrains Mono"/>
                <a:cs typeface="JetBrains Mono"/>
              </a:rPr>
              <a:t>'SELF'</a:t>
            </a:r>
            <a:r>
              <a:rPr sz="1000">
                <a:solidFill>
                  <a:srgbClr val="E8E2D6"/>
                </a:solidFill>
                <a:latin typeface="JetBrains Mono"/>
                <a:ea typeface="JetBrains Mono"/>
                <a:cs typeface="JetBrains Mono"/>
              </a:rPr>
              <a:t>, SYSDATE);</a:t>
            </a:r>
            <a:endParaRPr sz="1000"/>
          </a:p>
        </p:txBody>
      </p:sp>
      <p:sp>
        <p:nvSpPr>
          <p:cNvPr id="10" name="anno1-n">
            <a:extLst xmlns:a="http://schemas.openxmlformats.org/drawingml/2006/main">
              <a:ext uri="{FF2B5EF4-FFF2-40B4-BE49-F238E27FC236}">
                <a16:creationId xmlns:a16="http://schemas.microsoft.com/office/drawing/2014/main" id="{08B4AFE6-5BC1-458F-84A8-7373BAA8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00200"/>
            <a:ext cx="4064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①</a:t>
            </a:r>
            <a:endParaRPr sz="1600"/>
          </a:p>
        </p:txBody>
      </p:sp>
      <p:sp>
        <p:nvSpPr>
          <p:cNvPr id="11" name="anno1">
            <a:extLst xmlns:a="http://schemas.openxmlformats.org/drawingml/2006/main">
              <a:ext uri="{FF2B5EF4-FFF2-40B4-BE49-F238E27FC236}">
                <a16:creationId xmlns:a16="http://schemas.microsoft.com/office/drawing/2014/main" id="{D1C403AC-3167-46D0-95C0-CFBD1AEB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74800"/>
            <a:ext cx="36068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事务保证原子性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建单、明细写入、状态变更与日志写入要么同时提交，要么整体回滚</a:t>
            </a:r>
            <a:endParaRPr sz="1150"/>
          </a:p>
        </p:txBody>
      </p:sp>
      <p:sp>
        <p:nvSpPr>
          <p:cNvPr id="12" name="anno1-line">
            <a:extLst xmlns:a="http://schemas.openxmlformats.org/drawingml/2006/main">
              <a:ext uri="{FF2B5EF4-FFF2-40B4-BE49-F238E27FC236}">
                <a16:creationId xmlns:a16="http://schemas.microsoft.com/office/drawing/2014/main" id="{640FCFD1-F7C0-4324-B6C7-CF0643D0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41600"/>
            <a:ext cx="406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anno2-n">
            <a:extLst xmlns:a="http://schemas.openxmlformats.org/drawingml/2006/main">
              <a:ext uri="{FF2B5EF4-FFF2-40B4-BE49-F238E27FC236}">
                <a16:creationId xmlns:a16="http://schemas.microsoft.com/office/drawing/2014/main" id="{1A52CF92-70D8-47FE-8212-1DFB0238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70200"/>
            <a:ext cx="4064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②</a:t>
            </a:r>
            <a:endParaRPr sz="1600"/>
          </a:p>
        </p:txBody>
      </p:sp>
      <p:sp>
        <p:nvSpPr>
          <p:cNvPr id="14" name="anno2">
            <a:extLst xmlns:a="http://schemas.openxmlformats.org/drawingml/2006/main">
              <a:ext uri="{FF2B5EF4-FFF2-40B4-BE49-F238E27FC236}">
                <a16:creationId xmlns:a16="http://schemas.microsoft.com/office/drawing/2014/main" id="{97304B8C-C78C-4665-B1D5-B9BA0EBE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44800"/>
            <a:ext cx="36068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行锁防并发抢单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FOR UPDATE 锁定任务行，后到事务读到最新状态校验失败，杜绝重复接单</a:t>
            </a:r>
            <a:endParaRPr sz="1150"/>
          </a:p>
        </p:txBody>
      </p:sp>
      <p:sp>
        <p:nvSpPr>
          <p:cNvPr id="15" name="anno2-line">
            <a:extLst xmlns:a="http://schemas.openxmlformats.org/drawingml/2006/main">
              <a:ext uri="{FF2B5EF4-FFF2-40B4-BE49-F238E27FC236}">
                <a16:creationId xmlns:a16="http://schemas.microsoft.com/office/drawing/2014/main" id="{C8192DCE-0651-4CAA-AEF5-7C87AA95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11600"/>
            <a:ext cx="406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anno3-n">
            <a:extLst xmlns:a="http://schemas.openxmlformats.org/drawingml/2006/main">
              <a:ext uri="{FF2B5EF4-FFF2-40B4-BE49-F238E27FC236}">
                <a16:creationId xmlns:a16="http://schemas.microsoft.com/office/drawing/2014/main" id="{CDA52CBC-3A0E-4B6C-AD62-ACC06E84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40200"/>
            <a:ext cx="4064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③</a:t>
            </a:r>
            <a:endParaRPr sz="1600"/>
          </a:p>
        </p:txBody>
      </p:sp>
      <p:sp>
        <p:nvSpPr>
          <p:cNvPr id="17" name="anno3">
            <a:extLst xmlns:a="http://schemas.openxmlformats.org/drawingml/2006/main">
              <a:ext uri="{FF2B5EF4-FFF2-40B4-BE49-F238E27FC236}">
                <a16:creationId xmlns:a16="http://schemas.microsoft.com/office/drawing/2014/main" id="{94926BFF-94DE-4678-8993-0A463DD6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36068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状态变更同事务留痕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状态更新与 task_status_logs 写入在同一事务内提交</a:t>
            </a:r>
            <a:endParaRPr sz="1150"/>
          </a:p>
        </p:txBody>
      </p:sp>
      <p:sp>
        <p:nvSpPr>
          <p:cNvPr id="18" name="anno3-line">
            <a:extLst xmlns:a="http://schemas.openxmlformats.org/drawingml/2006/main">
              <a:ext uri="{FF2B5EF4-FFF2-40B4-BE49-F238E27FC236}">
                <a16:creationId xmlns:a16="http://schemas.microsoft.com/office/drawing/2014/main" id="{11DA8D7F-D4F0-4029-B196-D80F0BCF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81600"/>
            <a:ext cx="406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anno-note">
            <a:extLst xmlns:a="http://schemas.openxmlformats.org/drawingml/2006/main">
              <a:ext uri="{FF2B5EF4-FFF2-40B4-BE49-F238E27FC236}">
                <a16:creationId xmlns:a16="http://schemas.microsoft.com/office/drawing/2014/main" id="{96B70A2A-0C7F-441D-A871-4C118ED6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59400"/>
            <a:ext cx="406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 i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缺陷修复：重复接单 → 引入行锁</a:t>
            </a:r>
            <a:endParaRPr sz="1000"/>
          </a:p>
        </p:txBody>
      </p:sp>
      <p:sp>
        <p:nvSpPr>
          <p:cNvPr id="20" name="ft-line">
            <a:extLst xmlns:a="http://schemas.openxmlformats.org/drawingml/2006/main">
              <a:ext uri="{FF2B5EF4-FFF2-40B4-BE49-F238E27FC236}">
                <a16:creationId xmlns:a16="http://schemas.microsoft.com/office/drawing/2014/main" id="{90B9F8B5-BA6A-497F-9FD9-EA65034C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ft-brand">
            <a:extLst xmlns:a="http://schemas.openxmlformats.org/drawingml/2006/main">
              <a:ext uri="{FF2B5EF4-FFF2-40B4-BE49-F238E27FC236}">
                <a16:creationId xmlns:a16="http://schemas.microsoft.com/office/drawing/2014/main" id="{5DF5DFCE-A3A9-4E71-8BBA-07F8C494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22" name="ft-page">
            <a:extLst xmlns:a="http://schemas.openxmlformats.org/drawingml/2006/main">
              <a:ext uri="{FF2B5EF4-FFF2-40B4-BE49-F238E27FC236}">
                <a16:creationId xmlns:a16="http://schemas.microsoft.com/office/drawing/2014/main" id="{12868977-BBC9-4067-8E02-42463462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19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118351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232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iv-num">
            <a:extLst xmlns:a="http://schemas.openxmlformats.org/drawingml/2006/main">
              <a:ext uri="{FF2B5EF4-FFF2-40B4-BE49-F238E27FC236}">
                <a16:creationId xmlns:a16="http://schemas.microsoft.com/office/drawing/2014/main" id="{1B831732-BF54-45CE-9711-53F80B85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524000"/>
            <a:ext cx="4064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05</a:t>
            </a:r>
            <a:endParaRPr sz="14000"/>
          </a:p>
        </p:txBody>
      </p:sp>
      <p:sp>
        <p:nvSpPr>
          <p:cNvPr id="3" name="div-line">
            <a:extLst xmlns:a="http://schemas.openxmlformats.org/drawingml/2006/main">
              <a:ext uri="{FF2B5EF4-FFF2-40B4-BE49-F238E27FC236}">
                <a16:creationId xmlns:a16="http://schemas.microsoft.com/office/drawing/2014/main" id="{2C56CF14-DA0C-4802-9B52-E68FD44D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3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iv-title">
            <a:extLst xmlns:a="http://schemas.openxmlformats.org/drawingml/2006/main">
              <a:ext uri="{FF2B5EF4-FFF2-40B4-BE49-F238E27FC236}">
                <a16:creationId xmlns:a16="http://schemas.microsoft.com/office/drawing/2014/main" id="{C087ED28-66F0-4F6A-A831-F7AD0DFA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318000"/>
            <a:ext cx="6350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0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团队分工</a:t>
            </a:r>
            <a:endParaRPr sz="4000"/>
          </a:p>
        </p:txBody>
      </p:sp>
      <p:sp>
        <p:nvSpPr>
          <p:cNvPr id="5" name="div-sub">
            <a:extLst xmlns:a="http://schemas.openxmlformats.org/drawingml/2006/main">
              <a:ext uri="{FF2B5EF4-FFF2-40B4-BE49-F238E27FC236}">
                <a16:creationId xmlns:a16="http://schemas.microsoft.com/office/drawing/2014/main" id="{83BD1DE0-8C67-4860-8668-6F420697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156200"/>
            <a:ext cx="787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rgbClr val="B9B2A6"/>
                </a:solidFill>
                <a:latin typeface="MiSans"/>
                <a:ea typeface="MiSans"/>
                <a:cs typeface="MiSans"/>
              </a:rPr>
              <a:t>角色职责 · 核心实现 · 产出与验证</a:t>
            </a:r>
            <a:endParaRPr sz="1400"/>
          </a:p>
        </p:txBody>
      </p:sp>
      <p:sp>
        <p:nvSpPr>
          <p:cNvPr id="6" name="div-progress">
            <a:extLst xmlns:a="http://schemas.openxmlformats.org/drawingml/2006/main">
              <a:ext uri="{FF2B5EF4-FFF2-40B4-BE49-F238E27FC236}">
                <a16:creationId xmlns:a16="http://schemas.microsoft.com/office/drawing/2014/main" id="{EAF7157F-0794-4315-90B9-E2865234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762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100" spc="200">
                <a:solidFill>
                  <a:srgbClr val="8A8478"/>
                </a:solidFill>
                <a:latin typeface="MiSans"/>
                <a:ea typeface="MiSans"/>
                <a:cs typeface="MiSans"/>
              </a:rPr>
              <a:t>SECTION 05 / 06</a:t>
            </a:r>
            <a:endParaRPr sz="1100"/>
          </a:p>
        </p:txBody>
      </p:sp>
      <p:sp>
        <p:nvSpPr>
          <p:cNvPr id="7" name="div-brand">
            <a:extLst xmlns:a="http://schemas.openxmlformats.org/drawingml/2006/main">
              <a:ext uri="{FF2B5EF4-FFF2-40B4-BE49-F238E27FC236}">
                <a16:creationId xmlns:a16="http://schemas.microsoft.com/office/drawing/2014/main" id="{050F7752-78CE-477A-81B9-9535DDAD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2992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济跑跑 JIRUN · 数据库课程设计答辩</a:t>
            </a:r>
            <a:endParaRPr sz="1000"/>
          </a:p>
        </p:txBody>
      </p:sp>
      <p:sp>
        <p:nvSpPr>
          <p:cNvPr id="8" name="div-page">
            <a:extLst xmlns:a="http://schemas.openxmlformats.org/drawingml/2006/main">
              <a:ext uri="{FF2B5EF4-FFF2-40B4-BE49-F238E27FC236}">
                <a16:creationId xmlns:a16="http://schemas.microsoft.com/office/drawing/2014/main" id="{F8913118-3549-45B8-A581-4792672D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299200"/>
            <a:ext cx="76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20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997011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4E05326E-7C34-434F-859B-FEBEE880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C3FAE0A3-386D-4215-B3D0-C502B745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1　总集成与架构模块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886F3ED3-9F9E-490F-85EA-CAAFD6A8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06D5C237-6FBD-4B7B-99B4-9B9555BC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dl-label">
            <a:extLst xmlns:a="http://schemas.openxmlformats.org/drawingml/2006/main">
              <a:ext uri="{FF2B5EF4-FFF2-40B4-BE49-F238E27FC236}">
                <a16:creationId xmlns:a16="http://schemas.microsoft.com/office/drawing/2014/main" id="{6B64F0DC-642A-43D2-8228-6F307B72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职责与主导数据</a:t>
            </a:r>
            <a:endParaRPr sz="1200"/>
          </a:p>
        </p:txBody>
      </p:sp>
      <p:sp>
        <p:nvSpPr>
          <p:cNvPr id="7" name="dg1">
            <a:extLst xmlns:a="http://schemas.openxmlformats.org/drawingml/2006/main">
              <a:ext uri="{FF2B5EF4-FFF2-40B4-BE49-F238E27FC236}">
                <a16:creationId xmlns:a16="http://schemas.microsoft.com/office/drawing/2014/main" id="{74E32174-2B58-4D50-A033-D51AF9B1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002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角色定位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总集成与架构负责人，统一项目骨架与集成口径</a:t>
            </a:r>
            <a:endParaRPr sz="1200"/>
          </a:p>
        </p:txBody>
      </p:sp>
      <p:sp>
        <p:nvSpPr>
          <p:cNvPr id="8" name="dg1-line">
            <a:extLst xmlns:a="http://schemas.openxmlformats.org/drawingml/2006/main">
              <a:ext uri="{FF2B5EF4-FFF2-40B4-BE49-F238E27FC236}">
                <a16:creationId xmlns:a16="http://schemas.microsoft.com/office/drawing/2014/main" id="{BB4D2BB0-2E89-4FCC-B74C-7F20274D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5400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dg2">
            <a:extLst xmlns:a="http://schemas.openxmlformats.org/drawingml/2006/main">
              <a:ext uri="{FF2B5EF4-FFF2-40B4-BE49-F238E27FC236}">
                <a16:creationId xmlns:a16="http://schemas.microsoft.com/office/drawing/2014/main" id="{399923C0-6B7E-4561-88C6-CE5F99C4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7178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负责模块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项目搭建 · Oracle 连接 · 公共 Layout 与菜单 · 权限过滤 · 代码合并联调</a:t>
            </a:r>
            <a:endParaRPr sz="1200"/>
          </a:p>
        </p:txBody>
      </p:sp>
      <p:sp>
        <p:nvSpPr>
          <p:cNvPr id="10" name="dg2-line">
            <a:extLst xmlns:a="http://schemas.openxmlformats.org/drawingml/2006/main">
              <a:ext uri="{FF2B5EF4-FFF2-40B4-BE49-F238E27FC236}">
                <a16:creationId xmlns:a16="http://schemas.microsoft.com/office/drawing/2014/main" id="{24D1C904-258D-4D41-AE49-7886B78A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6576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dg3">
            <a:extLst xmlns:a="http://schemas.openxmlformats.org/drawingml/2006/main">
              <a:ext uri="{FF2B5EF4-FFF2-40B4-BE49-F238E27FC236}">
                <a16:creationId xmlns:a16="http://schemas.microsoft.com/office/drawing/2014/main" id="{5CA7C20E-5ECB-4F68-9849-E6A1DB83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8354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主导数据表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全库 24 张表接入 · users（角色与权限过滤）</a:t>
            </a:r>
            <a:endParaRPr sz="1200"/>
          </a:p>
        </p:txBody>
      </p:sp>
      <p:sp>
        <p:nvSpPr>
          <p:cNvPr id="12" name="dg3-line">
            <a:extLst xmlns:a="http://schemas.openxmlformats.org/drawingml/2006/main">
              <a:ext uri="{FF2B5EF4-FFF2-40B4-BE49-F238E27FC236}">
                <a16:creationId xmlns:a16="http://schemas.microsoft.com/office/drawing/2014/main" id="{8823CEAB-5A6E-4774-B72E-C50A4B27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7752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dg4">
            <a:extLst xmlns:a="http://schemas.openxmlformats.org/drawingml/2006/main">
              <a:ext uri="{FF2B5EF4-FFF2-40B4-BE49-F238E27FC236}">
                <a16:creationId xmlns:a16="http://schemas.microsoft.com/office/drawing/2014/main" id="{6B3FCFEE-68E2-4F1E-B067-0E301A2C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9530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核心产出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可运行项目骨架 · 公共工具类 · 最终整合版本</a:t>
            </a:r>
            <a:endParaRPr sz="1200"/>
          </a:p>
        </p:txBody>
      </p:sp>
      <p:sp>
        <p:nvSpPr>
          <p:cNvPr id="14" name="vdiv">
            <a:extLst xmlns:a="http://schemas.openxmlformats.org/drawingml/2006/main">
              <a:ext uri="{FF2B5EF4-FFF2-40B4-BE49-F238E27FC236}">
                <a16:creationId xmlns:a16="http://schemas.microsoft.com/office/drawing/2014/main" id="{2D34EAD1-92EF-4C42-9B03-0BB9BA64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19200"/>
            <a:ext cx="127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nf-label">
            <a:extLst xmlns:a="http://schemas.openxmlformats.org/drawingml/2006/main">
              <a:ext uri="{FF2B5EF4-FFF2-40B4-BE49-F238E27FC236}">
                <a16:creationId xmlns:a16="http://schemas.microsoft.com/office/drawing/2014/main" id="{4DBE8576-147F-4873-A3BB-B87F6AED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模块衔接（输入 / 输出）</a:t>
            </a:r>
            <a:endParaRPr sz="1200"/>
          </a:p>
        </p:txBody>
      </p:sp>
      <p:sp>
        <p:nvSpPr>
          <p:cNvPr id="16" name="nf-body">
            <a:extLst xmlns:a="http://schemas.openxmlformats.org/drawingml/2006/main">
              <a:ext uri="{FF2B5EF4-FFF2-40B4-BE49-F238E27FC236}">
                <a16:creationId xmlns:a16="http://schemas.microsoft.com/office/drawing/2014/main" id="{F44221BC-B2F4-43F5-833E-E3555EB0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00200"/>
            <a:ext cx="5080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上游输入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各模块 Controller / Service / Repository 代码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本模块输出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统一 Layout、菜单与权限过滤的集成版本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衔接约束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五层边界门禁 · Oracle 连接统一配置</a:t>
            </a:r>
            <a:endParaRPr sz="1200"/>
          </a:p>
        </p:txBody>
      </p:sp>
      <p:sp>
        <p:nvSpPr>
          <p:cNvPr id="17" name="nf-line">
            <a:extLst xmlns:a="http://schemas.openxmlformats.org/drawingml/2006/main">
              <a:ext uri="{FF2B5EF4-FFF2-40B4-BE49-F238E27FC236}">
                <a16:creationId xmlns:a16="http://schemas.microsoft.com/office/drawing/2014/main" id="{B1FD5180-EC99-444F-A0F7-A048E3BE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588000"/>
            <a:ext cx="5080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nf-note">
            <a:extLst xmlns:a="http://schemas.openxmlformats.org/drawingml/2006/main">
              <a:ext uri="{FF2B5EF4-FFF2-40B4-BE49-F238E27FC236}">
                <a16:creationId xmlns:a16="http://schemas.microsoft.com/office/drawing/2014/main" id="{7CEA603D-0726-45A8-B7F9-74CCB4AC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7404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19" name="ft-line">
            <a:extLst xmlns:a="http://schemas.openxmlformats.org/drawingml/2006/main">
              <a:ext uri="{FF2B5EF4-FFF2-40B4-BE49-F238E27FC236}">
                <a16:creationId xmlns:a16="http://schemas.microsoft.com/office/drawing/2014/main" id="{1FBACC27-009C-4720-9C19-57A2F21D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ft-brand">
            <a:extLst xmlns:a="http://schemas.openxmlformats.org/drawingml/2006/main">
              <a:ext uri="{FF2B5EF4-FFF2-40B4-BE49-F238E27FC236}">
                <a16:creationId xmlns:a16="http://schemas.microsoft.com/office/drawing/2014/main" id="{5C20E254-CEC0-47A1-990C-FD01487F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21" name="ft-page">
            <a:extLst xmlns:a="http://schemas.openxmlformats.org/drawingml/2006/main">
              <a:ext uri="{FF2B5EF4-FFF2-40B4-BE49-F238E27FC236}">
                <a16:creationId xmlns:a16="http://schemas.microsoft.com/office/drawing/2014/main" id="{ACAFA032-894D-4E73-B04D-97A407CC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21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837906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0B090FED-5336-450A-A20F-3618BA14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447C8C0A-7FD1-47D0-8E2F-CBEE4ABC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1　核心实现与验证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99C966BC-1DE3-4C30-8CC3-F773A591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476658B6-67ED-4705-B1EA-0C485542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q1-title">
            <a:extLst xmlns:a="http://schemas.openxmlformats.org/drawingml/2006/main">
              <a:ext uri="{FF2B5EF4-FFF2-40B4-BE49-F238E27FC236}">
                <a16:creationId xmlns:a16="http://schemas.microsoft.com/office/drawing/2014/main" id="{D1A91143-1420-40D1-8CC3-B8FD41EC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集成门禁 GATE</a:t>
            </a:r>
            <a:endParaRPr sz="1500"/>
          </a:p>
        </p:txBody>
      </p:sp>
      <p:sp>
        <p:nvSpPr>
          <p:cNvPr id="7" name="q1-body">
            <a:extLst xmlns:a="http://schemas.openxmlformats.org/drawingml/2006/main">
              <a:ext uri="{FF2B5EF4-FFF2-40B4-BE49-F238E27FC236}">
                <a16:creationId xmlns:a16="http://schemas.microsoft.com/office/drawing/2014/main" id="{49F99019-C76F-4ADD-91F1-9C8D7A37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View → Controller → IService → Service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→ IRepository → Repository → Oracle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越层引用由静态门禁检查拦截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分层边界构成集成质量门禁</a:t>
            </a:r>
            <a:endParaRPr sz="1100"/>
          </a:p>
        </p:txBody>
      </p:sp>
      <p:sp>
        <p:nvSpPr>
          <p:cNvPr id="8" name="q2-title">
            <a:extLst xmlns:a="http://schemas.openxmlformats.org/drawingml/2006/main">
              <a:ext uri="{FF2B5EF4-FFF2-40B4-BE49-F238E27FC236}">
                <a16:creationId xmlns:a16="http://schemas.microsoft.com/office/drawing/2014/main" id="{BB907858-1C58-42A0-AFA8-31F2DE04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联调验证 INTEGRATION</a:t>
            </a:r>
            <a:endParaRPr sz="1500"/>
          </a:p>
        </p:txBody>
      </p:sp>
      <p:sp>
        <p:nvSpPr>
          <p:cNvPr id="9" name="q2-body">
            <a:extLst xmlns:a="http://schemas.openxmlformats.org/drawingml/2006/main">
              <a:ext uri="{FF2B5EF4-FFF2-40B4-BE49-F238E27FC236}">
                <a16:creationId xmlns:a16="http://schemas.microsoft.com/office/drawing/2014/main" id="{E2A8B714-1526-4333-A2B3-FDB6FF90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公网 HTTPS 部署 · 四类角色导航 31 路由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Release 构建 0 警告 0 错误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POST 防伪 47/47 · 自动化测试 52/52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集成版本以自动化门禁与路由抽查为准</a:t>
            </a:r>
            <a:endParaRPr sz="1100"/>
          </a:p>
        </p:txBody>
      </p:sp>
      <p:sp>
        <p:nvSpPr>
          <p:cNvPr id="10" name="q3-title">
            <a:extLst xmlns:a="http://schemas.openxmlformats.org/drawingml/2006/main">
              <a:ext uri="{FF2B5EF4-FFF2-40B4-BE49-F238E27FC236}">
                <a16:creationId xmlns:a16="http://schemas.microsoft.com/office/drawing/2014/main" id="{10ED52A7-1DE9-4B08-A232-48687AC0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核心产出 DELIVERABLES</a:t>
            </a:r>
            <a:endParaRPr sz="1500"/>
          </a:p>
        </p:txBody>
      </p:sp>
      <p:sp>
        <p:nvSpPr>
          <p:cNvPr id="11" name="q3-body">
            <a:extLst xmlns:a="http://schemas.openxmlformats.org/drawingml/2006/main">
              <a:ext uri="{FF2B5EF4-FFF2-40B4-BE49-F238E27FC236}">
                <a16:creationId xmlns:a16="http://schemas.microsoft.com/office/drawing/2014/main" id="{3DE125D1-5CAA-4902-A84F-32EE6739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可运行项目骨架 · 公共工具类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最终整合版本（test 分支）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公共连接配置外置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骨架与工具类供各模块复用</a:t>
            </a:r>
            <a:endParaRPr sz="1100"/>
          </a:p>
        </p:txBody>
      </p:sp>
      <p:sp>
        <p:nvSpPr>
          <p:cNvPr id="12" name="q4-title">
            <a:extLst xmlns:a="http://schemas.openxmlformats.org/drawingml/2006/main">
              <a:ext uri="{FF2B5EF4-FFF2-40B4-BE49-F238E27FC236}">
                <a16:creationId xmlns:a16="http://schemas.microsoft.com/office/drawing/2014/main" id="{CF85653C-54AF-4B3E-8C75-1249474C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测试验证 EVIDENCE</a:t>
            </a:r>
            <a:endParaRPr sz="1500"/>
          </a:p>
        </p:txBody>
      </p:sp>
      <p:sp>
        <p:nvSpPr>
          <p:cNvPr id="13" name="q4-body">
            <a:extLst xmlns:a="http://schemas.openxmlformats.org/drawingml/2006/main">
              <a:ext uri="{FF2B5EF4-FFF2-40B4-BE49-F238E27FC236}">
                <a16:creationId xmlns:a16="http://schemas.microsoft.com/office/drawing/2014/main" id="{AB4B7D41-800A-43EF-B7F8-BE8DF31B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TC-INT-01 ～ 05 全部通过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docs/test-evidence/manual/组员1-总集成与架构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记录、截图与门禁证据已归档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结论以归档记录为准</a:t>
            </a:r>
            <a:endParaRPr sz="1100"/>
          </a:p>
        </p:txBody>
      </p:sp>
      <p:sp>
        <p:nvSpPr>
          <p:cNvPr id="14" name="h-div">
            <a:extLst xmlns:a="http://schemas.openxmlformats.org/drawingml/2006/main">
              <a:ext uri="{FF2B5EF4-FFF2-40B4-BE49-F238E27FC236}">
                <a16:creationId xmlns:a16="http://schemas.microsoft.com/office/drawing/2014/main" id="{7DD38C5F-C854-4549-8E0F-643C31F9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581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v-div">
            <a:extLst xmlns:a="http://schemas.openxmlformats.org/drawingml/2006/main">
              <a:ext uri="{FF2B5EF4-FFF2-40B4-BE49-F238E27FC236}">
                <a16:creationId xmlns:a16="http://schemas.microsoft.com/office/drawing/2014/main" id="{EBB2ABEC-0266-4D1A-9BB5-C6EE0B97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44600"/>
            <a:ext cx="12700" cy="467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bj-concl">
            <a:extLst xmlns:a="http://schemas.openxmlformats.org/drawingml/2006/main">
              <a:ext uri="{FF2B5EF4-FFF2-40B4-BE49-F238E27FC236}">
                <a16:creationId xmlns:a16="http://schemas.microsoft.com/office/drawing/2014/main" id="{47792481-B0F8-43F4-8E35-8339ACB3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070600"/>
            <a:ext cx="1117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统一骨架 · 边界门禁 · 集成联调</a:t>
            </a:r>
            <a:endParaRPr sz="1200"/>
          </a:p>
        </p:txBody>
      </p:sp>
      <p:sp>
        <p:nvSpPr>
          <p:cNvPr id="17" name="ft-line">
            <a:extLst xmlns:a="http://schemas.openxmlformats.org/drawingml/2006/main">
              <a:ext uri="{FF2B5EF4-FFF2-40B4-BE49-F238E27FC236}">
                <a16:creationId xmlns:a16="http://schemas.microsoft.com/office/drawing/2014/main" id="{D2F4B9EF-0FF7-4B87-8CA6-703E9679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t-brand">
            <a:extLst xmlns:a="http://schemas.openxmlformats.org/drawingml/2006/main">
              <a:ext uri="{FF2B5EF4-FFF2-40B4-BE49-F238E27FC236}">
                <a16:creationId xmlns:a16="http://schemas.microsoft.com/office/drawing/2014/main" id="{480A1D7A-8F71-4C42-A0D2-B1AAEC28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9" name="ft-page">
            <a:extLst xmlns:a="http://schemas.openxmlformats.org/drawingml/2006/main">
              <a:ext uri="{FF2B5EF4-FFF2-40B4-BE49-F238E27FC236}">
                <a16:creationId xmlns:a16="http://schemas.microsoft.com/office/drawing/2014/main" id="{CA70A061-9F70-4A90-A19A-52AF4C29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22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514065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09E93C18-2AE7-4658-8366-1CC71476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562F311D-A132-4072-B3B7-264BD14A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2　数据库与基础数据模块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704536EC-4BF3-44DE-B39E-50FDFDB4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65A84026-69AC-43DC-B658-C8178861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dl-label">
            <a:extLst xmlns:a="http://schemas.openxmlformats.org/drawingml/2006/main">
              <a:ext uri="{FF2B5EF4-FFF2-40B4-BE49-F238E27FC236}">
                <a16:creationId xmlns:a16="http://schemas.microsoft.com/office/drawing/2014/main" id="{86A0FBA5-83B3-4FCE-AFD6-821FB0A0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职责与主导数据</a:t>
            </a:r>
            <a:endParaRPr sz="1200"/>
          </a:p>
        </p:txBody>
      </p:sp>
      <p:sp>
        <p:nvSpPr>
          <p:cNvPr id="7" name="dg1">
            <a:extLst xmlns:a="http://schemas.openxmlformats.org/drawingml/2006/main">
              <a:ext uri="{FF2B5EF4-FFF2-40B4-BE49-F238E27FC236}">
                <a16:creationId xmlns:a16="http://schemas.microsoft.com/office/drawing/2014/main" id="{2D68AD98-9C81-4CA2-85B3-AC812653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002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角色定位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数据库与基础数据负责人，维护全库结构与初始数据</a:t>
            </a:r>
            <a:endParaRPr sz="1200"/>
          </a:p>
        </p:txBody>
      </p:sp>
      <p:sp>
        <p:nvSpPr>
          <p:cNvPr id="8" name="dg1-line">
            <a:extLst xmlns:a="http://schemas.openxmlformats.org/drawingml/2006/main">
              <a:ext uri="{FF2B5EF4-FFF2-40B4-BE49-F238E27FC236}">
                <a16:creationId xmlns:a16="http://schemas.microsoft.com/office/drawing/2014/main" id="{87663204-C8FB-4CE5-A445-AE209C5B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5400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dg2">
            <a:extLst xmlns:a="http://schemas.openxmlformats.org/drawingml/2006/main">
              <a:ext uri="{FF2B5EF4-FFF2-40B4-BE49-F238E27FC236}">
                <a16:creationId xmlns:a16="http://schemas.microsoft.com/office/drawing/2014/main" id="{1F3B2F1A-B705-405C-A31B-242E8B96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7178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负责模块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24 张表建表脚本 · 中文枚举核对 · 测试数据 · 基础资料初始化</a:t>
            </a:r>
            <a:endParaRPr sz="1200"/>
          </a:p>
        </p:txBody>
      </p:sp>
      <p:sp>
        <p:nvSpPr>
          <p:cNvPr id="10" name="dg2-line">
            <a:extLst xmlns:a="http://schemas.openxmlformats.org/drawingml/2006/main">
              <a:ext uri="{FF2B5EF4-FFF2-40B4-BE49-F238E27FC236}">
                <a16:creationId xmlns:a16="http://schemas.microsoft.com/office/drawing/2014/main" id="{414EF01C-0871-497C-9B88-2DC0B2E6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6576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dg3">
            <a:extLst xmlns:a="http://schemas.openxmlformats.org/drawingml/2006/main">
              <a:ext uri="{FF2B5EF4-FFF2-40B4-BE49-F238E27FC236}">
                <a16:creationId xmlns:a16="http://schemas.microsoft.com/office/drawing/2014/main" id="{D1FAB3A6-2034-42A2-8D97-589568B4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8354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主导数据表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全库关系表 · nodes · service_types · service_node_rules</a:t>
            </a:r>
            <a:endParaRPr sz="1200"/>
          </a:p>
        </p:txBody>
      </p:sp>
      <p:sp>
        <p:nvSpPr>
          <p:cNvPr id="12" name="dg3-line">
            <a:extLst xmlns:a="http://schemas.openxmlformats.org/drawingml/2006/main">
              <a:ext uri="{FF2B5EF4-FFF2-40B4-BE49-F238E27FC236}">
                <a16:creationId xmlns:a16="http://schemas.microsoft.com/office/drawing/2014/main" id="{27242137-2CDE-4B2C-AF8B-DE6A8099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7752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dg4">
            <a:extLst xmlns:a="http://schemas.openxmlformats.org/drawingml/2006/main">
              <a:ext uri="{FF2B5EF4-FFF2-40B4-BE49-F238E27FC236}">
                <a16:creationId xmlns:a16="http://schemas.microsoft.com/office/drawing/2014/main" id="{A448596C-9F69-4A0F-AC03-191B4923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9530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核心产出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建表 SQL · 初始化 SQL · 测试数据 SQL · 数据库字典</a:t>
            </a:r>
            <a:endParaRPr sz="1200"/>
          </a:p>
        </p:txBody>
      </p:sp>
      <p:sp>
        <p:nvSpPr>
          <p:cNvPr id="14" name="vdiv">
            <a:extLst xmlns:a="http://schemas.openxmlformats.org/drawingml/2006/main">
              <a:ext uri="{FF2B5EF4-FFF2-40B4-BE49-F238E27FC236}">
                <a16:creationId xmlns:a16="http://schemas.microsoft.com/office/drawing/2014/main" id="{E542921C-ED22-487A-8A00-77E49AD7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19200"/>
            <a:ext cx="127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nf-label">
            <a:extLst xmlns:a="http://schemas.openxmlformats.org/drawingml/2006/main">
              <a:ext uri="{FF2B5EF4-FFF2-40B4-BE49-F238E27FC236}">
                <a16:creationId xmlns:a16="http://schemas.microsoft.com/office/drawing/2014/main" id="{40B31737-C35B-41D5-B2D0-520EADDC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模块衔接（输入 / 输出）</a:t>
            </a:r>
            <a:endParaRPr sz="1200"/>
          </a:p>
        </p:txBody>
      </p:sp>
      <p:sp>
        <p:nvSpPr>
          <p:cNvPr id="16" name="nf-body">
            <a:extLst xmlns:a="http://schemas.openxmlformats.org/drawingml/2006/main">
              <a:ext uri="{FF2B5EF4-FFF2-40B4-BE49-F238E27FC236}">
                <a16:creationId xmlns:a16="http://schemas.microsoft.com/office/drawing/2014/main" id="{04F07F78-54CC-43BF-BE81-1BB3C6D0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00200"/>
            <a:ext cx="5080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上游输入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E-R 模型与关系模式设计结论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本模块输出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可初始化的库结构与受控枚举口径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衔接约束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英文代码入库 · 页面显示中文</a:t>
            </a:r>
            <a:endParaRPr sz="1200"/>
          </a:p>
        </p:txBody>
      </p:sp>
      <p:sp>
        <p:nvSpPr>
          <p:cNvPr id="17" name="nf-line">
            <a:extLst xmlns:a="http://schemas.openxmlformats.org/drawingml/2006/main">
              <a:ext uri="{FF2B5EF4-FFF2-40B4-BE49-F238E27FC236}">
                <a16:creationId xmlns:a16="http://schemas.microsoft.com/office/drawing/2014/main" id="{8708F445-359D-4079-B757-67B0F656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588000"/>
            <a:ext cx="5080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nf-note">
            <a:extLst xmlns:a="http://schemas.openxmlformats.org/drawingml/2006/main">
              <a:ext uri="{FF2B5EF4-FFF2-40B4-BE49-F238E27FC236}">
                <a16:creationId xmlns:a16="http://schemas.microsoft.com/office/drawing/2014/main" id="{6F725FB7-0A36-4345-B216-B53F375B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7404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19" name="ft-line">
            <a:extLst xmlns:a="http://schemas.openxmlformats.org/drawingml/2006/main">
              <a:ext uri="{FF2B5EF4-FFF2-40B4-BE49-F238E27FC236}">
                <a16:creationId xmlns:a16="http://schemas.microsoft.com/office/drawing/2014/main" id="{AFC5DBA6-E546-4EC2-8FB4-7710E891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ft-brand">
            <a:extLst xmlns:a="http://schemas.openxmlformats.org/drawingml/2006/main">
              <a:ext uri="{FF2B5EF4-FFF2-40B4-BE49-F238E27FC236}">
                <a16:creationId xmlns:a16="http://schemas.microsoft.com/office/drawing/2014/main" id="{8B6694B1-105F-4F59-81FF-31CCE707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21" name="ft-page">
            <a:extLst xmlns:a="http://schemas.openxmlformats.org/drawingml/2006/main">
              <a:ext uri="{FF2B5EF4-FFF2-40B4-BE49-F238E27FC236}">
                <a16:creationId xmlns:a16="http://schemas.microsoft.com/office/drawing/2014/main" id="{53ACA9D1-90EC-40EC-B27F-494117D9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23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6642716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D9537ADB-9687-4BBF-868A-70552A67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D581B03D-1980-4550-9DC6-8A491B5C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2　核心实现与验证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6123463F-FD59-4A80-B14D-C5D1CC34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D931AB7A-20EF-4937-A440-80487AC5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q1-title">
            <a:extLst xmlns:a="http://schemas.openxmlformats.org/drawingml/2006/main">
              <a:ext uri="{FF2B5EF4-FFF2-40B4-BE49-F238E27FC236}">
                <a16:creationId xmlns:a16="http://schemas.microsoft.com/office/drawing/2014/main" id="{4A0F874A-B888-405A-9CCB-260C54C3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建表脚本 SCHEMA</a:t>
            </a:r>
            <a:endParaRPr sz="1500"/>
          </a:p>
        </p:txBody>
      </p:sp>
      <p:sp>
        <p:nvSpPr>
          <p:cNvPr id="7" name="q1-body">
            <a:extLst xmlns:a="http://schemas.openxmlformats.org/drawingml/2006/main">
              <a:ext uri="{FF2B5EF4-FFF2-40B4-BE49-F238E27FC236}">
                <a16:creationId xmlns:a16="http://schemas.microsoft.com/office/drawing/2014/main" id="{DA5B6384-00A3-4D4C-91E3-1D6BA3A1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主外键 · 唯一 · CHECK 约束全量声明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函数唯一索引 · 全表与字段 COMMENT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脚本 002–007 按序可复跑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结构、约束与注释对应设计文档</a:t>
            </a:r>
            <a:endParaRPr sz="1100"/>
          </a:p>
        </p:txBody>
      </p:sp>
      <p:sp>
        <p:nvSpPr>
          <p:cNvPr id="8" name="q2-title">
            <a:extLst xmlns:a="http://schemas.openxmlformats.org/drawingml/2006/main">
              <a:ext uri="{FF2B5EF4-FFF2-40B4-BE49-F238E27FC236}">
                <a16:creationId xmlns:a16="http://schemas.microsoft.com/office/drawing/2014/main" id="{C41BA2C8-A74E-491A-B18E-FB639B8A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枚举与数据 DATA</a:t>
            </a:r>
            <a:endParaRPr sz="1500"/>
          </a:p>
        </p:txBody>
      </p:sp>
      <p:sp>
        <p:nvSpPr>
          <p:cNvPr id="9" name="q2-body">
            <a:extLst xmlns:a="http://schemas.openxmlformats.org/drawingml/2006/main">
              <a:ext uri="{FF2B5EF4-FFF2-40B4-BE49-F238E27FC236}">
                <a16:creationId xmlns:a16="http://schemas.microsoft.com/office/drawing/2014/main" id="{7A06C411-1F34-4BCB-82BB-762202CD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中文枚举与英文代码一一核对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基础资料初始化 · 测试数据脚本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数据库字典受控更新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枚举口径与页面显示一致</a:t>
            </a:r>
            <a:endParaRPr sz="1100"/>
          </a:p>
        </p:txBody>
      </p:sp>
      <p:sp>
        <p:nvSpPr>
          <p:cNvPr id="10" name="q3-title">
            <a:extLst xmlns:a="http://schemas.openxmlformats.org/drawingml/2006/main">
              <a:ext uri="{FF2B5EF4-FFF2-40B4-BE49-F238E27FC236}">
                <a16:creationId xmlns:a16="http://schemas.microsoft.com/office/drawing/2014/main" id="{6E684494-972C-4D48-B2E4-193F6F4D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核心产出 DELIVERABLES</a:t>
            </a:r>
            <a:endParaRPr sz="1500"/>
          </a:p>
        </p:txBody>
      </p:sp>
      <p:sp>
        <p:nvSpPr>
          <p:cNvPr id="11" name="q3-body">
            <a:extLst xmlns:a="http://schemas.openxmlformats.org/drawingml/2006/main">
              <a:ext uri="{FF2B5EF4-FFF2-40B4-BE49-F238E27FC236}">
                <a16:creationId xmlns:a16="http://schemas.microsoft.com/office/drawing/2014/main" id="{EF7A3D1C-5C92-4D03-9BB4-B8A130F5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campus_runner_oracle_schema.sql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002–007 增量脚本 · 数据库字典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脚本与字典纳入仓库版本控制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口径变更经字典同步</a:t>
            </a:r>
            <a:endParaRPr sz="1100"/>
          </a:p>
        </p:txBody>
      </p:sp>
      <p:sp>
        <p:nvSpPr>
          <p:cNvPr id="12" name="q4-title">
            <a:extLst xmlns:a="http://schemas.openxmlformats.org/drawingml/2006/main">
              <a:ext uri="{FF2B5EF4-FFF2-40B4-BE49-F238E27FC236}">
                <a16:creationId xmlns:a16="http://schemas.microsoft.com/office/drawing/2014/main" id="{D151B874-FE26-4A69-9EA4-9BD2EB86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测试验证 EVIDENCE</a:t>
            </a:r>
            <a:endParaRPr sz="1500"/>
          </a:p>
        </p:txBody>
      </p:sp>
      <p:sp>
        <p:nvSpPr>
          <p:cNvPr id="13" name="q4-body">
            <a:extLst xmlns:a="http://schemas.openxmlformats.org/drawingml/2006/main">
              <a:ext uri="{FF2B5EF4-FFF2-40B4-BE49-F238E27FC236}">
                <a16:creationId xmlns:a16="http://schemas.microsoft.com/office/drawing/2014/main" id="{DEDDD0B1-FB69-4E8A-AA7E-049F3275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TC-DB-01 ～ 06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证据归档 docs/test-evidence（待提交）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答辩前完成归档与复核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用例设计见 docs/test-plan.md</a:t>
            </a:r>
            <a:endParaRPr sz="1100"/>
          </a:p>
        </p:txBody>
      </p:sp>
      <p:sp>
        <p:nvSpPr>
          <p:cNvPr id="14" name="h-div">
            <a:extLst xmlns:a="http://schemas.openxmlformats.org/drawingml/2006/main">
              <a:ext uri="{FF2B5EF4-FFF2-40B4-BE49-F238E27FC236}">
                <a16:creationId xmlns:a16="http://schemas.microsoft.com/office/drawing/2014/main" id="{AB80BD01-EC71-4E36-AFEF-4A6227B5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581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v-div">
            <a:extLst xmlns:a="http://schemas.openxmlformats.org/drawingml/2006/main">
              <a:ext uri="{FF2B5EF4-FFF2-40B4-BE49-F238E27FC236}">
                <a16:creationId xmlns:a16="http://schemas.microsoft.com/office/drawing/2014/main" id="{3FDDA330-2E0D-4E1B-87B6-A503C028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44600"/>
            <a:ext cx="12700" cy="467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bj-concl">
            <a:extLst xmlns:a="http://schemas.openxmlformats.org/drawingml/2006/main">
              <a:ext uri="{FF2B5EF4-FFF2-40B4-BE49-F238E27FC236}">
                <a16:creationId xmlns:a16="http://schemas.microsoft.com/office/drawing/2014/main" id="{934C744C-2195-40CE-9B66-877183D6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070600"/>
            <a:ext cx="1117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约束定口径 · 枚举对齐 · 脚本可复跑</a:t>
            </a:r>
            <a:endParaRPr sz="1200"/>
          </a:p>
        </p:txBody>
      </p:sp>
      <p:sp>
        <p:nvSpPr>
          <p:cNvPr id="17" name="ft-line">
            <a:extLst xmlns:a="http://schemas.openxmlformats.org/drawingml/2006/main">
              <a:ext uri="{FF2B5EF4-FFF2-40B4-BE49-F238E27FC236}">
                <a16:creationId xmlns:a16="http://schemas.microsoft.com/office/drawing/2014/main" id="{6B5C0B0B-AF16-4249-80A8-57228716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t-brand">
            <a:extLst xmlns:a="http://schemas.openxmlformats.org/drawingml/2006/main">
              <a:ext uri="{FF2B5EF4-FFF2-40B4-BE49-F238E27FC236}">
                <a16:creationId xmlns:a16="http://schemas.microsoft.com/office/drawing/2014/main" id="{3F1624CF-9395-4506-AB8D-963E8D59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9" name="ft-page">
            <a:extLst xmlns:a="http://schemas.openxmlformats.org/drawingml/2006/main">
              <a:ext uri="{FF2B5EF4-FFF2-40B4-BE49-F238E27FC236}">
                <a16:creationId xmlns:a16="http://schemas.microsoft.com/office/drawing/2014/main" id="{7A339C62-2FB4-436A-9069-51396805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24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998033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8F4AD0D6-B922-45A2-ADA2-8686D524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F2EF2925-B5CF-4199-87AA-C1FC87E0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3　账户与权限模块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E23A44EE-643D-4CDB-ACB3-2F0E918F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F5E64434-504A-43A7-8A32-79AD7B46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dl-label">
            <a:extLst xmlns:a="http://schemas.openxmlformats.org/drawingml/2006/main">
              <a:ext uri="{FF2B5EF4-FFF2-40B4-BE49-F238E27FC236}">
                <a16:creationId xmlns:a16="http://schemas.microsoft.com/office/drawing/2014/main" id="{DBC59896-2F99-4E21-B2A2-AA6A0C12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职责与主导数据</a:t>
            </a:r>
            <a:endParaRPr sz="1200"/>
          </a:p>
        </p:txBody>
      </p:sp>
      <p:sp>
        <p:nvSpPr>
          <p:cNvPr id="7" name="dg1">
            <a:extLst xmlns:a="http://schemas.openxmlformats.org/drawingml/2006/main">
              <a:ext uri="{FF2B5EF4-FFF2-40B4-BE49-F238E27FC236}">
                <a16:creationId xmlns:a16="http://schemas.microsoft.com/office/drawing/2014/main" id="{C738DE38-0544-459C-9A3E-538E8EF4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002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角色定位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账户与权限模块负责人，支撑全系统身份与授权</a:t>
            </a:r>
            <a:endParaRPr sz="1200"/>
          </a:p>
        </p:txBody>
      </p:sp>
      <p:sp>
        <p:nvSpPr>
          <p:cNvPr id="8" name="dg1-line">
            <a:extLst xmlns:a="http://schemas.openxmlformats.org/drawingml/2006/main">
              <a:ext uri="{FF2B5EF4-FFF2-40B4-BE49-F238E27FC236}">
                <a16:creationId xmlns:a16="http://schemas.microsoft.com/office/drawing/2014/main" id="{E41154F6-2EA8-4CD8-B7CD-C5AD450B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5400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dg2">
            <a:extLst xmlns:a="http://schemas.openxmlformats.org/drawingml/2006/main">
              <a:ext uri="{FF2B5EF4-FFF2-40B4-BE49-F238E27FC236}">
                <a16:creationId xmlns:a16="http://schemas.microsoft.com/office/drawing/2014/main" id="{46FFC055-8C34-49B8-8E9C-6285BDF7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7178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负责模块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注册登录 · 角色权限 · 用户信息 · 地址管理 · 账号状态</a:t>
            </a:r>
            <a:endParaRPr sz="1200"/>
          </a:p>
        </p:txBody>
      </p:sp>
      <p:sp>
        <p:nvSpPr>
          <p:cNvPr id="10" name="dg2-line">
            <a:extLst xmlns:a="http://schemas.openxmlformats.org/drawingml/2006/main">
              <a:ext uri="{FF2B5EF4-FFF2-40B4-BE49-F238E27FC236}">
                <a16:creationId xmlns:a16="http://schemas.microsoft.com/office/drawing/2014/main" id="{8B7FAA7D-52DD-4214-BC1C-587EBCFA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6576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dg3">
            <a:extLst xmlns:a="http://schemas.openxmlformats.org/drawingml/2006/main">
              <a:ext uri="{FF2B5EF4-FFF2-40B4-BE49-F238E27FC236}">
                <a16:creationId xmlns:a16="http://schemas.microsoft.com/office/drawing/2014/main" id="{90A8C8C9-E804-40D7-918B-8A5A872D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8354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主导数据表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users · user_addresses</a:t>
            </a:r>
            <a:endParaRPr sz="1200"/>
          </a:p>
        </p:txBody>
      </p:sp>
      <p:sp>
        <p:nvSpPr>
          <p:cNvPr id="12" name="dg3-line">
            <a:extLst xmlns:a="http://schemas.openxmlformats.org/drawingml/2006/main">
              <a:ext uri="{FF2B5EF4-FFF2-40B4-BE49-F238E27FC236}">
                <a16:creationId xmlns:a16="http://schemas.microsoft.com/office/drawing/2014/main" id="{D0BB9CF2-35B7-41A9-8E20-0444753A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7752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dg4">
            <a:extLst xmlns:a="http://schemas.openxmlformats.org/drawingml/2006/main">
              <a:ext uri="{FF2B5EF4-FFF2-40B4-BE49-F238E27FC236}">
                <a16:creationId xmlns:a16="http://schemas.microsoft.com/office/drawing/2014/main" id="{4800FF2A-C060-4BEC-81A4-F63680F5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9530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核心产出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注册 / 登录 / 地址功能 · 账号生命周期处理</a:t>
            </a:r>
            <a:endParaRPr sz="1200"/>
          </a:p>
        </p:txBody>
      </p:sp>
      <p:sp>
        <p:nvSpPr>
          <p:cNvPr id="14" name="vdiv">
            <a:extLst xmlns:a="http://schemas.openxmlformats.org/drawingml/2006/main">
              <a:ext uri="{FF2B5EF4-FFF2-40B4-BE49-F238E27FC236}">
                <a16:creationId xmlns:a16="http://schemas.microsoft.com/office/drawing/2014/main" id="{B6803452-0914-47D1-A84A-1F38C49B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19200"/>
            <a:ext cx="127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nf-label">
            <a:extLst xmlns:a="http://schemas.openxmlformats.org/drawingml/2006/main">
              <a:ext uri="{FF2B5EF4-FFF2-40B4-BE49-F238E27FC236}">
                <a16:creationId xmlns:a16="http://schemas.microsoft.com/office/drawing/2014/main" id="{774AB1F4-DCCF-4415-9B5B-0B5BD19C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模块衔接（输入 / 输出）</a:t>
            </a:r>
            <a:endParaRPr sz="1200"/>
          </a:p>
        </p:txBody>
      </p:sp>
      <p:sp>
        <p:nvSpPr>
          <p:cNvPr id="16" name="nf-body">
            <a:extLst xmlns:a="http://schemas.openxmlformats.org/drawingml/2006/main">
              <a:ext uri="{FF2B5EF4-FFF2-40B4-BE49-F238E27FC236}">
                <a16:creationId xmlns:a16="http://schemas.microsoft.com/office/drawing/2014/main" id="{BD09B054-0C5C-40B5-92CD-6EDBD601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00200"/>
            <a:ext cx="5080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上游输入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注册信息与登录凭据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本模块输出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各模块会话身份、角色与地址数据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衔接约束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密码仅存带盐哈希 · 角色最小授权</a:t>
            </a:r>
            <a:endParaRPr sz="1200"/>
          </a:p>
        </p:txBody>
      </p:sp>
      <p:sp>
        <p:nvSpPr>
          <p:cNvPr id="17" name="nf-line">
            <a:extLst xmlns:a="http://schemas.openxmlformats.org/drawingml/2006/main">
              <a:ext uri="{FF2B5EF4-FFF2-40B4-BE49-F238E27FC236}">
                <a16:creationId xmlns:a16="http://schemas.microsoft.com/office/drawing/2014/main" id="{8DBE72BA-44CD-42AA-B4D3-39BAF59D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588000"/>
            <a:ext cx="5080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nf-note">
            <a:extLst xmlns:a="http://schemas.openxmlformats.org/drawingml/2006/main">
              <a:ext uri="{FF2B5EF4-FFF2-40B4-BE49-F238E27FC236}">
                <a16:creationId xmlns:a16="http://schemas.microsoft.com/office/drawing/2014/main" id="{E07036C1-B454-4852-A3FE-CA5604B9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7404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19" name="ft-line">
            <a:extLst xmlns:a="http://schemas.openxmlformats.org/drawingml/2006/main">
              <a:ext uri="{FF2B5EF4-FFF2-40B4-BE49-F238E27FC236}">
                <a16:creationId xmlns:a16="http://schemas.microsoft.com/office/drawing/2014/main" id="{3A0805AD-C64A-4815-9432-521B2F85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ft-brand">
            <a:extLst xmlns:a="http://schemas.openxmlformats.org/drawingml/2006/main">
              <a:ext uri="{FF2B5EF4-FFF2-40B4-BE49-F238E27FC236}">
                <a16:creationId xmlns:a16="http://schemas.microsoft.com/office/drawing/2014/main" id="{A9812FAE-3BBC-4D40-8F84-2D52C203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21" name="ft-page">
            <a:extLst xmlns:a="http://schemas.openxmlformats.org/drawingml/2006/main">
              <a:ext uri="{FF2B5EF4-FFF2-40B4-BE49-F238E27FC236}">
                <a16:creationId xmlns:a16="http://schemas.microsoft.com/office/drawing/2014/main" id="{B5B0716D-B2F6-4C85-B539-064311E4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25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0306999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59750B58-488F-4396-ADCE-D8644907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66F8921A-BB4D-4EC7-A78C-1AB36E0F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3　核心实现与验证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520F8A9E-579F-4240-93A6-D703D3D6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9A919B43-1166-4289-BA1E-DA5D3CFB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q1-title">
            <a:extLst xmlns:a="http://schemas.openxmlformats.org/drawingml/2006/main">
              <a:ext uri="{FF2B5EF4-FFF2-40B4-BE49-F238E27FC236}">
                <a16:creationId xmlns:a16="http://schemas.microsoft.com/office/drawing/2014/main" id="{5ECD6284-FA77-4A9B-BDB7-9132E095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账号安全 SECURITY</a:t>
            </a:r>
            <a:endParaRPr sz="1500"/>
          </a:p>
        </p:txBody>
      </p:sp>
      <p:sp>
        <p:nvSpPr>
          <p:cNvPr id="7" name="q1-body">
            <a:extLst xmlns:a="http://schemas.openxmlformats.org/drawingml/2006/main">
              <a:ext uri="{FF2B5EF4-FFF2-40B4-BE49-F238E27FC236}">
                <a16:creationId xmlns:a16="http://schemas.microsoft.com/office/drawing/2014/main" id="{EC470D16-29D6-4680-8D76-E2B4F1DC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PasswordHasher 带盐哈希存储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username / phone 唯一约束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注销账号手机号复用缺陷已修复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敏感字段仅存哈希</a:t>
            </a:r>
            <a:endParaRPr sz="1100"/>
          </a:p>
        </p:txBody>
      </p:sp>
      <p:sp>
        <p:nvSpPr>
          <p:cNvPr id="8" name="q2-title">
            <a:extLst xmlns:a="http://schemas.openxmlformats.org/drawingml/2006/main">
              <a:ext uri="{FF2B5EF4-FFF2-40B4-BE49-F238E27FC236}">
                <a16:creationId xmlns:a16="http://schemas.microsoft.com/office/drawing/2014/main" id="{7C86ACB3-56EA-42C0-9101-4155274E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地址规则 ADDRESS</a:t>
            </a:r>
            <a:endParaRPr sz="1500"/>
          </a:p>
        </p:txBody>
      </p:sp>
      <p:sp>
        <p:nvSpPr>
          <p:cNvPr id="9" name="q2-body">
            <a:extLst xmlns:a="http://schemas.openxmlformats.org/drawingml/2006/main">
              <a:ext uri="{FF2B5EF4-FFF2-40B4-BE49-F238E27FC236}">
                <a16:creationId xmlns:a16="http://schemas.microsoft.com/office/drawing/2014/main" id="{806D9392-93EA-4A35-BCDF-7E8AE0E8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(user_id, address_no) 组合主键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单默认地址函数唯一索引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跨用户地址访问拦截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至多一个默认地址由唯一索引保证</a:t>
            </a:r>
            <a:endParaRPr sz="1100"/>
          </a:p>
        </p:txBody>
      </p:sp>
      <p:sp>
        <p:nvSpPr>
          <p:cNvPr id="10" name="q3-title">
            <a:extLst xmlns:a="http://schemas.openxmlformats.org/drawingml/2006/main">
              <a:ext uri="{FF2B5EF4-FFF2-40B4-BE49-F238E27FC236}">
                <a16:creationId xmlns:a16="http://schemas.microsoft.com/office/drawing/2014/main" id="{97F954DC-CE0E-49B7-ADB6-46DA64BE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核心产出 DELIVERABLES</a:t>
            </a:r>
            <a:endParaRPr sz="1500"/>
          </a:p>
        </p:txBody>
      </p:sp>
      <p:sp>
        <p:nvSpPr>
          <p:cNvPr id="11" name="q3-body">
            <a:extLst xmlns:a="http://schemas.openxmlformats.org/drawingml/2006/main">
              <a:ext uri="{FF2B5EF4-FFF2-40B4-BE49-F238E27FC236}">
                <a16:creationId xmlns:a16="http://schemas.microsoft.com/office/drawing/2014/main" id="{7733CA3C-E81F-45DD-AA06-F1DC3D58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注册 / 登录 / 账号状态功能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地址增删改与默认地址管理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模块功能与 SQL 证据对应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账号生命周期覆盖封禁与注销</a:t>
            </a:r>
            <a:endParaRPr sz="1100"/>
          </a:p>
        </p:txBody>
      </p:sp>
      <p:sp>
        <p:nvSpPr>
          <p:cNvPr id="12" name="q4-title">
            <a:extLst xmlns:a="http://schemas.openxmlformats.org/drawingml/2006/main">
              <a:ext uri="{FF2B5EF4-FFF2-40B4-BE49-F238E27FC236}">
                <a16:creationId xmlns:a16="http://schemas.microsoft.com/office/drawing/2014/main" id="{4C12C026-1C2A-41C9-92BC-987D090D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测试验证 EVIDENCE</a:t>
            </a:r>
            <a:endParaRPr sz="1500"/>
          </a:p>
        </p:txBody>
      </p:sp>
      <p:sp>
        <p:nvSpPr>
          <p:cNvPr id="13" name="q4-body">
            <a:extLst xmlns:a="http://schemas.openxmlformats.org/drawingml/2006/main">
              <a:ext uri="{FF2B5EF4-FFF2-40B4-BE49-F238E27FC236}">
                <a16:creationId xmlns:a16="http://schemas.microsoft.com/office/drawing/2014/main" id="{903EA42D-2CF9-487A-8E8E-22028ADD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TC-ACC-01 ～ 12（8 份记录 · 3 份 SQL）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截图 9 张 · docs/test-evidence/manual/组员3-账户与权限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结论均为通过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含跨用户越权用例</a:t>
            </a:r>
            <a:endParaRPr sz="1100"/>
          </a:p>
        </p:txBody>
      </p:sp>
      <p:sp>
        <p:nvSpPr>
          <p:cNvPr id="14" name="h-div">
            <a:extLst xmlns:a="http://schemas.openxmlformats.org/drawingml/2006/main">
              <a:ext uri="{FF2B5EF4-FFF2-40B4-BE49-F238E27FC236}">
                <a16:creationId xmlns:a16="http://schemas.microsoft.com/office/drawing/2014/main" id="{E583EB09-EB7A-4200-BDAE-E45A0071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581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v-div">
            <a:extLst xmlns:a="http://schemas.openxmlformats.org/drawingml/2006/main">
              <a:ext uri="{FF2B5EF4-FFF2-40B4-BE49-F238E27FC236}">
                <a16:creationId xmlns:a16="http://schemas.microsoft.com/office/drawing/2014/main" id="{8FD60993-1038-4588-888D-DF33A8AB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44600"/>
            <a:ext cx="12700" cy="467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bj-concl">
            <a:extLst xmlns:a="http://schemas.openxmlformats.org/drawingml/2006/main">
              <a:ext uri="{FF2B5EF4-FFF2-40B4-BE49-F238E27FC236}">
                <a16:creationId xmlns:a16="http://schemas.microsoft.com/office/drawing/2014/main" id="{F4BB631A-4B23-4AFA-A5B6-1FA1781A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070600"/>
            <a:ext cx="1117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哈希存储 · 唯一约束 · 越权拦截</a:t>
            </a:r>
            <a:endParaRPr sz="1200"/>
          </a:p>
        </p:txBody>
      </p:sp>
      <p:sp>
        <p:nvSpPr>
          <p:cNvPr id="17" name="ft-line">
            <a:extLst xmlns:a="http://schemas.openxmlformats.org/drawingml/2006/main">
              <a:ext uri="{FF2B5EF4-FFF2-40B4-BE49-F238E27FC236}">
                <a16:creationId xmlns:a16="http://schemas.microsoft.com/office/drawing/2014/main" id="{27903C1E-2938-49F6-9524-9F84C5E9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t-brand">
            <a:extLst xmlns:a="http://schemas.openxmlformats.org/drawingml/2006/main">
              <a:ext uri="{FF2B5EF4-FFF2-40B4-BE49-F238E27FC236}">
                <a16:creationId xmlns:a16="http://schemas.microsoft.com/office/drawing/2014/main" id="{D232463A-F3F4-464E-B515-438C78D3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9" name="ft-page">
            <a:extLst xmlns:a="http://schemas.openxmlformats.org/drawingml/2006/main">
              <a:ext uri="{FF2B5EF4-FFF2-40B4-BE49-F238E27FC236}">
                <a16:creationId xmlns:a16="http://schemas.microsoft.com/office/drawing/2014/main" id="{CB8ADA1F-6C54-435F-B2BC-1EF73CA7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26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4341459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A5114CF5-F878-40B4-8789-EEF188C1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9D9E30F1-439B-4AAB-B9A8-79A055A4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4　基础资料与跑腿员模块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8103B2D0-8E67-41A4-AE63-10E5373A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3B260577-4605-47D1-9B42-0B82CD07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dl-label">
            <a:extLst xmlns:a="http://schemas.openxmlformats.org/drawingml/2006/main">
              <a:ext uri="{FF2B5EF4-FFF2-40B4-BE49-F238E27FC236}">
                <a16:creationId xmlns:a16="http://schemas.microsoft.com/office/drawing/2014/main" id="{AC2AB19E-710F-4D28-986E-9A01ADFA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职责与主导数据</a:t>
            </a:r>
            <a:endParaRPr sz="1200"/>
          </a:p>
        </p:txBody>
      </p:sp>
      <p:sp>
        <p:nvSpPr>
          <p:cNvPr id="7" name="dg1">
            <a:extLst xmlns:a="http://schemas.openxmlformats.org/drawingml/2006/main">
              <a:ext uri="{FF2B5EF4-FFF2-40B4-BE49-F238E27FC236}">
                <a16:creationId xmlns:a16="http://schemas.microsoft.com/office/drawing/2014/main" id="{934056AB-B3BC-4737-9BD0-6CAC555E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002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角色定位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基础资料与跑腿员模块负责人</a:t>
            </a:r>
            <a:endParaRPr sz="1200"/>
          </a:p>
        </p:txBody>
      </p:sp>
      <p:sp>
        <p:nvSpPr>
          <p:cNvPr id="8" name="dg1-line">
            <a:extLst xmlns:a="http://schemas.openxmlformats.org/drawingml/2006/main">
              <a:ext uri="{FF2B5EF4-FFF2-40B4-BE49-F238E27FC236}">
                <a16:creationId xmlns:a16="http://schemas.microsoft.com/office/drawing/2014/main" id="{90BA2DB0-F23D-4F12-96E2-AB1A870A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5400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dg2">
            <a:extLst xmlns:a="http://schemas.openxmlformats.org/drawingml/2006/main">
              <a:ext uri="{FF2B5EF4-FFF2-40B4-BE49-F238E27FC236}">
                <a16:creationId xmlns:a16="http://schemas.microsoft.com/office/drawing/2014/main" id="{B49CAC9E-6321-457D-9DAA-59ED9D52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7178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负责模块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节点管理 · 服务类型 · 服务—节点规则 · 跑腿员申请与审核</a:t>
            </a:r>
            <a:endParaRPr sz="1200"/>
          </a:p>
        </p:txBody>
      </p:sp>
      <p:sp>
        <p:nvSpPr>
          <p:cNvPr id="10" name="dg2-line">
            <a:extLst xmlns:a="http://schemas.openxmlformats.org/drawingml/2006/main">
              <a:ext uri="{FF2B5EF4-FFF2-40B4-BE49-F238E27FC236}">
                <a16:creationId xmlns:a16="http://schemas.microsoft.com/office/drawing/2014/main" id="{FF03CBD8-3809-4C1E-9EF7-AFF74F96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6576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dg3">
            <a:extLst xmlns:a="http://schemas.openxmlformats.org/drawingml/2006/main">
              <a:ext uri="{FF2B5EF4-FFF2-40B4-BE49-F238E27FC236}">
                <a16:creationId xmlns:a16="http://schemas.microsoft.com/office/drawing/2014/main" id="{2DB9935C-436D-41CE-92C2-A3E3D7F4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8354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主导数据表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nodes · service_types · service_node_rules · runners</a:t>
            </a:r>
            <a:endParaRPr sz="1200"/>
          </a:p>
        </p:txBody>
      </p:sp>
      <p:sp>
        <p:nvSpPr>
          <p:cNvPr id="12" name="dg3-line">
            <a:extLst xmlns:a="http://schemas.openxmlformats.org/drawingml/2006/main">
              <a:ext uri="{FF2B5EF4-FFF2-40B4-BE49-F238E27FC236}">
                <a16:creationId xmlns:a16="http://schemas.microsoft.com/office/drawing/2014/main" id="{8A20E1BF-C6F5-4741-9E56-C2E7C4BA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7752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dg4">
            <a:extLst xmlns:a="http://schemas.openxmlformats.org/drawingml/2006/main">
              <a:ext uri="{FF2B5EF4-FFF2-40B4-BE49-F238E27FC236}">
                <a16:creationId xmlns:a16="http://schemas.microsoft.com/office/drawing/2014/main" id="{C1458D6B-ED77-4AC2-96A3-F5B2E35D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9530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核心产出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基础资料维护功能 · 跑腿员审核流程</a:t>
            </a:r>
            <a:endParaRPr sz="1200"/>
          </a:p>
        </p:txBody>
      </p:sp>
      <p:sp>
        <p:nvSpPr>
          <p:cNvPr id="14" name="vdiv">
            <a:extLst xmlns:a="http://schemas.openxmlformats.org/drawingml/2006/main">
              <a:ext uri="{FF2B5EF4-FFF2-40B4-BE49-F238E27FC236}">
                <a16:creationId xmlns:a16="http://schemas.microsoft.com/office/drawing/2014/main" id="{BCD22688-EB4F-4696-9FCB-654939E9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19200"/>
            <a:ext cx="127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nf-label">
            <a:extLst xmlns:a="http://schemas.openxmlformats.org/drawingml/2006/main">
              <a:ext uri="{FF2B5EF4-FFF2-40B4-BE49-F238E27FC236}">
                <a16:creationId xmlns:a16="http://schemas.microsoft.com/office/drawing/2014/main" id="{CB8D4065-F8FB-4034-A349-00C2BFD0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模块衔接（输入 / 输出）</a:t>
            </a:r>
            <a:endParaRPr sz="1200"/>
          </a:p>
        </p:txBody>
      </p:sp>
      <p:sp>
        <p:nvSpPr>
          <p:cNvPr id="16" name="nf-body">
            <a:extLst xmlns:a="http://schemas.openxmlformats.org/drawingml/2006/main">
              <a:ext uri="{FF2B5EF4-FFF2-40B4-BE49-F238E27FC236}">
                <a16:creationId xmlns:a16="http://schemas.microsoft.com/office/drawing/2014/main" id="{8BCDF296-CE3A-4ABA-B9D9-8A198552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00200"/>
            <a:ext cx="5080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上游输入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跑腿员申请资料与站点配置需求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本模块输出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审核通过的跑腿员与可用服务—节点规则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衔接约束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任务发布依赖 service_node_rules 匹配</a:t>
            </a:r>
            <a:endParaRPr sz="1200"/>
          </a:p>
        </p:txBody>
      </p:sp>
      <p:sp>
        <p:nvSpPr>
          <p:cNvPr id="17" name="nf-line">
            <a:extLst xmlns:a="http://schemas.openxmlformats.org/drawingml/2006/main">
              <a:ext uri="{FF2B5EF4-FFF2-40B4-BE49-F238E27FC236}">
                <a16:creationId xmlns:a16="http://schemas.microsoft.com/office/drawing/2014/main" id="{7A44FF7B-1A6F-4BA9-9E13-0A907D14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588000"/>
            <a:ext cx="5080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nf-note">
            <a:extLst xmlns:a="http://schemas.openxmlformats.org/drawingml/2006/main">
              <a:ext uri="{FF2B5EF4-FFF2-40B4-BE49-F238E27FC236}">
                <a16:creationId xmlns:a16="http://schemas.microsoft.com/office/drawing/2014/main" id="{1A30F3ED-0D62-4532-9919-1E0D578D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7404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19" name="ft-line">
            <a:extLst xmlns:a="http://schemas.openxmlformats.org/drawingml/2006/main">
              <a:ext uri="{FF2B5EF4-FFF2-40B4-BE49-F238E27FC236}">
                <a16:creationId xmlns:a16="http://schemas.microsoft.com/office/drawing/2014/main" id="{0AD36E45-120A-47D5-BC5B-46F2486E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ft-brand">
            <a:extLst xmlns:a="http://schemas.openxmlformats.org/drawingml/2006/main">
              <a:ext uri="{FF2B5EF4-FFF2-40B4-BE49-F238E27FC236}">
                <a16:creationId xmlns:a16="http://schemas.microsoft.com/office/drawing/2014/main" id="{933ADD7D-3682-43DA-80F4-6DC309DD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21" name="ft-page">
            <a:extLst xmlns:a="http://schemas.openxmlformats.org/drawingml/2006/main">
              <a:ext uri="{FF2B5EF4-FFF2-40B4-BE49-F238E27FC236}">
                <a16:creationId xmlns:a16="http://schemas.microsoft.com/office/drawing/2014/main" id="{EA0A4CB2-C7DC-4F57-8BA8-6E52AF77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27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170118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83EA480A-31AC-4CCC-B913-F0EE09E3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BBB01227-7A10-46FF-A816-0BD48830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4　核心实现与验证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644C7202-EA6C-472D-B86C-2F8E5FCD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9227AEEB-B05B-4682-981C-C88D5F3F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q1-title">
            <a:extLst xmlns:a="http://schemas.openxmlformats.org/drawingml/2006/main">
              <a:ext uri="{FF2B5EF4-FFF2-40B4-BE49-F238E27FC236}">
                <a16:creationId xmlns:a16="http://schemas.microsoft.com/office/drawing/2014/main" id="{70BE35FF-65E3-48E0-86A3-C8AAE0FA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规则绑定 BINDING</a:t>
            </a:r>
            <a:endParaRPr sz="1500"/>
          </a:p>
        </p:txBody>
      </p:sp>
      <p:sp>
        <p:nvSpPr>
          <p:cNvPr id="7" name="q1-body">
            <a:extLst xmlns:a="http://schemas.openxmlformats.org/drawingml/2006/main">
              <a:ext uri="{FF2B5EF4-FFF2-40B4-BE49-F238E27FC236}">
                <a16:creationId xmlns:a16="http://schemas.microsoft.com/office/drawing/2014/main" id="{5DACDC47-0380-4CFC-9FE2-B0E3391D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service_types × nodes 多对多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→ service_node_rules 联合主键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下单组合外键强制匹配规则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规则缺失的组合无法下单</a:t>
            </a:r>
            <a:endParaRPr sz="1100"/>
          </a:p>
        </p:txBody>
      </p:sp>
      <p:sp>
        <p:nvSpPr>
          <p:cNvPr id="8" name="q2-title">
            <a:extLst xmlns:a="http://schemas.openxmlformats.org/drawingml/2006/main">
              <a:ext uri="{FF2B5EF4-FFF2-40B4-BE49-F238E27FC236}">
                <a16:creationId xmlns:a16="http://schemas.microsoft.com/office/drawing/2014/main" id="{16CD3544-F280-4D43-B39E-254B2DE0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跑腿员审核 AUDIT</a:t>
            </a:r>
            <a:endParaRPr sz="1500"/>
          </a:p>
        </p:txBody>
      </p:sp>
      <p:sp>
        <p:nvSpPr>
          <p:cNvPr id="9" name="q2-body">
            <a:extLst xmlns:a="http://schemas.openxmlformats.org/drawingml/2006/main">
              <a:ext uri="{FF2B5EF4-FFF2-40B4-BE49-F238E27FC236}">
                <a16:creationId xmlns:a16="http://schemas.microsoft.com/office/drawing/2014/main" id="{1ADFC6BD-FF72-44DF-8628-3BE04D78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audit_status 审核状态流转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实名认证资料 · work_status 工作状态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credit_score 信用分基线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个人中心显示真实姓名（补充验证）</a:t>
            </a:r>
            <a:endParaRPr sz="1100"/>
          </a:p>
        </p:txBody>
      </p:sp>
      <p:sp>
        <p:nvSpPr>
          <p:cNvPr id="10" name="q3-title">
            <a:extLst xmlns:a="http://schemas.openxmlformats.org/drawingml/2006/main">
              <a:ext uri="{FF2B5EF4-FFF2-40B4-BE49-F238E27FC236}">
                <a16:creationId xmlns:a16="http://schemas.microsoft.com/office/drawing/2014/main" id="{7F80492B-88B7-48A8-9684-B6EBD14F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核心产出 DELIVERABLES</a:t>
            </a:r>
            <a:endParaRPr sz="1500"/>
          </a:p>
        </p:txBody>
      </p:sp>
      <p:sp>
        <p:nvSpPr>
          <p:cNvPr id="11" name="q3-body">
            <a:extLst xmlns:a="http://schemas.openxmlformats.org/drawingml/2006/main">
              <a:ext uri="{FF2B5EF4-FFF2-40B4-BE49-F238E27FC236}">
                <a16:creationId xmlns:a16="http://schemas.microsoft.com/office/drawing/2014/main" id="{57488920-F8F6-4600-93BF-48054484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节点 / 服务类型 / 规则维护功能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跑腿员申请与审核功能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基础数据初始化配套脚本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基础数据全量受控</a:t>
            </a:r>
            <a:endParaRPr sz="1100"/>
          </a:p>
        </p:txBody>
      </p:sp>
      <p:sp>
        <p:nvSpPr>
          <p:cNvPr id="12" name="q4-title">
            <a:extLst xmlns:a="http://schemas.openxmlformats.org/drawingml/2006/main">
              <a:ext uri="{FF2B5EF4-FFF2-40B4-BE49-F238E27FC236}">
                <a16:creationId xmlns:a16="http://schemas.microsoft.com/office/drawing/2014/main" id="{96A498A6-3CA4-4D65-8A2C-6ADB9514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测试验证 EVIDENCE</a:t>
            </a:r>
            <a:endParaRPr sz="1500"/>
          </a:p>
        </p:txBody>
      </p:sp>
      <p:sp>
        <p:nvSpPr>
          <p:cNvPr id="13" name="q4-body">
            <a:extLst xmlns:a="http://schemas.openxmlformats.org/drawingml/2006/main">
              <a:ext uri="{FF2B5EF4-FFF2-40B4-BE49-F238E27FC236}">
                <a16:creationId xmlns:a16="http://schemas.microsoft.com/office/drawing/2014/main" id="{59D917C1-45A0-4B43-813D-D41DDC15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TC-BASE-01 ～ 08（22 张截图）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docs/test-evidence/manual/组员4-基础资料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含 SQL 查询结果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含姓名显示补充验证</a:t>
            </a:r>
            <a:endParaRPr sz="1100"/>
          </a:p>
        </p:txBody>
      </p:sp>
      <p:sp>
        <p:nvSpPr>
          <p:cNvPr id="14" name="h-div">
            <a:extLst xmlns:a="http://schemas.openxmlformats.org/drawingml/2006/main">
              <a:ext uri="{FF2B5EF4-FFF2-40B4-BE49-F238E27FC236}">
                <a16:creationId xmlns:a16="http://schemas.microsoft.com/office/drawing/2014/main" id="{38E573A2-C623-44D3-B7B9-768B062E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581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v-div">
            <a:extLst xmlns:a="http://schemas.openxmlformats.org/drawingml/2006/main">
              <a:ext uri="{FF2B5EF4-FFF2-40B4-BE49-F238E27FC236}">
                <a16:creationId xmlns:a16="http://schemas.microsoft.com/office/drawing/2014/main" id="{8AD946EC-E5E3-44BF-AC8D-6D4A6E53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44600"/>
            <a:ext cx="12700" cy="467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bj-concl">
            <a:extLst xmlns:a="http://schemas.openxmlformats.org/drawingml/2006/main">
              <a:ext uri="{FF2B5EF4-FFF2-40B4-BE49-F238E27FC236}">
                <a16:creationId xmlns:a16="http://schemas.microsoft.com/office/drawing/2014/main" id="{D0EE0387-5AE6-4DA5-B8B4-4F2D8B28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070600"/>
            <a:ext cx="1117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规则绑定 · 审核流转 · 基础数据受控</a:t>
            </a:r>
            <a:endParaRPr sz="1200"/>
          </a:p>
        </p:txBody>
      </p:sp>
      <p:sp>
        <p:nvSpPr>
          <p:cNvPr id="17" name="ft-line">
            <a:extLst xmlns:a="http://schemas.openxmlformats.org/drawingml/2006/main">
              <a:ext uri="{FF2B5EF4-FFF2-40B4-BE49-F238E27FC236}">
                <a16:creationId xmlns:a16="http://schemas.microsoft.com/office/drawing/2014/main" id="{A1C092C1-0E46-4DDF-BA61-4A655EB2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t-brand">
            <a:extLst xmlns:a="http://schemas.openxmlformats.org/drawingml/2006/main">
              <a:ext uri="{FF2B5EF4-FFF2-40B4-BE49-F238E27FC236}">
                <a16:creationId xmlns:a16="http://schemas.microsoft.com/office/drawing/2014/main" id="{0373AA02-EA39-48D7-9389-A732C7CF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9" name="ft-page">
            <a:extLst xmlns:a="http://schemas.openxmlformats.org/drawingml/2006/main">
              <a:ext uri="{FF2B5EF4-FFF2-40B4-BE49-F238E27FC236}">
                <a16:creationId xmlns:a16="http://schemas.microsoft.com/office/drawing/2014/main" id="{4D86C540-807F-45D4-8B2F-106B24CD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28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87300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4B45C1EE-6B4E-475A-93C0-D8EFB2B7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5D70BE13-DDEE-42BF-A0FA-5D1EBCC5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5　任务发布模块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412C348B-8518-45D3-B54B-ADC3F521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435AF2D6-916D-4DF9-ABF9-3073A317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dl-label">
            <a:extLst xmlns:a="http://schemas.openxmlformats.org/drawingml/2006/main">
              <a:ext uri="{FF2B5EF4-FFF2-40B4-BE49-F238E27FC236}">
                <a16:creationId xmlns:a16="http://schemas.microsoft.com/office/drawing/2014/main" id="{B9E3097E-A5BD-45B7-AF67-D8F22FD3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职责与主导数据</a:t>
            </a:r>
            <a:endParaRPr sz="1200"/>
          </a:p>
        </p:txBody>
      </p:sp>
      <p:sp>
        <p:nvSpPr>
          <p:cNvPr id="7" name="dg1">
            <a:extLst xmlns:a="http://schemas.openxmlformats.org/drawingml/2006/main">
              <a:ext uri="{FF2B5EF4-FFF2-40B4-BE49-F238E27FC236}">
                <a16:creationId xmlns:a16="http://schemas.microsoft.com/office/drawing/2014/main" id="{B8B9EBDA-FAF5-4B40-B182-2F6B98F4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002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角色定位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任务发布模块负责人，承载三类任务入口</a:t>
            </a:r>
            <a:endParaRPr sz="1200"/>
          </a:p>
        </p:txBody>
      </p:sp>
      <p:sp>
        <p:nvSpPr>
          <p:cNvPr id="8" name="dg1-line">
            <a:extLst xmlns:a="http://schemas.openxmlformats.org/drawingml/2006/main">
              <a:ext uri="{FF2B5EF4-FFF2-40B4-BE49-F238E27FC236}">
                <a16:creationId xmlns:a16="http://schemas.microsoft.com/office/drawing/2014/main" id="{2A6F3517-4DFB-4929-AB37-1103C16C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5400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dg2">
            <a:extLst xmlns:a="http://schemas.openxmlformats.org/drawingml/2006/main">
              <a:ext uri="{FF2B5EF4-FFF2-40B4-BE49-F238E27FC236}">
                <a16:creationId xmlns:a16="http://schemas.microsoft.com/office/drawing/2014/main" id="{A089F22E-8145-4F2E-A898-562058EC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7178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负责模块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任务主单 · 三类任务明细 · 我的任务 · 任务详情 · 任务取消</a:t>
            </a:r>
            <a:endParaRPr sz="1200"/>
          </a:p>
        </p:txBody>
      </p:sp>
      <p:sp>
        <p:nvSpPr>
          <p:cNvPr id="10" name="dg2-line">
            <a:extLst xmlns:a="http://schemas.openxmlformats.org/drawingml/2006/main">
              <a:ext uri="{FF2B5EF4-FFF2-40B4-BE49-F238E27FC236}">
                <a16:creationId xmlns:a16="http://schemas.microsoft.com/office/drawing/2014/main" id="{F9830EA3-66B8-48B1-8C34-C3D0AEBD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6576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dg3">
            <a:extLst xmlns:a="http://schemas.openxmlformats.org/drawingml/2006/main">
              <a:ext uri="{FF2B5EF4-FFF2-40B4-BE49-F238E27FC236}">
                <a16:creationId xmlns:a16="http://schemas.microsoft.com/office/drawing/2014/main" id="{9A124D9B-8052-4FBB-9AA1-53833677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8354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主导数据表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tasks · food_delivery_details · express_pickup_details · private_task_details</a:t>
            </a:r>
            <a:endParaRPr sz="1200"/>
          </a:p>
        </p:txBody>
      </p:sp>
      <p:sp>
        <p:nvSpPr>
          <p:cNvPr id="12" name="dg3-line">
            <a:extLst xmlns:a="http://schemas.openxmlformats.org/drawingml/2006/main">
              <a:ext uri="{FF2B5EF4-FFF2-40B4-BE49-F238E27FC236}">
                <a16:creationId xmlns:a16="http://schemas.microsoft.com/office/drawing/2014/main" id="{B43A05D8-BCDD-4776-9A25-596DC243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7752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dg4">
            <a:extLst xmlns:a="http://schemas.openxmlformats.org/drawingml/2006/main">
              <a:ext uri="{FF2B5EF4-FFF2-40B4-BE49-F238E27FC236}">
                <a16:creationId xmlns:a16="http://schemas.microsoft.com/office/drawing/2014/main" id="{376CA44F-6DBD-4508-B1D5-C2197883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9530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核心产出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三类任务发布与取消功能</a:t>
            </a:r>
            <a:endParaRPr sz="1200"/>
          </a:p>
        </p:txBody>
      </p:sp>
      <p:sp>
        <p:nvSpPr>
          <p:cNvPr id="14" name="vdiv">
            <a:extLst xmlns:a="http://schemas.openxmlformats.org/drawingml/2006/main">
              <a:ext uri="{FF2B5EF4-FFF2-40B4-BE49-F238E27FC236}">
                <a16:creationId xmlns:a16="http://schemas.microsoft.com/office/drawing/2014/main" id="{757ABBC4-6C3F-4EEB-A32A-0D8617B0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19200"/>
            <a:ext cx="127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nf-label">
            <a:extLst xmlns:a="http://schemas.openxmlformats.org/drawingml/2006/main">
              <a:ext uri="{FF2B5EF4-FFF2-40B4-BE49-F238E27FC236}">
                <a16:creationId xmlns:a16="http://schemas.microsoft.com/office/drawing/2014/main" id="{6BBC7428-04EC-44F9-BD10-77BFACA9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模块衔接（输入 / 输出）</a:t>
            </a:r>
            <a:endParaRPr sz="1200"/>
          </a:p>
        </p:txBody>
      </p:sp>
      <p:sp>
        <p:nvSpPr>
          <p:cNvPr id="16" name="nf-body">
            <a:extLst xmlns:a="http://schemas.openxmlformats.org/drawingml/2006/main">
              <a:ext uri="{FF2B5EF4-FFF2-40B4-BE49-F238E27FC236}">
                <a16:creationId xmlns:a16="http://schemas.microsoft.com/office/drawing/2014/main" id="{6DDD61CC-6126-4747-A36F-13C0079E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00200"/>
            <a:ext cx="5080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上游输入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用户需求、地址与服务—节点规则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本模块输出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WAITING 状态任务进入任务大厅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衔接约束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组合外键校验 · 价格非负约束</a:t>
            </a:r>
            <a:endParaRPr sz="1200"/>
          </a:p>
        </p:txBody>
      </p:sp>
      <p:sp>
        <p:nvSpPr>
          <p:cNvPr id="17" name="nf-line">
            <a:extLst xmlns:a="http://schemas.openxmlformats.org/drawingml/2006/main">
              <a:ext uri="{FF2B5EF4-FFF2-40B4-BE49-F238E27FC236}">
                <a16:creationId xmlns:a16="http://schemas.microsoft.com/office/drawing/2014/main" id="{224101DF-2841-4911-9ABD-5C7D31E9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588000"/>
            <a:ext cx="5080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nf-note">
            <a:extLst xmlns:a="http://schemas.openxmlformats.org/drawingml/2006/main">
              <a:ext uri="{FF2B5EF4-FFF2-40B4-BE49-F238E27FC236}">
                <a16:creationId xmlns:a16="http://schemas.microsoft.com/office/drawing/2014/main" id="{67966031-B33E-4A76-87D8-78A34314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7404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19" name="ft-line">
            <a:extLst xmlns:a="http://schemas.openxmlformats.org/drawingml/2006/main">
              <a:ext uri="{FF2B5EF4-FFF2-40B4-BE49-F238E27FC236}">
                <a16:creationId xmlns:a16="http://schemas.microsoft.com/office/drawing/2014/main" id="{4A5D5D2B-658A-41CE-80EC-CEB1ED2B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ft-brand">
            <a:extLst xmlns:a="http://schemas.openxmlformats.org/drawingml/2006/main">
              <a:ext uri="{FF2B5EF4-FFF2-40B4-BE49-F238E27FC236}">
                <a16:creationId xmlns:a16="http://schemas.microsoft.com/office/drawing/2014/main" id="{F6D213BB-7740-40BB-A059-8B03A718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21" name="ft-page">
            <a:extLst xmlns:a="http://schemas.openxmlformats.org/drawingml/2006/main">
              <a:ext uri="{FF2B5EF4-FFF2-40B4-BE49-F238E27FC236}">
                <a16:creationId xmlns:a16="http://schemas.microsoft.com/office/drawing/2014/main" id="{E1E7FFE6-C03C-4BB7-9502-9F9FB0F8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29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9888095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FC11B687-94BB-49AE-BC38-821B88F0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B281CEE1-ACA6-4713-A270-EC5DB521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5　核心实现与验证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F16899EA-3A58-4B1E-B523-9C06B19A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258E5082-5CFC-4B6C-95C4-DA79EF78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q1-title">
            <a:extLst xmlns:a="http://schemas.openxmlformats.org/drawingml/2006/main">
              <a:ext uri="{FF2B5EF4-FFF2-40B4-BE49-F238E27FC236}">
                <a16:creationId xmlns:a16="http://schemas.microsoft.com/office/drawing/2014/main" id="{F7EF38EE-440C-4819-AC26-232678D7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主单明细分离 MASTER–DETAIL</a:t>
            </a:r>
            <a:endParaRPr sz="1500"/>
          </a:p>
        </p:txBody>
      </p:sp>
      <p:sp>
        <p:nvSpPr>
          <p:cNvPr id="7" name="q1-body">
            <a:extLst xmlns:a="http://schemas.openxmlformats.org/drawingml/2006/main">
              <a:ext uri="{FF2B5EF4-FFF2-40B4-BE49-F238E27FC236}">
                <a16:creationId xmlns:a16="http://schemas.microsoft.com/office/drawing/2014/main" id="{41436637-DDE8-408E-91F3-56A95323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tasks 存公共字段与状态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三类明细弱实体 (task_id, detail_no)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复合主键关联主单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结构差异大的字段不混入主单</a:t>
            </a:r>
            <a:endParaRPr sz="1100"/>
          </a:p>
        </p:txBody>
      </p:sp>
      <p:sp>
        <p:nvSpPr>
          <p:cNvPr id="8" name="q2-title">
            <a:extLst xmlns:a="http://schemas.openxmlformats.org/drawingml/2006/main">
              <a:ext uri="{FF2B5EF4-FFF2-40B4-BE49-F238E27FC236}">
                <a16:creationId xmlns:a16="http://schemas.microsoft.com/office/drawing/2014/main" id="{0D526BD5-2C1B-43D7-AE12-6312EBE5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有效性约束 VALIDITY</a:t>
            </a:r>
            <a:endParaRPr sz="1500"/>
          </a:p>
        </p:txBody>
      </p:sp>
      <p:sp>
        <p:nvSpPr>
          <p:cNvPr id="9" name="q2-body">
            <a:extLst xmlns:a="http://schemas.openxmlformats.org/drawingml/2006/main">
              <a:ext uri="{FF2B5EF4-FFF2-40B4-BE49-F238E27FC236}">
                <a16:creationId xmlns:a16="http://schemas.microsoft.com/office/drawing/2014/main" id="{20A217C8-F008-4D71-9218-42C8C711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(publisher_user_id, address_no) 外键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(service_type_id, node_id) 外键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task_price CHECK ≥ 0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非法组合在数据库层被拒绝</a:t>
            </a:r>
            <a:endParaRPr sz="1100"/>
          </a:p>
        </p:txBody>
      </p:sp>
      <p:sp>
        <p:nvSpPr>
          <p:cNvPr id="10" name="q3-title">
            <a:extLst xmlns:a="http://schemas.openxmlformats.org/drawingml/2006/main">
              <a:ext uri="{FF2B5EF4-FFF2-40B4-BE49-F238E27FC236}">
                <a16:creationId xmlns:a16="http://schemas.microsoft.com/office/drawing/2014/main" id="{E9288FC3-82C6-4D9B-917F-6B7B1D1B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核心产出 DELIVERABLES</a:t>
            </a:r>
            <a:endParaRPr sz="1500"/>
          </a:p>
        </p:txBody>
      </p:sp>
      <p:sp>
        <p:nvSpPr>
          <p:cNvPr id="11" name="q3-body">
            <a:extLst xmlns:a="http://schemas.openxmlformats.org/drawingml/2006/main">
              <a:ext uri="{FF2B5EF4-FFF2-40B4-BE49-F238E27FC236}">
                <a16:creationId xmlns:a16="http://schemas.microsoft.com/office/drawing/2014/main" id="{69FE6AC8-96C7-4056-BD05-3D8252ED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三类任务发布 / 详情 / 取消功能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我的任务列表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与任务大厅以 WAITING 状态衔接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取消仅限 WAITING 自助操作</a:t>
            </a:r>
            <a:endParaRPr sz="1100"/>
          </a:p>
        </p:txBody>
      </p:sp>
      <p:sp>
        <p:nvSpPr>
          <p:cNvPr id="12" name="q4-title">
            <a:extLst xmlns:a="http://schemas.openxmlformats.org/drawingml/2006/main">
              <a:ext uri="{FF2B5EF4-FFF2-40B4-BE49-F238E27FC236}">
                <a16:creationId xmlns:a16="http://schemas.microsoft.com/office/drawing/2014/main" id="{4AC4B76F-BDFF-4067-9803-FC18327D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测试验证 EVIDENCE</a:t>
            </a:r>
            <a:endParaRPr sz="1500"/>
          </a:p>
        </p:txBody>
      </p:sp>
      <p:sp>
        <p:nvSpPr>
          <p:cNvPr id="13" name="q4-body">
            <a:extLst xmlns:a="http://schemas.openxmlformats.org/drawingml/2006/main">
              <a:ext uri="{FF2B5EF4-FFF2-40B4-BE49-F238E27FC236}">
                <a16:creationId xmlns:a16="http://schemas.microsoft.com/office/drawing/2014/main" id="{CEA4EDC7-77E0-4F3B-9367-C98A9CED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TC-TASK-01 ～ 08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用例见 docs/test-plan.md · 证据待归档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含三类明细表单写校验 SQL 证据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答辩前完成归档</a:t>
            </a:r>
            <a:endParaRPr sz="1100"/>
          </a:p>
        </p:txBody>
      </p:sp>
      <p:sp>
        <p:nvSpPr>
          <p:cNvPr id="14" name="h-div">
            <a:extLst xmlns:a="http://schemas.openxmlformats.org/drawingml/2006/main">
              <a:ext uri="{FF2B5EF4-FFF2-40B4-BE49-F238E27FC236}">
                <a16:creationId xmlns:a16="http://schemas.microsoft.com/office/drawing/2014/main" id="{2530502F-0BB5-4E8A-A986-09360FA6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581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v-div">
            <a:extLst xmlns:a="http://schemas.openxmlformats.org/drawingml/2006/main">
              <a:ext uri="{FF2B5EF4-FFF2-40B4-BE49-F238E27FC236}">
                <a16:creationId xmlns:a16="http://schemas.microsoft.com/office/drawing/2014/main" id="{EECB5BA3-4913-4CAC-A8BF-F1AD4C2B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44600"/>
            <a:ext cx="12700" cy="467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bj-concl">
            <a:extLst xmlns:a="http://schemas.openxmlformats.org/drawingml/2006/main">
              <a:ext uri="{FF2B5EF4-FFF2-40B4-BE49-F238E27FC236}">
                <a16:creationId xmlns:a16="http://schemas.microsoft.com/office/drawing/2014/main" id="{8B25A995-6501-426D-A531-F242F617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070600"/>
            <a:ext cx="1117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主单明细分离 · 组合外键 · 弱实体建模</a:t>
            </a:r>
            <a:endParaRPr sz="1200"/>
          </a:p>
        </p:txBody>
      </p:sp>
      <p:sp>
        <p:nvSpPr>
          <p:cNvPr id="17" name="ft-line">
            <a:extLst xmlns:a="http://schemas.openxmlformats.org/drawingml/2006/main">
              <a:ext uri="{FF2B5EF4-FFF2-40B4-BE49-F238E27FC236}">
                <a16:creationId xmlns:a16="http://schemas.microsoft.com/office/drawing/2014/main" id="{2D39210B-E461-4011-9816-47B194B4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t-brand">
            <a:extLst xmlns:a="http://schemas.openxmlformats.org/drawingml/2006/main">
              <a:ext uri="{FF2B5EF4-FFF2-40B4-BE49-F238E27FC236}">
                <a16:creationId xmlns:a16="http://schemas.microsoft.com/office/drawing/2014/main" id="{EFCEFB15-7FCA-4562-8917-307F14A1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9" name="ft-page">
            <a:extLst xmlns:a="http://schemas.openxmlformats.org/drawingml/2006/main">
              <a:ext uri="{FF2B5EF4-FFF2-40B4-BE49-F238E27FC236}">
                <a16:creationId xmlns:a16="http://schemas.microsoft.com/office/drawing/2014/main" id="{E77999E8-AB39-478A-8BB5-DBD48A83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30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8717511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0A162E6F-2770-45A8-AB86-8218F49C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74866647-131F-4DA1-9B08-10799DCD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6　接单派单与状态流转模块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07B5FCDE-9A77-47A3-BCF2-99CBC940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E0B44222-254A-450D-9363-72655533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dl-label">
            <a:extLst xmlns:a="http://schemas.openxmlformats.org/drawingml/2006/main">
              <a:ext uri="{FF2B5EF4-FFF2-40B4-BE49-F238E27FC236}">
                <a16:creationId xmlns:a16="http://schemas.microsoft.com/office/drawing/2014/main" id="{38F43400-5428-4DC6-AB63-0B3ACEBD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职责与主导数据</a:t>
            </a:r>
            <a:endParaRPr sz="1200"/>
          </a:p>
        </p:txBody>
      </p:sp>
      <p:sp>
        <p:nvSpPr>
          <p:cNvPr id="7" name="dg1">
            <a:extLst xmlns:a="http://schemas.openxmlformats.org/drawingml/2006/main">
              <a:ext uri="{FF2B5EF4-FFF2-40B4-BE49-F238E27FC236}">
                <a16:creationId xmlns:a16="http://schemas.microsoft.com/office/drawing/2014/main" id="{FF9038F9-AFA8-458B-B72B-0A1EC7BA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002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角色定位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接单派单与状态流转负责人，覆盖抢单到送达</a:t>
            </a:r>
            <a:endParaRPr sz="1200"/>
          </a:p>
        </p:txBody>
      </p:sp>
      <p:sp>
        <p:nvSpPr>
          <p:cNvPr id="8" name="dg1-line">
            <a:extLst xmlns:a="http://schemas.openxmlformats.org/drawingml/2006/main">
              <a:ext uri="{FF2B5EF4-FFF2-40B4-BE49-F238E27FC236}">
                <a16:creationId xmlns:a16="http://schemas.microsoft.com/office/drawing/2014/main" id="{E572C9CE-FCEB-4DA0-8238-ED368E67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5400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dg2">
            <a:extLst xmlns:a="http://schemas.openxmlformats.org/drawingml/2006/main">
              <a:ext uri="{FF2B5EF4-FFF2-40B4-BE49-F238E27FC236}">
                <a16:creationId xmlns:a16="http://schemas.microsoft.com/office/drawing/2014/main" id="{2FE9CE8D-4481-42F7-B2AF-7DCEE12E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7178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负责模块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任务大厅 · 抢单 · 管理员派单 / 重派 · 状态更新 · 状态日志</a:t>
            </a:r>
            <a:endParaRPr sz="1200"/>
          </a:p>
        </p:txBody>
      </p:sp>
      <p:sp>
        <p:nvSpPr>
          <p:cNvPr id="10" name="dg2-line">
            <a:extLst xmlns:a="http://schemas.openxmlformats.org/drawingml/2006/main">
              <a:ext uri="{FF2B5EF4-FFF2-40B4-BE49-F238E27FC236}">
                <a16:creationId xmlns:a16="http://schemas.microsoft.com/office/drawing/2014/main" id="{0CFA434E-6197-4232-A835-848C0A80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6576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dg3">
            <a:extLst xmlns:a="http://schemas.openxmlformats.org/drawingml/2006/main">
              <a:ext uri="{FF2B5EF4-FFF2-40B4-BE49-F238E27FC236}">
                <a16:creationId xmlns:a16="http://schemas.microsoft.com/office/drawing/2014/main" id="{0B3C967A-81DD-45DF-8B89-3F1628B7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8354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主导数据表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assign_records · task_status_logs</a:t>
            </a:r>
            <a:endParaRPr sz="1200"/>
          </a:p>
        </p:txBody>
      </p:sp>
      <p:sp>
        <p:nvSpPr>
          <p:cNvPr id="12" name="dg3-line">
            <a:extLst xmlns:a="http://schemas.openxmlformats.org/drawingml/2006/main">
              <a:ext uri="{FF2B5EF4-FFF2-40B4-BE49-F238E27FC236}">
                <a16:creationId xmlns:a16="http://schemas.microsoft.com/office/drawing/2014/main" id="{F720EB4B-6C1F-4EAE-9EEA-B1A26E66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7752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dg4">
            <a:extLst xmlns:a="http://schemas.openxmlformats.org/drawingml/2006/main">
              <a:ext uri="{FF2B5EF4-FFF2-40B4-BE49-F238E27FC236}">
                <a16:creationId xmlns:a16="http://schemas.microsoft.com/office/drawing/2014/main" id="{4D3DE60F-8309-4E84-8FB1-97AC9FCC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9530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核心产出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抢单派单与状态流转功能</a:t>
            </a:r>
            <a:endParaRPr sz="1200"/>
          </a:p>
        </p:txBody>
      </p:sp>
      <p:sp>
        <p:nvSpPr>
          <p:cNvPr id="14" name="vdiv">
            <a:extLst xmlns:a="http://schemas.openxmlformats.org/drawingml/2006/main">
              <a:ext uri="{FF2B5EF4-FFF2-40B4-BE49-F238E27FC236}">
                <a16:creationId xmlns:a16="http://schemas.microsoft.com/office/drawing/2014/main" id="{AAAEA59E-9FF5-44B6-AFEF-2DFB4457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19200"/>
            <a:ext cx="127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nf-label">
            <a:extLst xmlns:a="http://schemas.openxmlformats.org/drawingml/2006/main">
              <a:ext uri="{FF2B5EF4-FFF2-40B4-BE49-F238E27FC236}">
                <a16:creationId xmlns:a16="http://schemas.microsoft.com/office/drawing/2014/main" id="{EC1B053C-9E5E-4574-AD9D-31ECE6A0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模块衔接（输入 / 输出）</a:t>
            </a:r>
            <a:endParaRPr sz="1200"/>
          </a:p>
        </p:txBody>
      </p:sp>
      <p:sp>
        <p:nvSpPr>
          <p:cNvPr id="16" name="nf-body">
            <a:extLst xmlns:a="http://schemas.openxmlformats.org/drawingml/2006/main">
              <a:ext uri="{FF2B5EF4-FFF2-40B4-BE49-F238E27FC236}">
                <a16:creationId xmlns:a16="http://schemas.microsoft.com/office/drawing/2014/main" id="{0A836BB3-C781-41B4-BFD0-BC4D0806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00200"/>
            <a:ext cx="5080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上游输入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WAITING 任务与跑腿员接单请求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本模块输出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接派记录与状态日志，推进至 WAIT_CONFIRM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衔接约束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行锁互斥 · 状态变更同事务留痕</a:t>
            </a:r>
            <a:endParaRPr sz="1200"/>
          </a:p>
        </p:txBody>
      </p:sp>
      <p:sp>
        <p:nvSpPr>
          <p:cNvPr id="17" name="nf-line">
            <a:extLst xmlns:a="http://schemas.openxmlformats.org/drawingml/2006/main">
              <a:ext uri="{FF2B5EF4-FFF2-40B4-BE49-F238E27FC236}">
                <a16:creationId xmlns:a16="http://schemas.microsoft.com/office/drawing/2014/main" id="{AFC5FA51-83D9-4E4D-ABFF-C6A3D285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588000"/>
            <a:ext cx="5080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nf-note">
            <a:extLst xmlns:a="http://schemas.openxmlformats.org/drawingml/2006/main">
              <a:ext uri="{FF2B5EF4-FFF2-40B4-BE49-F238E27FC236}">
                <a16:creationId xmlns:a16="http://schemas.microsoft.com/office/drawing/2014/main" id="{7C0A107A-78DB-41D6-8545-A93F3034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7404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19" name="ft-line">
            <a:extLst xmlns:a="http://schemas.openxmlformats.org/drawingml/2006/main">
              <a:ext uri="{FF2B5EF4-FFF2-40B4-BE49-F238E27FC236}">
                <a16:creationId xmlns:a16="http://schemas.microsoft.com/office/drawing/2014/main" id="{F83057AA-2F0D-4FE2-A929-61962D5B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ft-brand">
            <a:extLst xmlns:a="http://schemas.openxmlformats.org/drawingml/2006/main">
              <a:ext uri="{FF2B5EF4-FFF2-40B4-BE49-F238E27FC236}">
                <a16:creationId xmlns:a16="http://schemas.microsoft.com/office/drawing/2014/main" id="{E54F589A-C7EB-4DC3-BE9F-70286178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21" name="ft-page">
            <a:extLst xmlns:a="http://schemas.openxmlformats.org/drawingml/2006/main">
              <a:ext uri="{FF2B5EF4-FFF2-40B4-BE49-F238E27FC236}">
                <a16:creationId xmlns:a16="http://schemas.microsoft.com/office/drawing/2014/main" id="{5AECA7E7-5949-48FD-A68A-BCA8E387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31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1317912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53E2CE3D-35DB-4F99-BA6C-79F7DEB2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489A7868-EC02-4F99-8048-2F533DBA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6　核心实现与验证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2C9C0DF0-0501-4C76-82D9-A5FF3C37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87B8E35D-D39C-4758-B848-892CC06F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q1-title">
            <a:extLst xmlns:a="http://schemas.openxmlformats.org/drawingml/2006/main">
              <a:ext uri="{FF2B5EF4-FFF2-40B4-BE49-F238E27FC236}">
                <a16:creationId xmlns:a16="http://schemas.microsoft.com/office/drawing/2014/main" id="{A9D9D470-4B51-4164-AC98-65351D1D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并发抢单 CLAIM</a:t>
            </a:r>
            <a:endParaRPr sz="1500"/>
          </a:p>
        </p:txBody>
      </p:sp>
      <p:sp>
        <p:nvSpPr>
          <p:cNvPr id="7" name="q1-body">
            <a:extLst xmlns:a="http://schemas.openxmlformats.org/drawingml/2006/main">
              <a:ext uri="{FF2B5EF4-FFF2-40B4-BE49-F238E27FC236}">
                <a16:creationId xmlns:a16="http://schemas.microsoft.com/office/drawing/2014/main" id="{F5D0287A-541A-4E11-A906-F3F07889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idx_tasks_status 检索任务大厅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→ SELECT … FOR UPDATE 行锁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→ 状态校验 → 同事务写记录与日志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后到事务校验失败，重复接单消除</a:t>
            </a:r>
            <a:endParaRPr sz="1100"/>
          </a:p>
        </p:txBody>
      </p:sp>
      <p:sp>
        <p:nvSpPr>
          <p:cNvPr id="8" name="q2-title">
            <a:extLst xmlns:a="http://schemas.openxmlformats.org/drawingml/2006/main">
              <a:ext uri="{FF2B5EF4-FFF2-40B4-BE49-F238E27FC236}">
                <a16:creationId xmlns:a16="http://schemas.microsoft.com/office/drawing/2014/main" id="{7CDC678C-BF23-4B45-A668-3FFD8EFD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派单与重派 DISPATCH</a:t>
            </a:r>
            <a:endParaRPr sz="1500"/>
          </a:p>
        </p:txBody>
      </p:sp>
      <p:sp>
        <p:nvSpPr>
          <p:cNvPr id="9" name="q2-body">
            <a:extLst xmlns:a="http://schemas.openxmlformats.org/drawingml/2006/main">
              <a:ext uri="{FF2B5EF4-FFF2-40B4-BE49-F238E27FC236}">
                <a16:creationId xmlns:a16="http://schemas.microsoft.com/office/drawing/2014/main" id="{08D07F3E-BE46-45CB-9CD3-4578D154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operation_type：SELF / ADMIN / REASSIGN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重派绑定原记录并写重派原因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状态流转全程绑定接派记录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多单承接与重派流程已优化</a:t>
            </a:r>
            <a:endParaRPr sz="1100"/>
          </a:p>
        </p:txBody>
      </p:sp>
      <p:sp>
        <p:nvSpPr>
          <p:cNvPr id="10" name="q3-title">
            <a:extLst xmlns:a="http://schemas.openxmlformats.org/drawingml/2006/main">
              <a:ext uri="{FF2B5EF4-FFF2-40B4-BE49-F238E27FC236}">
                <a16:creationId xmlns:a16="http://schemas.microsoft.com/office/drawing/2014/main" id="{4DBF30DD-78FB-445F-92A2-02C12DC6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核心产出 DELIVERABLES</a:t>
            </a:r>
            <a:endParaRPr sz="1500"/>
          </a:p>
        </p:txBody>
      </p:sp>
      <p:sp>
        <p:nvSpPr>
          <p:cNvPr id="11" name="q3-body">
            <a:extLst xmlns:a="http://schemas.openxmlformats.org/drawingml/2006/main">
              <a:ext uri="{FF2B5EF4-FFF2-40B4-BE49-F238E27FC236}">
                <a16:creationId xmlns:a16="http://schemas.microsoft.com/office/drawing/2014/main" id="{50FD7337-FA19-4E14-96EE-4DEAC7C3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任务大厅 / 抢单 / 派单 / 重派功能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状态更新与状态日志功能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与支付模块以 WAIT_CONFIRM 衔接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已接派任务不再进入任务大厅</a:t>
            </a:r>
            <a:endParaRPr sz="1100"/>
          </a:p>
        </p:txBody>
      </p:sp>
      <p:sp>
        <p:nvSpPr>
          <p:cNvPr id="12" name="q4-title">
            <a:extLst xmlns:a="http://schemas.openxmlformats.org/drawingml/2006/main">
              <a:ext uri="{FF2B5EF4-FFF2-40B4-BE49-F238E27FC236}">
                <a16:creationId xmlns:a16="http://schemas.microsoft.com/office/drawing/2014/main" id="{7C59D88E-7B83-4461-9409-1974418F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测试验证 EVIDENCE</a:t>
            </a:r>
            <a:endParaRPr sz="1500"/>
          </a:p>
        </p:txBody>
      </p:sp>
      <p:sp>
        <p:nvSpPr>
          <p:cNvPr id="13" name="q4-body">
            <a:extLst xmlns:a="http://schemas.openxmlformats.org/drawingml/2006/main">
              <a:ext uri="{FF2B5EF4-FFF2-40B4-BE49-F238E27FC236}">
                <a16:creationId xmlns:a16="http://schemas.microsoft.com/office/drawing/2014/main" id="{31E02B8D-AC3A-4D54-8941-AA7AB1EC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TC-ASSIGN-01 ～ 09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用例见 docs/test-plan.md · 证据待归档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并发抢单用例需双会话截图与 SQL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答辩前完成归档</a:t>
            </a:r>
            <a:endParaRPr sz="1100"/>
          </a:p>
        </p:txBody>
      </p:sp>
      <p:sp>
        <p:nvSpPr>
          <p:cNvPr id="14" name="h-div">
            <a:extLst xmlns:a="http://schemas.openxmlformats.org/drawingml/2006/main">
              <a:ext uri="{FF2B5EF4-FFF2-40B4-BE49-F238E27FC236}">
                <a16:creationId xmlns:a16="http://schemas.microsoft.com/office/drawing/2014/main" id="{C99D0803-AC80-4206-94BB-D3CCF408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581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v-div">
            <a:extLst xmlns:a="http://schemas.openxmlformats.org/drawingml/2006/main">
              <a:ext uri="{FF2B5EF4-FFF2-40B4-BE49-F238E27FC236}">
                <a16:creationId xmlns:a16="http://schemas.microsoft.com/office/drawing/2014/main" id="{785C8B64-D8D9-41DD-8D28-4D378697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44600"/>
            <a:ext cx="12700" cy="467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bj-concl">
            <a:extLst xmlns:a="http://schemas.openxmlformats.org/drawingml/2006/main">
              <a:ext uri="{FF2B5EF4-FFF2-40B4-BE49-F238E27FC236}">
                <a16:creationId xmlns:a16="http://schemas.microsoft.com/office/drawing/2014/main" id="{98930C46-4DC1-42E8-96BE-B0AEA542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070600"/>
            <a:ext cx="1117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行锁互斥 · 同事务留痕 · 状态机驱动</a:t>
            </a:r>
            <a:endParaRPr sz="1200"/>
          </a:p>
        </p:txBody>
      </p:sp>
      <p:sp>
        <p:nvSpPr>
          <p:cNvPr id="17" name="ft-line">
            <a:extLst xmlns:a="http://schemas.openxmlformats.org/drawingml/2006/main">
              <a:ext uri="{FF2B5EF4-FFF2-40B4-BE49-F238E27FC236}">
                <a16:creationId xmlns:a16="http://schemas.microsoft.com/office/drawing/2014/main" id="{D33349E1-536E-440B-ABA1-210C00B1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t-brand">
            <a:extLst xmlns:a="http://schemas.openxmlformats.org/drawingml/2006/main">
              <a:ext uri="{FF2B5EF4-FFF2-40B4-BE49-F238E27FC236}">
                <a16:creationId xmlns:a16="http://schemas.microsoft.com/office/drawing/2014/main" id="{34D34C4E-216A-49DB-8CA2-C8EBC07D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9" name="ft-page">
            <a:extLst xmlns:a="http://schemas.openxmlformats.org/drawingml/2006/main">
              <a:ext uri="{FF2B5EF4-FFF2-40B4-BE49-F238E27FC236}">
                <a16:creationId xmlns:a16="http://schemas.microsoft.com/office/drawing/2014/main" id="{18FAAB99-4D4E-41B4-B1AB-B3E61675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32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0080345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58EC0973-1FC5-487E-9EC6-E7960D82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28D1CCED-F683-4EC1-9426-112217A0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7　收货后支付与退款模块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4E5053A6-60D7-4E77-AA28-D2C5CE31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600D9744-2147-4755-BD62-5DC423B7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dl-label">
            <a:extLst xmlns:a="http://schemas.openxmlformats.org/drawingml/2006/main">
              <a:ext uri="{FF2B5EF4-FFF2-40B4-BE49-F238E27FC236}">
                <a16:creationId xmlns:a16="http://schemas.microsoft.com/office/drawing/2014/main" id="{60E10E31-9E09-410E-B9D5-CF97944B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职责与主导数据</a:t>
            </a:r>
            <a:endParaRPr sz="1200"/>
          </a:p>
        </p:txBody>
      </p:sp>
      <p:sp>
        <p:nvSpPr>
          <p:cNvPr id="7" name="dg1">
            <a:extLst xmlns:a="http://schemas.openxmlformats.org/drawingml/2006/main">
              <a:ext uri="{FF2B5EF4-FFF2-40B4-BE49-F238E27FC236}">
                <a16:creationId xmlns:a16="http://schemas.microsoft.com/office/drawing/2014/main" id="{BDF3644D-3711-465A-9382-B38A7682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002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角色定位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收货后支付与退款模块负责人</a:t>
            </a:r>
            <a:endParaRPr sz="1200"/>
          </a:p>
        </p:txBody>
      </p:sp>
      <p:sp>
        <p:nvSpPr>
          <p:cNvPr id="8" name="dg1-line">
            <a:extLst xmlns:a="http://schemas.openxmlformats.org/drawingml/2006/main">
              <a:ext uri="{FF2B5EF4-FFF2-40B4-BE49-F238E27FC236}">
                <a16:creationId xmlns:a16="http://schemas.microsoft.com/office/drawing/2014/main" id="{B77F5F72-9B34-409E-B8D3-B5CCE75F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5400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dg2">
            <a:extLst xmlns:a="http://schemas.openxmlformats.org/drawingml/2006/main">
              <a:ext uri="{FF2B5EF4-FFF2-40B4-BE49-F238E27FC236}">
                <a16:creationId xmlns:a16="http://schemas.microsoft.com/office/drawing/2014/main" id="{6C5F425E-1D1B-4BA1-A437-B526DA8D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7178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负责模块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收货确认支付 · 支付记录 · 退款登记 · 退款审核 · 状态联动</a:t>
            </a:r>
            <a:endParaRPr sz="1200"/>
          </a:p>
        </p:txBody>
      </p:sp>
      <p:sp>
        <p:nvSpPr>
          <p:cNvPr id="10" name="dg2-line">
            <a:extLst xmlns:a="http://schemas.openxmlformats.org/drawingml/2006/main">
              <a:ext uri="{FF2B5EF4-FFF2-40B4-BE49-F238E27FC236}">
                <a16:creationId xmlns:a16="http://schemas.microsoft.com/office/drawing/2014/main" id="{952E8700-2BC0-472E-91AB-AE096466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6576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dg3">
            <a:extLst xmlns:a="http://schemas.openxmlformats.org/drawingml/2006/main">
              <a:ext uri="{FF2B5EF4-FFF2-40B4-BE49-F238E27FC236}">
                <a16:creationId xmlns:a16="http://schemas.microsoft.com/office/drawing/2014/main" id="{81AC7EF1-6E21-47FF-BC99-6E202921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8354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主导数据表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payments · refunds</a:t>
            </a:r>
            <a:endParaRPr sz="1200"/>
          </a:p>
        </p:txBody>
      </p:sp>
      <p:sp>
        <p:nvSpPr>
          <p:cNvPr id="12" name="dg3-line">
            <a:extLst xmlns:a="http://schemas.openxmlformats.org/drawingml/2006/main">
              <a:ext uri="{FF2B5EF4-FFF2-40B4-BE49-F238E27FC236}">
                <a16:creationId xmlns:a16="http://schemas.microsoft.com/office/drawing/2014/main" id="{9AF71108-A4A4-487D-9336-7FFB7106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7752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dg4">
            <a:extLst xmlns:a="http://schemas.openxmlformats.org/drawingml/2006/main">
              <a:ext uri="{FF2B5EF4-FFF2-40B4-BE49-F238E27FC236}">
                <a16:creationId xmlns:a16="http://schemas.microsoft.com/office/drawing/2014/main" id="{35BAD8C9-B327-4652-89BC-EA4E2553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9530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核心产出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支付与退款全流程功能</a:t>
            </a:r>
            <a:endParaRPr sz="1200"/>
          </a:p>
        </p:txBody>
      </p:sp>
      <p:sp>
        <p:nvSpPr>
          <p:cNvPr id="14" name="vdiv">
            <a:extLst xmlns:a="http://schemas.openxmlformats.org/drawingml/2006/main">
              <a:ext uri="{FF2B5EF4-FFF2-40B4-BE49-F238E27FC236}">
                <a16:creationId xmlns:a16="http://schemas.microsoft.com/office/drawing/2014/main" id="{6EF4E057-9BC3-425A-B4B1-81F5EEB7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19200"/>
            <a:ext cx="127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nf-label">
            <a:extLst xmlns:a="http://schemas.openxmlformats.org/drawingml/2006/main">
              <a:ext uri="{FF2B5EF4-FFF2-40B4-BE49-F238E27FC236}">
                <a16:creationId xmlns:a16="http://schemas.microsoft.com/office/drawing/2014/main" id="{F98457EB-6A55-41A2-AA54-86A4EC55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模块衔接（输入 / 输出）</a:t>
            </a:r>
            <a:endParaRPr sz="1200"/>
          </a:p>
        </p:txBody>
      </p:sp>
      <p:sp>
        <p:nvSpPr>
          <p:cNvPr id="16" name="nf-body">
            <a:extLst xmlns:a="http://schemas.openxmlformats.org/drawingml/2006/main">
              <a:ext uri="{FF2B5EF4-FFF2-40B4-BE49-F238E27FC236}">
                <a16:creationId xmlns:a16="http://schemas.microsoft.com/office/drawing/2014/main" id="{4DD9494D-8421-44D3-8B0C-ECB69F5F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00200"/>
            <a:ext cx="5080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上游输入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WAIT_CONFIRM 任务的确认收货操作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本模块输出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PAID 支付单与退款流水，触发结算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衔接约束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支付流水号唯一 · 已结算订单限制退款</a:t>
            </a:r>
            <a:endParaRPr sz="1200"/>
          </a:p>
        </p:txBody>
      </p:sp>
      <p:sp>
        <p:nvSpPr>
          <p:cNvPr id="17" name="nf-line">
            <a:extLst xmlns:a="http://schemas.openxmlformats.org/drawingml/2006/main">
              <a:ext uri="{FF2B5EF4-FFF2-40B4-BE49-F238E27FC236}">
                <a16:creationId xmlns:a16="http://schemas.microsoft.com/office/drawing/2014/main" id="{0C39F540-F232-4C65-A8FB-8758425B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588000"/>
            <a:ext cx="5080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nf-note">
            <a:extLst xmlns:a="http://schemas.openxmlformats.org/drawingml/2006/main">
              <a:ext uri="{FF2B5EF4-FFF2-40B4-BE49-F238E27FC236}">
                <a16:creationId xmlns:a16="http://schemas.microsoft.com/office/drawing/2014/main" id="{54D66FDF-16E3-4C3C-9BF0-B5B3CB87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7404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19" name="ft-line">
            <a:extLst xmlns:a="http://schemas.openxmlformats.org/drawingml/2006/main">
              <a:ext uri="{FF2B5EF4-FFF2-40B4-BE49-F238E27FC236}">
                <a16:creationId xmlns:a16="http://schemas.microsoft.com/office/drawing/2014/main" id="{0088E749-6B13-4A07-91FE-B70FE9E1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ft-brand">
            <a:extLst xmlns:a="http://schemas.openxmlformats.org/drawingml/2006/main">
              <a:ext uri="{FF2B5EF4-FFF2-40B4-BE49-F238E27FC236}">
                <a16:creationId xmlns:a16="http://schemas.microsoft.com/office/drawing/2014/main" id="{58BD12A4-59E9-4A3E-A02B-71AA282A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21" name="ft-page">
            <a:extLst xmlns:a="http://schemas.openxmlformats.org/drawingml/2006/main">
              <a:ext uri="{FF2B5EF4-FFF2-40B4-BE49-F238E27FC236}">
                <a16:creationId xmlns:a16="http://schemas.microsoft.com/office/drawing/2014/main" id="{7F4DD8B6-DDE4-4C16-8D95-EFCE8411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33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4064500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99ACE8A5-03C0-4A49-846D-E43EF014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21362946-5F1D-4C13-95EE-788ABE04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7　核心实现与验证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DC8A43ED-F682-435B-9776-99852E73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5BB6645C-9CAC-42CA-8E36-CFAF8C05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q1-title">
            <a:extLst xmlns:a="http://schemas.openxmlformats.org/drawingml/2006/main">
              <a:ext uri="{FF2B5EF4-FFF2-40B4-BE49-F238E27FC236}">
                <a16:creationId xmlns:a16="http://schemas.microsoft.com/office/drawing/2014/main" id="{E81FDADA-069F-4D92-8E6E-533C5574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支付联动 PAYMENT</a:t>
            </a:r>
            <a:endParaRPr sz="1500"/>
          </a:p>
        </p:txBody>
      </p:sp>
      <p:sp>
        <p:nvSpPr>
          <p:cNvPr id="7" name="q1-body">
            <a:extLst xmlns:a="http://schemas.openxmlformats.org/drawingml/2006/main">
              <a:ext uri="{FF2B5EF4-FFF2-40B4-BE49-F238E27FC236}">
                <a16:creationId xmlns:a16="http://schemas.microsoft.com/office/drawing/2014/main" id="{16FFE0B9-07E2-4CB8-A476-46893942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确认收货生成支付单 → PAID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pay_status 状态机流转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uk_payments_trade_no 流水号唯一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支付与任务状态同事务推进</a:t>
            </a:r>
            <a:endParaRPr sz="1100"/>
          </a:p>
        </p:txBody>
      </p:sp>
      <p:sp>
        <p:nvSpPr>
          <p:cNvPr id="8" name="q2-title">
            <a:extLst xmlns:a="http://schemas.openxmlformats.org/drawingml/2006/main">
              <a:ext uri="{FF2B5EF4-FFF2-40B4-BE49-F238E27FC236}">
                <a16:creationId xmlns:a16="http://schemas.microsoft.com/office/drawing/2014/main" id="{F301C634-5B49-49CD-9248-A42B0382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退款审核 REFUND</a:t>
            </a:r>
            <a:endParaRPr sz="1500"/>
          </a:p>
        </p:txBody>
      </p:sp>
      <p:sp>
        <p:nvSpPr>
          <p:cNvPr id="9" name="q2-body">
            <a:extLst xmlns:a="http://schemas.openxmlformats.org/drawingml/2006/main">
              <a:ext uri="{FF2B5EF4-FFF2-40B4-BE49-F238E27FC236}">
                <a16:creationId xmlns:a16="http://schemas.microsoft.com/office/drawing/2014/main" id="{1C29DECB-BC24-4527-8DD4-C5A6E96C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退款登记 → 管理员审核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退款状态与订单状态联动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已结算订单禁止普通退款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资金操作失败整体回滚</a:t>
            </a:r>
            <a:endParaRPr sz="1100"/>
          </a:p>
        </p:txBody>
      </p:sp>
      <p:sp>
        <p:nvSpPr>
          <p:cNvPr id="10" name="q3-title">
            <a:extLst xmlns:a="http://schemas.openxmlformats.org/drawingml/2006/main">
              <a:ext uri="{FF2B5EF4-FFF2-40B4-BE49-F238E27FC236}">
                <a16:creationId xmlns:a16="http://schemas.microsoft.com/office/drawing/2014/main" id="{F5FAF3DF-2E81-4667-B66C-21728066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核心产出 DELIVERABLES</a:t>
            </a:r>
            <a:endParaRPr sz="1500"/>
          </a:p>
        </p:txBody>
      </p:sp>
      <p:sp>
        <p:nvSpPr>
          <p:cNvPr id="11" name="q3-body">
            <a:extLst xmlns:a="http://schemas.openxmlformats.org/drawingml/2006/main">
              <a:ext uri="{FF2B5EF4-FFF2-40B4-BE49-F238E27FC236}">
                <a16:creationId xmlns:a16="http://schemas.microsoft.com/office/drawing/2014/main" id="{7332C634-091D-4FE8-90C2-6AADC94A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收货确认与支付功能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退款登记 / 审核功能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与结算模块以支付状态衔接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支付时点后置到确认收货</a:t>
            </a:r>
            <a:endParaRPr sz="1100"/>
          </a:p>
        </p:txBody>
      </p:sp>
      <p:sp>
        <p:nvSpPr>
          <p:cNvPr id="12" name="q4-title">
            <a:extLst xmlns:a="http://schemas.openxmlformats.org/drawingml/2006/main">
              <a:ext uri="{FF2B5EF4-FFF2-40B4-BE49-F238E27FC236}">
                <a16:creationId xmlns:a16="http://schemas.microsoft.com/office/drawing/2014/main" id="{3606E4EB-529A-4B46-B4E4-6B91A42A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测试验证 EVIDENCE</a:t>
            </a:r>
            <a:endParaRPr sz="1500"/>
          </a:p>
        </p:txBody>
      </p:sp>
      <p:sp>
        <p:nvSpPr>
          <p:cNvPr id="13" name="q4-body">
            <a:extLst xmlns:a="http://schemas.openxmlformats.org/drawingml/2006/main">
              <a:ext uri="{FF2B5EF4-FFF2-40B4-BE49-F238E27FC236}">
                <a16:creationId xmlns:a16="http://schemas.microsoft.com/office/drawing/2014/main" id="{4572915E-84F2-4FC6-B0CE-9774AA7F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TC-PAY-01 ～ 09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用例见 docs/test-plan.md · 证据待归档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退款 DONE 与结算排除需 SQL 证据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答辩前完成归档</a:t>
            </a:r>
            <a:endParaRPr sz="1100"/>
          </a:p>
        </p:txBody>
      </p:sp>
      <p:sp>
        <p:nvSpPr>
          <p:cNvPr id="14" name="h-div">
            <a:extLst xmlns:a="http://schemas.openxmlformats.org/drawingml/2006/main">
              <a:ext uri="{FF2B5EF4-FFF2-40B4-BE49-F238E27FC236}">
                <a16:creationId xmlns:a16="http://schemas.microsoft.com/office/drawing/2014/main" id="{8F8A812C-9226-46DA-924C-3D54A97C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581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v-div">
            <a:extLst xmlns:a="http://schemas.openxmlformats.org/drawingml/2006/main">
              <a:ext uri="{FF2B5EF4-FFF2-40B4-BE49-F238E27FC236}">
                <a16:creationId xmlns:a16="http://schemas.microsoft.com/office/drawing/2014/main" id="{C7E07524-D5F3-4633-BE2C-762758CF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44600"/>
            <a:ext cx="12700" cy="467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bj-concl">
            <a:extLst xmlns:a="http://schemas.openxmlformats.org/drawingml/2006/main">
              <a:ext uri="{FF2B5EF4-FFF2-40B4-BE49-F238E27FC236}">
                <a16:creationId xmlns:a16="http://schemas.microsoft.com/office/drawing/2014/main" id="{937979C8-819E-4BA7-B9C2-C6A72329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070600"/>
            <a:ext cx="1117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收货后支付 · 流水唯一 · 退款受控</a:t>
            </a:r>
            <a:endParaRPr sz="1200"/>
          </a:p>
        </p:txBody>
      </p:sp>
      <p:sp>
        <p:nvSpPr>
          <p:cNvPr id="17" name="ft-line">
            <a:extLst xmlns:a="http://schemas.openxmlformats.org/drawingml/2006/main">
              <a:ext uri="{FF2B5EF4-FFF2-40B4-BE49-F238E27FC236}">
                <a16:creationId xmlns:a16="http://schemas.microsoft.com/office/drawing/2014/main" id="{891790A6-8E45-471A-A0EA-0486D6A4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t-brand">
            <a:extLst xmlns:a="http://schemas.openxmlformats.org/drawingml/2006/main">
              <a:ext uri="{FF2B5EF4-FFF2-40B4-BE49-F238E27FC236}">
                <a16:creationId xmlns:a16="http://schemas.microsoft.com/office/drawing/2014/main" id="{E3847F32-B77A-4365-B330-FC10520D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9" name="ft-page">
            <a:extLst xmlns:a="http://schemas.openxmlformats.org/drawingml/2006/main">
              <a:ext uri="{FF2B5EF4-FFF2-40B4-BE49-F238E27FC236}">
                <a16:creationId xmlns:a16="http://schemas.microsoft.com/office/drawing/2014/main" id="{8333E005-E0DD-4559-8384-414BDEF3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34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4624662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15394BA7-84EF-47EE-88F5-57947690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B0DA766D-8955-4D0E-8B2E-8E738BF5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8　评价投诉与信誉模块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7D97B6CD-6191-43C7-97D5-E2844D49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944D7FFA-D761-48A4-A65A-10D2B573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dl-label">
            <a:extLst xmlns:a="http://schemas.openxmlformats.org/drawingml/2006/main">
              <a:ext uri="{FF2B5EF4-FFF2-40B4-BE49-F238E27FC236}">
                <a16:creationId xmlns:a16="http://schemas.microsoft.com/office/drawing/2014/main" id="{C5DCAC50-10BA-4515-92BC-FB2723BA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职责与主导数据</a:t>
            </a:r>
            <a:endParaRPr sz="1200"/>
          </a:p>
        </p:txBody>
      </p:sp>
      <p:sp>
        <p:nvSpPr>
          <p:cNvPr id="7" name="dg1">
            <a:extLst xmlns:a="http://schemas.openxmlformats.org/drawingml/2006/main">
              <a:ext uri="{FF2B5EF4-FFF2-40B4-BE49-F238E27FC236}">
                <a16:creationId xmlns:a16="http://schemas.microsoft.com/office/drawing/2014/main" id="{199ACE11-94A8-4187-B738-60EF2658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002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角色定位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评价投诉与信誉模块负责人</a:t>
            </a:r>
            <a:endParaRPr sz="1200"/>
          </a:p>
        </p:txBody>
      </p:sp>
      <p:sp>
        <p:nvSpPr>
          <p:cNvPr id="8" name="dg1-line">
            <a:extLst xmlns:a="http://schemas.openxmlformats.org/drawingml/2006/main">
              <a:ext uri="{FF2B5EF4-FFF2-40B4-BE49-F238E27FC236}">
                <a16:creationId xmlns:a16="http://schemas.microsoft.com/office/drawing/2014/main" id="{E8D60F54-7DD9-4D4A-8785-13210D01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5400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dg2">
            <a:extLst xmlns:a="http://schemas.openxmlformats.org/drawingml/2006/main">
              <a:ext uri="{FF2B5EF4-FFF2-40B4-BE49-F238E27FC236}">
                <a16:creationId xmlns:a16="http://schemas.microsoft.com/office/drawing/2014/main" id="{8695ECF2-093C-4F96-B182-5513F44E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7178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负责模块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用户评价 · 用户投诉 · 管理员处理 · 信誉分变化</a:t>
            </a:r>
            <a:endParaRPr sz="1200"/>
          </a:p>
        </p:txBody>
      </p:sp>
      <p:sp>
        <p:nvSpPr>
          <p:cNvPr id="10" name="dg2-line">
            <a:extLst xmlns:a="http://schemas.openxmlformats.org/drawingml/2006/main">
              <a:ext uri="{FF2B5EF4-FFF2-40B4-BE49-F238E27FC236}">
                <a16:creationId xmlns:a16="http://schemas.microsoft.com/office/drawing/2014/main" id="{C1C3A0E8-7952-4026-98DC-9FB034E8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6576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dg3">
            <a:extLst xmlns:a="http://schemas.openxmlformats.org/drawingml/2006/main">
              <a:ext uri="{FF2B5EF4-FFF2-40B4-BE49-F238E27FC236}">
                <a16:creationId xmlns:a16="http://schemas.microsoft.com/office/drawing/2014/main" id="{4DDB5969-921E-4FBD-87EC-8CEFB290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8354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主导数据表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reviews · complaints · runners</a:t>
            </a:r>
            <a:endParaRPr sz="1200"/>
          </a:p>
        </p:txBody>
      </p:sp>
      <p:sp>
        <p:nvSpPr>
          <p:cNvPr id="12" name="dg3-line">
            <a:extLst xmlns:a="http://schemas.openxmlformats.org/drawingml/2006/main">
              <a:ext uri="{FF2B5EF4-FFF2-40B4-BE49-F238E27FC236}">
                <a16:creationId xmlns:a16="http://schemas.microsoft.com/office/drawing/2014/main" id="{EBE07298-A68B-4BFC-8412-11DC81DC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7752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dg4">
            <a:extLst xmlns:a="http://schemas.openxmlformats.org/drawingml/2006/main">
              <a:ext uri="{FF2B5EF4-FFF2-40B4-BE49-F238E27FC236}">
                <a16:creationId xmlns:a16="http://schemas.microsoft.com/office/drawing/2014/main" id="{12F2DB3C-DFA0-4668-9A40-6AC74F3B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9530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核心产出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评价 / 投诉 / 信誉联动功能</a:t>
            </a:r>
            <a:endParaRPr sz="1200"/>
          </a:p>
        </p:txBody>
      </p:sp>
      <p:sp>
        <p:nvSpPr>
          <p:cNvPr id="14" name="vdiv">
            <a:extLst xmlns:a="http://schemas.openxmlformats.org/drawingml/2006/main">
              <a:ext uri="{FF2B5EF4-FFF2-40B4-BE49-F238E27FC236}">
                <a16:creationId xmlns:a16="http://schemas.microsoft.com/office/drawing/2014/main" id="{E68DA63F-9005-44FD-9602-4A768D7F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19200"/>
            <a:ext cx="127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nf-label">
            <a:extLst xmlns:a="http://schemas.openxmlformats.org/drawingml/2006/main">
              <a:ext uri="{FF2B5EF4-FFF2-40B4-BE49-F238E27FC236}">
                <a16:creationId xmlns:a16="http://schemas.microsoft.com/office/drawing/2014/main" id="{33CA5EC1-58CC-4D55-AF0D-057B6998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模块衔接（输入 / 输出）</a:t>
            </a:r>
            <a:endParaRPr sz="1200"/>
          </a:p>
        </p:txBody>
      </p:sp>
      <p:sp>
        <p:nvSpPr>
          <p:cNvPr id="16" name="nf-body">
            <a:extLst xmlns:a="http://schemas.openxmlformats.org/drawingml/2006/main">
              <a:ext uri="{FF2B5EF4-FFF2-40B4-BE49-F238E27FC236}">
                <a16:creationId xmlns:a16="http://schemas.microsoft.com/office/drawing/2014/main" id="{584071EA-6634-4238-B4BB-CA6BCA2B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00200"/>
            <a:ext cx="5080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上游输入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FINISHED 任务与支付完成状态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本模块输出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评分与信誉变动值 · 投诉处理结论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衔接约束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一任务一评价 · 处理结果联动信誉分</a:t>
            </a:r>
            <a:endParaRPr sz="1200"/>
          </a:p>
        </p:txBody>
      </p:sp>
      <p:sp>
        <p:nvSpPr>
          <p:cNvPr id="17" name="nf-line">
            <a:extLst xmlns:a="http://schemas.openxmlformats.org/drawingml/2006/main">
              <a:ext uri="{FF2B5EF4-FFF2-40B4-BE49-F238E27FC236}">
                <a16:creationId xmlns:a16="http://schemas.microsoft.com/office/drawing/2014/main" id="{B7ED7398-1F58-45EB-AC9B-5C052AC1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588000"/>
            <a:ext cx="5080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nf-note">
            <a:extLst xmlns:a="http://schemas.openxmlformats.org/drawingml/2006/main">
              <a:ext uri="{FF2B5EF4-FFF2-40B4-BE49-F238E27FC236}">
                <a16:creationId xmlns:a16="http://schemas.microsoft.com/office/drawing/2014/main" id="{32F4987C-753E-4F4B-B88A-6AD5D6F6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7404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19" name="ft-line">
            <a:extLst xmlns:a="http://schemas.openxmlformats.org/drawingml/2006/main">
              <a:ext uri="{FF2B5EF4-FFF2-40B4-BE49-F238E27FC236}">
                <a16:creationId xmlns:a16="http://schemas.microsoft.com/office/drawing/2014/main" id="{AD6B29FC-5D97-4020-B550-868E16B9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ft-brand">
            <a:extLst xmlns:a="http://schemas.openxmlformats.org/drawingml/2006/main">
              <a:ext uri="{FF2B5EF4-FFF2-40B4-BE49-F238E27FC236}">
                <a16:creationId xmlns:a16="http://schemas.microsoft.com/office/drawing/2014/main" id="{53DAA605-1149-4147-B5EC-4570D2C0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21" name="ft-page">
            <a:extLst xmlns:a="http://schemas.openxmlformats.org/drawingml/2006/main">
              <a:ext uri="{FF2B5EF4-FFF2-40B4-BE49-F238E27FC236}">
                <a16:creationId xmlns:a16="http://schemas.microsoft.com/office/drawing/2014/main" id="{A11A3CB3-C2E0-4BF3-9E43-70883DC6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35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5260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1856027F-9F66-4D82-B7EC-BA9D896D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4EBC8D1E-896C-4764-B67E-1B76603A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8　核心实现与验证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74676DE5-DD79-48B4-A952-D843B3C0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0998034A-AFCC-4D7D-AA47-5F46934E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q1-title">
            <a:extLst xmlns:a="http://schemas.openxmlformats.org/drawingml/2006/main">
              <a:ext uri="{FF2B5EF4-FFF2-40B4-BE49-F238E27FC236}">
                <a16:creationId xmlns:a16="http://schemas.microsoft.com/office/drawing/2014/main" id="{096D1416-10C7-4B01-9C74-41A8326F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评价约束 REVIEW</a:t>
            </a:r>
            <a:endParaRPr sz="1500"/>
          </a:p>
        </p:txBody>
      </p:sp>
      <p:sp>
        <p:nvSpPr>
          <p:cNvPr id="7" name="q1-body">
            <a:extLst xmlns:a="http://schemas.openxmlformats.org/drawingml/2006/main">
              <a:ext uri="{FF2B5EF4-FFF2-40B4-BE49-F238E27FC236}">
                <a16:creationId xmlns:a16="http://schemas.microsoft.com/office/drawing/2014/main" id="{CD076BAC-741E-4763-8F29-767E5EAC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uk_reviews_task 一任务一评价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rating → credit_delta 按评分计算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回写 runners.credit_score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信誉变动值随评价记录留痕</a:t>
            </a:r>
            <a:endParaRPr sz="1100"/>
          </a:p>
        </p:txBody>
      </p:sp>
      <p:sp>
        <p:nvSpPr>
          <p:cNvPr id="8" name="q2-title">
            <a:extLst xmlns:a="http://schemas.openxmlformats.org/drawingml/2006/main">
              <a:ext uri="{FF2B5EF4-FFF2-40B4-BE49-F238E27FC236}">
                <a16:creationId xmlns:a16="http://schemas.microsoft.com/office/drawing/2014/main" id="{AB9EE2E9-FE4C-4F0D-8009-6EC0BFDE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投诉处理 COMPLAINT</a:t>
            </a:r>
            <a:endParaRPr sz="1500"/>
          </a:p>
        </p:txBody>
      </p:sp>
      <p:sp>
        <p:nvSpPr>
          <p:cNvPr id="9" name="q2-body">
            <a:extLst xmlns:a="http://schemas.openxmlformats.org/drawingml/2006/main">
              <a:ext uri="{FF2B5EF4-FFF2-40B4-BE49-F238E27FC236}">
                <a16:creationId xmlns:a16="http://schemas.microsoft.com/office/drawing/2014/main" id="{37EE25C6-80B3-43D8-8091-2F6BCAF2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投诉登记 → 管理员处理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process_status 状态流转可查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处理结果联动信誉分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投诉与处理记录全量留痕</a:t>
            </a:r>
            <a:endParaRPr sz="1100"/>
          </a:p>
        </p:txBody>
      </p:sp>
      <p:sp>
        <p:nvSpPr>
          <p:cNvPr id="10" name="q3-title">
            <a:extLst xmlns:a="http://schemas.openxmlformats.org/drawingml/2006/main">
              <a:ext uri="{FF2B5EF4-FFF2-40B4-BE49-F238E27FC236}">
                <a16:creationId xmlns:a16="http://schemas.microsoft.com/office/drawing/2014/main" id="{08C01E9D-6B20-491E-91C3-DC1BC307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核心产出 DELIVERABLES</a:t>
            </a:r>
            <a:endParaRPr sz="1500"/>
          </a:p>
        </p:txBody>
      </p:sp>
      <p:sp>
        <p:nvSpPr>
          <p:cNvPr id="11" name="q3-body">
            <a:extLst xmlns:a="http://schemas.openxmlformats.org/drawingml/2006/main">
              <a:ext uri="{FF2B5EF4-FFF2-40B4-BE49-F238E27FC236}">
                <a16:creationId xmlns:a16="http://schemas.microsoft.com/office/drawing/2014/main" id="{8954CA64-0E30-4643-BE21-E851C1F1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评价 / 投诉 / 信誉功能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信誉分计算与回写逻辑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依赖任务 FINISHED 状态触发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一单一评由数据库约束强制</a:t>
            </a:r>
            <a:endParaRPr sz="1100"/>
          </a:p>
        </p:txBody>
      </p:sp>
      <p:sp>
        <p:nvSpPr>
          <p:cNvPr id="12" name="q4-title">
            <a:extLst xmlns:a="http://schemas.openxmlformats.org/drawingml/2006/main">
              <a:ext uri="{FF2B5EF4-FFF2-40B4-BE49-F238E27FC236}">
                <a16:creationId xmlns:a16="http://schemas.microsoft.com/office/drawing/2014/main" id="{F2046F65-9A49-4ADB-B09D-6D2D7D77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测试验证 EVIDENCE</a:t>
            </a:r>
            <a:endParaRPr sz="1500"/>
          </a:p>
        </p:txBody>
      </p:sp>
      <p:sp>
        <p:nvSpPr>
          <p:cNvPr id="13" name="q4-body">
            <a:extLst xmlns:a="http://schemas.openxmlformats.org/drawingml/2006/main">
              <a:ext uri="{FF2B5EF4-FFF2-40B4-BE49-F238E27FC236}">
                <a16:creationId xmlns:a16="http://schemas.microsoft.com/office/drawing/2014/main" id="{1C485C9F-66BA-4A32-A8BD-69A537FB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TC-REVIEW-01 ～ 09（9 份记录 · 5 份 SQL）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截图 21 张 · docs/test-evidence/manual/组员8-评价、投诉与信誉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结论均为通过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含重复评价拦截用例</a:t>
            </a:r>
            <a:endParaRPr sz="1100"/>
          </a:p>
        </p:txBody>
      </p:sp>
      <p:sp>
        <p:nvSpPr>
          <p:cNvPr id="14" name="h-div">
            <a:extLst xmlns:a="http://schemas.openxmlformats.org/drawingml/2006/main">
              <a:ext uri="{FF2B5EF4-FFF2-40B4-BE49-F238E27FC236}">
                <a16:creationId xmlns:a16="http://schemas.microsoft.com/office/drawing/2014/main" id="{C389C403-083D-49A7-94B6-6D4A3E17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581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v-div">
            <a:extLst xmlns:a="http://schemas.openxmlformats.org/drawingml/2006/main">
              <a:ext uri="{FF2B5EF4-FFF2-40B4-BE49-F238E27FC236}">
                <a16:creationId xmlns:a16="http://schemas.microsoft.com/office/drawing/2014/main" id="{723FA04C-3D38-458B-8080-15F317E9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44600"/>
            <a:ext cx="12700" cy="467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bj-concl">
            <a:extLst xmlns:a="http://schemas.openxmlformats.org/drawingml/2006/main">
              <a:ext uri="{FF2B5EF4-FFF2-40B4-BE49-F238E27FC236}">
                <a16:creationId xmlns:a16="http://schemas.microsoft.com/office/drawing/2014/main" id="{9DF4A704-C375-4464-836F-6933B0F1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070600"/>
            <a:ext cx="1117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一单一评 · 分值联动 · 处理留痕</a:t>
            </a:r>
            <a:endParaRPr sz="1200"/>
          </a:p>
        </p:txBody>
      </p:sp>
      <p:sp>
        <p:nvSpPr>
          <p:cNvPr id="17" name="ft-line">
            <a:extLst xmlns:a="http://schemas.openxmlformats.org/drawingml/2006/main">
              <a:ext uri="{FF2B5EF4-FFF2-40B4-BE49-F238E27FC236}">
                <a16:creationId xmlns:a16="http://schemas.microsoft.com/office/drawing/2014/main" id="{C87157F3-1234-46E7-9049-CDD4699B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t-brand">
            <a:extLst xmlns:a="http://schemas.openxmlformats.org/drawingml/2006/main">
              <a:ext uri="{FF2B5EF4-FFF2-40B4-BE49-F238E27FC236}">
                <a16:creationId xmlns:a16="http://schemas.microsoft.com/office/drawing/2014/main" id="{E9140524-D029-4107-86FD-D2A6FC5F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9" name="ft-page">
            <a:extLst xmlns:a="http://schemas.openxmlformats.org/drawingml/2006/main">
              <a:ext uri="{FF2B5EF4-FFF2-40B4-BE49-F238E27FC236}">
                <a16:creationId xmlns:a16="http://schemas.microsoft.com/office/drawing/2014/main" id="{D13A65E7-5448-48D5-B682-9764AC3F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36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5000601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00D240AA-5908-4DBB-8328-991EDCC4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D45F7E9E-7096-4214-801B-17335747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9　结算审计报表模块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B1DA534F-F5FA-47DF-9769-2B1A6F0B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02A0031C-AE1E-426F-96E1-8A3892D7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dl-label">
            <a:extLst xmlns:a="http://schemas.openxmlformats.org/drawingml/2006/main">
              <a:ext uri="{FF2B5EF4-FFF2-40B4-BE49-F238E27FC236}">
                <a16:creationId xmlns:a16="http://schemas.microsoft.com/office/drawing/2014/main" id="{4BD79AEF-8763-4118-9429-29C0C767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职责与主导数据</a:t>
            </a:r>
            <a:endParaRPr sz="1200"/>
          </a:p>
        </p:txBody>
      </p:sp>
      <p:sp>
        <p:nvSpPr>
          <p:cNvPr id="7" name="dg1">
            <a:extLst xmlns:a="http://schemas.openxmlformats.org/drawingml/2006/main">
              <a:ext uri="{FF2B5EF4-FFF2-40B4-BE49-F238E27FC236}">
                <a16:creationId xmlns:a16="http://schemas.microsoft.com/office/drawing/2014/main" id="{4478659B-A108-47CC-8FBA-0162F2A6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002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角色定位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结算审计报表模块负责人</a:t>
            </a:r>
            <a:endParaRPr sz="1200"/>
          </a:p>
        </p:txBody>
      </p:sp>
      <p:sp>
        <p:nvSpPr>
          <p:cNvPr id="8" name="dg1-line">
            <a:extLst xmlns:a="http://schemas.openxmlformats.org/drawingml/2006/main">
              <a:ext uri="{FF2B5EF4-FFF2-40B4-BE49-F238E27FC236}">
                <a16:creationId xmlns:a16="http://schemas.microsoft.com/office/drawing/2014/main" id="{9E16BA0D-8DEA-461B-A599-3992C6A6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5400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dg2">
            <a:extLst xmlns:a="http://schemas.openxmlformats.org/drawingml/2006/main">
              <a:ext uri="{FF2B5EF4-FFF2-40B4-BE49-F238E27FC236}">
                <a16:creationId xmlns:a16="http://schemas.microsoft.com/office/drawing/2014/main" id="{D914D3A9-1657-40DA-BD0B-86145082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7178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负责模块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跑腿员结算 · 结算明细 · 审计日志 · 统计报表</a:t>
            </a:r>
            <a:endParaRPr sz="1200"/>
          </a:p>
        </p:txBody>
      </p:sp>
      <p:sp>
        <p:nvSpPr>
          <p:cNvPr id="10" name="dg2-line">
            <a:extLst xmlns:a="http://schemas.openxmlformats.org/drawingml/2006/main">
              <a:ext uri="{FF2B5EF4-FFF2-40B4-BE49-F238E27FC236}">
                <a16:creationId xmlns:a16="http://schemas.microsoft.com/office/drawing/2014/main" id="{8C726B6E-6ABE-467C-8756-B7A51E11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6576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dg3">
            <a:extLst xmlns:a="http://schemas.openxmlformats.org/drawingml/2006/main">
              <a:ext uri="{FF2B5EF4-FFF2-40B4-BE49-F238E27FC236}">
                <a16:creationId xmlns:a16="http://schemas.microsoft.com/office/drawing/2014/main" id="{9DBAA066-D80B-4E1C-B78C-321F2059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8354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主导数据表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settlements · settlement_payment_items · audit_logs · reports</a:t>
            </a:r>
            <a:endParaRPr sz="1200"/>
          </a:p>
        </p:txBody>
      </p:sp>
      <p:sp>
        <p:nvSpPr>
          <p:cNvPr id="12" name="dg3-line">
            <a:extLst xmlns:a="http://schemas.openxmlformats.org/drawingml/2006/main">
              <a:ext uri="{FF2B5EF4-FFF2-40B4-BE49-F238E27FC236}">
                <a16:creationId xmlns:a16="http://schemas.microsoft.com/office/drawing/2014/main" id="{D75AA1B2-4742-42B3-BE0A-E22602D4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7752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dg4">
            <a:extLst xmlns:a="http://schemas.openxmlformats.org/drawingml/2006/main">
              <a:ext uri="{FF2B5EF4-FFF2-40B4-BE49-F238E27FC236}">
                <a16:creationId xmlns:a16="http://schemas.microsoft.com/office/drawing/2014/main" id="{4194EFC7-F344-4CAC-B147-FF270B19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9530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核心产出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结算 / 审计 / 报表功能</a:t>
            </a:r>
            <a:endParaRPr sz="1200"/>
          </a:p>
        </p:txBody>
      </p:sp>
      <p:sp>
        <p:nvSpPr>
          <p:cNvPr id="14" name="vdiv">
            <a:extLst xmlns:a="http://schemas.openxmlformats.org/drawingml/2006/main">
              <a:ext uri="{FF2B5EF4-FFF2-40B4-BE49-F238E27FC236}">
                <a16:creationId xmlns:a16="http://schemas.microsoft.com/office/drawing/2014/main" id="{5B843F0A-EAEA-4C90-91DC-60132A21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19200"/>
            <a:ext cx="127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nf-label">
            <a:extLst xmlns:a="http://schemas.openxmlformats.org/drawingml/2006/main">
              <a:ext uri="{FF2B5EF4-FFF2-40B4-BE49-F238E27FC236}">
                <a16:creationId xmlns:a16="http://schemas.microsoft.com/office/drawing/2014/main" id="{613FA01D-5515-4410-9EC3-3CB2F894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模块衔接（输入 / 输出）</a:t>
            </a:r>
            <a:endParaRPr sz="1200"/>
          </a:p>
        </p:txBody>
      </p:sp>
      <p:sp>
        <p:nvSpPr>
          <p:cNvPr id="16" name="nf-body">
            <a:extLst xmlns:a="http://schemas.openxmlformats.org/drawingml/2006/main">
              <a:ext uri="{FF2B5EF4-FFF2-40B4-BE49-F238E27FC236}">
                <a16:creationId xmlns:a16="http://schemas.microsoft.com/office/drawing/2014/main" id="{8C8FA78C-DED0-4B34-8E3F-A58A5D07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00200"/>
            <a:ext cx="5080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上游输入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PAID 支付单与退款、投诉状态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本模块输出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结算单与净收入 · 审计日志 · 报表导出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衔接约束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退款 / 投诉中支付不结算</a:t>
            </a:r>
            <a:endParaRPr sz="1200"/>
          </a:p>
        </p:txBody>
      </p:sp>
      <p:sp>
        <p:nvSpPr>
          <p:cNvPr id="17" name="nf-line">
            <a:extLst xmlns:a="http://schemas.openxmlformats.org/drawingml/2006/main">
              <a:ext uri="{FF2B5EF4-FFF2-40B4-BE49-F238E27FC236}">
                <a16:creationId xmlns:a16="http://schemas.microsoft.com/office/drawing/2014/main" id="{372E3F89-056F-4301-A052-5CFD81BE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588000"/>
            <a:ext cx="5080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nf-note">
            <a:extLst xmlns:a="http://schemas.openxmlformats.org/drawingml/2006/main">
              <a:ext uri="{FF2B5EF4-FFF2-40B4-BE49-F238E27FC236}">
                <a16:creationId xmlns:a16="http://schemas.microsoft.com/office/drawing/2014/main" id="{8C09987C-4742-4086-B429-2AA95282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7404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19" name="ft-line">
            <a:extLst xmlns:a="http://schemas.openxmlformats.org/drawingml/2006/main">
              <a:ext uri="{FF2B5EF4-FFF2-40B4-BE49-F238E27FC236}">
                <a16:creationId xmlns:a16="http://schemas.microsoft.com/office/drawing/2014/main" id="{EEEF0EB6-BBC6-4439-B8B6-FCA526F2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ft-brand">
            <a:extLst xmlns:a="http://schemas.openxmlformats.org/drawingml/2006/main">
              <a:ext uri="{FF2B5EF4-FFF2-40B4-BE49-F238E27FC236}">
                <a16:creationId xmlns:a16="http://schemas.microsoft.com/office/drawing/2014/main" id="{21C54541-F3FE-41A4-A179-D3F72647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21" name="ft-page">
            <a:extLst xmlns:a="http://schemas.openxmlformats.org/drawingml/2006/main">
              <a:ext uri="{FF2B5EF4-FFF2-40B4-BE49-F238E27FC236}">
                <a16:creationId xmlns:a16="http://schemas.microsoft.com/office/drawing/2014/main" id="{97283F40-C684-4AD4-8851-69668B85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37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4868528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A8C12D1B-5B36-455A-9F07-D14278BA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1DB56E18-C9B9-48D3-99C5-146E971A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9　核心实现与验证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89C723E2-5E74-4D67-BD66-07A87582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D37D7769-9C00-45BF-848A-F6DE575F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q1-title">
            <a:extLst xmlns:a="http://schemas.openxmlformats.org/drawingml/2006/main">
              <a:ext uri="{FF2B5EF4-FFF2-40B4-BE49-F238E27FC236}">
                <a16:creationId xmlns:a16="http://schemas.microsoft.com/office/drawing/2014/main" id="{67B90F6F-B774-4D25-8247-2E8E0E10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结算规则 SETTLEMENT</a:t>
            </a:r>
            <a:endParaRPr sz="1500"/>
          </a:p>
        </p:txBody>
      </p:sp>
      <p:sp>
        <p:nvSpPr>
          <p:cNvPr id="7" name="q1-body">
            <a:extLst xmlns:a="http://schemas.openxmlformats.org/drawingml/2006/main">
              <a:ext uri="{FF2B5EF4-FFF2-40B4-BE49-F238E27FC236}">
                <a16:creationId xmlns:a16="http://schemas.microsoft.com/office/drawing/2014/main" id="{4788C540-5927-4682-8B9F-56066120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生成结算单与结算明细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重复结算限制 · 跑腿员归属校验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退款 / 投诉中支付排除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已结算订单同步禁止普通退款</a:t>
            </a:r>
            <a:endParaRPr sz="1100"/>
          </a:p>
        </p:txBody>
      </p:sp>
      <p:sp>
        <p:nvSpPr>
          <p:cNvPr id="8" name="q2-title">
            <a:extLst xmlns:a="http://schemas.openxmlformats.org/drawingml/2006/main">
              <a:ext uri="{FF2B5EF4-FFF2-40B4-BE49-F238E27FC236}">
                <a16:creationId xmlns:a16="http://schemas.microsoft.com/office/drawing/2014/main" id="{89C5399F-A6B3-4602-B8D9-6CE5DFBE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审计与报表 AUDIT</a:t>
            </a:r>
            <a:endParaRPr sz="1500"/>
          </a:p>
        </p:txBody>
      </p:sp>
      <p:sp>
        <p:nvSpPr>
          <p:cNvPr id="9" name="q2-body">
            <a:extLst xmlns:a="http://schemas.openxmlformats.org/drawingml/2006/main">
              <a:ext uri="{FF2B5EF4-FFF2-40B4-BE49-F238E27FC236}">
                <a16:creationId xmlns:a16="http://schemas.microsoft.com/office/drawing/2014/main" id="{C9A3B141-9DF6-4875-AD05-B98EB476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支付 / 退款 / 状态日志三类审计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按月统计报表与 CSV 导出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删除报表保留审计日志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结算结果可重算、可核对</a:t>
            </a:r>
            <a:endParaRPr sz="1100"/>
          </a:p>
        </p:txBody>
      </p:sp>
      <p:sp>
        <p:nvSpPr>
          <p:cNvPr id="10" name="q3-title">
            <a:extLst xmlns:a="http://schemas.openxmlformats.org/drawingml/2006/main">
              <a:ext uri="{FF2B5EF4-FFF2-40B4-BE49-F238E27FC236}">
                <a16:creationId xmlns:a16="http://schemas.microsoft.com/office/drawing/2014/main" id="{8321D61D-DADD-4E7B-ADA2-80540F2A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核心产出 DELIVERABLES</a:t>
            </a:r>
            <a:endParaRPr sz="1500"/>
          </a:p>
        </p:txBody>
      </p:sp>
      <p:sp>
        <p:nvSpPr>
          <p:cNvPr id="11" name="q3-body">
            <a:extLst xmlns:a="http://schemas.openxmlformats.org/drawingml/2006/main">
              <a:ext uri="{FF2B5EF4-FFF2-40B4-BE49-F238E27FC236}">
                <a16:creationId xmlns:a16="http://schemas.microsoft.com/office/drawing/2014/main" id="{96C1C082-D503-41A3-9C4C-6ECD7611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结算 / 审计 / 报表功能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审计与报表功能入门说明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报表删除不影响审计留痕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审计覆盖三类业务对象</a:t>
            </a:r>
            <a:endParaRPr sz="1100"/>
          </a:p>
        </p:txBody>
      </p:sp>
      <p:sp>
        <p:nvSpPr>
          <p:cNvPr id="12" name="q4-title">
            <a:extLst xmlns:a="http://schemas.openxmlformats.org/drawingml/2006/main">
              <a:ext uri="{FF2B5EF4-FFF2-40B4-BE49-F238E27FC236}">
                <a16:creationId xmlns:a16="http://schemas.microsoft.com/office/drawing/2014/main" id="{484BE98F-A8EA-49AD-92E0-655A8466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测试验证 EVIDENCE</a:t>
            </a:r>
            <a:endParaRPr sz="1500"/>
          </a:p>
        </p:txBody>
      </p:sp>
      <p:sp>
        <p:nvSpPr>
          <p:cNvPr id="13" name="q4-body">
            <a:extLst xmlns:a="http://schemas.openxmlformats.org/drawingml/2006/main">
              <a:ext uri="{FF2B5EF4-FFF2-40B4-BE49-F238E27FC236}">
                <a16:creationId xmlns:a16="http://schemas.microsoft.com/office/drawing/2014/main" id="{C3E4A17C-99FC-487D-8F4B-5834B013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TC-SETTLE-01 ～ 10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docs/test-evidence/manual/组员9-结算审计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含审计、报表与跑腿员视角用例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结论以测试记录为准</a:t>
            </a:r>
            <a:endParaRPr sz="1100"/>
          </a:p>
        </p:txBody>
      </p:sp>
      <p:sp>
        <p:nvSpPr>
          <p:cNvPr id="14" name="h-div">
            <a:extLst xmlns:a="http://schemas.openxmlformats.org/drawingml/2006/main">
              <a:ext uri="{FF2B5EF4-FFF2-40B4-BE49-F238E27FC236}">
                <a16:creationId xmlns:a16="http://schemas.microsoft.com/office/drawing/2014/main" id="{1A78DB00-5351-40B1-B7ED-F6D7D5C2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581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v-div">
            <a:extLst xmlns:a="http://schemas.openxmlformats.org/drawingml/2006/main">
              <a:ext uri="{FF2B5EF4-FFF2-40B4-BE49-F238E27FC236}">
                <a16:creationId xmlns:a16="http://schemas.microsoft.com/office/drawing/2014/main" id="{A4664B83-4E0B-4A35-854C-85F9A9BB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44600"/>
            <a:ext cx="12700" cy="467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bj-concl">
            <a:extLst xmlns:a="http://schemas.openxmlformats.org/drawingml/2006/main">
              <a:ext uri="{FF2B5EF4-FFF2-40B4-BE49-F238E27FC236}">
                <a16:creationId xmlns:a16="http://schemas.microsoft.com/office/drawing/2014/main" id="{7CBB4761-071E-48A6-8019-C5DD2A5F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070600"/>
            <a:ext cx="1117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结算受控 · 操作留痕 · 结果可复算</a:t>
            </a:r>
            <a:endParaRPr sz="1200"/>
          </a:p>
        </p:txBody>
      </p:sp>
      <p:sp>
        <p:nvSpPr>
          <p:cNvPr id="17" name="ft-line">
            <a:extLst xmlns:a="http://schemas.openxmlformats.org/drawingml/2006/main">
              <a:ext uri="{FF2B5EF4-FFF2-40B4-BE49-F238E27FC236}">
                <a16:creationId xmlns:a16="http://schemas.microsoft.com/office/drawing/2014/main" id="{6516E267-0957-4707-AADC-E51A3702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t-brand">
            <a:extLst xmlns:a="http://schemas.openxmlformats.org/drawingml/2006/main">
              <a:ext uri="{FF2B5EF4-FFF2-40B4-BE49-F238E27FC236}">
                <a16:creationId xmlns:a16="http://schemas.microsoft.com/office/drawing/2014/main" id="{B280D638-1869-439D-8A7C-06C8EAF8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9" name="ft-page">
            <a:extLst xmlns:a="http://schemas.openxmlformats.org/drawingml/2006/main">
              <a:ext uri="{FF2B5EF4-FFF2-40B4-BE49-F238E27FC236}">
                <a16:creationId xmlns:a16="http://schemas.microsoft.com/office/drawing/2014/main" id="{815FF80F-986A-4158-B37A-9EE298FF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38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9786179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93A464C2-A4D7-4FD3-97BF-7A37119E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1C580273-839B-4D84-8036-B19E4A75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10　测试文档与答辩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B470ADD2-3A23-4498-A292-758D164E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383E266D-B8DB-4D58-AA18-2C950413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dl-label">
            <a:extLst xmlns:a="http://schemas.openxmlformats.org/drawingml/2006/main">
              <a:ext uri="{FF2B5EF4-FFF2-40B4-BE49-F238E27FC236}">
                <a16:creationId xmlns:a16="http://schemas.microsoft.com/office/drawing/2014/main" id="{4AA0BF72-20E3-4112-B214-3495AF53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职责与主导数据</a:t>
            </a:r>
            <a:endParaRPr sz="1200"/>
          </a:p>
        </p:txBody>
      </p:sp>
      <p:sp>
        <p:nvSpPr>
          <p:cNvPr id="7" name="dg1">
            <a:extLst xmlns:a="http://schemas.openxmlformats.org/drawingml/2006/main">
              <a:ext uri="{FF2B5EF4-FFF2-40B4-BE49-F238E27FC236}">
                <a16:creationId xmlns:a16="http://schemas.microsoft.com/office/drawing/2014/main" id="{5194B9C2-25A4-4712-81B1-C51AB40F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002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角色定位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测试文档与答辩负责人，统筹验证与材料</a:t>
            </a:r>
            <a:endParaRPr sz="1200"/>
          </a:p>
        </p:txBody>
      </p:sp>
      <p:sp>
        <p:nvSpPr>
          <p:cNvPr id="8" name="dg1-line">
            <a:extLst xmlns:a="http://schemas.openxmlformats.org/drawingml/2006/main">
              <a:ext uri="{FF2B5EF4-FFF2-40B4-BE49-F238E27FC236}">
                <a16:creationId xmlns:a16="http://schemas.microsoft.com/office/drawing/2014/main" id="{0BA03169-FC2A-4ABF-9D9B-BE10CD17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5400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dg2">
            <a:extLst xmlns:a="http://schemas.openxmlformats.org/drawingml/2006/main">
              <a:ext uri="{FF2B5EF4-FFF2-40B4-BE49-F238E27FC236}">
                <a16:creationId xmlns:a16="http://schemas.microsoft.com/office/drawing/2014/main" id="{82F38003-74EA-48C5-AEF3-C69D3E38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7178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负责模块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功能测试 · Bug 记录 · 截图整理 · 系统文档 · 答辩材料</a:t>
            </a:r>
            <a:endParaRPr sz="1200"/>
          </a:p>
        </p:txBody>
      </p:sp>
      <p:sp>
        <p:nvSpPr>
          <p:cNvPr id="10" name="dg2-line">
            <a:extLst xmlns:a="http://schemas.openxmlformats.org/drawingml/2006/main">
              <a:ext uri="{FF2B5EF4-FFF2-40B4-BE49-F238E27FC236}">
                <a16:creationId xmlns:a16="http://schemas.microsoft.com/office/drawing/2014/main" id="{362C311D-AB2F-4E4C-8005-12CE3442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6576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dg3">
            <a:extLst xmlns:a="http://schemas.openxmlformats.org/drawingml/2006/main">
              <a:ext uri="{FF2B5EF4-FFF2-40B4-BE49-F238E27FC236}">
                <a16:creationId xmlns:a16="http://schemas.microsoft.com/office/drawing/2014/main" id="{BE7FD8AD-6074-440B-B5D7-7898152B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8354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主导数据表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跨模块链路 tasks → assign_records → payments → settlements</a:t>
            </a:r>
            <a:endParaRPr sz="1200"/>
          </a:p>
        </p:txBody>
      </p:sp>
      <p:sp>
        <p:nvSpPr>
          <p:cNvPr id="12" name="dg3-line">
            <a:extLst xmlns:a="http://schemas.openxmlformats.org/drawingml/2006/main">
              <a:ext uri="{FF2B5EF4-FFF2-40B4-BE49-F238E27FC236}">
                <a16:creationId xmlns:a16="http://schemas.microsoft.com/office/drawing/2014/main" id="{8192785C-F8EF-4DC5-8185-FD7DA2D9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7752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dg4">
            <a:extLst xmlns:a="http://schemas.openxmlformats.org/drawingml/2006/main">
              <a:ext uri="{FF2B5EF4-FFF2-40B4-BE49-F238E27FC236}">
                <a16:creationId xmlns:a16="http://schemas.microsoft.com/office/drawing/2014/main" id="{30015281-CA50-4BE1-89C2-A49E41E8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953000"/>
            <a:ext cx="5334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核心产出</a:t>
            </a:r>
            <a:endParaRPr sz="12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测试报告 · 演示截图 · 答辩材料 · 证据索引</a:t>
            </a:r>
            <a:endParaRPr sz="1200"/>
          </a:p>
        </p:txBody>
      </p:sp>
      <p:sp>
        <p:nvSpPr>
          <p:cNvPr id="14" name="vdiv">
            <a:extLst xmlns:a="http://schemas.openxmlformats.org/drawingml/2006/main">
              <a:ext uri="{FF2B5EF4-FFF2-40B4-BE49-F238E27FC236}">
                <a16:creationId xmlns:a16="http://schemas.microsoft.com/office/drawing/2014/main" id="{6BDF7D62-6FB9-4BBA-82A5-B30A681B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19200"/>
            <a:ext cx="127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nf-label">
            <a:extLst xmlns:a="http://schemas.openxmlformats.org/drawingml/2006/main">
              <a:ext uri="{FF2B5EF4-FFF2-40B4-BE49-F238E27FC236}">
                <a16:creationId xmlns:a16="http://schemas.microsoft.com/office/drawing/2014/main" id="{48006824-48E1-4B99-B4D2-40A8CD7B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模块衔接（输入 / 输出）</a:t>
            </a:r>
            <a:endParaRPr sz="1200"/>
          </a:p>
        </p:txBody>
      </p:sp>
      <p:sp>
        <p:nvSpPr>
          <p:cNvPr id="16" name="nf-body">
            <a:extLst xmlns:a="http://schemas.openxmlformats.org/drawingml/2006/main">
              <a:ext uri="{FF2B5EF4-FFF2-40B4-BE49-F238E27FC236}">
                <a16:creationId xmlns:a16="http://schemas.microsoft.com/office/drawing/2014/main" id="{F0DD42C3-4152-4082-816A-5EA962D5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00200"/>
            <a:ext cx="5080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上游输入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各模块测试记录与截图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本模块输出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测试报告与 test-evidence 归档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spcBef>
                <a:spcPts val="1000"/>
              </a:spcBef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衔接约束</a:t>
            </a:r>
            <a:endParaRPr sz="12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结论以执行记录为准</a:t>
            </a:r>
            <a:endParaRPr sz="1200"/>
          </a:p>
        </p:txBody>
      </p:sp>
      <p:sp>
        <p:nvSpPr>
          <p:cNvPr id="17" name="nf-line">
            <a:extLst xmlns:a="http://schemas.openxmlformats.org/drawingml/2006/main">
              <a:ext uri="{FF2B5EF4-FFF2-40B4-BE49-F238E27FC236}">
                <a16:creationId xmlns:a16="http://schemas.microsoft.com/office/drawing/2014/main" id="{0CA8D666-6203-4891-83F9-9293BB57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588000"/>
            <a:ext cx="5080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nf-note">
            <a:extLst xmlns:a="http://schemas.openxmlformats.org/drawingml/2006/main">
              <a:ext uri="{FF2B5EF4-FFF2-40B4-BE49-F238E27FC236}">
                <a16:creationId xmlns:a16="http://schemas.microsoft.com/office/drawing/2014/main" id="{542D6179-D716-44F7-AA8F-A192210F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7404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19" name="ft-line">
            <a:extLst xmlns:a="http://schemas.openxmlformats.org/drawingml/2006/main">
              <a:ext uri="{FF2B5EF4-FFF2-40B4-BE49-F238E27FC236}">
                <a16:creationId xmlns:a16="http://schemas.microsoft.com/office/drawing/2014/main" id="{E7AB0B4B-3F0E-4F74-8E7F-243AA568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ft-brand">
            <a:extLst xmlns:a="http://schemas.openxmlformats.org/drawingml/2006/main">
              <a:ext uri="{FF2B5EF4-FFF2-40B4-BE49-F238E27FC236}">
                <a16:creationId xmlns:a16="http://schemas.microsoft.com/office/drawing/2014/main" id="{549BEC6C-1162-4BAB-8F6F-4B6FC7C8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21" name="ft-page">
            <a:extLst xmlns:a="http://schemas.openxmlformats.org/drawingml/2006/main">
              <a:ext uri="{FF2B5EF4-FFF2-40B4-BE49-F238E27FC236}">
                <a16:creationId xmlns:a16="http://schemas.microsoft.com/office/drawing/2014/main" id="{5B5582CD-2A4B-488E-AFC1-B647ADBC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39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4969765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8DBD4CDF-8691-4E0A-8235-40836DA0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CE348462-2D9B-4BEC-A015-5EF2C3C2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组员 10　核心实现与验证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B280DC49-2870-463A-A5DC-D911BE59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团队分工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E6E79A5F-D377-4C93-9986-3E2E3035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q1-title">
            <a:extLst xmlns:a="http://schemas.openxmlformats.org/drawingml/2006/main">
              <a:ext uri="{FF2B5EF4-FFF2-40B4-BE49-F238E27FC236}">
                <a16:creationId xmlns:a16="http://schemas.microsoft.com/office/drawing/2014/main" id="{2FDF749B-227D-4D90-836C-DD667012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端到端验收 END-TO-END</a:t>
            </a:r>
            <a:endParaRPr sz="1500"/>
          </a:p>
        </p:txBody>
      </p:sp>
      <p:sp>
        <p:nvSpPr>
          <p:cNvPr id="7" name="q1-body">
            <a:extLst xmlns:a="http://schemas.openxmlformats.org/drawingml/2006/main">
              <a:ext uri="{FF2B5EF4-FFF2-40B4-BE49-F238E27FC236}">
                <a16:creationId xmlns:a16="http://schemas.microsoft.com/office/drawing/2014/main" id="{BE0C8E5C-8A86-4BDE-B1D5-EA42B499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共享 Oracle 写入型 E2E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主链路 / 并发抢单 / 退款 / 投诉 / 结算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TC-E2E-01 ～ 07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关键场景在真实库验证</a:t>
            </a:r>
            <a:endParaRPr sz="1100"/>
          </a:p>
        </p:txBody>
      </p:sp>
      <p:sp>
        <p:nvSpPr>
          <p:cNvPr id="8" name="q2-title">
            <a:extLst xmlns:a="http://schemas.openxmlformats.org/drawingml/2006/main">
              <a:ext uri="{FF2B5EF4-FFF2-40B4-BE49-F238E27FC236}">
                <a16:creationId xmlns:a16="http://schemas.microsoft.com/office/drawing/2014/main" id="{B0DFDE9C-25D2-45C8-A6D7-A11B1D8A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质量门禁 QUALITY GATE</a:t>
            </a:r>
            <a:endParaRPr sz="1500"/>
          </a:p>
        </p:txBody>
      </p:sp>
      <p:sp>
        <p:nvSpPr>
          <p:cNvPr id="9" name="q2-body">
            <a:extLst xmlns:a="http://schemas.openxmlformats.org/drawingml/2006/main">
              <a:ext uri="{FF2B5EF4-FFF2-40B4-BE49-F238E27FC236}">
                <a16:creationId xmlns:a16="http://schemas.microsoft.com/office/drawing/2014/main" id="{8B3EC862-41D8-46AB-BDED-D100D72F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自动化测试 52/52 通过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Bug 登记 → 修复 → 回归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证据目录索引维护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报告 9.4 节记录门禁结果</a:t>
            </a:r>
            <a:endParaRPr sz="1100"/>
          </a:p>
        </p:txBody>
      </p:sp>
      <p:sp>
        <p:nvSpPr>
          <p:cNvPr id="10" name="q3-title">
            <a:extLst xmlns:a="http://schemas.openxmlformats.org/drawingml/2006/main">
              <a:ext uri="{FF2B5EF4-FFF2-40B4-BE49-F238E27FC236}">
                <a16:creationId xmlns:a16="http://schemas.microsoft.com/office/drawing/2014/main" id="{2B898EFE-6487-4503-A803-81989D37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核心产出 DELIVERABLES</a:t>
            </a:r>
            <a:endParaRPr sz="1500"/>
          </a:p>
        </p:txBody>
      </p:sp>
      <p:sp>
        <p:nvSpPr>
          <p:cNvPr id="11" name="q3-body">
            <a:extLst xmlns:a="http://schemas.openxmlformats.org/drawingml/2006/main">
              <a:ext uri="{FF2B5EF4-FFF2-40B4-BE49-F238E27FC236}">
                <a16:creationId xmlns:a16="http://schemas.microsoft.com/office/drawing/2014/main" id="{816BC1D8-8388-47D0-BB6D-D18E0D4B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docs/system-test-report.md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演示截图 · 答辩 PPT · 演示脚本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test-evidence 证据索引持续更新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答辩材料与证据互为对照</a:t>
            </a:r>
            <a:endParaRPr sz="1100"/>
          </a:p>
        </p:txBody>
      </p:sp>
      <p:sp>
        <p:nvSpPr>
          <p:cNvPr id="12" name="q4-title">
            <a:extLst xmlns:a="http://schemas.openxmlformats.org/drawingml/2006/main">
              <a:ext uri="{FF2B5EF4-FFF2-40B4-BE49-F238E27FC236}">
                <a16:creationId xmlns:a16="http://schemas.microsoft.com/office/drawing/2014/main" id="{C6117FCC-BDEA-4054-8483-A52FFA1B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测试验证 EVIDENCE</a:t>
            </a:r>
            <a:endParaRPr sz="1500"/>
          </a:p>
        </p:txBody>
      </p:sp>
      <p:sp>
        <p:nvSpPr>
          <p:cNvPr id="13" name="q4-body">
            <a:extLst xmlns:a="http://schemas.openxmlformats.org/drawingml/2006/main">
              <a:ext uri="{FF2B5EF4-FFF2-40B4-BE49-F238E27FC236}">
                <a16:creationId xmlns:a16="http://schemas.microsoft.com/office/drawing/2014/main" id="{0DA54E60-660A-4383-ADEA-43BF992C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2026-08-16 / 2026-08-22-shared-e2e.md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docs/test-evidence/manual/ 组员1/3/4/8/9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四模块证据归档推进中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归档完成后更新索引表</a:t>
            </a:r>
            <a:endParaRPr sz="1100"/>
          </a:p>
        </p:txBody>
      </p:sp>
      <p:sp>
        <p:nvSpPr>
          <p:cNvPr id="14" name="h-div">
            <a:extLst xmlns:a="http://schemas.openxmlformats.org/drawingml/2006/main">
              <a:ext uri="{FF2B5EF4-FFF2-40B4-BE49-F238E27FC236}">
                <a16:creationId xmlns:a16="http://schemas.microsoft.com/office/drawing/2014/main" id="{352FFE68-707B-4158-BAB0-81DC652B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581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v-div">
            <a:extLst xmlns:a="http://schemas.openxmlformats.org/drawingml/2006/main">
              <a:ext uri="{FF2B5EF4-FFF2-40B4-BE49-F238E27FC236}">
                <a16:creationId xmlns:a16="http://schemas.microsoft.com/office/drawing/2014/main" id="{71BE86D4-B377-411E-B12C-F15F44B4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44600"/>
            <a:ext cx="12700" cy="467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bj-concl">
            <a:extLst xmlns:a="http://schemas.openxmlformats.org/drawingml/2006/main">
              <a:ext uri="{FF2B5EF4-FFF2-40B4-BE49-F238E27FC236}">
                <a16:creationId xmlns:a16="http://schemas.microsoft.com/office/drawing/2014/main" id="{282D8327-45A1-4942-9799-751556C8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070600"/>
            <a:ext cx="1117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场景覆盖 · 证据归档 · 结论可核</a:t>
            </a:r>
            <a:endParaRPr sz="1200"/>
          </a:p>
        </p:txBody>
      </p:sp>
      <p:sp>
        <p:nvSpPr>
          <p:cNvPr id="17" name="ft-line">
            <a:extLst xmlns:a="http://schemas.openxmlformats.org/drawingml/2006/main">
              <a:ext uri="{FF2B5EF4-FFF2-40B4-BE49-F238E27FC236}">
                <a16:creationId xmlns:a16="http://schemas.microsoft.com/office/drawing/2014/main" id="{602E8EE0-E05F-4DF7-B9BF-28D42441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t-brand">
            <a:extLst xmlns:a="http://schemas.openxmlformats.org/drawingml/2006/main">
              <a:ext uri="{FF2B5EF4-FFF2-40B4-BE49-F238E27FC236}">
                <a16:creationId xmlns:a16="http://schemas.microsoft.com/office/drawing/2014/main" id="{5B2B9918-7D9E-442E-99DB-1F0F10E8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9" name="ft-page">
            <a:extLst xmlns:a="http://schemas.openxmlformats.org/drawingml/2006/main">
              <a:ext uri="{FF2B5EF4-FFF2-40B4-BE49-F238E27FC236}">
                <a16:creationId xmlns:a16="http://schemas.microsoft.com/office/drawing/2014/main" id="{713EC825-4950-4458-8EDF-F502F379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40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0694185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232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iv-num">
            <a:extLst xmlns:a="http://schemas.openxmlformats.org/drawingml/2006/main">
              <a:ext uri="{FF2B5EF4-FFF2-40B4-BE49-F238E27FC236}">
                <a16:creationId xmlns:a16="http://schemas.microsoft.com/office/drawing/2014/main" id="{D0BDAD4F-DAB0-4E9C-91E1-4F6DDDBC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524000"/>
            <a:ext cx="4064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06</a:t>
            </a:r>
            <a:endParaRPr sz="14000"/>
          </a:p>
        </p:txBody>
      </p:sp>
      <p:sp>
        <p:nvSpPr>
          <p:cNvPr id="3" name="div-line">
            <a:extLst xmlns:a="http://schemas.openxmlformats.org/drawingml/2006/main">
              <a:ext uri="{FF2B5EF4-FFF2-40B4-BE49-F238E27FC236}">
                <a16:creationId xmlns:a16="http://schemas.microsoft.com/office/drawing/2014/main" id="{DD9F9D7C-52E7-4F44-B433-05BFCEE7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3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iv-title">
            <a:extLst xmlns:a="http://schemas.openxmlformats.org/drawingml/2006/main">
              <a:ext uri="{FF2B5EF4-FFF2-40B4-BE49-F238E27FC236}">
                <a16:creationId xmlns:a16="http://schemas.microsoft.com/office/drawing/2014/main" id="{BB3B69E2-08CD-4D52-91E6-E669A490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318000"/>
            <a:ext cx="6350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0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测试与总结</a:t>
            </a:r>
            <a:endParaRPr sz="4000"/>
          </a:p>
        </p:txBody>
      </p:sp>
      <p:sp>
        <p:nvSpPr>
          <p:cNvPr id="5" name="div-sub">
            <a:extLst xmlns:a="http://schemas.openxmlformats.org/drawingml/2006/main">
              <a:ext uri="{FF2B5EF4-FFF2-40B4-BE49-F238E27FC236}">
                <a16:creationId xmlns:a16="http://schemas.microsoft.com/office/drawing/2014/main" id="{812F905C-30D7-41F9-B827-A607CA42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156200"/>
            <a:ext cx="787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rgbClr val="B9B2A6"/>
                </a:solidFill>
                <a:latin typeface="MiSans"/>
                <a:ea typeface="MiSans"/>
                <a:cs typeface="MiSans"/>
              </a:rPr>
              <a:t>测试验证 · 成果总结 · 改进方向</a:t>
            </a:r>
            <a:endParaRPr sz="1400"/>
          </a:p>
        </p:txBody>
      </p:sp>
      <p:sp>
        <p:nvSpPr>
          <p:cNvPr id="6" name="div-progress">
            <a:extLst xmlns:a="http://schemas.openxmlformats.org/drawingml/2006/main">
              <a:ext uri="{FF2B5EF4-FFF2-40B4-BE49-F238E27FC236}">
                <a16:creationId xmlns:a16="http://schemas.microsoft.com/office/drawing/2014/main" id="{648AECB0-832F-4A79-8F1A-10946E52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762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100" spc="200">
                <a:solidFill>
                  <a:srgbClr val="8A8478"/>
                </a:solidFill>
                <a:latin typeface="MiSans"/>
                <a:ea typeface="MiSans"/>
                <a:cs typeface="MiSans"/>
              </a:rPr>
              <a:t>SECTION 06 / 06</a:t>
            </a:r>
            <a:endParaRPr sz="1100"/>
          </a:p>
        </p:txBody>
      </p:sp>
      <p:sp>
        <p:nvSpPr>
          <p:cNvPr id="7" name="div-brand">
            <a:extLst xmlns:a="http://schemas.openxmlformats.org/drawingml/2006/main">
              <a:ext uri="{FF2B5EF4-FFF2-40B4-BE49-F238E27FC236}">
                <a16:creationId xmlns:a16="http://schemas.microsoft.com/office/drawing/2014/main" id="{AFDE25EE-93C8-42E7-AF13-71B1C379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2992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济跑跑 JIRUN · 数据库课程设计答辩</a:t>
            </a:r>
            <a:endParaRPr sz="1000"/>
          </a:p>
        </p:txBody>
      </p:sp>
      <p:sp>
        <p:nvSpPr>
          <p:cNvPr id="8" name="div-page">
            <a:extLst xmlns:a="http://schemas.openxmlformats.org/drawingml/2006/main">
              <a:ext uri="{FF2B5EF4-FFF2-40B4-BE49-F238E27FC236}">
                <a16:creationId xmlns:a16="http://schemas.microsoft.com/office/drawing/2014/main" id="{C5D8CEDA-1447-43F1-9AB1-69D9AAA0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299200"/>
            <a:ext cx="76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41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8129211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43529156-ECCC-4649-AC7C-047EE59A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661FA647-19DC-4F1A-BE02-8D4D2DE4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系统测试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6C9BAD96-166B-416B-83CC-ADCFF5E5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06 · 测试与总结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C7320030-5E9E-44D7-8F05-B040238D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0" name="test-table"/>
          <p:cNvGraphicFramePr/>
          <p:nvPr/>
        </p:nvGraphicFramePr>
        <p:xfrm>
          <a:off xmlns:a="http://schemas.openxmlformats.org/drawingml/2006/main" x="508000" y="1219200"/>
          <a:ext xmlns:a="http://schemas.openxmlformats.org/drawingml/2006/main" cx="11176000" cy="393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94080"/>
                <a:gridCol w="3352800"/>
                <a:gridCol w="4693920"/>
                <a:gridCol w="2235200"/>
              </a:tblGrid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测试场景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预期结果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验证机制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</a:tr>
              <a:tr h="578739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T01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用户下单并支付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事务提交，tasks 与 payments 写入一致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3E625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事务原子性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78739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T02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两名跑腿员同时抢同一单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仅一人接单成功，另一人状态校验失败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3E625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行锁互斥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78739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T03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取消已支付订单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生成退款流水，订单状态按状态机回退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3E625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退款与状态回退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78739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T04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中转站扫码入库 / 出库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生成接派与状态日志记录，状态按状态机推进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3E625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接派留痕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74802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T05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用户提交评价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评分写入 reviews 并联动信誉分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3E625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信誉分联动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74802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T06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投诉与管理员处理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投诉状态流转可查，处理结果联动信誉分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3E625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投诉处理流程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st-env-icon">
            <a:extLst xmlns:a="http://schemas.openxmlformats.org/drawingml/2006/main">
              <a:ext uri="{FF2B5EF4-FFF2-40B4-BE49-F238E27FC236}">
                <a16:creationId xmlns:a16="http://schemas.microsoft.com/office/drawing/2014/main" id="{1832AD33-90C3-4E9B-9FB3-E7908CC1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384800"/>
            <a:ext cx="177800" cy="177800"/>
          </a:xfrm>
          <a:custGeom xmlns:a="http://schemas.openxmlformats.org/drawingml/2006/main">
            <a:rect l="l" t="t" r="r" b="b"/>
            <a:pathLst>
              <a:path w="448" h="512">
                <a:moveTo>
                  <a:pt x="288" y="0"/>
                </a:moveTo>
                <a:lnTo>
                  <a:pt x="128" y="0"/>
                </a:lnTo>
                <a:cubicBezTo>
                  <a:pt x="110" y="0"/>
                  <a:pt x="96" y="14"/>
                  <a:pt x="96" y="32"/>
                </a:cubicBezTo>
                <a:cubicBezTo>
                  <a:pt x="96" y="50"/>
                  <a:pt x="110" y="64"/>
                  <a:pt x="128" y="64"/>
                </a:cubicBezTo>
                <a:lnTo>
                  <a:pt x="128" y="216"/>
                </a:lnTo>
                <a:lnTo>
                  <a:pt x="8" y="426"/>
                </a:lnTo>
                <a:cubicBezTo>
                  <a:pt x="3" y="435"/>
                  <a:pt x="0" y="445"/>
                  <a:pt x="0" y="455"/>
                </a:cubicBezTo>
                <a:cubicBezTo>
                  <a:pt x="0" y="486"/>
                  <a:pt x="26" y="512"/>
                  <a:pt x="57" y="512"/>
                </a:cubicBezTo>
                <a:lnTo>
                  <a:pt x="391" y="512"/>
                </a:lnTo>
                <a:cubicBezTo>
                  <a:pt x="422" y="512"/>
                  <a:pt x="448" y="486"/>
                  <a:pt x="448" y="455"/>
                </a:cubicBezTo>
                <a:cubicBezTo>
                  <a:pt x="448" y="445"/>
                  <a:pt x="445" y="435"/>
                  <a:pt x="441" y="426"/>
                </a:cubicBezTo>
                <a:lnTo>
                  <a:pt x="320" y="216"/>
                </a:lnTo>
                <a:lnTo>
                  <a:pt x="320" y="64"/>
                </a:lnTo>
                <a:cubicBezTo>
                  <a:pt x="338" y="64"/>
                  <a:pt x="352" y="50"/>
                  <a:pt x="352" y="32"/>
                </a:cubicBezTo>
                <a:cubicBezTo>
                  <a:pt x="352" y="14"/>
                  <a:pt x="338" y="0"/>
                  <a:pt x="320" y="0"/>
                </a:cubicBezTo>
                <a:lnTo>
                  <a:pt x="288" y="0"/>
                </a:lnTo>
                <a:close/>
                <a:moveTo>
                  <a:pt x="192" y="216"/>
                </a:moveTo>
                <a:lnTo>
                  <a:pt x="192" y="64"/>
                </a:lnTo>
                <a:lnTo>
                  <a:pt x="256" y="64"/>
                </a:lnTo>
                <a:lnTo>
                  <a:pt x="256" y="216"/>
                </a:lnTo>
                <a:cubicBezTo>
                  <a:pt x="256" y="227"/>
                  <a:pt x="259" y="238"/>
                  <a:pt x="264" y="247"/>
                </a:cubicBezTo>
                <a:lnTo>
                  <a:pt x="306" y="320"/>
                </a:lnTo>
                <a:lnTo>
                  <a:pt x="142" y="320"/>
                </a:lnTo>
                <a:lnTo>
                  <a:pt x="184" y="247"/>
                </a:lnTo>
                <a:cubicBezTo>
                  <a:pt x="189" y="238"/>
                  <a:pt x="192" y="227"/>
                  <a:pt x="192" y="216"/>
                </a:cubicBezTo>
                <a:close/>
              </a:path>
            </a:pathLst>
          </a:custGeom>
          <a:solidFill xmlns:a="http://schemas.openxmlformats.org/drawingml/2006/main">
            <a:srgbClr val="7771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st-env">
            <a:extLst xmlns:a="http://schemas.openxmlformats.org/drawingml/2006/main">
              <a:ext uri="{FF2B5EF4-FFF2-40B4-BE49-F238E27FC236}">
                <a16:creationId xmlns:a16="http://schemas.microsoft.com/office/drawing/2014/main" id="{6B1C7CB6-4117-4721-AB66-5E606102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5334000"/>
            <a:ext cx="10896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150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测试环境：Oracle 19c · 覆盖下单、抢单、结算等核心场景的自动化测试与端到端用例</a:t>
            </a:r>
            <a:endParaRPr sz="1150"/>
          </a:p>
        </p:txBody>
      </p:sp>
      <p:sp>
        <p:nvSpPr>
          <p:cNvPr id="9" name="test-line">
            <a:extLst xmlns:a="http://schemas.openxmlformats.org/drawingml/2006/main">
              <a:ext uri="{FF2B5EF4-FFF2-40B4-BE49-F238E27FC236}">
                <a16:creationId xmlns:a16="http://schemas.microsoft.com/office/drawing/2014/main" id="{8C6262FE-F12A-4C73-800A-590BAE80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740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st-concl">
            <a:extLst xmlns:a="http://schemas.openxmlformats.org/drawingml/2006/main">
              <a:ext uri="{FF2B5EF4-FFF2-40B4-BE49-F238E27FC236}">
                <a16:creationId xmlns:a16="http://schemas.microsoft.com/office/drawing/2014/main" id="{BA7C52A1-B88B-403E-A7D5-D91CF594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892800"/>
            <a:ext cx="889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3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第五阶段模块测试：总集成 · 账户权限 · 基础资料 · 评价投诉 · 结算审计报表，记录与截图存档</a:t>
            </a:r>
            <a:endParaRPr sz="1300"/>
          </a:p>
        </p:txBody>
      </p:sp>
      <p:sp>
        <p:nvSpPr>
          <p:cNvPr id="11" name="test-note">
            <a:extLst xmlns:a="http://schemas.openxmlformats.org/drawingml/2006/main">
              <a:ext uri="{FF2B5EF4-FFF2-40B4-BE49-F238E27FC236}">
                <a16:creationId xmlns:a16="http://schemas.microsoft.com/office/drawing/2014/main" id="{55BDEBCB-7072-444C-9223-425BCFEC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273800"/>
            <a:ext cx="889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12" name="ft-line">
            <a:extLst xmlns:a="http://schemas.openxmlformats.org/drawingml/2006/main">
              <a:ext uri="{FF2B5EF4-FFF2-40B4-BE49-F238E27FC236}">
                <a16:creationId xmlns:a16="http://schemas.microsoft.com/office/drawing/2014/main" id="{53F33983-2D07-4868-BF1D-D82207F7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ft-brand">
            <a:extLst xmlns:a="http://schemas.openxmlformats.org/drawingml/2006/main">
              <a:ext uri="{FF2B5EF4-FFF2-40B4-BE49-F238E27FC236}">
                <a16:creationId xmlns:a16="http://schemas.microsoft.com/office/drawing/2014/main" id="{01C52D4C-772B-45FC-845D-797B555A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4" name="ft-page">
            <a:extLst xmlns:a="http://schemas.openxmlformats.org/drawingml/2006/main">
              <a:ext uri="{FF2B5EF4-FFF2-40B4-BE49-F238E27FC236}">
                <a16:creationId xmlns:a16="http://schemas.microsoft.com/office/drawing/2014/main" id="{A9EF9431-537A-4A42-93A8-C994A46D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42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7745284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30948BE2-08D3-4592-A0F9-79D1314E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D81D1A80-4A40-44FB-9256-A5F80667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总结与展望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6898375E-3CFD-4A6D-9589-B2EC9B5D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06 · 测试与总结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571711F0-2096-4D85-9B9B-43589322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done-label">
            <a:extLst xmlns:a="http://schemas.openxmlformats.org/drawingml/2006/main">
              <a:ext uri="{FF2B5EF4-FFF2-40B4-BE49-F238E27FC236}">
                <a16:creationId xmlns:a16="http://schemas.microsoft.com/office/drawing/2014/main" id="{D35B3E89-5B60-420F-B5B1-7226DA09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完成情况</a:t>
            </a:r>
            <a:endParaRPr sz="1200"/>
          </a:p>
        </p:txBody>
      </p:sp>
      <p:sp>
        <p:nvSpPr>
          <p:cNvPr id="7" name="done1-n">
            <a:extLst xmlns:a="http://schemas.openxmlformats.org/drawingml/2006/main">
              <a:ext uri="{FF2B5EF4-FFF2-40B4-BE49-F238E27FC236}">
                <a16:creationId xmlns:a16="http://schemas.microsoft.com/office/drawing/2014/main" id="{BDC00C9B-0208-44B1-9773-8A776624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00200"/>
            <a:ext cx="508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01</a:t>
            </a:r>
            <a:endParaRPr sz="1800"/>
          </a:p>
        </p:txBody>
      </p:sp>
      <p:sp>
        <p:nvSpPr>
          <p:cNvPr id="8" name="done1">
            <a:extLst xmlns:a="http://schemas.openxmlformats.org/drawingml/2006/main">
              <a:ext uri="{FF2B5EF4-FFF2-40B4-BE49-F238E27FC236}">
                <a16:creationId xmlns:a16="http://schemas.microsoft.com/office/drawing/2014/main" id="{ABB24479-1F49-40F6-A6A5-8A4A3902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1574800"/>
            <a:ext cx="47498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完整走完数据库设计全流程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需求分析 → E-R 建模 → 关系模式 → 规范化论证 → 物理实现</a:t>
            </a:r>
            <a:endParaRPr sz="1150"/>
          </a:p>
        </p:txBody>
      </p:sp>
      <p:sp>
        <p:nvSpPr>
          <p:cNvPr id="9" name="done1-line">
            <a:extLst xmlns:a="http://schemas.openxmlformats.org/drawingml/2006/main">
              <a:ext uri="{FF2B5EF4-FFF2-40B4-BE49-F238E27FC236}">
                <a16:creationId xmlns:a16="http://schemas.microsoft.com/office/drawing/2014/main" id="{76422238-CBDD-409E-A80A-A00877FB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4130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done2-n">
            <a:extLst xmlns:a="http://schemas.openxmlformats.org/drawingml/2006/main">
              <a:ext uri="{FF2B5EF4-FFF2-40B4-BE49-F238E27FC236}">
                <a16:creationId xmlns:a16="http://schemas.microsoft.com/office/drawing/2014/main" id="{E54C3D4F-23F4-47D1-9299-22696809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616200"/>
            <a:ext cx="508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02</a:t>
            </a:r>
            <a:endParaRPr sz="1800"/>
          </a:p>
        </p:txBody>
      </p:sp>
      <p:sp>
        <p:nvSpPr>
          <p:cNvPr id="11" name="done2">
            <a:extLst xmlns:a="http://schemas.openxmlformats.org/drawingml/2006/main">
              <a:ext uri="{FF2B5EF4-FFF2-40B4-BE49-F238E27FC236}">
                <a16:creationId xmlns:a16="http://schemas.microsoft.com/office/drawing/2014/main" id="{734D1FA9-3231-4945-8A54-A943D993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90800"/>
            <a:ext cx="47498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实现 24 张关系表与索引、约束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状态机取值、金额与业务唯一性由数据库约束强制执行</a:t>
            </a:r>
            <a:endParaRPr sz="1150"/>
          </a:p>
        </p:txBody>
      </p:sp>
      <p:sp>
        <p:nvSpPr>
          <p:cNvPr id="12" name="done2-line">
            <a:extLst xmlns:a="http://schemas.openxmlformats.org/drawingml/2006/main">
              <a:ext uri="{FF2B5EF4-FFF2-40B4-BE49-F238E27FC236}">
                <a16:creationId xmlns:a16="http://schemas.microsoft.com/office/drawing/2014/main" id="{680D085D-96D4-47A0-9074-36B0D6F9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4290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done3-n">
            <a:extLst xmlns:a="http://schemas.openxmlformats.org/drawingml/2006/main">
              <a:ext uri="{FF2B5EF4-FFF2-40B4-BE49-F238E27FC236}">
                <a16:creationId xmlns:a16="http://schemas.microsoft.com/office/drawing/2014/main" id="{6FF283BF-7F7A-445B-90C1-C27A6765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632200"/>
            <a:ext cx="508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03</a:t>
            </a:r>
            <a:endParaRPr sz="1800"/>
          </a:p>
        </p:txBody>
      </p:sp>
      <p:sp>
        <p:nvSpPr>
          <p:cNvPr id="14" name="done3">
            <a:extLst xmlns:a="http://schemas.openxmlformats.org/drawingml/2006/main">
              <a:ext uri="{FF2B5EF4-FFF2-40B4-BE49-F238E27FC236}">
                <a16:creationId xmlns:a16="http://schemas.microsoft.com/office/drawing/2014/main" id="{435F2BDE-E4DF-4C39-9486-C3AFB50C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3606800"/>
            <a:ext cx="47498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订单状态机贯穿前后端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状态流转受数据库约束，跨表写入同事务提交，热点操作行锁</a:t>
            </a:r>
            <a:endParaRPr sz="1150"/>
          </a:p>
        </p:txBody>
      </p:sp>
      <p:sp>
        <p:nvSpPr>
          <p:cNvPr id="15" name="done3-line">
            <a:extLst xmlns:a="http://schemas.openxmlformats.org/drawingml/2006/main">
              <a:ext uri="{FF2B5EF4-FFF2-40B4-BE49-F238E27FC236}">
                <a16:creationId xmlns:a16="http://schemas.microsoft.com/office/drawing/2014/main" id="{3648EE9A-9DB1-4782-B286-3003CAAA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4450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done4-n">
            <a:extLst xmlns:a="http://schemas.openxmlformats.org/drawingml/2006/main">
              <a:ext uri="{FF2B5EF4-FFF2-40B4-BE49-F238E27FC236}">
                <a16:creationId xmlns:a16="http://schemas.microsoft.com/office/drawing/2014/main" id="{E074C59C-86E0-4B9F-9A3B-B0FE3AAE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648200"/>
            <a:ext cx="508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04</a:t>
            </a:r>
            <a:endParaRPr sz="1800"/>
          </a:p>
        </p:txBody>
      </p:sp>
      <p:sp>
        <p:nvSpPr>
          <p:cNvPr id="17" name="done4">
            <a:extLst xmlns:a="http://schemas.openxmlformats.org/drawingml/2006/main">
              <a:ext uri="{FF2B5EF4-FFF2-40B4-BE49-F238E27FC236}">
                <a16:creationId xmlns:a16="http://schemas.microsoft.com/office/drawing/2014/main" id="{95C9B627-DE03-4882-B889-E4806AEA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622800"/>
            <a:ext cx="47498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补齐模块并推进第五阶段测试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投诉、结算、审计、报表模块补齐，支持多单承接与重派优化，消除重复接单、注销手机号复用等缺陷</a:t>
            </a:r>
            <a:endParaRPr sz="1150"/>
          </a:p>
        </p:txBody>
      </p:sp>
      <p:sp>
        <p:nvSpPr>
          <p:cNvPr id="18" name="vdiv">
            <a:extLst xmlns:a="http://schemas.openxmlformats.org/drawingml/2006/main">
              <a:ext uri="{FF2B5EF4-FFF2-40B4-BE49-F238E27FC236}">
                <a16:creationId xmlns:a16="http://schemas.microsoft.com/office/drawing/2014/main" id="{3AF24DE3-2835-4B8E-B1FE-57F3F206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1219200"/>
            <a:ext cx="127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future-label">
            <a:extLst xmlns:a="http://schemas.openxmlformats.org/drawingml/2006/main">
              <a:ext uri="{FF2B5EF4-FFF2-40B4-BE49-F238E27FC236}">
                <a16:creationId xmlns:a16="http://schemas.microsoft.com/office/drawing/2014/main" id="{89F6869D-EE73-4312-A46D-A18C71FD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1219200"/>
            <a:ext cx="508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不足与展望</a:t>
            </a:r>
            <a:endParaRPr sz="1200"/>
          </a:p>
        </p:txBody>
      </p:sp>
      <p:sp>
        <p:nvSpPr>
          <p:cNvPr id="20" name="future-body">
            <a:extLst xmlns:a="http://schemas.openxmlformats.org/drawingml/2006/main">
              <a:ext uri="{FF2B5EF4-FFF2-40B4-BE49-F238E27FC236}">
                <a16:creationId xmlns:a16="http://schemas.microsoft.com/office/drawing/2014/main" id="{E5DC1E7A-C255-4C21-8BBD-04B7A86C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1600200"/>
            <a:ext cx="5029200" cy="31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Aft>
                <a:spcPts val="100"/>
              </a:spcAft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引入缓存与消息队列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spcAft>
                <a:spcPts val="900"/>
              </a:spcAft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任务大厅抢单查询当前直接读取数据库，存在响应延迟；拟引入 Redis 缓存与消息队列优化。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spcAft>
                <a:spcPts val="100"/>
              </a:spcAft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读写分离与分表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spcAft>
                <a:spcPts val="900"/>
              </a:spcAft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针对订单规模持续增长场景，拟采用基于用户哈希的分表策略，并对历史订单实施归档存储。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spcAft>
                <a:spcPts val="100"/>
              </a:spcAft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信用模型细化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spcAft>
                <a:spcPts val="900"/>
              </a:spcAft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当前信用分仅依据订单评分计算；拟将履约率与投诉率纳入信用评价模型。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spcAft>
                <a:spcPts val="100"/>
              </a:spcAft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数据分析能力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spcAft>
                <a:spcPts val="900"/>
              </a:spcAft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拟基于订单流水数据开展高峰预测与站点容量规划，当前尚未实施。</a:t>
            </a:r>
            <a:endParaRPr sz="1150"/>
          </a:p>
        </p:txBody>
      </p:sp>
      <p:sp>
        <p:nvSpPr>
          <p:cNvPr id="21" name="future-line">
            <a:extLst xmlns:a="http://schemas.openxmlformats.org/drawingml/2006/main">
              <a:ext uri="{FF2B5EF4-FFF2-40B4-BE49-F238E27FC236}">
                <a16:creationId xmlns:a16="http://schemas.microsoft.com/office/drawing/2014/main" id="{0026C8DF-8E44-406E-91D6-AFE37C33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5588000"/>
            <a:ext cx="50292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future-concl">
            <a:extLst xmlns:a="http://schemas.openxmlformats.org/drawingml/2006/main">
              <a:ext uri="{FF2B5EF4-FFF2-40B4-BE49-F238E27FC236}">
                <a16:creationId xmlns:a16="http://schemas.microsoft.com/office/drawing/2014/main" id="{F9A37133-849E-4C79-A912-373B1F54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5740400"/>
            <a:ext cx="50292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实现阶段保留 24 张表主体结构 · 调整集中于状态流转与并发控制</a:t>
            </a:r>
            <a:endParaRPr sz="1200"/>
          </a:p>
        </p:txBody>
      </p:sp>
      <p:sp>
        <p:nvSpPr>
          <p:cNvPr id="23" name="ft-line">
            <a:extLst xmlns:a="http://schemas.openxmlformats.org/drawingml/2006/main">
              <a:ext uri="{FF2B5EF4-FFF2-40B4-BE49-F238E27FC236}">
                <a16:creationId xmlns:a16="http://schemas.microsoft.com/office/drawing/2014/main" id="{E3E43B27-E692-4B93-BE37-0ADD30DE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ft-brand">
            <a:extLst xmlns:a="http://schemas.openxmlformats.org/drawingml/2006/main">
              <a:ext uri="{FF2B5EF4-FFF2-40B4-BE49-F238E27FC236}">
                <a16:creationId xmlns:a16="http://schemas.microsoft.com/office/drawing/2014/main" id="{F6F7AA5F-3805-414F-A6AA-72D6F344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25" name="ft-page">
            <a:extLst xmlns:a="http://schemas.openxmlformats.org/drawingml/2006/main">
              <a:ext uri="{FF2B5EF4-FFF2-40B4-BE49-F238E27FC236}">
                <a16:creationId xmlns:a16="http://schemas.microsoft.com/office/drawing/2014/main" id="{04E9DEFD-653D-49A5-AD2E-80C4223F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43 / 44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5095882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232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h-logo-box">
            <a:extLst xmlns:a="http://schemas.openxmlformats.org/drawingml/2006/main">
              <a:ext uri="{FF2B5EF4-FFF2-40B4-BE49-F238E27FC236}">
                <a16:creationId xmlns:a16="http://schemas.microsoft.com/office/drawing/2014/main" id="{71E2152D-886D-4BAF-8CC9-A9A9EF05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219200"/>
            <a:ext cx="55880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h-logo">
            <a:extLst xmlns:a="http://schemas.openxmlformats.org/drawingml/2006/main">
              <a:ext uri="{FF2B5EF4-FFF2-40B4-BE49-F238E27FC236}">
                <a16:creationId xmlns:a16="http://schemas.microsoft.com/office/drawing/2014/main" id="{6CBBF7D9-272C-46ED-B4CA-277D2285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219200"/>
            <a:ext cx="5588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200"/>
          </a:p>
        </p:txBody>
      </p:sp>
      <p:sp>
        <p:nvSpPr>
          <p:cNvPr id="4" name="th-brand">
            <a:extLst xmlns:a="http://schemas.openxmlformats.org/drawingml/2006/main">
              <a:ext uri="{FF2B5EF4-FFF2-40B4-BE49-F238E27FC236}">
                <a16:creationId xmlns:a16="http://schemas.microsoft.com/office/drawing/2014/main" id="{9DA12A86-052C-482F-A062-50A0207B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219200"/>
            <a:ext cx="304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6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济跑跑 JIRUN</a:t>
            </a:r>
            <a:endParaRPr sz="1600"/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900">
                <a:solidFill>
                  <a:srgbClr val="8A8478"/>
                </a:solidFill>
                <a:latin typeface="MiSans"/>
                <a:ea typeface="MiSans"/>
                <a:cs typeface="MiSans"/>
              </a:rPr>
              <a:t>CAMPUS RUNNER</a:t>
            </a:r>
            <a:endParaRPr sz="1600"/>
          </a:p>
        </p:txBody>
      </p:sp>
      <p:sp>
        <p:nvSpPr>
          <p:cNvPr id="5" name="th-main">
            <a:extLst xmlns:a="http://schemas.openxmlformats.org/drawingml/2006/main">
              <a:ext uri="{FF2B5EF4-FFF2-40B4-BE49-F238E27FC236}">
                <a16:creationId xmlns:a16="http://schemas.microsoft.com/office/drawing/2014/main" id="{96452498-0B01-415A-95B1-E144B484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667000"/>
            <a:ext cx="8890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4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恳请各位老师批评指正</a:t>
            </a:r>
            <a:endParaRPr sz="4400"/>
          </a:p>
        </p:txBody>
      </p:sp>
      <p:sp>
        <p:nvSpPr>
          <p:cNvPr id="6" name="th-qa">
            <a:extLst xmlns:a="http://schemas.openxmlformats.org/drawingml/2006/main">
              <a:ext uri="{FF2B5EF4-FFF2-40B4-BE49-F238E27FC236}">
                <a16:creationId xmlns:a16="http://schemas.microsoft.com/office/drawing/2014/main" id="{97D8AE27-E693-411A-A1EB-7492879E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759200"/>
            <a:ext cx="508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600" b="1" spc="4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Q&amp;</a:t>
            </a:r>
            <a:r>
              <a:rPr sz="2600" b="1" spc="4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A</a:t>
            </a:r>
            <a:endParaRPr sz="2600"/>
          </a:p>
        </p:txBody>
      </p:sp>
      <p:sp>
        <p:nvSpPr>
          <p:cNvPr id="7" name="th-line">
            <a:extLst xmlns:a="http://schemas.openxmlformats.org/drawingml/2006/main">
              <a:ext uri="{FF2B5EF4-FFF2-40B4-BE49-F238E27FC236}">
                <a16:creationId xmlns:a16="http://schemas.microsoft.com/office/drawing/2014/main" id="{7D01934A-BF41-45BA-8813-132F8BD8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76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h-page">
            <a:extLst xmlns:a="http://schemas.openxmlformats.org/drawingml/2006/main">
              <a:ext uri="{FF2B5EF4-FFF2-40B4-BE49-F238E27FC236}">
                <a16:creationId xmlns:a16="http://schemas.microsoft.com/office/drawing/2014/main" id="{E8AC272A-D97D-4D8B-A39F-BB3A3254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299200"/>
            <a:ext cx="76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44 / 44</a:t>
            </a:r>
            <a:endParaRPr sz="1000"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BE0FD67-1A2A-4937-A9BE-30C3D5B4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102352"/>
            <a:ext cx="6588342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小组成员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：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刘相成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 / 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薛毓哲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 / 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唐独彪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 / 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李柏言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 / 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韩昊苏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 / 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桑治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 / 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崔少坤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 / 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谢智行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 / 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蒋昊沄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 / 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赵崇治</a:t>
            </a:r>
            <a:endParaRPr sz="1200">
              <a:solidFill>
                <a:srgbClr val="E8551D"/>
              </a:solidFill>
              <a:latin typeface="MiSans"/>
              <a:ea typeface="MiSans"/>
              <a:cs typeface="MiSans"/>
            </a:endParaRPr>
          </a:p>
        </p:txBody>
      </p:sp>
      <p:pic>
        <p:nvPicPr>
          <p:cNvPr id="20" name="logo-im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e73413c824f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155700"/>
            <a:ext cx="711200" cy="711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>
            <a:noFill/>
          </a:ln>
          <a:effectLst xmlns:a="http://schemas.openxmlformats.org/drawingml/2006/main"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5014032"/>
      </p:ext>
    </p:extLst>
  </p:cSld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2026-09-10T07:49:36.2830000Z</dcterms:created>
  <dcterms:modified xsi:type="dcterms:W3CDTF">2026-09-10T07:49:36.2830000Z</dcterms:modified>
</coreProperties>
</file>