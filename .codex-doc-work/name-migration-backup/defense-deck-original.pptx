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275" r:id="rId42"/>
    <p:sldId id="276" r:id="rId43"/>
    <p:sldId id="277" r:id="rId44"/>
    <p:sldId id="278" r:id="rId45"/>
  </p:sldIdLst>
  <p:sldSz cx="12192000" cy="6858000"/>
  <p:notesSz cx="12192000" cy="6858000"/>
  <p:embeddedFontLst>
    <p:embeddedFont>
      <p:font typeface="MiSans" panose="02010600030101010101" charset="-122"/>
      <p:regular r:id="rId47"/>
    </p:embeddedFont>
    <p:embeddedFont>
      <p:font typeface="JetBrains Mono" panose="02010600030101010101" charset="0"/>
      <p:regular r:id="rId48"/>
    </p:embeddedFont>
    <p:embeddedFont>
      <p:font typeface="等线" panose="02010600030101010101" pitchFamily="2" charset="-122"/>
      <p:regular r:id="rId49"/>
      <p:bold r:id="rId5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5" autoAdjust="0"/>
  </p:normalViewPr>
  <p:slideViewPr>
    <p:cSldViewPr snapToGrid="0" snapToObjects="1">
      <p:cViewPr>
        <p:scale>
          <a:sx n="100" d="100"/>
          <a:sy n="100" d="100"/>
        </p:scale>
        <p:origin x="42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65542-1BB3-4FC8-A3BD-A6BD4FF8A0FD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08F0A-5F53-4860-A21D-F917A52577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74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分层细节（口头说明）：Controller 只注入 Service 接口，Service 只注入 Repository 接口；越层引用由静态门禁检查拦截。该约束保证了 Oracle 类型与 SQL 不会泄漏到业务层与表现层，也使仓储可以用测试替身替换。</a:t>
            </a:r>
          </a:p>
          <a:p>
            <a:r>
              <a:t>数据口径示例（口头说明）：nodes.node_type 存 GATE / STATION / DISTRIBUTION，Service 转换为「校门 / 驿站 / 分发点」后交 View 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功能点与业务规则统计明细见课程设计报告；汇报时按五个功能域口头展开，不必逐条点数。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状态机在数据库中的实现（口头说明）：task_status 保存英文状态代码，页面显示中文名称；接单起每次状态变更写入 task_status_logs 并绑定接派记录；状态更新与日志写入在同一事务内提交；已接派任务不再出现在任务大厅，避免重复接单。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并发指标（口头说明）：300 并发为设计期估算，未做生产压测；并发正确性由行锁机制与抢单冲突场景测试保障，答辩时如实说明。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图注细节（口头说明）：任务与外卖分发、快递代取、私人转交三类明细构成弱实体联系；服务类型与节点的多对多联系在逻辑设计阶段独立为 service_node_rules 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备问（组合外键）：(publisher_user_id, address_no) 引用 user_addresses，(service_type_id, node_id) 引用 service_node_rules，保证任务的服务类型与交接节点必须存在适用规则；task_status 默认 CREATED，由 CHECK 约束限定 10 个合法取值。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分解论证（口头说明）：实例 1，若任务表混存三类专有字段，大量列长期为空（插入异常），类型扩展要改主表结构；实例 2，适用节点若登记在服务类型表中，节点增删要反复改主表。分解后更新只影响一行。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备问（约束与索引）：一任务一评价由 uk_reviews_task 唯一约束强制；支付流水号唯一由 uk_payments_trade_no 约束强制；单默认地址由函数唯一索引 uk_user_addresses_one_default（CASE WHEN is_default = 'Y' THEN user_id END）实现；服务类型名称唯一索引为 UPPER(TRIM(service_name)) 函数索引，_ci 表示大小写不敏感。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界面截图提示（答辩前操作</a:t>
            </a:r>
            <a:r>
              <a:rPr dirty="0"/>
              <a:t>）：</a:t>
            </a:r>
            <a:r>
              <a:rPr dirty="0" err="1"/>
              <a:t>济跑跑品牌标识与前端页面展示已完成改版，请将改版后的真实系统截图插入两个占位框，两张截图同比例、同基线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口头补充：完整建库脚本见课程设计报告附录。最初方案用 version 乐观锁做冲突检测，迁移 Oracle 后统一改为 SELECT … FOR UPDATE 行锁，语义更直接，也便于在端到端用例中验证互斥效果。</a:t>
            </a:r>
          </a:p>
          <a:p>
            <a:r>
              <a:t>行锁修复经过（口头说明）：初期实现未启用行锁，并发测试暴露两名跑腿员重复接单问题；引入 SELECT … FOR UPDATE 行锁后消除。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本章节由十位组员依次汇报，每人两页：职责与数据范围、核心实现与验证。口头串场按业务链路：账户→基础资料→任务发布→接单派单→支付退款→评价投诉→结算报表→测试→总集成。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口头介绍提纲：负责把各成员代码合成为一个可运行系统——搭建骨架、连接 Oracle、实现公共 Layout 与菜单、编写权限过滤，最后统一联调。备问：越层引用由静态门禁检查拦截；集成质量由 TC-INT-01～05 验证（公网 HTTPS、四类角色导航、31 个页面路由、自动化门禁）。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口头介绍提纲：先讲静态门禁如何守住五层边界，再讲集成验证（Release 构建 0 警告 0 错误、52/52 自动化测试、31 路由抽查）。备问：POST 防伪 47/47 为静态门禁清点结果，见组员1证据目录。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口头介绍提纲：把数据库设计文档转为可执行建表脚本（24 张表），统一枚举中英文口径，准备初始化与测试数据。备问：脚本按 002–007 编号顺序执行、可复跑。注意：TC-DB-01～06 证据待归档，答辩前补齐。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口头介绍提纲：强调脚本与数据字典一致性、枚举对齐。如实说明：模块测试证据归档尚待提交，用例设计已完成。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口头介绍提纲：注册登录采用 PasswordHasher 带盐哈希；账号含封禁与注销生命周期。缺陷修复案例：注销账号手机号被占用导致无法重新注册，已修复。备问：跨用户地址越权由用例 TC012 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口头介绍提纲：先讲哈希与唯一约束，再讲单默认地址函数唯一索引（CASE WHEN 实现），最后讲越权拦截用例。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口头介绍提纲：基础资料是全系统运行前提——节点、服务类型、适用规则、跑腿员资质从这里维护。备问：服务与节点为多对多，独立为 service_node_rules 后由联合主键约束。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口头介绍提纲：讲 service_node_rules 在下单链路的作用（组合外键强制匹配）与跑腿员审核状态机。证据 22 张截图已归档。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口头介绍提纲：主单与三类明细分离是设计核心——公共字段入 tasks，专有字段按类型分表。备问：为何不用宽表——专有字段差异大，宽表空值多、扩展需改主表。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口头介绍提纲：重点讲两个组合外键与弱实体建模；取消规则仅 WAITING 可自助取消。如实说明证据归档进度。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口头介绍提纲：按"检索→行锁→校验→同事务写"顺序讲抢单链路；重派由管理员新增 REASSIGN 记录。缺陷修复案例：初期未启用行锁出现重复接单，引入行锁后消除。注意：证据归档待提交。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口头介绍提纲：重点讲 FOR UPDATE 行锁互斥与同事务留痕；备问：已接派任务从任务大厅检索中排除，配合行锁消除重复接单。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口头介绍提纲：支付时点在确认收货之后，支付状态与任务状态联动；退款走登记—审核两步。规则补强：已结算订单禁止发起普通退款。备问：重复支付由 third_trade_no 唯一约束防止。注意：证据归档待提交。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口头介绍提纲：讲支付后置设计与退款审核链路；主动讲"已结算订单禁止普通退款"规则补强。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口头介绍提纲：评价受唯一约束（一任务一评），评分经 credit_delta 换算回写跑腿员信用分；投诉由管理员处理并联动信誉分。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口头介绍提纲：先讲唯一约束，再讲 credit_delta 计算与回写，最后讲投诉流程；用 TC-REVIEW 证据支撑（9 份记录、5 份 SQL、21 张截图）。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口头介绍提纲：结算前校验跑腿员归属，退款或投诉中的支付不进入结算；审计覆盖三类对象；报表按月生成、CSV 导出，删除报表保留审计日志。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口头介绍提纲：按结算规则→审计→报表顺序讲；备问：删报表留审计是为保证审计记录完整性。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口头介绍提纲：把各成员测试证据收拢为测试报告与归档索引；维护共享 Oracle 写入型端到端用例；整理演示截图与答辩材料。备问：自动化 52/52、E2E 主链路与并发、五模块手工证据已归档，四模块待提交。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口头介绍提纲：强调"结论以执行记录为准"——每条结论对应记录、SQL 与截图；说明归档进度与索引维护机制。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测试分布（口头说明）：总集成 TC-INT-01～05、账户与权限、基础资料 TC-BASE-01～08、评价投诉与信誉 TC-REVIEW-01～09、结算审计报表 TC-SETTLE-01～10，记录与截图存档于 docs/test-evidence；数据库基础数据、任务发布、接单派单、支付退款四模块证据待提交，被问及时如实说明。自动化测试 52/52 通过、共享 Oracle 端到端用例通过（报告 9.4 节），测试代码见 backend/tests。</a:t>
            </a:r>
          </a:p>
          <a:p>
            <a:r>
              <a:t>原子性验证话术（备问）：在事务中手动抛出异常，观察 payments 与 tasks 是否均未写入。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口头补充：实现阶段的调整包括支付时点后置到确认收货、抢单并发控制改用行锁、账号与权限安全加固；表主体结构未变，详见课程设计报告调整说明。</a:t>
            </a:r>
          </a:p>
          <a:p>
            <a:r>
              <a:t>模块测试证据（口头说明）：总集成、账户权限、基础资料、评价投诉、结算审计报表五个模块记录与截图已存档，其余四模块待提交；自动化测试 52/52 通过（报告 9.4 节）。近期规则补强：禁止已结算订单发起普通退款；报表删除保留审计日志。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g"/>
          <p:cNvPicPr/>
          <p:nvPr/>
        </p:nvPicPr>
        <p:blipFill>
          <a:blip r:embed="rId3"/>
          <a:srcRect l="18000" r="14000"/>
          <a:stretch>
            <a:fillRect/>
          </a:stretch>
        </p:blipFill>
        <p:spPr>
          <a:xfrm>
            <a:off x="5080000" y="0"/>
            <a:ext cx="7112000" cy="6858000"/>
          </a:xfrm>
          <a:prstGeom prst="rect">
            <a:avLst/>
          </a:prstGeom>
          <a:ln>
            <a:noFill/>
          </a:ln>
        </p:spPr>
      </p:pic>
      <p:sp>
        <p:nvSpPr>
          <p:cNvPr id="3" name="img-mask"/>
          <p:cNvSpPr/>
          <p:nvPr/>
        </p:nvSpPr>
        <p:spPr>
          <a:xfrm>
            <a:off x="5080000" y="0"/>
            <a:ext cx="50800" cy="68580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logo-box"/>
          <p:cNvSpPr/>
          <p:nvPr/>
        </p:nvSpPr>
        <p:spPr>
          <a:xfrm>
            <a:off x="711200" y="762000"/>
            <a:ext cx="685800" cy="685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ogo-text"/>
          <p:cNvSpPr txBox="1"/>
          <p:nvPr/>
        </p:nvSpPr>
        <p:spPr>
          <a:xfrm>
            <a:off x="711200" y="762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700" noProof="1"/>
          </a:p>
        </p:txBody>
      </p:sp>
      <p:sp>
        <p:nvSpPr>
          <p:cNvPr id="6" name="brand"/>
          <p:cNvSpPr txBox="1"/>
          <p:nvPr/>
        </p:nvSpPr>
        <p:spPr>
          <a:xfrm>
            <a:off x="1574800" y="7620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200" b="1" noProof="1">
                <a:solidFill>
                  <a:srgbClr val="23272E"/>
                </a:solidFill>
                <a:latin typeface="MiSans"/>
                <a:ea typeface="MiSans"/>
              </a:rPr>
              <a:t>济跑跑</a:t>
            </a:r>
            <a:endParaRPr lang="en-US" sz="1600" noProof="1"/>
          </a:p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JIRUN CAMPUS RUNNER</a:t>
            </a:r>
            <a:endParaRPr lang="en-US" sz="1600" noProof="1"/>
          </a:p>
        </p:txBody>
      </p:sp>
      <p:sp>
        <p:nvSpPr>
          <p:cNvPr id="7" name="cover-line1"/>
          <p:cNvSpPr/>
          <p:nvPr/>
        </p:nvSpPr>
        <p:spPr>
          <a:xfrm>
            <a:off x="711200" y="1854200"/>
            <a:ext cx="3657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cover-label"/>
          <p:cNvSpPr txBox="1"/>
          <p:nvPr/>
        </p:nvSpPr>
        <p:spPr>
          <a:xfrm>
            <a:off x="711200" y="20828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200" noProof="1">
                <a:solidFill>
                  <a:srgbClr val="E8551D"/>
                </a:solidFill>
                <a:latin typeface="MiSans"/>
                <a:ea typeface="MiSans"/>
              </a:rPr>
              <a:t>数据库课程设计 · 答辩汇报</a:t>
            </a:r>
            <a:endParaRPr lang="en-US" sz="1300" noProof="1"/>
          </a:p>
        </p:txBody>
      </p:sp>
      <p:sp>
        <p:nvSpPr>
          <p:cNvPr id="9" name="cover-title"/>
          <p:cNvSpPr txBox="1"/>
          <p:nvPr/>
        </p:nvSpPr>
        <p:spPr>
          <a:xfrm>
            <a:off x="711200" y="2540000"/>
            <a:ext cx="4013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3300" b="1" noProof="1">
                <a:solidFill>
                  <a:srgbClr val="23272E"/>
                </a:solidFill>
                <a:latin typeface="MiSans"/>
                <a:ea typeface="MiSans"/>
              </a:rPr>
              <a:t>校园中转分发与跑腿服务管理系统</a:t>
            </a:r>
            <a:endParaRPr lang="en-US" sz="3300" noProof="1"/>
          </a:p>
        </p:txBody>
      </p:sp>
      <p:sp>
        <p:nvSpPr>
          <p:cNvPr id="10" name="cover-subtitle"/>
          <p:cNvSpPr txBox="1"/>
          <p:nvPr/>
        </p:nvSpPr>
        <p:spPr>
          <a:xfrm>
            <a:off x="711200" y="4165600"/>
            <a:ext cx="401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Campus Relay Distribution &amp; Errand Service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Management System</a:t>
            </a:r>
            <a:endParaRPr lang="en-US" sz="1100" noProof="1"/>
          </a:p>
        </p:txBody>
      </p:sp>
      <p:sp>
        <p:nvSpPr>
          <p:cNvPr id="11" name="cover-meta"/>
          <p:cNvSpPr txBox="1"/>
          <p:nvPr/>
        </p:nvSpPr>
        <p:spPr>
          <a:xfrm>
            <a:off x="711200" y="4919472"/>
            <a:ext cx="4013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汇报人：</a:t>
            </a:r>
            <a:r>
              <a:rPr lang="zh-CN" altLang="en-US" sz="1200" noProof="1">
                <a:solidFill>
                  <a:srgbClr val="77716A"/>
                </a:solidFill>
                <a:latin typeface="MiSans"/>
                <a:ea typeface="MiSans"/>
              </a:rPr>
              <a:t>未定</a:t>
            </a: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　　指导教师：袁时金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小组成员：</a:t>
            </a:r>
            <a:r>
              <a:rPr lang="zh-CN" altLang="en-US" sz="1200" noProof="1">
                <a:solidFill>
                  <a:srgbClr val="77716A"/>
                </a:solidFill>
              </a:rPr>
              <a:t>刘相成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薛毓哲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唐独彪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李柏言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韩昊苏 </a:t>
            </a:r>
            <a:endParaRPr lang="en-US" altLang="zh-CN" sz="1200" noProof="1">
              <a:solidFill>
                <a:srgbClr val="77716A"/>
              </a:solidFill>
            </a:endParaRPr>
          </a:p>
          <a:p>
            <a:pPr>
              <a:lnSpc>
                <a:spcPct val="175000"/>
              </a:lnSpc>
            </a:pPr>
            <a:r>
              <a:rPr lang="en-US" altLang="zh-CN" sz="1200" noProof="1">
                <a:solidFill>
                  <a:srgbClr val="77716A"/>
                </a:solidFill>
              </a:rPr>
              <a:t>                     </a:t>
            </a:r>
            <a:r>
              <a:rPr lang="zh-CN" altLang="en-US" sz="1200" noProof="1">
                <a:solidFill>
                  <a:srgbClr val="77716A"/>
                </a:solidFill>
              </a:rPr>
              <a:t>桑治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崔少坤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谢智行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蒋昊沄 </a:t>
            </a:r>
            <a:r>
              <a:rPr lang="en-US" altLang="zh-CN" sz="1200" noProof="1">
                <a:solidFill>
                  <a:srgbClr val="77716A"/>
                </a:solidFill>
              </a:rPr>
              <a:t>/ </a:t>
            </a:r>
            <a:r>
              <a:rPr lang="zh-CN" altLang="en-US" sz="1200" noProof="1">
                <a:solidFill>
                  <a:srgbClr val="77716A"/>
                </a:solidFill>
              </a:rPr>
              <a:t>赵崇治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计算机科学与技术学院 · 2026 年 9 月 12 日</a:t>
            </a:r>
            <a:endParaRPr lang="en-US" sz="1200" noProof="1"/>
          </a:p>
        </p:txBody>
      </p:sp>
      <p:sp>
        <p:nvSpPr>
          <p:cNvPr id="12" name="cover-line2"/>
          <p:cNvSpPr/>
          <p:nvPr/>
        </p:nvSpPr>
        <p:spPr>
          <a:xfrm>
            <a:off x="711200" y="6248400"/>
            <a:ext cx="36576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cover-note"/>
          <p:cNvSpPr txBox="1"/>
          <p:nvPr/>
        </p:nvSpPr>
        <p:spPr>
          <a:xfrm>
            <a:off x="711200" y="63500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pic>
        <p:nvPicPr>
          <p:cNvPr id="14" name="logo-img">
            <a:extLst>
              <a:ext uri="{FF2B5EF4-FFF2-40B4-BE49-F238E27FC236}">
                <a16:creationId xmlns:a16="http://schemas.microsoft.com/office/drawing/2014/main" id="{FAE60FC3-018C-8CBE-D765-86B5A436A29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74076" y="749300"/>
            <a:ext cx="7112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bar"/>
          <p:cNvSpPr/>
          <p:nvPr/>
        </p:nvSpPr>
        <p:spPr>
          <a:xfrm>
            <a:off x="711200" y="1066800"/>
            <a:ext cx="63500" cy="12192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c-title"/>
          <p:cNvSpPr txBox="1"/>
          <p:nvPr/>
        </p:nvSpPr>
        <p:spPr>
          <a:xfrm>
            <a:off x="1016000" y="10668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400" b="1" noProof="1">
                <a:solidFill>
                  <a:srgbClr val="23272E"/>
                </a:solidFill>
                <a:latin typeface="MiSans"/>
                <a:ea typeface="MiSans"/>
              </a:rPr>
              <a:t>目录</a:t>
            </a:r>
            <a:endParaRPr lang="en-US" sz="4400" noProof="1"/>
          </a:p>
        </p:txBody>
      </p:sp>
      <p:sp>
        <p:nvSpPr>
          <p:cNvPr id="4" name="toc-en"/>
          <p:cNvSpPr txBox="1"/>
          <p:nvPr/>
        </p:nvSpPr>
        <p:spPr>
          <a:xfrm>
            <a:off x="1016000" y="19050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400" noProof="1">
                <a:solidFill>
                  <a:srgbClr val="77716A"/>
                </a:solidFill>
                <a:latin typeface="MiSans"/>
                <a:ea typeface="MiSans"/>
              </a:rPr>
              <a:t>CONTENTS</a:t>
            </a:r>
            <a:endParaRPr lang="en-US" sz="1200" noProof="1"/>
          </a:p>
        </p:txBody>
      </p:sp>
      <p:sp>
        <p:nvSpPr>
          <p:cNvPr id="5" name="toc-brand"/>
          <p:cNvSpPr txBox="1"/>
          <p:nvPr/>
        </p:nvSpPr>
        <p:spPr>
          <a:xfrm>
            <a:off x="1016000" y="5969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6" name="toc-n1"/>
          <p:cNvSpPr txBox="1"/>
          <p:nvPr/>
        </p:nvSpPr>
        <p:spPr>
          <a:xfrm>
            <a:off x="5080000" y="1042415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7" name="toc-t1"/>
          <p:cNvSpPr txBox="1"/>
          <p:nvPr/>
        </p:nvSpPr>
        <p:spPr>
          <a:xfrm>
            <a:off x="5969000" y="1042415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项目概述</a:t>
            </a:r>
            <a:endParaRPr lang="en-US" sz="1800" noProof="1"/>
          </a:p>
        </p:txBody>
      </p:sp>
      <p:sp>
        <p:nvSpPr>
          <p:cNvPr id="8" name="toc-d1"/>
          <p:cNvSpPr txBox="1"/>
          <p:nvPr/>
        </p:nvSpPr>
        <p:spPr>
          <a:xfrm>
            <a:off x="5969000" y="1426463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背景与痛点 · 系统定位 · 技术选型与总体架构</a:t>
            </a:r>
            <a:endParaRPr lang="en-US" sz="1100" noProof="1"/>
          </a:p>
        </p:txBody>
      </p:sp>
      <p:sp>
        <p:nvSpPr>
          <p:cNvPr id="9" name="toc-l1"/>
          <p:cNvSpPr/>
          <p:nvPr/>
        </p:nvSpPr>
        <p:spPr>
          <a:xfrm>
            <a:off x="5080000" y="1856231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oc-n2"/>
          <p:cNvSpPr txBox="1"/>
          <p:nvPr/>
        </p:nvSpPr>
        <p:spPr>
          <a:xfrm>
            <a:off x="5080000" y="1901952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11" name="toc-t2"/>
          <p:cNvSpPr txBox="1"/>
          <p:nvPr/>
        </p:nvSpPr>
        <p:spPr>
          <a:xfrm>
            <a:off x="5969000" y="1901952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需求分析</a:t>
            </a:r>
            <a:endParaRPr lang="en-US" sz="1800" noProof="1"/>
          </a:p>
        </p:txBody>
      </p:sp>
      <p:sp>
        <p:nvSpPr>
          <p:cNvPr id="12" name="toc-d2"/>
          <p:cNvSpPr txBox="1"/>
          <p:nvPr/>
        </p:nvSpPr>
        <p:spPr>
          <a:xfrm>
            <a:off x="5969000" y="2286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功能模块 · 核心业务流程与订单状态机 · 数据与非功能需求</a:t>
            </a:r>
            <a:endParaRPr lang="en-US" sz="1100" noProof="1"/>
          </a:p>
        </p:txBody>
      </p:sp>
      <p:sp>
        <p:nvSpPr>
          <p:cNvPr id="13" name="toc-l2"/>
          <p:cNvSpPr/>
          <p:nvPr/>
        </p:nvSpPr>
        <p:spPr>
          <a:xfrm>
            <a:off x="5080000" y="2715768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oc-n3"/>
          <p:cNvSpPr txBox="1"/>
          <p:nvPr/>
        </p:nvSpPr>
        <p:spPr>
          <a:xfrm>
            <a:off x="5080000" y="2761488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5" name="toc-t3"/>
          <p:cNvSpPr txBox="1"/>
          <p:nvPr/>
        </p:nvSpPr>
        <p:spPr>
          <a:xfrm>
            <a:off x="5969000" y="2761488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数据库设计</a:t>
            </a:r>
            <a:endParaRPr lang="en-US" sz="1800" noProof="1"/>
          </a:p>
        </p:txBody>
      </p:sp>
      <p:sp>
        <p:nvSpPr>
          <p:cNvPr id="16" name="toc-d3"/>
          <p:cNvSpPr txBox="1"/>
          <p:nvPr/>
        </p:nvSpPr>
        <p:spPr>
          <a:xfrm>
            <a:off x="5969000" y="3145536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E-R 概念模型 · 关系模式 · 规范化 · 索引与完整性约束</a:t>
            </a:r>
            <a:endParaRPr lang="en-US" sz="1100" noProof="1"/>
          </a:p>
        </p:txBody>
      </p:sp>
      <p:sp>
        <p:nvSpPr>
          <p:cNvPr id="17" name="toc-l3"/>
          <p:cNvSpPr/>
          <p:nvPr/>
        </p:nvSpPr>
        <p:spPr>
          <a:xfrm>
            <a:off x="5080000" y="3575304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oc-n4"/>
          <p:cNvSpPr txBox="1"/>
          <p:nvPr/>
        </p:nvSpPr>
        <p:spPr>
          <a:xfrm>
            <a:off x="5080000" y="3621024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04</a:t>
            </a:r>
            <a:endParaRPr lang="en-US" sz="2200" noProof="1"/>
          </a:p>
        </p:txBody>
      </p:sp>
      <p:sp>
        <p:nvSpPr>
          <p:cNvPr id="19" name="toc-t4"/>
          <p:cNvSpPr txBox="1"/>
          <p:nvPr/>
        </p:nvSpPr>
        <p:spPr>
          <a:xfrm>
            <a:off x="5969000" y="3621024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系统实现</a:t>
            </a:r>
            <a:endParaRPr lang="en-US" sz="1800" noProof="1"/>
          </a:p>
        </p:txBody>
      </p:sp>
      <p:sp>
        <p:nvSpPr>
          <p:cNvPr id="20" name="toc-d4"/>
          <p:cNvSpPr txBox="1"/>
          <p:nvPr/>
        </p:nvSpPr>
        <p:spPr>
          <a:xfrm>
            <a:off x="5969000" y="4005072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功能界面展示 · 核心业务 SQL 与事务控制</a:t>
            </a:r>
            <a:endParaRPr lang="en-US" sz="1100" noProof="1"/>
          </a:p>
        </p:txBody>
      </p:sp>
      <p:sp>
        <p:nvSpPr>
          <p:cNvPr id="21" name="toc-l4"/>
          <p:cNvSpPr/>
          <p:nvPr/>
        </p:nvSpPr>
        <p:spPr>
          <a:xfrm>
            <a:off x="5080000" y="4434840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oc-n5"/>
          <p:cNvSpPr txBox="1"/>
          <p:nvPr/>
        </p:nvSpPr>
        <p:spPr>
          <a:xfrm>
            <a:off x="5080000" y="5340096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06</a:t>
            </a:r>
            <a:endParaRPr lang="en-US" sz="2200" noProof="1"/>
          </a:p>
        </p:txBody>
      </p:sp>
      <p:sp>
        <p:nvSpPr>
          <p:cNvPr id="23" name="toc-t5"/>
          <p:cNvSpPr txBox="1"/>
          <p:nvPr/>
        </p:nvSpPr>
        <p:spPr>
          <a:xfrm>
            <a:off x="5969000" y="5340096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测试与总结</a:t>
            </a:r>
            <a:endParaRPr lang="en-US" sz="1800" noProof="1"/>
          </a:p>
        </p:txBody>
      </p:sp>
      <p:sp>
        <p:nvSpPr>
          <p:cNvPr id="24" name="toc-d5"/>
          <p:cNvSpPr txBox="1"/>
          <p:nvPr/>
        </p:nvSpPr>
        <p:spPr>
          <a:xfrm>
            <a:off x="5969000" y="5724144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功能与并发测试 · 成果总结 · 不足与展望</a:t>
            </a:r>
            <a:endParaRPr lang="en-US" sz="1100" noProof="1"/>
          </a:p>
        </p:txBody>
      </p:sp>
      <p:sp>
        <p:nvSpPr>
          <p:cNvPr id="25" name="toc-l5"/>
          <p:cNvSpPr/>
          <p:nvPr/>
        </p:nvSpPr>
        <p:spPr>
          <a:xfrm>
            <a:off x="5080000" y="6153912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oc-n5"/>
          <p:cNvSpPr txBox="1"/>
          <p:nvPr/>
        </p:nvSpPr>
        <p:spPr>
          <a:xfrm>
            <a:off x="5080000" y="448056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551D"/>
                </a:solidFill>
                <a:latin typeface="MiSans"/>
                <a:ea typeface="MiSans"/>
              </a:rPr>
              <a:t>05</a:t>
            </a:r>
            <a:endParaRPr lang="en-US" sz="2200" noProof="1"/>
          </a:p>
        </p:txBody>
      </p:sp>
      <p:sp>
        <p:nvSpPr>
          <p:cNvPr id="27" name="toc-t5"/>
          <p:cNvSpPr txBox="1"/>
          <p:nvPr/>
        </p:nvSpPr>
        <p:spPr>
          <a:xfrm>
            <a:off x="5969000" y="448056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团队分工</a:t>
            </a:r>
            <a:endParaRPr lang="en-US" sz="1800" noProof="1"/>
          </a:p>
        </p:txBody>
      </p:sp>
      <p:sp>
        <p:nvSpPr>
          <p:cNvPr id="28" name="toc-d5"/>
          <p:cNvSpPr txBox="1"/>
          <p:nvPr/>
        </p:nvSpPr>
        <p:spPr>
          <a:xfrm>
            <a:off x="5969000" y="4864608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角色职责 · 核心实现 · 产出与验证</a:t>
            </a:r>
            <a:endParaRPr lang="en-US" sz="1100" noProof="1"/>
          </a:p>
        </p:txBody>
      </p:sp>
      <p:sp>
        <p:nvSpPr>
          <p:cNvPr id="29" name="toc-l5"/>
          <p:cNvSpPr/>
          <p:nvPr/>
        </p:nvSpPr>
        <p:spPr>
          <a:xfrm>
            <a:off x="5080000" y="5294376"/>
            <a:ext cx="64008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01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项目概述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背景与需求 · 系统定位 · 技术架构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01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3 / 44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项目背景：校园配送需求旺盛，"最后一公里"管理缺位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01 · 项目概述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bg-intro"/>
          <p:cNvSpPr txBox="1"/>
          <p:nvPr/>
        </p:nvSpPr>
        <p:spPr>
          <a:xfrm>
            <a:off x="6350000" y="12446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3272E"/>
                </a:solidFill>
                <a:latin typeface="MiSans"/>
                <a:ea typeface="MiSans"/>
              </a:rPr>
              <a:t>代取 / 代买 / 转交需求高频分散 · 驿站人工登记 · 信息不透明 · 缺少统一记录</a:t>
            </a:r>
            <a:endParaRPr lang="en-US" sz="1300" noProof="1"/>
          </a:p>
        </p:txBody>
      </p:sp>
      <p:sp>
        <p:nvSpPr>
          <p:cNvPr id="9" name="pain1-n"/>
          <p:cNvSpPr txBox="1"/>
          <p:nvPr/>
        </p:nvSpPr>
        <p:spPr>
          <a:xfrm>
            <a:off x="6350000" y="21844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E8551D"/>
                </a:solidFill>
                <a:latin typeface="MiSans"/>
                <a:ea typeface="MiSans"/>
              </a:rPr>
              <a:t>01</a:t>
            </a:r>
            <a:endParaRPr lang="en-US" sz="2000" noProof="1"/>
          </a:p>
        </p:txBody>
      </p:sp>
      <p:sp>
        <p:nvSpPr>
          <p:cNvPr id="10" name="pain1"/>
          <p:cNvSpPr txBox="1"/>
          <p:nvPr/>
        </p:nvSpPr>
        <p:spPr>
          <a:xfrm>
            <a:off x="6959600" y="21336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272E"/>
                </a:solidFill>
                <a:latin typeface="MiSans"/>
                <a:ea typeface="MiSans"/>
              </a:rPr>
              <a:t>取件效率低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77716A"/>
                </a:solidFill>
                <a:latin typeface="MiSans"/>
                <a:ea typeface="MiSans"/>
              </a:rPr>
              <a:t>高峰期露天排队，包裹堆积错拿、丢失时有发生，恶劣天气下体验更差</a:t>
            </a:r>
            <a:endParaRPr lang="en-US" sz="1250" noProof="1"/>
          </a:p>
        </p:txBody>
      </p:sp>
      <p:sp>
        <p:nvSpPr>
          <p:cNvPr id="11" name="pain1-line"/>
          <p:cNvSpPr/>
          <p:nvPr/>
        </p:nvSpPr>
        <p:spPr>
          <a:xfrm>
            <a:off x="6350000" y="3048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ain2-n"/>
          <p:cNvSpPr txBox="1"/>
          <p:nvPr/>
        </p:nvSpPr>
        <p:spPr>
          <a:xfrm>
            <a:off x="6350000" y="3276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E8551D"/>
                </a:solidFill>
                <a:latin typeface="MiSans"/>
                <a:ea typeface="MiSans"/>
              </a:rPr>
              <a:t>02</a:t>
            </a:r>
            <a:endParaRPr lang="en-US" sz="2000" noProof="1"/>
          </a:p>
        </p:txBody>
      </p:sp>
      <p:sp>
        <p:nvSpPr>
          <p:cNvPr id="13" name="pain2"/>
          <p:cNvSpPr txBox="1"/>
          <p:nvPr/>
        </p:nvSpPr>
        <p:spPr>
          <a:xfrm>
            <a:off x="6959600" y="32258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272E"/>
                </a:solidFill>
                <a:latin typeface="MiSans"/>
                <a:ea typeface="MiSans"/>
              </a:rPr>
              <a:t>中转环节无系统支撑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77716A"/>
                </a:solidFill>
                <a:latin typeface="MiSans"/>
                <a:ea typeface="MiSans"/>
              </a:rPr>
              <a:t>出入库靠纸质登记与人工核对，包裹状态无法实时跟踪，异常难以定位</a:t>
            </a:r>
            <a:endParaRPr lang="en-US" sz="1250" noProof="1"/>
          </a:p>
        </p:txBody>
      </p:sp>
      <p:sp>
        <p:nvSpPr>
          <p:cNvPr id="14" name="pain2-line"/>
          <p:cNvSpPr/>
          <p:nvPr/>
        </p:nvSpPr>
        <p:spPr>
          <a:xfrm>
            <a:off x="6350000" y="4140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pain3-n"/>
          <p:cNvSpPr txBox="1"/>
          <p:nvPr/>
        </p:nvSpPr>
        <p:spPr>
          <a:xfrm>
            <a:off x="6350000" y="43688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E8551D"/>
                </a:solidFill>
                <a:latin typeface="MiSans"/>
                <a:ea typeface="MiSans"/>
              </a:rPr>
              <a:t>03</a:t>
            </a:r>
            <a:endParaRPr lang="en-US" sz="2000" noProof="1"/>
          </a:p>
        </p:txBody>
      </p:sp>
      <p:sp>
        <p:nvSpPr>
          <p:cNvPr id="16" name="pain3"/>
          <p:cNvSpPr txBox="1"/>
          <p:nvPr/>
        </p:nvSpPr>
        <p:spPr>
          <a:xfrm>
            <a:off x="6959600" y="43180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23272E"/>
                </a:solidFill>
                <a:latin typeface="MiSans"/>
                <a:ea typeface="MiSans"/>
              </a:rPr>
              <a:t>跑腿撮合分散无序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77716A"/>
                </a:solidFill>
                <a:latin typeface="MiSans"/>
                <a:ea typeface="MiSans"/>
              </a:rPr>
              <a:t>代取代买依赖群聊与口头约定，缺乏身份认证、信用与资金保障</a:t>
            </a:r>
            <a:endParaRPr lang="en-US" sz="1250" noProof="1"/>
          </a:p>
        </p:txBody>
      </p:sp>
      <p:sp>
        <p:nvSpPr>
          <p:cNvPr id="17" name="bg-concl-line"/>
          <p:cNvSpPr/>
          <p:nvPr/>
        </p:nvSpPr>
        <p:spPr>
          <a:xfrm>
            <a:off x="6350000" y="5461000"/>
            <a:ext cx="53340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4 / 44</a:t>
            </a:r>
            <a:endParaRPr lang="en-US" sz="1000" noProof="1"/>
          </a:p>
        </p:txBody>
      </p:sp>
      <p:sp>
        <p:nvSpPr>
          <p:cNvPr id="7" name="ph2">
            <a:extLst>
              <a:ext uri="{FF2B5EF4-FFF2-40B4-BE49-F238E27FC236}">
                <a16:creationId xmlns:a16="http://schemas.microsoft.com/office/drawing/2014/main" id="{77747224-D220-4B45-4005-3516B298F5FA}"/>
              </a:ext>
            </a:extLst>
          </p:cNvPr>
          <p:cNvSpPr/>
          <p:nvPr/>
        </p:nvSpPr>
        <p:spPr>
          <a:xfrm>
            <a:off x="87693" y="2006600"/>
            <a:ext cx="6009995" cy="327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2" name="ph2-icon">
            <a:extLst>
              <a:ext uri="{FF2B5EF4-FFF2-40B4-BE49-F238E27FC236}">
                <a16:creationId xmlns:a16="http://schemas.microsoft.com/office/drawing/2014/main" id="{A0B2868D-141F-0A64-22ED-E861BDFF755B}"/>
              </a:ext>
            </a:extLst>
          </p:cNvPr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eyJpY29uTmFtZSI6ImZhcjppbWFnZSJ9</pptd:icon>
              </p:ext>
            </p:extLst>
          </p:nvPr>
        </p:nvSpPr>
        <p:spPr>
          <a:xfrm>
            <a:off x="3007005" y="320431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ph2-t">
            <a:extLst>
              <a:ext uri="{FF2B5EF4-FFF2-40B4-BE49-F238E27FC236}">
                <a16:creationId xmlns:a16="http://schemas.microsoft.com/office/drawing/2014/main" id="{66356F97-97EB-4468-5532-8C99B63FA33E}"/>
              </a:ext>
            </a:extLst>
          </p:cNvPr>
          <p:cNvSpPr txBox="1"/>
          <p:nvPr/>
        </p:nvSpPr>
        <p:spPr>
          <a:xfrm>
            <a:off x="1102005" y="3763117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b="1" noProof="1">
                <a:solidFill>
                  <a:srgbClr val="77716A"/>
                </a:solidFill>
                <a:latin typeface="MiSans"/>
                <a:ea typeface="MiSans"/>
              </a:rPr>
              <a:t>此处替换为实际界面截图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1050" noProof="1">
                <a:solidFill>
                  <a:srgbClr val="77716A"/>
                </a:solidFill>
                <a:latin typeface="MiSans"/>
                <a:ea typeface="MiSans"/>
              </a:rPr>
              <a:t>建议：工作台页</a:t>
            </a:r>
            <a:endParaRPr lang="en-US" sz="1600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F0BBFA-B2A8-E254-8420-8B1115580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0" y="2029142"/>
            <a:ext cx="5900597" cy="32540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系统定位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01 · 项目概述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ole-label"/>
          <p:cNvSpPr txBox="1"/>
          <p:nvPr/>
        </p:nvSpPr>
        <p:spPr>
          <a:xfrm>
            <a:off x="508000" y="1219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平台四类角色</a:t>
            </a:r>
            <a:endParaRPr lang="en-US" sz="1200" noProof="1"/>
          </a:p>
        </p:txBody>
      </p:sp>
      <p:sp>
        <p:nvSpPr>
          <p:cNvPr id="7" name="role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508000" y="1625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le1"/>
          <p:cNvSpPr txBox="1"/>
          <p:nvPr/>
        </p:nvSpPr>
        <p:spPr>
          <a:xfrm>
            <a:off x="508000" y="2082800"/>
            <a:ext cx="241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普通用户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发布代取、代买、转交需求，在线支付，跟踪订单并评价</a:t>
            </a:r>
            <a:endParaRPr lang="en-US" sz="1200" noProof="1"/>
          </a:p>
        </p:txBody>
      </p:sp>
      <p:sp>
        <p:nvSpPr>
          <p:cNvPr id="9" name="role-div1"/>
          <p:cNvSpPr/>
          <p:nvPr/>
        </p:nvSpPr>
        <p:spPr>
          <a:xfrm>
            <a:off x="3149600" y="1625600"/>
            <a:ext cx="12700" cy="1498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le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eyJpY29uTmFtZSI6ImZhczpwZXJzb24tcnVubmluZyJ9</pptd:icon>
              </p:ext>
            </p:extLst>
          </p:nvPr>
        </p:nvSpPr>
        <p:spPr>
          <a:xfrm>
            <a:off x="3429000" y="1625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7" y="-32"/>
                </a:moveTo>
                <a:cubicBezTo>
                  <a:pt x="287" y="-32"/>
                  <a:pt x="313" y="-7"/>
                  <a:pt x="313" y="24"/>
                </a:cubicBezTo>
                <a:cubicBezTo>
                  <a:pt x="313" y="55"/>
                  <a:pt x="287" y="80"/>
                  <a:pt x="257" y="80"/>
                </a:cubicBezTo>
                <a:cubicBezTo>
                  <a:pt x="226" y="80"/>
                  <a:pt x="201" y="55"/>
                  <a:pt x="201" y="24"/>
                </a:cubicBezTo>
                <a:cubicBezTo>
                  <a:pt x="201" y="-7"/>
                  <a:pt x="226" y="-32"/>
                  <a:pt x="257" y="-32"/>
                </a:cubicBezTo>
                <a:close/>
              </a:path>
              <a:path w="448" h="512">
                <a:moveTo>
                  <a:pt x="124" y="176"/>
                </a:moveTo>
                <a:cubicBezTo>
                  <a:pt x="120" y="176"/>
                  <a:pt x="117" y="178"/>
                  <a:pt x="116" y="181"/>
                </a:cubicBezTo>
                <a:lnTo>
                  <a:pt x="94" y="236"/>
                </a:lnTo>
                <a:cubicBezTo>
                  <a:pt x="88" y="252"/>
                  <a:pt x="69" y="260"/>
                  <a:pt x="53" y="254"/>
                </a:cubicBezTo>
                <a:cubicBezTo>
                  <a:pt x="36" y="247"/>
                  <a:pt x="28" y="229"/>
                  <a:pt x="35" y="212"/>
                </a:cubicBezTo>
                <a:lnTo>
                  <a:pt x="57" y="157"/>
                </a:lnTo>
                <a:cubicBezTo>
                  <a:pt x="68" y="130"/>
                  <a:pt x="94" y="112"/>
                  <a:pt x="124" y="112"/>
                </a:cubicBezTo>
                <a:lnTo>
                  <a:pt x="221" y="112"/>
                </a:lnTo>
                <a:cubicBezTo>
                  <a:pt x="249" y="112"/>
                  <a:pt x="276" y="127"/>
                  <a:pt x="290" y="152"/>
                </a:cubicBezTo>
                <a:lnTo>
                  <a:pt x="323" y="208"/>
                </a:lnTo>
                <a:lnTo>
                  <a:pt x="384" y="208"/>
                </a:lnTo>
                <a:cubicBezTo>
                  <a:pt x="402" y="208"/>
                  <a:pt x="416" y="222"/>
                  <a:pt x="416" y="240"/>
                </a:cubicBezTo>
                <a:cubicBezTo>
                  <a:pt x="416" y="258"/>
                  <a:pt x="402" y="272"/>
                  <a:pt x="384" y="272"/>
                </a:cubicBezTo>
                <a:lnTo>
                  <a:pt x="323" y="272"/>
                </a:lnTo>
                <a:cubicBezTo>
                  <a:pt x="300" y="272"/>
                  <a:pt x="279" y="260"/>
                  <a:pt x="268" y="240"/>
                </a:cubicBezTo>
                <a:lnTo>
                  <a:pt x="258" y="223"/>
                </a:lnTo>
                <a:lnTo>
                  <a:pt x="237" y="294"/>
                </a:lnTo>
                <a:lnTo>
                  <a:pt x="312" y="316"/>
                </a:lnTo>
                <a:cubicBezTo>
                  <a:pt x="340" y="324"/>
                  <a:pt x="354" y="355"/>
                  <a:pt x="342" y="382"/>
                </a:cubicBezTo>
                <a:lnTo>
                  <a:pt x="286" y="509"/>
                </a:lnTo>
                <a:cubicBezTo>
                  <a:pt x="279" y="525"/>
                  <a:pt x="260" y="532"/>
                  <a:pt x="244" y="525"/>
                </a:cubicBezTo>
                <a:cubicBezTo>
                  <a:pt x="227" y="518"/>
                  <a:pt x="220" y="499"/>
                  <a:pt x="227" y="483"/>
                </a:cubicBezTo>
                <a:lnTo>
                  <a:pt x="277" y="372"/>
                </a:lnTo>
                <a:lnTo>
                  <a:pt x="181" y="343"/>
                </a:lnTo>
                <a:cubicBezTo>
                  <a:pt x="148" y="334"/>
                  <a:pt x="129" y="300"/>
                  <a:pt x="137" y="267"/>
                </a:cubicBezTo>
                <a:lnTo>
                  <a:pt x="160" y="176"/>
                </a:lnTo>
                <a:lnTo>
                  <a:pt x="124" y="176"/>
                </a:lnTo>
                <a:close/>
              </a:path>
              <a:path w="448" h="512">
                <a:moveTo>
                  <a:pt x="116" y="357"/>
                </a:moveTo>
                <a:cubicBezTo>
                  <a:pt x="129" y="372"/>
                  <a:pt x="146" y="383"/>
                  <a:pt x="167" y="389"/>
                </a:cubicBezTo>
                <a:lnTo>
                  <a:pt x="172" y="391"/>
                </a:lnTo>
                <a:lnTo>
                  <a:pt x="165" y="410"/>
                </a:lnTo>
                <a:cubicBezTo>
                  <a:pt x="159" y="426"/>
                  <a:pt x="149" y="441"/>
                  <a:pt x="135" y="452"/>
                </a:cubicBezTo>
                <a:lnTo>
                  <a:pt x="53" y="520"/>
                </a:lnTo>
                <a:cubicBezTo>
                  <a:pt x="39" y="531"/>
                  <a:pt x="19" y="529"/>
                  <a:pt x="8" y="516"/>
                </a:cubicBezTo>
                <a:cubicBezTo>
                  <a:pt x="-3" y="502"/>
                  <a:pt x="-1" y="482"/>
                  <a:pt x="12" y="471"/>
                </a:cubicBezTo>
                <a:lnTo>
                  <a:pt x="95" y="403"/>
                </a:lnTo>
                <a:cubicBezTo>
                  <a:pt x="99" y="399"/>
                  <a:pt x="102" y="394"/>
                  <a:pt x="104" y="389"/>
                </a:cubicBezTo>
                <a:lnTo>
                  <a:pt x="116" y="357"/>
                </a:lnTo>
                <a:close/>
              </a:path>
            </a:pathLst>
          </a:cu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le2"/>
          <p:cNvSpPr txBox="1"/>
          <p:nvPr/>
        </p:nvSpPr>
        <p:spPr>
          <a:xfrm>
            <a:off x="3429000" y="2082800"/>
            <a:ext cx="241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跑腿员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实名认证后接单配送，可同时承接多单，扫码出入站，结算收益，接受信用考核</a:t>
            </a:r>
            <a:endParaRPr lang="en-US" sz="1200" noProof="1"/>
          </a:p>
        </p:txBody>
      </p:sp>
      <p:sp>
        <p:nvSpPr>
          <p:cNvPr id="12" name="role-div2"/>
          <p:cNvSpPr/>
          <p:nvPr/>
        </p:nvSpPr>
        <p:spPr>
          <a:xfrm>
            <a:off x="6070600" y="1625600"/>
            <a:ext cx="12700" cy="1498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le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eyJpY29uTmFtZSI6ImZhczp3YXJlaG91c2UifQ</pptd:icon>
              </p:ext>
            </p:extLst>
          </p:nvPr>
        </p:nvSpPr>
        <p:spPr>
          <a:xfrm>
            <a:off x="6350000" y="1625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42"/>
                </a:move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cubicBezTo>
                  <a:pt x="50" y="512"/>
                  <a:pt x="64" y="498"/>
                  <a:pt x="64" y="480"/>
                </a:cubicBezTo>
                <a:lnTo>
                  <a:pt x="64" y="240"/>
                </a:lnTo>
                <a:cubicBezTo>
                  <a:pt x="64" y="222"/>
                  <a:pt x="78" y="208"/>
                  <a:pt x="96" y="208"/>
                </a:cubicBezTo>
                <a:lnTo>
                  <a:pt x="480" y="208"/>
                </a:lnTo>
                <a:cubicBezTo>
                  <a:pt x="498" y="208"/>
                  <a:pt x="512" y="222"/>
                  <a:pt x="512" y="240"/>
                </a:cubicBezTo>
                <a:lnTo>
                  <a:pt x="512" y="480"/>
                </a:lnTo>
                <a:cubicBezTo>
                  <a:pt x="512" y="498"/>
                  <a:pt x="526" y="512"/>
                  <a:pt x="544" y="512"/>
                </a:cubicBezTo>
                <a:cubicBezTo>
                  <a:pt x="562" y="512"/>
                  <a:pt x="576" y="498"/>
                  <a:pt x="576" y="480"/>
                </a:cubicBezTo>
                <a:lnTo>
                  <a:pt x="576" y="142"/>
                </a:lnTo>
                <a:cubicBezTo>
                  <a:pt x="576" y="115"/>
                  <a:pt x="558" y="90"/>
                  <a:pt x="532" y="81"/>
                </a:cubicBezTo>
                <a:lnTo>
                  <a:pt x="303" y="5"/>
                </a:lnTo>
                <a:cubicBezTo>
                  <a:pt x="293" y="2"/>
                  <a:pt x="283" y="2"/>
                  <a:pt x="273" y="5"/>
                </a:cubicBezTo>
                <a:lnTo>
                  <a:pt x="44" y="81"/>
                </a:lnTo>
                <a:cubicBezTo>
                  <a:pt x="18" y="90"/>
                  <a:pt x="0" y="115"/>
                  <a:pt x="0" y="142"/>
                </a:cubicBezTo>
                <a:close/>
              </a:path>
              <a:path w="576" h="512">
                <a:moveTo>
                  <a:pt x="464" y="256"/>
                </a:moveTo>
                <a:lnTo>
                  <a:pt x="112" y="256"/>
                </a:lnTo>
                <a:lnTo>
                  <a:pt x="112" y="320"/>
                </a:lnTo>
                <a:lnTo>
                  <a:pt x="464" y="320"/>
                </a:lnTo>
                <a:lnTo>
                  <a:pt x="464" y="256"/>
                </a:lnTo>
                <a:close/>
              </a:path>
              <a:path w="576" h="512">
                <a:moveTo>
                  <a:pt x="112" y="416"/>
                </a:moveTo>
                <a:lnTo>
                  <a:pt x="464" y="416"/>
                </a:lnTo>
                <a:lnTo>
                  <a:pt x="464" y="352"/>
                </a:lnTo>
                <a:lnTo>
                  <a:pt x="112" y="352"/>
                </a:lnTo>
                <a:lnTo>
                  <a:pt x="112" y="416"/>
                </a:lnTo>
                <a:close/>
              </a:path>
              <a:path w="576" h="512">
                <a:moveTo>
                  <a:pt x="464" y="448"/>
                </a:moveTo>
                <a:lnTo>
                  <a:pt x="112" y="448"/>
                </a:lnTo>
                <a:lnTo>
                  <a:pt x="112" y="512"/>
                </a:lnTo>
                <a:lnTo>
                  <a:pt x="464" y="512"/>
                </a:lnTo>
                <a:lnTo>
                  <a:pt x="464" y="448"/>
                </a:lnTo>
                <a:close/>
              </a:path>
            </a:pathLst>
          </a:cu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ole3"/>
          <p:cNvSpPr txBox="1"/>
          <p:nvPr/>
        </p:nvSpPr>
        <p:spPr>
          <a:xfrm>
            <a:off x="6350000" y="2082800"/>
            <a:ext cx="241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中转站管理员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管理站点包裹入库、上架、出库，核对异常件，维护货架库存</a:t>
            </a:r>
            <a:endParaRPr lang="en-US" sz="1200" noProof="1"/>
          </a:p>
        </p:txBody>
      </p:sp>
      <p:sp>
        <p:nvSpPr>
          <p:cNvPr id="15" name="role-div3"/>
          <p:cNvSpPr/>
          <p:nvPr/>
        </p:nvSpPr>
        <p:spPr>
          <a:xfrm>
            <a:off x="8991600" y="1625600"/>
            <a:ext cx="12700" cy="1498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ole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eyJpY29uTmFtZSI6ImZhczp1c2VyLXNoaWVsZCJ9</pptd:icon>
              </p:ext>
            </p:extLst>
          </p:nvPr>
        </p:nvSpPr>
        <p:spPr>
          <a:xfrm>
            <a:off x="9271000" y="1625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ole4"/>
          <p:cNvSpPr txBox="1"/>
          <p:nvPr/>
        </p:nvSpPr>
        <p:spPr>
          <a:xfrm>
            <a:off x="9271000" y="2082800"/>
            <a:ext cx="241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系统管理员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审核跑腿员资质，监控订单，管理角色权限与经营统计</a:t>
            </a:r>
            <a:endParaRPr lang="en-US" sz="1200" noProof="1"/>
          </a:p>
        </p:txBody>
      </p:sp>
      <p:sp>
        <p:nvSpPr>
          <p:cNvPr id="18" name="flow-label"/>
          <p:cNvSpPr txBox="1"/>
          <p:nvPr/>
        </p:nvSpPr>
        <p:spPr>
          <a:xfrm>
            <a:off x="508000" y="3708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业务流程</a:t>
            </a:r>
            <a:endParaRPr lang="en-US" sz="1200" noProof="1"/>
          </a:p>
        </p:txBody>
      </p:sp>
      <p:sp>
        <p:nvSpPr>
          <p:cNvPr id="19" name="fn1"/>
          <p:cNvSpPr/>
          <p:nvPr/>
        </p:nvSpPr>
        <p:spPr>
          <a:xfrm>
            <a:off x="508000" y="4089400"/>
            <a:ext cx="1625600" cy="711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551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fn1-t"/>
          <p:cNvSpPr txBox="1"/>
          <p:nvPr/>
        </p:nvSpPr>
        <p:spPr>
          <a:xfrm>
            <a:off x="508000" y="4089400"/>
            <a:ext cx="16256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用户发布需求</a:t>
            </a:r>
            <a:endParaRPr lang="en-US" sz="1300" noProof="1"/>
          </a:p>
        </p:txBody>
      </p:sp>
      <p:sp>
        <p:nvSpPr>
          <p:cNvPr id="21" name="f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eyJ2aWV3Qm94IjpbNDIsMTJdLCJwb2ludHMiOiIwLDYgNDIsNiJ9</pptd:line>
              </p:ext>
            </p:extLst>
          </p:nvPr>
        </p:nvSpPr>
        <p:spPr>
          <a:xfrm>
            <a:off x="2235200" y="4368800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22" name="fn2"/>
          <p:cNvSpPr/>
          <p:nvPr/>
        </p:nvSpPr>
        <p:spPr>
          <a:xfrm>
            <a:off x="2870200" y="4089400"/>
            <a:ext cx="1625600" cy="711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551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fn2-t"/>
          <p:cNvSpPr txBox="1"/>
          <p:nvPr/>
        </p:nvSpPr>
        <p:spPr>
          <a:xfrm>
            <a:off x="2870200" y="4089400"/>
            <a:ext cx="16256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跑腿员接单</a:t>
            </a:r>
            <a:endParaRPr lang="en-US" sz="1300" noProof="1"/>
          </a:p>
        </p:txBody>
      </p:sp>
      <p:sp>
        <p:nvSpPr>
          <p:cNvPr id="24" name="f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eyJ2aWV3Qm94IjpbNDIsMTJdLCJwb2ludHMiOiIwLDYgNDIsNiJ9</pptd:line>
              </p:ext>
            </p:extLst>
          </p:nvPr>
        </p:nvSpPr>
        <p:spPr>
          <a:xfrm>
            <a:off x="4597400" y="4368800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25" name="fn3"/>
          <p:cNvSpPr/>
          <p:nvPr/>
        </p:nvSpPr>
        <p:spPr>
          <a:xfrm>
            <a:off x="5232400" y="4089400"/>
            <a:ext cx="1625600" cy="711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551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fn3-t"/>
          <p:cNvSpPr txBox="1"/>
          <p:nvPr/>
        </p:nvSpPr>
        <p:spPr>
          <a:xfrm>
            <a:off x="5232400" y="4089400"/>
            <a:ext cx="16256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中转站入库</a:t>
            </a:r>
            <a:endParaRPr lang="en-US" sz="1300" noProof="1"/>
          </a:p>
        </p:txBody>
      </p:sp>
      <p:sp>
        <p:nvSpPr>
          <p:cNvPr id="27" name="f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eyJ2aWV3Qm94IjpbNDIsMTJdLCJwb2ludHMiOiIwLDYgNDIsNiJ9</pptd:line>
              </p:ext>
            </p:extLst>
          </p:nvPr>
        </p:nvSpPr>
        <p:spPr>
          <a:xfrm>
            <a:off x="6959600" y="4368800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28" name="fn4"/>
          <p:cNvSpPr/>
          <p:nvPr/>
        </p:nvSpPr>
        <p:spPr>
          <a:xfrm>
            <a:off x="7594600" y="4089400"/>
            <a:ext cx="1625600" cy="711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551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fn4-t"/>
          <p:cNvSpPr txBox="1"/>
          <p:nvPr/>
        </p:nvSpPr>
        <p:spPr>
          <a:xfrm>
            <a:off x="7594600" y="4089400"/>
            <a:ext cx="16256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出库配送</a:t>
            </a:r>
            <a:endParaRPr lang="en-US" sz="1300" noProof="1"/>
          </a:p>
        </p:txBody>
      </p:sp>
      <p:sp>
        <p:nvSpPr>
          <p:cNvPr id="30" name="f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eyJ2aWV3Qm94IjpbNDIsMTJdLCJwb2ludHMiOiIwLDYgNDIsNiJ9</pptd:line>
              </p:ext>
            </p:extLst>
          </p:nvPr>
        </p:nvSpPr>
        <p:spPr>
          <a:xfrm>
            <a:off x="9321800" y="4368800"/>
            <a:ext cx="533400" cy="152400"/>
          </a:xfrm>
          <a:custGeom>
            <a:avLst/>
            <a:gdLst/>
            <a:ahLst/>
            <a:cxnLst/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31" name="fn5"/>
          <p:cNvSpPr/>
          <p:nvPr/>
        </p:nvSpPr>
        <p:spPr>
          <a:xfrm>
            <a:off x="9956800" y="4089400"/>
            <a:ext cx="1727200" cy="7112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fn5-t"/>
          <p:cNvSpPr txBox="1"/>
          <p:nvPr/>
        </p:nvSpPr>
        <p:spPr>
          <a:xfrm>
            <a:off x="9956800" y="4089400"/>
            <a:ext cx="17272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/>
                <a:ea typeface="MiSans"/>
              </a:rPr>
              <a:t>签收支付评价</a:t>
            </a:r>
            <a:endParaRPr lang="en-US" sz="1300" noProof="1"/>
          </a:p>
        </p:txBody>
      </p:sp>
      <p:sp>
        <p:nvSpPr>
          <p:cNvPr id="33" name="flow-note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eyJpY29uTmFtZSI6ImZhczpyb3RhdGUifQ</pptd:icon>
              </p:ext>
            </p:extLst>
          </p:nvPr>
        </p:nvSpPr>
        <p:spPr>
          <a:xfrm>
            <a:off x="508000" y="520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flow-note"/>
          <p:cNvSpPr txBox="1"/>
          <p:nvPr/>
        </p:nvSpPr>
        <p:spPr>
          <a:xfrm>
            <a:off x="812800" y="5156200"/>
            <a:ext cx="1087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评价回写信用分 · 异常件管理员介入 · 状态 / 资金 / 信用一致性由数据库</a:t>
            </a:r>
            <a:r>
              <a:rPr lang="zh-CN" altLang="en-US" sz="1200" noProof="1">
                <a:solidFill>
                  <a:srgbClr val="77716A"/>
                </a:solidFill>
                <a:latin typeface="MiSans"/>
                <a:ea typeface="MiSans"/>
              </a:rPr>
              <a:t>后端</a:t>
            </a: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保障</a:t>
            </a:r>
            <a:endParaRPr lang="en-US" sz="1200" noProof="1"/>
          </a:p>
        </p:txBody>
      </p:sp>
      <p:sp>
        <p:nvSpPr>
          <p:cNvPr id="35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37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5 / 44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hd-title">
            <a:extLst>
              <a:ext uri="{FF2B5EF4-FFF2-40B4-BE49-F238E27FC236}">
                <a16:creationId xmlns:a16="http://schemas.microsoft.com/office/drawing/2014/main" id="{6C897C76-4940-2B00-E4DC-D1A88BFE93D7}"/>
              </a:ext>
            </a:extLst>
          </p:cNvPr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102033"/>
                </a:solidFill>
                <a:latin typeface="MiSans"/>
                <a:ea typeface="MiSans"/>
              </a:rPr>
              <a:t>技术架构</a:t>
            </a:r>
            <a:endParaRPr lang="en-US" sz="2500" noProof="1"/>
          </a:p>
        </p:txBody>
      </p:sp>
      <p:sp>
        <p:nvSpPr>
          <p:cNvPr id="57" name="hd-sec">
            <a:extLst>
              <a:ext uri="{FF2B5EF4-FFF2-40B4-BE49-F238E27FC236}">
                <a16:creationId xmlns:a16="http://schemas.microsoft.com/office/drawing/2014/main" id="{5B061668-EB2D-6BE3-3EBC-879F8D838895}"/>
              </a:ext>
            </a:extLst>
          </p:cNvPr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64748B"/>
                </a:solidFill>
                <a:latin typeface="MiSans"/>
                <a:ea typeface="MiSans"/>
              </a:rPr>
              <a:t>01 · 项目概述</a:t>
            </a:r>
            <a:endParaRPr lang="en-US" sz="1100" noProof="1"/>
          </a:p>
        </p:txBody>
      </p:sp>
      <p:sp>
        <p:nvSpPr>
          <p:cNvPr id="58" name="hd-line">
            <a:extLst>
              <a:ext uri="{FF2B5EF4-FFF2-40B4-BE49-F238E27FC236}">
                <a16:creationId xmlns:a16="http://schemas.microsoft.com/office/drawing/2014/main" id="{3CE0CEEB-A854-783F-F8C1-308EFD029D39}"/>
              </a:ext>
            </a:extLst>
          </p:cNvPr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layer1">
            <a:extLst>
              <a:ext uri="{FF2B5EF4-FFF2-40B4-BE49-F238E27FC236}">
                <a16:creationId xmlns:a16="http://schemas.microsoft.com/office/drawing/2014/main" id="{9A06A9C1-D8C6-86FB-6FEE-F9FFD88C7502}"/>
              </a:ext>
            </a:extLst>
          </p:cNvPr>
          <p:cNvSpPr/>
          <p:nvPr/>
        </p:nvSpPr>
        <p:spPr>
          <a:xfrm>
            <a:off x="508000" y="12192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ayer1-tag">
            <a:extLst>
              <a:ext uri="{FF2B5EF4-FFF2-40B4-BE49-F238E27FC236}">
                <a16:creationId xmlns:a16="http://schemas.microsoft.com/office/drawing/2014/main" id="{DBB75117-7130-B210-84BA-4C9A88221FCC}"/>
              </a:ext>
            </a:extLst>
          </p:cNvPr>
          <p:cNvSpPr/>
          <p:nvPr/>
        </p:nvSpPr>
        <p:spPr>
          <a:xfrm>
            <a:off x="508000" y="1219200"/>
            <a:ext cx="63500" cy="78740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layer1-t">
            <a:extLst>
              <a:ext uri="{FF2B5EF4-FFF2-40B4-BE49-F238E27FC236}">
                <a16:creationId xmlns:a16="http://schemas.microsoft.com/office/drawing/2014/main" id="{DE93E5B0-21E9-D9FE-7127-69651A81A254}"/>
              </a:ext>
            </a:extLst>
          </p:cNvPr>
          <p:cNvSpPr txBox="1"/>
          <p:nvPr/>
        </p:nvSpPr>
        <p:spPr>
          <a:xfrm>
            <a:off x="762000" y="13208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02033"/>
                </a:solidFill>
                <a:latin typeface="MiSans"/>
                <a:ea typeface="MiSans"/>
              </a:rPr>
              <a:t>表现层</a:t>
            </a: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　Presentation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Razor Views · ViewModels 表单 / 展示模型 · wwwroot 静态资源</a:t>
            </a:r>
            <a:endParaRPr lang="en-US" sz="1600" noProof="1"/>
          </a:p>
        </p:txBody>
      </p:sp>
      <p:sp>
        <p:nvSpPr>
          <p:cNvPr id="62" name="ar1">
            <a:extLst>
              <a:ext uri="{FF2B5EF4-FFF2-40B4-BE49-F238E27FC236}">
                <a16:creationId xmlns:a16="http://schemas.microsoft.com/office/drawing/2014/main" id="{0A094C04-B63A-4EA0-2C57-FDEB9A0CED8C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eyJ2aWV3Qm94IjpbMTQsMTJdLCJwb2ludHMiOiI3LDAgNywxMiJ9</pptd:line>
              </p:ext>
            </p:extLst>
          </p:nvPr>
        </p:nvSpPr>
        <p:spPr>
          <a:xfrm>
            <a:off x="3403600" y="20320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63" name="layer2">
            <a:extLst>
              <a:ext uri="{FF2B5EF4-FFF2-40B4-BE49-F238E27FC236}">
                <a16:creationId xmlns:a16="http://schemas.microsoft.com/office/drawing/2014/main" id="{4FC18C00-89DF-5D9D-4102-EFCE9F0D5A06}"/>
              </a:ext>
            </a:extLst>
          </p:cNvPr>
          <p:cNvSpPr/>
          <p:nvPr/>
        </p:nvSpPr>
        <p:spPr>
          <a:xfrm>
            <a:off x="508000" y="22098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layer2-tag">
            <a:extLst>
              <a:ext uri="{FF2B5EF4-FFF2-40B4-BE49-F238E27FC236}">
                <a16:creationId xmlns:a16="http://schemas.microsoft.com/office/drawing/2014/main" id="{219BDBDC-3AE2-8334-D309-330247F65DA9}"/>
              </a:ext>
            </a:extLst>
          </p:cNvPr>
          <p:cNvSpPr/>
          <p:nvPr/>
        </p:nvSpPr>
        <p:spPr>
          <a:xfrm>
            <a:off x="508000" y="2209800"/>
            <a:ext cx="63500" cy="787400"/>
          </a:xfrm>
          <a:prstGeom prst="rect">
            <a:avLst/>
          </a:prstGeom>
          <a:solidFill>
            <a:srgbClr val="1020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layer2-t">
            <a:extLst>
              <a:ext uri="{FF2B5EF4-FFF2-40B4-BE49-F238E27FC236}">
                <a16:creationId xmlns:a16="http://schemas.microsoft.com/office/drawing/2014/main" id="{A4989901-270F-8FBC-2FD1-A47CDD3F396F}"/>
              </a:ext>
            </a:extLst>
          </p:cNvPr>
          <p:cNvSpPr txBox="1"/>
          <p:nvPr/>
        </p:nvSpPr>
        <p:spPr>
          <a:xfrm>
            <a:off x="762000" y="23114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02033"/>
                </a:solidFill>
                <a:latin typeface="MiSans"/>
                <a:ea typeface="MiSans"/>
              </a:rPr>
              <a:t>控制层</a:t>
            </a: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　Controllers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接收请求、绑定参数、调用 Service 接口、返回 View / Redirect</a:t>
            </a:r>
            <a:endParaRPr lang="en-US" sz="1600" noProof="1"/>
          </a:p>
        </p:txBody>
      </p:sp>
      <p:sp>
        <p:nvSpPr>
          <p:cNvPr id="66" name="ar2">
            <a:extLst>
              <a:ext uri="{FF2B5EF4-FFF2-40B4-BE49-F238E27FC236}">
                <a16:creationId xmlns:a16="http://schemas.microsoft.com/office/drawing/2014/main" id="{7A111BAC-095B-8091-4C7C-8D06CDD13572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eyJ2aWV3Qm94IjpbMTQsMTJdLCJwb2ludHMiOiI3LDAgNywxMiJ9</pptd:line>
              </p:ext>
            </p:extLst>
          </p:nvPr>
        </p:nvSpPr>
        <p:spPr>
          <a:xfrm>
            <a:off x="3403600" y="30226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67" name="layer3">
            <a:extLst>
              <a:ext uri="{FF2B5EF4-FFF2-40B4-BE49-F238E27FC236}">
                <a16:creationId xmlns:a16="http://schemas.microsoft.com/office/drawing/2014/main" id="{BB1750DF-5B06-D7CC-EE94-E46AEDD54C42}"/>
              </a:ext>
            </a:extLst>
          </p:cNvPr>
          <p:cNvSpPr/>
          <p:nvPr/>
        </p:nvSpPr>
        <p:spPr>
          <a:xfrm>
            <a:off x="508000" y="32004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layer3-tag">
            <a:extLst>
              <a:ext uri="{FF2B5EF4-FFF2-40B4-BE49-F238E27FC236}">
                <a16:creationId xmlns:a16="http://schemas.microsoft.com/office/drawing/2014/main" id="{CB824A45-FC11-C000-6B98-83D4C061B816}"/>
              </a:ext>
            </a:extLst>
          </p:cNvPr>
          <p:cNvSpPr/>
          <p:nvPr/>
        </p:nvSpPr>
        <p:spPr>
          <a:xfrm>
            <a:off x="508000" y="3200400"/>
            <a:ext cx="63500" cy="7874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layer3-t">
            <a:extLst>
              <a:ext uri="{FF2B5EF4-FFF2-40B4-BE49-F238E27FC236}">
                <a16:creationId xmlns:a16="http://schemas.microsoft.com/office/drawing/2014/main" id="{384D0156-1B53-93FF-6F1E-D6387B0725E2}"/>
              </a:ext>
            </a:extLst>
          </p:cNvPr>
          <p:cNvSpPr txBox="1"/>
          <p:nvPr/>
        </p:nvSpPr>
        <p:spPr>
          <a:xfrm>
            <a:off x="762000" y="33020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02033"/>
                </a:solidFill>
                <a:latin typeface="MiSans"/>
                <a:ea typeface="MiSans"/>
              </a:rPr>
              <a:t>业务层</a:t>
            </a: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　Services / Interfaces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业务规则、状态判断、事务边界控制、中文显示名转换</a:t>
            </a:r>
            <a:endParaRPr lang="en-US" sz="1600" noProof="1"/>
          </a:p>
        </p:txBody>
      </p:sp>
      <p:sp>
        <p:nvSpPr>
          <p:cNvPr id="70" name="ar3">
            <a:extLst>
              <a:ext uri="{FF2B5EF4-FFF2-40B4-BE49-F238E27FC236}">
                <a16:creationId xmlns:a16="http://schemas.microsoft.com/office/drawing/2014/main" id="{8236195A-C44E-A81D-F666-D0E5A7332025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eyJ2aWV3Qm94IjpbMTQsMTJdLCJwb2ludHMiOiI3LDAgNywxMiJ9</pptd:line>
              </p:ext>
            </p:extLst>
          </p:nvPr>
        </p:nvSpPr>
        <p:spPr>
          <a:xfrm>
            <a:off x="3403600" y="40132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71" name="layer4">
            <a:extLst>
              <a:ext uri="{FF2B5EF4-FFF2-40B4-BE49-F238E27FC236}">
                <a16:creationId xmlns:a16="http://schemas.microsoft.com/office/drawing/2014/main" id="{FDE48483-3FD0-45AD-CD84-D9F7D3D560A1}"/>
              </a:ext>
            </a:extLst>
          </p:cNvPr>
          <p:cNvSpPr/>
          <p:nvPr/>
        </p:nvSpPr>
        <p:spPr>
          <a:xfrm>
            <a:off x="508000" y="4191000"/>
            <a:ext cx="5969000" cy="78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0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layer4-tag">
            <a:extLst>
              <a:ext uri="{FF2B5EF4-FFF2-40B4-BE49-F238E27FC236}">
                <a16:creationId xmlns:a16="http://schemas.microsoft.com/office/drawing/2014/main" id="{AF3225E8-154B-BD7E-511F-F3C8E4C7C6CE}"/>
              </a:ext>
            </a:extLst>
          </p:cNvPr>
          <p:cNvSpPr/>
          <p:nvPr/>
        </p:nvSpPr>
        <p:spPr>
          <a:xfrm>
            <a:off x="508000" y="4191000"/>
            <a:ext cx="63500" cy="787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layer4-t">
            <a:extLst>
              <a:ext uri="{FF2B5EF4-FFF2-40B4-BE49-F238E27FC236}">
                <a16:creationId xmlns:a16="http://schemas.microsoft.com/office/drawing/2014/main" id="{84782742-4B4C-2037-FD23-12A79F2A7F42}"/>
              </a:ext>
            </a:extLst>
          </p:cNvPr>
          <p:cNvSpPr txBox="1"/>
          <p:nvPr/>
        </p:nvSpPr>
        <p:spPr>
          <a:xfrm>
            <a:off x="762000" y="42926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02033"/>
                </a:solidFill>
                <a:latin typeface="MiSans"/>
                <a:ea typeface="MiSans"/>
              </a:rPr>
              <a:t>持久层</a:t>
            </a: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　Repositories / Persistence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仓储接口、参数化 SQL、FOR UPDATE 行锁、Oracle 连接工厂</a:t>
            </a:r>
            <a:endParaRPr lang="en-US" sz="1600" noProof="1"/>
          </a:p>
        </p:txBody>
      </p:sp>
      <p:sp>
        <p:nvSpPr>
          <p:cNvPr id="74" name="ar4">
            <a:extLst>
              <a:ext uri="{FF2B5EF4-FFF2-40B4-BE49-F238E27FC236}">
                <a16:creationId xmlns:a16="http://schemas.microsoft.com/office/drawing/2014/main" id="{EE182D49-3997-8967-C9E1-FD20370487B1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eyJ2aWV3Qm94IjpbMTQsMTJdLCJwb2ludHMiOiI3LDAgNywxMiJ9</pptd:line>
              </p:ext>
            </p:extLst>
          </p:nvPr>
        </p:nvSpPr>
        <p:spPr>
          <a:xfrm>
            <a:off x="3403600" y="5003800"/>
            <a:ext cx="177800" cy="15240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75" name="layer5">
            <a:extLst>
              <a:ext uri="{FF2B5EF4-FFF2-40B4-BE49-F238E27FC236}">
                <a16:creationId xmlns:a16="http://schemas.microsoft.com/office/drawing/2014/main" id="{294F35F5-4331-2B54-B1AB-C7949CEB5323}"/>
              </a:ext>
            </a:extLst>
          </p:cNvPr>
          <p:cNvSpPr/>
          <p:nvPr/>
        </p:nvSpPr>
        <p:spPr>
          <a:xfrm>
            <a:off x="508000" y="5181600"/>
            <a:ext cx="5969000" cy="7874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layer5-t">
            <a:extLst>
              <a:ext uri="{FF2B5EF4-FFF2-40B4-BE49-F238E27FC236}">
                <a16:creationId xmlns:a16="http://schemas.microsoft.com/office/drawing/2014/main" id="{111B7937-2C42-08DA-134C-5A91D30B121A}"/>
              </a:ext>
            </a:extLst>
          </p:cNvPr>
          <p:cNvSpPr txBox="1"/>
          <p:nvPr/>
        </p:nvSpPr>
        <p:spPr>
          <a:xfrm>
            <a:off x="762000" y="52832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chemeClr val="bg1"/>
                </a:solidFill>
                <a:latin typeface="MiSans"/>
                <a:ea typeface="MiSans"/>
              </a:rPr>
              <a:t>数据库层</a:t>
            </a:r>
            <a:r>
              <a:rPr lang="en-US" sz="1000" noProof="1">
                <a:solidFill>
                  <a:schemeClr val="bg1"/>
                </a:solidFill>
                <a:latin typeface="MiSans"/>
                <a:ea typeface="MiSans"/>
              </a:rPr>
              <a:t>　Oracle 19c</a:t>
            </a:r>
            <a:endParaRPr lang="en-US" sz="1600" noProof="1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chemeClr val="bg1"/>
                </a:solidFill>
                <a:latin typeface="MiSans"/>
                <a:ea typeface="MiSans"/>
              </a:rPr>
              <a:t>24 张关系表 · 主外键 / 唯一 / 检查约束 · 函数唯一索引</a:t>
            </a:r>
            <a:endParaRPr lang="en-US" sz="1600" noProof="1">
              <a:solidFill>
                <a:schemeClr val="bg1"/>
              </a:solidFill>
            </a:endParaRPr>
          </a:p>
        </p:txBody>
      </p:sp>
      <p:sp>
        <p:nvSpPr>
          <p:cNvPr id="77" name="stack-label">
            <a:extLst>
              <a:ext uri="{FF2B5EF4-FFF2-40B4-BE49-F238E27FC236}">
                <a16:creationId xmlns:a16="http://schemas.microsoft.com/office/drawing/2014/main" id="{EC5F103F-BF56-3A67-DE45-318FE3C2EB5C}"/>
              </a:ext>
            </a:extLst>
          </p:cNvPr>
          <p:cNvSpPr txBox="1"/>
          <p:nvPr/>
        </p:nvSpPr>
        <p:spPr>
          <a:xfrm>
            <a:off x="6985000" y="12192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64748B"/>
                </a:solidFill>
                <a:latin typeface="MiSans"/>
                <a:ea typeface="MiSans"/>
              </a:rPr>
              <a:t>调用方向与边界约束</a:t>
            </a:r>
            <a:endParaRPr lang="en-US" sz="1200" noProof="1"/>
          </a:p>
        </p:txBody>
      </p:sp>
      <p:sp>
        <p:nvSpPr>
          <p:cNvPr id="78" name="stack-body">
            <a:extLst>
              <a:ext uri="{FF2B5EF4-FFF2-40B4-BE49-F238E27FC236}">
                <a16:creationId xmlns:a16="http://schemas.microsoft.com/office/drawing/2014/main" id="{01422C9E-5164-96D4-9077-1E7B62080F92}"/>
              </a:ext>
            </a:extLst>
          </p:cNvPr>
          <p:cNvSpPr txBox="1"/>
          <p:nvPr/>
        </p:nvSpPr>
        <p:spPr>
          <a:xfrm>
            <a:off x="6985000" y="1574800"/>
            <a:ext cx="46990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02033"/>
                </a:solidFill>
                <a:latin typeface="JetBrains Mono"/>
                <a:ea typeface="JetBrains Mono"/>
              </a:rPr>
              <a:t>View → Controller → IService → Service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102033"/>
                </a:solidFill>
                <a:latin typeface="JetBrains Mono"/>
                <a:ea typeface="JetBrains Mono"/>
              </a:rPr>
              <a:t>→ IRepository → Repository → Oracle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各层接口解耦 · 实现可替换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150" b="1" noProof="1">
                <a:solidFill>
                  <a:srgbClr val="102033"/>
                </a:solidFill>
                <a:latin typeface="MiSans"/>
                <a:ea typeface="MiSans"/>
              </a:rPr>
              <a:t>运行环境</a:t>
            </a:r>
            <a:r>
              <a:rPr lang="en-US" sz="1150" noProof="1">
                <a:solidFill>
                  <a:srgbClr val="102033"/>
                </a:solidFill>
                <a:latin typeface="MiSans"/>
                <a:ea typeface="MiSans"/>
              </a:rPr>
              <a:t>　.NET SDK 9 · net9.0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b="1" noProof="1">
                <a:solidFill>
                  <a:srgbClr val="102033"/>
                </a:solidFill>
                <a:latin typeface="MiSans"/>
                <a:ea typeface="MiSans"/>
              </a:rPr>
              <a:t>测试工程</a:t>
            </a:r>
            <a:r>
              <a:rPr lang="en-US" sz="1150" noProof="1">
                <a:solidFill>
                  <a:srgbClr val="102033"/>
                </a:solidFill>
                <a:latin typeface="MiSans"/>
                <a:ea typeface="MiSans"/>
              </a:rPr>
              <a:t>　xUnit + 仓储接口测试替身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b="1" noProof="1">
                <a:solidFill>
                  <a:srgbClr val="102033"/>
                </a:solidFill>
                <a:latin typeface="MiSans"/>
                <a:ea typeface="MiSans"/>
              </a:rPr>
              <a:t>数据口径</a:t>
            </a:r>
            <a:r>
              <a:rPr lang="en-US" sz="1150" noProof="1">
                <a:solidFill>
                  <a:srgbClr val="102033"/>
                </a:solidFill>
                <a:latin typeface="MiSans"/>
                <a:ea typeface="MiSans"/>
              </a:rPr>
              <a:t>　英文代码入库，页面显示中文</a:t>
            </a:r>
            <a:endParaRPr lang="en-US" sz="1150" noProof="1"/>
          </a:p>
        </p:txBody>
      </p:sp>
      <p:sp>
        <p:nvSpPr>
          <p:cNvPr id="79" name="stack-line">
            <a:extLst>
              <a:ext uri="{FF2B5EF4-FFF2-40B4-BE49-F238E27FC236}">
                <a16:creationId xmlns:a16="http://schemas.microsoft.com/office/drawing/2014/main" id="{FA681106-DC8C-C39B-B175-2851D39616B2}"/>
              </a:ext>
            </a:extLst>
          </p:cNvPr>
          <p:cNvSpPr/>
          <p:nvPr/>
        </p:nvSpPr>
        <p:spPr>
          <a:xfrm>
            <a:off x="6985000" y="5537200"/>
            <a:ext cx="4699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stack-note">
            <a:extLst>
              <a:ext uri="{FF2B5EF4-FFF2-40B4-BE49-F238E27FC236}">
                <a16:creationId xmlns:a16="http://schemas.microsoft.com/office/drawing/2014/main" id="{C971C912-0968-CB74-E360-B503AF209384}"/>
              </a:ext>
            </a:extLst>
          </p:cNvPr>
          <p:cNvSpPr txBox="1"/>
          <p:nvPr/>
        </p:nvSpPr>
        <p:spPr>
          <a:xfrm>
            <a:off x="6985000" y="56896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81" name="ft-line">
            <a:extLst>
              <a:ext uri="{FF2B5EF4-FFF2-40B4-BE49-F238E27FC236}">
                <a16:creationId xmlns:a16="http://schemas.microsoft.com/office/drawing/2014/main" id="{2EB400EB-5B13-0016-01F8-252A613FF7ED}"/>
              </a:ext>
            </a:extLst>
          </p:cNvPr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ft-brand">
            <a:extLst>
              <a:ext uri="{FF2B5EF4-FFF2-40B4-BE49-F238E27FC236}">
                <a16:creationId xmlns:a16="http://schemas.microsoft.com/office/drawing/2014/main" id="{DAB0864F-A885-3524-A84C-84F99C06D7FA}"/>
              </a:ext>
            </a:extLst>
          </p:cNvPr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济跑跑 J</a:t>
            </a:r>
            <a:r>
              <a:rPr lang="en-US" altLang="zh-CN" sz="1000" noProof="1">
                <a:solidFill>
                  <a:srgbClr val="64748B"/>
                </a:solidFill>
                <a:latin typeface="MiSans"/>
                <a:ea typeface="MiSans"/>
              </a:rPr>
              <a:t>I</a:t>
            </a: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RUN · 校园中转分发与跑腿服务管理系统</a:t>
            </a:r>
            <a:endParaRPr lang="en-US" sz="1000" noProof="1"/>
          </a:p>
        </p:txBody>
      </p:sp>
      <p:sp>
        <p:nvSpPr>
          <p:cNvPr id="83" name="ft-page">
            <a:extLst>
              <a:ext uri="{FF2B5EF4-FFF2-40B4-BE49-F238E27FC236}">
                <a16:creationId xmlns:a16="http://schemas.microsoft.com/office/drawing/2014/main" id="{CDF46835-4D8B-A662-E6D9-978D916126E4}"/>
              </a:ext>
            </a:extLst>
          </p:cNvPr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6 / 44</a:t>
            </a:r>
            <a:endParaRPr lang="en-US" sz="1000" noProof="1"/>
          </a:p>
        </p:txBody>
      </p:sp>
      <p:sp>
        <p:nvSpPr>
          <p:cNvPr id="2" name="hd-tick">
            <a:extLst>
              <a:ext uri="{FF2B5EF4-FFF2-40B4-BE49-F238E27FC236}">
                <a16:creationId xmlns:a16="http://schemas.microsoft.com/office/drawing/2014/main" id="{136B2D8F-D2F8-7B00-38F1-272029E4B129}"/>
              </a:ext>
            </a:extLst>
          </p:cNvPr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02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需求分析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功能架构 · 核心业务流程 · 数据与非功能需求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02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7 / 44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hd-tick">
            <a:extLst>
              <a:ext uri="{FF2B5EF4-FFF2-40B4-BE49-F238E27FC236}">
                <a16:creationId xmlns:a16="http://schemas.microsoft.com/office/drawing/2014/main" id="{1D08A911-717B-B799-4359-0A50FCA0FE0B}"/>
              </a:ext>
            </a:extLst>
          </p:cNvPr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hd-title">
            <a:extLst>
              <a:ext uri="{FF2B5EF4-FFF2-40B4-BE49-F238E27FC236}">
                <a16:creationId xmlns:a16="http://schemas.microsoft.com/office/drawing/2014/main" id="{42C88B4C-90FE-909B-D8C1-20DFD61930D9}"/>
              </a:ext>
            </a:extLst>
          </p:cNvPr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102033"/>
                </a:solidFill>
                <a:latin typeface="MiSans"/>
                <a:ea typeface="MiSans"/>
              </a:rPr>
              <a:t>功能需求</a:t>
            </a:r>
            <a:endParaRPr lang="en-US" sz="2500" noProof="1"/>
          </a:p>
        </p:txBody>
      </p:sp>
      <p:sp>
        <p:nvSpPr>
          <p:cNvPr id="61" name="hd-sec">
            <a:extLst>
              <a:ext uri="{FF2B5EF4-FFF2-40B4-BE49-F238E27FC236}">
                <a16:creationId xmlns:a16="http://schemas.microsoft.com/office/drawing/2014/main" id="{B17147CB-4F6E-B452-66E2-3564401E7ABB}"/>
              </a:ext>
            </a:extLst>
          </p:cNvPr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64748B"/>
                </a:solidFill>
                <a:latin typeface="MiSans"/>
                <a:ea typeface="MiSans"/>
              </a:rPr>
              <a:t>02 · 需求分析</a:t>
            </a:r>
            <a:endParaRPr lang="en-US" sz="1100" noProof="1"/>
          </a:p>
        </p:txBody>
      </p:sp>
      <p:sp>
        <p:nvSpPr>
          <p:cNvPr id="62" name="hd-line">
            <a:extLst>
              <a:ext uri="{FF2B5EF4-FFF2-40B4-BE49-F238E27FC236}">
                <a16:creationId xmlns:a16="http://schemas.microsoft.com/office/drawing/2014/main" id="{93880704-734E-1F64-39F1-FA24391D84BA}"/>
              </a:ext>
            </a:extLst>
          </p:cNvPr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root-box">
            <a:extLst>
              <a:ext uri="{FF2B5EF4-FFF2-40B4-BE49-F238E27FC236}">
                <a16:creationId xmlns:a16="http://schemas.microsoft.com/office/drawing/2014/main" id="{B491C8D2-A498-61BD-2A75-25785C581BE5}"/>
              </a:ext>
            </a:extLst>
          </p:cNvPr>
          <p:cNvSpPr/>
          <p:nvPr/>
        </p:nvSpPr>
        <p:spPr>
          <a:xfrm>
            <a:off x="711200" y="3149600"/>
            <a:ext cx="1778000" cy="812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root-t">
            <a:extLst>
              <a:ext uri="{FF2B5EF4-FFF2-40B4-BE49-F238E27FC236}">
                <a16:creationId xmlns:a16="http://schemas.microsoft.com/office/drawing/2014/main" id="{DDBE997D-65BB-3AF6-E95B-53EA01FC6CBE}"/>
              </a:ext>
            </a:extLst>
          </p:cNvPr>
          <p:cNvSpPr txBox="1"/>
          <p:nvPr/>
        </p:nvSpPr>
        <p:spPr>
          <a:xfrm>
            <a:off x="711200" y="31496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/>
                <a:ea typeface="MiSans"/>
              </a:rPr>
              <a:t>济跑跑系统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93A8C4"/>
                </a:solidFill>
                <a:latin typeface="MiSans"/>
                <a:ea typeface="MiSans"/>
              </a:rPr>
              <a:t>JIRUN SYSTEM</a:t>
            </a:r>
            <a:endParaRPr lang="en-US" sz="1600" noProof="1"/>
          </a:p>
        </p:txBody>
      </p:sp>
      <p:sp>
        <p:nvSpPr>
          <p:cNvPr id="65" name="stub-root">
            <a:extLst>
              <a:ext uri="{FF2B5EF4-FFF2-40B4-BE49-F238E27FC236}">
                <a16:creationId xmlns:a16="http://schemas.microsoft.com/office/drawing/2014/main" id="{2C259351-C04F-517D-DA7D-80772A7686E3}"/>
              </a:ext>
            </a:extLst>
          </p:cNvPr>
          <p:cNvSpPr/>
          <p:nvPr/>
        </p:nvSpPr>
        <p:spPr>
          <a:xfrm>
            <a:off x="2489200" y="3543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pine">
            <a:extLst>
              <a:ext uri="{FF2B5EF4-FFF2-40B4-BE49-F238E27FC236}">
                <a16:creationId xmlns:a16="http://schemas.microsoft.com/office/drawing/2014/main" id="{70D4C992-C49D-95C9-DA26-2B9D75B27884}"/>
              </a:ext>
            </a:extLst>
          </p:cNvPr>
          <p:cNvSpPr/>
          <p:nvPr/>
        </p:nvSpPr>
        <p:spPr>
          <a:xfrm>
            <a:off x="3124200" y="1651000"/>
            <a:ext cx="19050" cy="381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tub1">
            <a:extLst>
              <a:ext uri="{FF2B5EF4-FFF2-40B4-BE49-F238E27FC236}">
                <a16:creationId xmlns:a16="http://schemas.microsoft.com/office/drawing/2014/main" id="{71D4D66D-FD7A-A0E9-D23F-8E313A1ACFF7}"/>
              </a:ext>
            </a:extLst>
          </p:cNvPr>
          <p:cNvSpPr/>
          <p:nvPr/>
        </p:nvSpPr>
        <p:spPr>
          <a:xfrm>
            <a:off x="3124200" y="1638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tub2">
            <a:extLst>
              <a:ext uri="{FF2B5EF4-FFF2-40B4-BE49-F238E27FC236}">
                <a16:creationId xmlns:a16="http://schemas.microsoft.com/office/drawing/2014/main" id="{F8A2B5D1-6EED-66C8-6D52-3E6ED86141FB}"/>
              </a:ext>
            </a:extLst>
          </p:cNvPr>
          <p:cNvSpPr/>
          <p:nvPr/>
        </p:nvSpPr>
        <p:spPr>
          <a:xfrm>
            <a:off x="3124200" y="25908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tub3">
            <a:extLst>
              <a:ext uri="{FF2B5EF4-FFF2-40B4-BE49-F238E27FC236}">
                <a16:creationId xmlns:a16="http://schemas.microsoft.com/office/drawing/2014/main" id="{FFE69346-902B-566C-78D7-BE809853739B}"/>
              </a:ext>
            </a:extLst>
          </p:cNvPr>
          <p:cNvSpPr/>
          <p:nvPr/>
        </p:nvSpPr>
        <p:spPr>
          <a:xfrm>
            <a:off x="3124200" y="3543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stub4">
            <a:extLst>
              <a:ext uri="{FF2B5EF4-FFF2-40B4-BE49-F238E27FC236}">
                <a16:creationId xmlns:a16="http://schemas.microsoft.com/office/drawing/2014/main" id="{185F4D19-8192-3E78-75CA-216E131C4642}"/>
              </a:ext>
            </a:extLst>
          </p:cNvPr>
          <p:cNvSpPr/>
          <p:nvPr/>
        </p:nvSpPr>
        <p:spPr>
          <a:xfrm>
            <a:off x="3124200" y="44958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stub5">
            <a:extLst>
              <a:ext uri="{FF2B5EF4-FFF2-40B4-BE49-F238E27FC236}">
                <a16:creationId xmlns:a16="http://schemas.microsoft.com/office/drawing/2014/main" id="{FF67CB64-4AF9-C337-434B-6B03FAAFAF01}"/>
              </a:ext>
            </a:extLst>
          </p:cNvPr>
          <p:cNvSpPr/>
          <p:nvPr/>
        </p:nvSpPr>
        <p:spPr>
          <a:xfrm>
            <a:off x="3124200" y="5448300"/>
            <a:ext cx="6350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m1-title">
            <a:extLst>
              <a:ext uri="{FF2B5EF4-FFF2-40B4-BE49-F238E27FC236}">
                <a16:creationId xmlns:a16="http://schemas.microsoft.com/office/drawing/2014/main" id="{586231B5-F2B1-F904-F33F-91375B1DC56F}"/>
              </a:ext>
            </a:extLst>
          </p:cNvPr>
          <p:cNvSpPr txBox="1"/>
          <p:nvPr/>
        </p:nvSpPr>
        <p:spPr>
          <a:xfrm>
            <a:off x="3937000" y="1295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4FB3"/>
                </a:solidFill>
                <a:latin typeface="MiSans"/>
                <a:ea typeface="MiSans"/>
              </a:rPr>
              <a:t>账号与地址</a:t>
            </a:r>
            <a:endParaRPr lang="en-US" sz="1500" noProof="1"/>
          </a:p>
        </p:txBody>
      </p:sp>
      <p:sp>
        <p:nvSpPr>
          <p:cNvPr id="73" name="m1-body">
            <a:extLst>
              <a:ext uri="{FF2B5EF4-FFF2-40B4-BE49-F238E27FC236}">
                <a16:creationId xmlns:a16="http://schemas.microsoft.com/office/drawing/2014/main" id="{9669C09F-3E9A-6205-8DA2-80814E0E5CF8}"/>
              </a:ext>
            </a:extLst>
          </p:cNvPr>
          <p:cNvSpPr txBox="1"/>
          <p:nvPr/>
        </p:nvSpPr>
        <p:spPr>
          <a:xfrm>
            <a:off x="3937000" y="1625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注册登录（带盐哈希）· 账号封禁 / 注销生命周期 · 地址增删改与默认地址唯一</a:t>
            </a:r>
            <a:endParaRPr lang="en-US" sz="1150" noProof="1"/>
          </a:p>
        </p:txBody>
      </p:sp>
      <p:sp>
        <p:nvSpPr>
          <p:cNvPr id="74" name="m1-line">
            <a:extLst>
              <a:ext uri="{FF2B5EF4-FFF2-40B4-BE49-F238E27FC236}">
                <a16:creationId xmlns:a16="http://schemas.microsoft.com/office/drawing/2014/main" id="{504F0EC1-815B-FD8C-967A-8AF4B8CED5D6}"/>
              </a:ext>
            </a:extLst>
          </p:cNvPr>
          <p:cNvSpPr/>
          <p:nvPr/>
        </p:nvSpPr>
        <p:spPr>
          <a:xfrm>
            <a:off x="3937000" y="21336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m2-title">
            <a:extLst>
              <a:ext uri="{FF2B5EF4-FFF2-40B4-BE49-F238E27FC236}">
                <a16:creationId xmlns:a16="http://schemas.microsoft.com/office/drawing/2014/main" id="{61B902CA-465E-54A7-A29F-92A980297EB7}"/>
              </a:ext>
            </a:extLst>
          </p:cNvPr>
          <p:cNvSpPr txBox="1"/>
          <p:nvPr/>
        </p:nvSpPr>
        <p:spPr>
          <a:xfrm>
            <a:off x="3937000" y="22479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4FB3"/>
                </a:solidFill>
                <a:latin typeface="MiSans"/>
                <a:ea typeface="MiSans"/>
              </a:rPr>
              <a:t>基础配置</a:t>
            </a:r>
            <a:endParaRPr lang="en-US" sz="1500" noProof="1"/>
          </a:p>
        </p:txBody>
      </p:sp>
      <p:sp>
        <p:nvSpPr>
          <p:cNvPr id="76" name="m2-body">
            <a:extLst>
              <a:ext uri="{FF2B5EF4-FFF2-40B4-BE49-F238E27FC236}">
                <a16:creationId xmlns:a16="http://schemas.microsoft.com/office/drawing/2014/main" id="{9D1CDACF-C330-4B42-8A61-951BD4DBFA87}"/>
              </a:ext>
            </a:extLst>
          </p:cNvPr>
          <p:cNvSpPr txBox="1"/>
          <p:nvPr/>
        </p:nvSpPr>
        <p:spPr>
          <a:xfrm>
            <a:off x="3937000" y="25781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节点（校门 / 驿站 / 分发点）启闭维护 · 服务类型与价格规则 · 服务—节点适用绑定</a:t>
            </a:r>
            <a:endParaRPr lang="en-US" sz="1150" noProof="1"/>
          </a:p>
        </p:txBody>
      </p:sp>
      <p:sp>
        <p:nvSpPr>
          <p:cNvPr id="77" name="m2-line">
            <a:extLst>
              <a:ext uri="{FF2B5EF4-FFF2-40B4-BE49-F238E27FC236}">
                <a16:creationId xmlns:a16="http://schemas.microsoft.com/office/drawing/2014/main" id="{9C776686-7147-9F13-6216-277E146D1914}"/>
              </a:ext>
            </a:extLst>
          </p:cNvPr>
          <p:cNvSpPr/>
          <p:nvPr/>
        </p:nvSpPr>
        <p:spPr>
          <a:xfrm>
            <a:off x="3937000" y="30861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m3-title">
            <a:extLst>
              <a:ext uri="{FF2B5EF4-FFF2-40B4-BE49-F238E27FC236}">
                <a16:creationId xmlns:a16="http://schemas.microsoft.com/office/drawing/2014/main" id="{BA9C3F16-8007-78C8-91C1-651E97CEC5F2}"/>
              </a:ext>
            </a:extLst>
          </p:cNvPr>
          <p:cNvSpPr txBox="1"/>
          <p:nvPr/>
        </p:nvSpPr>
        <p:spPr>
          <a:xfrm>
            <a:off x="3937000" y="3200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4FB3"/>
                </a:solidFill>
                <a:latin typeface="MiSans"/>
                <a:ea typeface="MiSans"/>
              </a:rPr>
              <a:t>任务与接派</a:t>
            </a:r>
            <a:endParaRPr lang="en-US" sz="1500" noProof="1"/>
          </a:p>
        </p:txBody>
      </p:sp>
      <p:sp>
        <p:nvSpPr>
          <p:cNvPr id="79" name="m3-body">
            <a:extLst>
              <a:ext uri="{FF2B5EF4-FFF2-40B4-BE49-F238E27FC236}">
                <a16:creationId xmlns:a16="http://schemas.microsoft.com/office/drawing/2014/main" id="{7F084453-BBAC-952C-24AE-D572AC0EC123}"/>
              </a:ext>
            </a:extLst>
          </p:cNvPr>
          <p:cNvSpPr txBox="1"/>
          <p:nvPr/>
        </p:nvSpPr>
        <p:spPr>
          <a:xfrm>
            <a:off x="3937000" y="3530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三类任务发布与取消 · 任务大厅抢单 · 管理员派单 / 重派 · 配送状态流转 · 确认收货</a:t>
            </a:r>
            <a:endParaRPr lang="en-US" sz="1150" noProof="1"/>
          </a:p>
        </p:txBody>
      </p:sp>
      <p:sp>
        <p:nvSpPr>
          <p:cNvPr id="80" name="m3-line">
            <a:extLst>
              <a:ext uri="{FF2B5EF4-FFF2-40B4-BE49-F238E27FC236}">
                <a16:creationId xmlns:a16="http://schemas.microsoft.com/office/drawing/2014/main" id="{5542D8D9-3A48-EA43-B802-BE62F4BC241C}"/>
              </a:ext>
            </a:extLst>
          </p:cNvPr>
          <p:cNvSpPr/>
          <p:nvPr/>
        </p:nvSpPr>
        <p:spPr>
          <a:xfrm>
            <a:off x="3937000" y="40386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m4-title">
            <a:extLst>
              <a:ext uri="{FF2B5EF4-FFF2-40B4-BE49-F238E27FC236}">
                <a16:creationId xmlns:a16="http://schemas.microsoft.com/office/drawing/2014/main" id="{0A23ABFB-50D7-8051-A77A-957583B22B94}"/>
              </a:ext>
            </a:extLst>
          </p:cNvPr>
          <p:cNvSpPr txBox="1"/>
          <p:nvPr/>
        </p:nvSpPr>
        <p:spPr>
          <a:xfrm>
            <a:off x="3937000" y="41529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4FB3"/>
                </a:solidFill>
                <a:latin typeface="MiSans"/>
                <a:ea typeface="MiSans"/>
              </a:rPr>
              <a:t>资金与售后</a:t>
            </a:r>
            <a:endParaRPr lang="en-US" sz="1500" noProof="1"/>
          </a:p>
        </p:txBody>
      </p:sp>
      <p:sp>
        <p:nvSpPr>
          <p:cNvPr id="82" name="m4-body">
            <a:extLst>
              <a:ext uri="{FF2B5EF4-FFF2-40B4-BE49-F238E27FC236}">
                <a16:creationId xmlns:a16="http://schemas.microsoft.com/office/drawing/2014/main" id="{370348A8-B0B7-3182-7818-7B23AFF625D4}"/>
              </a:ext>
            </a:extLst>
          </p:cNvPr>
          <p:cNvSpPr txBox="1"/>
          <p:nvPr/>
        </p:nvSpPr>
        <p:spPr>
          <a:xfrm>
            <a:off x="3937000" y="44831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收货后支付与稍后付款 · 退款申请与审核 · 一单一评与信誉分联动 · 投诉处理</a:t>
            </a:r>
            <a:endParaRPr lang="en-US" sz="1150" noProof="1"/>
          </a:p>
        </p:txBody>
      </p:sp>
      <p:sp>
        <p:nvSpPr>
          <p:cNvPr id="83" name="m4-line">
            <a:extLst>
              <a:ext uri="{FF2B5EF4-FFF2-40B4-BE49-F238E27FC236}">
                <a16:creationId xmlns:a16="http://schemas.microsoft.com/office/drawing/2014/main" id="{3FE9E4AD-24F8-1897-0D7B-3FB457A2F74D}"/>
              </a:ext>
            </a:extLst>
          </p:cNvPr>
          <p:cNvSpPr/>
          <p:nvPr/>
        </p:nvSpPr>
        <p:spPr>
          <a:xfrm>
            <a:off x="3937000" y="4991100"/>
            <a:ext cx="7493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m5-title">
            <a:extLst>
              <a:ext uri="{FF2B5EF4-FFF2-40B4-BE49-F238E27FC236}">
                <a16:creationId xmlns:a16="http://schemas.microsoft.com/office/drawing/2014/main" id="{3803B649-E38F-3A60-1D97-E527232AA6C0}"/>
              </a:ext>
            </a:extLst>
          </p:cNvPr>
          <p:cNvSpPr txBox="1"/>
          <p:nvPr/>
        </p:nvSpPr>
        <p:spPr>
          <a:xfrm>
            <a:off x="3937000" y="5105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0B4FB3"/>
                </a:solidFill>
                <a:latin typeface="MiSans"/>
                <a:ea typeface="MiSans"/>
              </a:rPr>
              <a:t>结算、审计与报表</a:t>
            </a:r>
            <a:endParaRPr lang="en-US" sz="1500" noProof="1"/>
          </a:p>
        </p:txBody>
      </p:sp>
      <p:sp>
        <p:nvSpPr>
          <p:cNvPr id="85" name="m5-body">
            <a:extLst>
              <a:ext uri="{FF2B5EF4-FFF2-40B4-BE49-F238E27FC236}">
                <a16:creationId xmlns:a16="http://schemas.microsoft.com/office/drawing/2014/main" id="{EC5E519C-9EAE-2672-96BD-5B10D5B928D0}"/>
              </a:ext>
            </a:extLst>
          </p:cNvPr>
          <p:cNvSpPr txBox="1"/>
          <p:nvPr/>
        </p:nvSpPr>
        <p:spPr>
          <a:xfrm>
            <a:off x="3937000" y="5435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4748B"/>
                </a:solidFill>
                <a:latin typeface="MiSans"/>
                <a:ea typeface="MiSans"/>
              </a:rPr>
              <a:t>跑腿员结算单生成 · 支付 / 退款 / 状态日志审计 · 按月统计报表与 CSV 导出</a:t>
            </a:r>
            <a:endParaRPr lang="en-US" sz="1150" noProof="1"/>
          </a:p>
        </p:txBody>
      </p:sp>
      <p:sp>
        <p:nvSpPr>
          <p:cNvPr id="86" name="mod-note">
            <a:extLst>
              <a:ext uri="{FF2B5EF4-FFF2-40B4-BE49-F238E27FC236}">
                <a16:creationId xmlns:a16="http://schemas.microsoft.com/office/drawing/2014/main" id="{062D63A5-1D34-D56A-505A-813157CA13A7}"/>
              </a:ext>
            </a:extLst>
          </p:cNvPr>
          <p:cNvSpPr txBox="1"/>
          <p:nvPr/>
        </p:nvSpPr>
        <p:spPr>
          <a:xfrm>
            <a:off x="3937000" y="6070600"/>
            <a:ext cx="7747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87" name="ft-line">
            <a:extLst>
              <a:ext uri="{FF2B5EF4-FFF2-40B4-BE49-F238E27FC236}">
                <a16:creationId xmlns:a16="http://schemas.microsoft.com/office/drawing/2014/main" id="{9FD6A6A2-BDC8-F637-6B1B-B06CAA8E8255}"/>
              </a:ext>
            </a:extLst>
          </p:cNvPr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ft-page">
            <a:extLst>
              <a:ext uri="{FF2B5EF4-FFF2-40B4-BE49-F238E27FC236}">
                <a16:creationId xmlns:a16="http://schemas.microsoft.com/office/drawing/2014/main" id="{0464EFD3-2D15-A502-F977-0BA00B6A7660}"/>
              </a:ext>
            </a:extLst>
          </p:cNvPr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8 / 44</a:t>
            </a:r>
            <a:endParaRPr lang="en-US" sz="1000" noProof="1"/>
          </a:p>
        </p:txBody>
      </p:sp>
      <p:sp>
        <p:nvSpPr>
          <p:cNvPr id="9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hd-tick">
            <a:extLst>
              <a:ext uri="{FF2B5EF4-FFF2-40B4-BE49-F238E27FC236}">
                <a16:creationId xmlns:a16="http://schemas.microsoft.com/office/drawing/2014/main" id="{2EF9BFD5-282E-79F9-7D0B-E946A761D8AF}"/>
              </a:ext>
            </a:extLst>
          </p:cNvPr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hd-title">
            <a:extLst>
              <a:ext uri="{FF2B5EF4-FFF2-40B4-BE49-F238E27FC236}">
                <a16:creationId xmlns:a16="http://schemas.microsoft.com/office/drawing/2014/main" id="{669631E7-48CE-A1AC-3502-8053308FFE38}"/>
              </a:ext>
            </a:extLst>
          </p:cNvPr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102033"/>
                </a:solidFill>
                <a:latin typeface="MiSans"/>
                <a:ea typeface="MiSans"/>
              </a:rPr>
              <a:t>核心业务流</a:t>
            </a:r>
            <a:endParaRPr lang="en-US" sz="2500" noProof="1"/>
          </a:p>
        </p:txBody>
      </p:sp>
      <p:sp>
        <p:nvSpPr>
          <p:cNvPr id="41" name="hd-sec">
            <a:extLst>
              <a:ext uri="{FF2B5EF4-FFF2-40B4-BE49-F238E27FC236}">
                <a16:creationId xmlns:a16="http://schemas.microsoft.com/office/drawing/2014/main" id="{35BC5832-716E-7835-C1AE-35A9F2E8E282}"/>
              </a:ext>
            </a:extLst>
          </p:cNvPr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64748B"/>
                </a:solidFill>
                <a:latin typeface="MiSans"/>
                <a:ea typeface="MiSans"/>
              </a:rPr>
              <a:t>02 · 需求分析</a:t>
            </a:r>
            <a:endParaRPr lang="en-US" sz="1100" noProof="1"/>
          </a:p>
        </p:txBody>
      </p:sp>
      <p:sp>
        <p:nvSpPr>
          <p:cNvPr id="42" name="hd-line">
            <a:extLst>
              <a:ext uri="{FF2B5EF4-FFF2-40B4-BE49-F238E27FC236}">
                <a16:creationId xmlns:a16="http://schemas.microsoft.com/office/drawing/2014/main" id="{CBB8944E-8AF3-D2C5-CCCB-1575EAD0802B}"/>
              </a:ext>
            </a:extLst>
          </p:cNvPr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main-label">
            <a:extLst>
              <a:ext uri="{FF2B5EF4-FFF2-40B4-BE49-F238E27FC236}">
                <a16:creationId xmlns:a16="http://schemas.microsoft.com/office/drawing/2014/main" id="{3CEE5975-4A3D-4AD5-2D8D-F5D3D9807247}"/>
              </a:ext>
            </a:extLst>
          </p:cNvPr>
          <p:cNvSpPr txBox="1"/>
          <p:nvPr/>
        </p:nvSpPr>
        <p:spPr>
          <a:xfrm>
            <a:off x="508000" y="116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00" noProof="1">
                <a:solidFill>
                  <a:srgbClr val="64748B"/>
                </a:solidFill>
                <a:latin typeface="MiSans"/>
                <a:ea typeface="MiSans"/>
              </a:rPr>
              <a:t>正常路径</a:t>
            </a:r>
            <a:endParaRPr lang="en-US" sz="1100" noProof="1"/>
          </a:p>
        </p:txBody>
      </p:sp>
      <p:sp>
        <p:nvSpPr>
          <p:cNvPr id="44" name="s1">
            <a:extLst>
              <a:ext uri="{FF2B5EF4-FFF2-40B4-BE49-F238E27FC236}">
                <a16:creationId xmlns:a16="http://schemas.microsoft.com/office/drawing/2014/main" id="{08DF6599-B144-7445-713E-0152C584BF47}"/>
              </a:ext>
            </a:extLst>
          </p:cNvPr>
          <p:cNvSpPr/>
          <p:nvPr/>
        </p:nvSpPr>
        <p:spPr>
          <a:xfrm>
            <a:off x="5080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1-t">
            <a:extLst>
              <a:ext uri="{FF2B5EF4-FFF2-40B4-BE49-F238E27FC236}">
                <a16:creationId xmlns:a16="http://schemas.microsoft.com/office/drawing/2014/main" id="{0F11A72B-2B2E-D72D-60B5-CE7C831E3F6F}"/>
              </a:ext>
            </a:extLst>
          </p:cNvPr>
          <p:cNvSpPr txBox="1"/>
          <p:nvPr/>
        </p:nvSpPr>
        <p:spPr>
          <a:xfrm>
            <a:off x="5080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102033"/>
                </a:solidFill>
                <a:latin typeface="MiSans"/>
                <a:ea typeface="MiSans"/>
              </a:rPr>
              <a:t>待接单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WAITING</a:t>
            </a:r>
            <a:endParaRPr lang="en-US" sz="1600" noProof="1"/>
          </a:p>
        </p:txBody>
      </p:sp>
      <p:sp>
        <p:nvSpPr>
          <p:cNvPr id="46" name="a1">
            <a:extLst>
              <a:ext uri="{FF2B5EF4-FFF2-40B4-BE49-F238E27FC236}">
                <a16:creationId xmlns:a16="http://schemas.microsoft.com/office/drawing/2014/main" id="{80EE1074-B130-FAF9-DA05-1D2A033B8E75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eyJ2aWV3Qm94IjpbMjAsMTJdLCJwb2ludHMiOiIwLDYgMjAsNiJ9</pptd:line>
              </p:ext>
            </p:extLst>
          </p:nvPr>
        </p:nvSpPr>
        <p:spPr>
          <a:xfrm>
            <a:off x="21844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47" name="s2">
            <a:extLst>
              <a:ext uri="{FF2B5EF4-FFF2-40B4-BE49-F238E27FC236}">
                <a16:creationId xmlns:a16="http://schemas.microsoft.com/office/drawing/2014/main" id="{F8DFF56F-AC98-4C8E-7BD6-284C041936D3}"/>
              </a:ext>
            </a:extLst>
          </p:cNvPr>
          <p:cNvSpPr/>
          <p:nvPr/>
        </p:nvSpPr>
        <p:spPr>
          <a:xfrm>
            <a:off x="24892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2-t">
            <a:extLst>
              <a:ext uri="{FF2B5EF4-FFF2-40B4-BE49-F238E27FC236}">
                <a16:creationId xmlns:a16="http://schemas.microsoft.com/office/drawing/2014/main" id="{3623A747-1F0B-C962-414C-F8992D4183CA}"/>
              </a:ext>
            </a:extLst>
          </p:cNvPr>
          <p:cNvSpPr txBox="1"/>
          <p:nvPr/>
        </p:nvSpPr>
        <p:spPr>
          <a:xfrm>
            <a:off x="24892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102033"/>
                </a:solidFill>
                <a:latin typeface="MiSans"/>
                <a:ea typeface="MiSans"/>
              </a:rPr>
              <a:t>已接单 / 派单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ASSIGNED</a:t>
            </a:r>
            <a:endParaRPr lang="en-US" sz="1600" noProof="1"/>
          </a:p>
        </p:txBody>
      </p:sp>
      <p:sp>
        <p:nvSpPr>
          <p:cNvPr id="49" name="a2">
            <a:extLst>
              <a:ext uri="{FF2B5EF4-FFF2-40B4-BE49-F238E27FC236}">
                <a16:creationId xmlns:a16="http://schemas.microsoft.com/office/drawing/2014/main" id="{C00D4AA3-E45C-BC24-9727-D49A50AAF08F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eyJ2aWV3Qm94IjpbMjAsMTJdLCJwb2ludHMiOiIwLDYgMjAsNiJ9</pptd:line>
              </p:ext>
            </p:extLst>
          </p:nvPr>
        </p:nvSpPr>
        <p:spPr>
          <a:xfrm>
            <a:off x="41656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50" name="s3">
            <a:extLst>
              <a:ext uri="{FF2B5EF4-FFF2-40B4-BE49-F238E27FC236}">
                <a16:creationId xmlns:a16="http://schemas.microsoft.com/office/drawing/2014/main" id="{84E2A03B-263C-CCCE-3FFC-E2D0F40084A0}"/>
              </a:ext>
            </a:extLst>
          </p:cNvPr>
          <p:cNvSpPr/>
          <p:nvPr/>
        </p:nvSpPr>
        <p:spPr>
          <a:xfrm>
            <a:off x="44704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3-t">
            <a:extLst>
              <a:ext uri="{FF2B5EF4-FFF2-40B4-BE49-F238E27FC236}">
                <a16:creationId xmlns:a16="http://schemas.microsoft.com/office/drawing/2014/main" id="{00F87D1C-6979-596D-9C58-A23DF9C073D1}"/>
              </a:ext>
            </a:extLst>
          </p:cNvPr>
          <p:cNvSpPr txBox="1"/>
          <p:nvPr/>
        </p:nvSpPr>
        <p:spPr>
          <a:xfrm>
            <a:off x="44704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102033"/>
                </a:solidFill>
                <a:latin typeface="MiSans"/>
                <a:ea typeface="MiSans"/>
              </a:rPr>
              <a:t>已取货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PICKED_UP</a:t>
            </a:r>
            <a:endParaRPr lang="en-US" sz="1600" noProof="1"/>
          </a:p>
        </p:txBody>
      </p:sp>
      <p:sp>
        <p:nvSpPr>
          <p:cNvPr id="52" name="a3">
            <a:extLst>
              <a:ext uri="{FF2B5EF4-FFF2-40B4-BE49-F238E27FC236}">
                <a16:creationId xmlns:a16="http://schemas.microsoft.com/office/drawing/2014/main" id="{877777BB-0278-CCCC-B63F-1BE19821AF9E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eyJ2aWV3Qm94IjpbMjAsMTJdLCJwb2ludHMiOiIwLDYgMjAsNiJ9</pptd:line>
              </p:ext>
            </p:extLst>
          </p:nvPr>
        </p:nvSpPr>
        <p:spPr>
          <a:xfrm>
            <a:off x="61468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53" name="s4">
            <a:extLst>
              <a:ext uri="{FF2B5EF4-FFF2-40B4-BE49-F238E27FC236}">
                <a16:creationId xmlns:a16="http://schemas.microsoft.com/office/drawing/2014/main" id="{1F2FD6A0-8CD5-F87C-B45A-A6C3B232FC6F}"/>
              </a:ext>
            </a:extLst>
          </p:cNvPr>
          <p:cNvSpPr/>
          <p:nvPr/>
        </p:nvSpPr>
        <p:spPr>
          <a:xfrm>
            <a:off x="64516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4-t">
            <a:extLst>
              <a:ext uri="{FF2B5EF4-FFF2-40B4-BE49-F238E27FC236}">
                <a16:creationId xmlns:a16="http://schemas.microsoft.com/office/drawing/2014/main" id="{BA9E1B45-D20F-B3D2-9A59-C36EBB43A814}"/>
              </a:ext>
            </a:extLst>
          </p:cNvPr>
          <p:cNvSpPr txBox="1"/>
          <p:nvPr/>
        </p:nvSpPr>
        <p:spPr>
          <a:xfrm>
            <a:off x="64516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102033"/>
                </a:solidFill>
                <a:latin typeface="MiSans"/>
                <a:ea typeface="MiSans"/>
              </a:rPr>
              <a:t>配送中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DELIVERING</a:t>
            </a:r>
            <a:endParaRPr lang="en-US" sz="1600" noProof="1"/>
          </a:p>
        </p:txBody>
      </p:sp>
      <p:sp>
        <p:nvSpPr>
          <p:cNvPr id="55" name="a4">
            <a:extLst>
              <a:ext uri="{FF2B5EF4-FFF2-40B4-BE49-F238E27FC236}">
                <a16:creationId xmlns:a16="http://schemas.microsoft.com/office/drawing/2014/main" id="{05128A43-EBB7-74FB-FCDE-7DB41173E131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eyJ2aWV3Qm94IjpbMjAsMTJdLCJwb2ludHMiOiIwLDYgMjAsNiJ9</pptd:line>
              </p:ext>
            </p:extLst>
          </p:nvPr>
        </p:nvSpPr>
        <p:spPr>
          <a:xfrm>
            <a:off x="8128000" y="1752600"/>
            <a:ext cx="254000" cy="152400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56" name="s5">
            <a:extLst>
              <a:ext uri="{FF2B5EF4-FFF2-40B4-BE49-F238E27FC236}">
                <a16:creationId xmlns:a16="http://schemas.microsoft.com/office/drawing/2014/main" id="{815CC9E2-28FF-EDBD-E47A-BA2E2C0E09BD}"/>
              </a:ext>
            </a:extLst>
          </p:cNvPr>
          <p:cNvSpPr/>
          <p:nvPr/>
        </p:nvSpPr>
        <p:spPr>
          <a:xfrm>
            <a:off x="8432800" y="1498600"/>
            <a:ext cx="1625600" cy="66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B4FB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5-t">
            <a:extLst>
              <a:ext uri="{FF2B5EF4-FFF2-40B4-BE49-F238E27FC236}">
                <a16:creationId xmlns:a16="http://schemas.microsoft.com/office/drawing/2014/main" id="{F1B0D024-22CE-8070-29D0-52F9069D006A}"/>
              </a:ext>
            </a:extLst>
          </p:cNvPr>
          <p:cNvSpPr txBox="1"/>
          <p:nvPr/>
        </p:nvSpPr>
        <p:spPr>
          <a:xfrm>
            <a:off x="8432800" y="14986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102033"/>
                </a:solidFill>
                <a:latin typeface="MiSans"/>
                <a:ea typeface="MiSans"/>
              </a:rPr>
              <a:t>待确认付款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WAIT_CONFIRM</a:t>
            </a:r>
            <a:endParaRPr lang="en-US" sz="1600" noProof="1"/>
          </a:p>
        </p:txBody>
      </p:sp>
      <p:sp>
        <p:nvSpPr>
          <p:cNvPr id="58" name="a5">
            <a:extLst>
              <a:ext uri="{FF2B5EF4-FFF2-40B4-BE49-F238E27FC236}">
                <a16:creationId xmlns:a16="http://schemas.microsoft.com/office/drawing/2014/main" id="{5CE7E70D-940A-A884-224B-43EB3A312E8F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eyJ2aWV3Qm94IjpbMTYsMTJdLCJwb2ludHMiOiIwLDYgMTYsNiJ9</pptd:line>
              </p:ext>
            </p:extLst>
          </p:nvPr>
        </p:nvSpPr>
        <p:spPr>
          <a:xfrm>
            <a:off x="10109200" y="17526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16" h="12">
                <a:moveTo>
                  <a:pt x="0" y="6"/>
                </a:moveTo>
                <a:lnTo>
                  <a:pt x="16" y="6"/>
                </a:lnTo>
              </a:path>
            </a:pathLst>
          </a:custGeom>
          <a:noFill/>
          <a:ln w="19050" cap="rnd">
            <a:solidFill>
              <a:srgbClr val="0B4FB3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59" name="s6">
            <a:extLst>
              <a:ext uri="{FF2B5EF4-FFF2-40B4-BE49-F238E27FC236}">
                <a16:creationId xmlns:a16="http://schemas.microsoft.com/office/drawing/2014/main" id="{364C348E-478C-1E01-5454-F608415EADE9}"/>
              </a:ext>
            </a:extLst>
          </p:cNvPr>
          <p:cNvSpPr/>
          <p:nvPr/>
        </p:nvSpPr>
        <p:spPr>
          <a:xfrm>
            <a:off x="10363200" y="1498600"/>
            <a:ext cx="1320800" cy="660400"/>
          </a:xfrm>
          <a:prstGeom prst="rect">
            <a:avLst/>
          </a:prstGeom>
          <a:solidFill>
            <a:srgbClr val="0B4F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6-t">
            <a:extLst>
              <a:ext uri="{FF2B5EF4-FFF2-40B4-BE49-F238E27FC236}">
                <a16:creationId xmlns:a16="http://schemas.microsoft.com/office/drawing/2014/main" id="{67F9A409-26D0-9DC7-896E-6EA0E9EC0366}"/>
              </a:ext>
            </a:extLst>
          </p:cNvPr>
          <p:cNvSpPr txBox="1"/>
          <p:nvPr/>
        </p:nvSpPr>
        <p:spPr>
          <a:xfrm>
            <a:off x="10363200" y="1498600"/>
            <a:ext cx="132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noProof="1">
                <a:solidFill>
                  <a:srgbClr val="FFFFFF"/>
                </a:solidFill>
                <a:latin typeface="MiSans"/>
                <a:ea typeface="MiSans"/>
              </a:rPr>
              <a:t>已完成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C9DCF5"/>
                </a:solidFill>
                <a:latin typeface="JetBrains Mono"/>
                <a:ea typeface="JetBrains Mono"/>
              </a:rPr>
              <a:t>FINISHED</a:t>
            </a:r>
            <a:endParaRPr lang="en-US" sz="1600" noProof="1"/>
          </a:p>
        </p:txBody>
      </p:sp>
      <p:sp>
        <p:nvSpPr>
          <p:cNvPr id="61" name="trig">
            <a:extLst>
              <a:ext uri="{FF2B5EF4-FFF2-40B4-BE49-F238E27FC236}">
                <a16:creationId xmlns:a16="http://schemas.microsoft.com/office/drawing/2014/main" id="{413E141A-4FB3-3894-E2D4-A7CFDD5EDE28}"/>
              </a:ext>
            </a:extLst>
          </p:cNvPr>
          <p:cNvSpPr txBox="1"/>
          <p:nvPr/>
        </p:nvSpPr>
        <p:spPr>
          <a:xfrm>
            <a:off x="508000" y="2286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触发操作：发布任务 → 跑腿员抢单 / 管理员派单 → 取货 → 配送 → 送达待确认 → 用户确认收货并付款；进入 FINISHED 前支付状态必须为 PAID</a:t>
            </a:r>
            <a:endParaRPr lang="en-US" sz="1050" noProof="1"/>
          </a:p>
        </p:txBody>
      </p:sp>
      <p:sp>
        <p:nvSpPr>
          <p:cNvPr id="62" name="exc-label">
            <a:extLst>
              <a:ext uri="{FF2B5EF4-FFF2-40B4-BE49-F238E27FC236}">
                <a16:creationId xmlns:a16="http://schemas.microsoft.com/office/drawing/2014/main" id="{9E32709F-BCD6-4E71-922C-5C93683E4ED2}"/>
              </a:ext>
            </a:extLst>
          </p:cNvPr>
          <p:cNvSpPr txBox="1"/>
          <p:nvPr/>
        </p:nvSpPr>
        <p:spPr>
          <a:xfrm>
            <a:off x="508000" y="2819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00" noProof="1">
                <a:solidFill>
                  <a:srgbClr val="64748B"/>
                </a:solidFill>
                <a:latin typeface="MiSans"/>
                <a:ea typeface="MiSans"/>
              </a:rPr>
              <a:t>异常与售后路径</a:t>
            </a:r>
            <a:endParaRPr lang="en-US" sz="1100" noProof="1"/>
          </a:p>
        </p:txBody>
      </p:sp>
      <p:sp>
        <p:nvSpPr>
          <p:cNvPr id="63" name="e1">
            <a:extLst>
              <a:ext uri="{FF2B5EF4-FFF2-40B4-BE49-F238E27FC236}">
                <a16:creationId xmlns:a16="http://schemas.microsoft.com/office/drawing/2014/main" id="{31CC0D58-85FE-8E61-C873-E7787CC68B03}"/>
              </a:ext>
            </a:extLst>
          </p:cNvPr>
          <p:cNvSpPr/>
          <p:nvPr/>
        </p:nvSpPr>
        <p:spPr>
          <a:xfrm>
            <a:off x="508000" y="3149600"/>
            <a:ext cx="1905000" cy="558800"/>
          </a:xfrm>
          <a:prstGeom prst="rect">
            <a:avLst/>
          </a:prstGeom>
          <a:solidFill>
            <a:srgbClr val="F5F8FC"/>
          </a:solidFill>
          <a:ln w="15240">
            <a:solidFill>
              <a:srgbClr val="64748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" name="e1-t">
            <a:extLst>
              <a:ext uri="{FF2B5EF4-FFF2-40B4-BE49-F238E27FC236}">
                <a16:creationId xmlns:a16="http://schemas.microsoft.com/office/drawing/2014/main" id="{0677F639-9A97-73F4-E627-77CDDA323549}"/>
              </a:ext>
            </a:extLst>
          </p:cNvPr>
          <p:cNvSpPr txBox="1"/>
          <p:nvPr/>
        </p:nvSpPr>
        <p:spPr>
          <a:xfrm>
            <a:off x="508000" y="31496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64748B"/>
                </a:solidFill>
                <a:latin typeface="MiSans"/>
                <a:ea typeface="MiSans"/>
              </a:rPr>
              <a:t>已取消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CANCELLED</a:t>
            </a:r>
            <a:endParaRPr lang="en-US" sz="1600" noProof="1"/>
          </a:p>
        </p:txBody>
      </p:sp>
      <p:sp>
        <p:nvSpPr>
          <p:cNvPr id="65" name="e1-d">
            <a:extLst>
              <a:ext uri="{FF2B5EF4-FFF2-40B4-BE49-F238E27FC236}">
                <a16:creationId xmlns:a16="http://schemas.microsoft.com/office/drawing/2014/main" id="{6819929A-0E43-013B-4999-E19A25A562DB}"/>
              </a:ext>
            </a:extLst>
          </p:cNvPr>
          <p:cNvSpPr txBox="1"/>
          <p:nvPr/>
        </p:nvSpPr>
        <p:spPr>
          <a:xfrm>
            <a:off x="2565400" y="32004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仅 WAITING 可自助取消；已接单取消须绑定当前接派记录并写状态日志</a:t>
            </a:r>
            <a:endParaRPr lang="en-US" sz="1050" noProof="1"/>
          </a:p>
        </p:txBody>
      </p:sp>
      <p:sp>
        <p:nvSpPr>
          <p:cNvPr id="66" name="e2">
            <a:extLst>
              <a:ext uri="{FF2B5EF4-FFF2-40B4-BE49-F238E27FC236}">
                <a16:creationId xmlns:a16="http://schemas.microsoft.com/office/drawing/2014/main" id="{165635BC-55B6-BF17-CC35-3BCAF9208C0A}"/>
              </a:ext>
            </a:extLst>
          </p:cNvPr>
          <p:cNvSpPr/>
          <p:nvPr/>
        </p:nvSpPr>
        <p:spPr>
          <a:xfrm>
            <a:off x="5715000" y="3149600"/>
            <a:ext cx="1905000" cy="558800"/>
          </a:xfrm>
          <a:prstGeom prst="rect">
            <a:avLst/>
          </a:prstGeom>
          <a:solidFill>
            <a:srgbClr val="F5F8FC"/>
          </a:solidFill>
          <a:ln w="15240">
            <a:solidFill>
              <a:srgbClr val="64748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7" name="e2-t">
            <a:extLst>
              <a:ext uri="{FF2B5EF4-FFF2-40B4-BE49-F238E27FC236}">
                <a16:creationId xmlns:a16="http://schemas.microsoft.com/office/drawing/2014/main" id="{31A16F9B-F284-8D94-6924-8640AD502E52}"/>
              </a:ext>
            </a:extLst>
          </p:cNvPr>
          <p:cNvSpPr txBox="1"/>
          <p:nvPr/>
        </p:nvSpPr>
        <p:spPr>
          <a:xfrm>
            <a:off x="5715000" y="31496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noProof="1">
                <a:solidFill>
                  <a:srgbClr val="64748B"/>
                </a:solidFill>
                <a:latin typeface="MiSans"/>
                <a:ea typeface="MiSans"/>
              </a:rPr>
              <a:t>退款售后中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REFUNDING</a:t>
            </a:r>
            <a:endParaRPr lang="en-US" sz="1600" noProof="1"/>
          </a:p>
        </p:txBody>
      </p:sp>
      <p:sp>
        <p:nvSpPr>
          <p:cNvPr id="68" name="e2-d">
            <a:extLst>
              <a:ext uri="{FF2B5EF4-FFF2-40B4-BE49-F238E27FC236}">
                <a16:creationId xmlns:a16="http://schemas.microsoft.com/office/drawing/2014/main" id="{7C85EDD8-2BE9-75E1-C2D1-0075E9B83781}"/>
              </a:ext>
            </a:extLst>
          </p:cNvPr>
          <p:cNvSpPr txBox="1"/>
          <p:nvPr/>
        </p:nvSpPr>
        <p:spPr>
          <a:xfrm>
            <a:off x="7772400" y="3200400"/>
            <a:ext cx="391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64748B"/>
                </a:solidFill>
                <a:latin typeface="MiSans"/>
                <a:ea typeface="MiSans"/>
              </a:rPr>
              <a:t>已付款任务的售后经退款申请—管理员审核处理；跑腿员无法履约时管理员新增 REASSIGN 记录重派，流程已优化</a:t>
            </a:r>
            <a:endParaRPr lang="en-US" sz="1050" noProof="1"/>
          </a:p>
        </p:txBody>
      </p:sp>
      <p:sp>
        <p:nvSpPr>
          <p:cNvPr id="69" name="impl-line">
            <a:extLst>
              <a:ext uri="{FF2B5EF4-FFF2-40B4-BE49-F238E27FC236}">
                <a16:creationId xmlns:a16="http://schemas.microsoft.com/office/drawing/2014/main" id="{4567C189-CF68-B7B7-594A-7A8684BBD159}"/>
              </a:ext>
            </a:extLst>
          </p:cNvPr>
          <p:cNvSpPr/>
          <p:nvPr/>
        </p:nvSpPr>
        <p:spPr>
          <a:xfrm>
            <a:off x="508000" y="41148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72" name="st-table">
            <a:extLst>
              <a:ext uri="{FF2B5EF4-FFF2-40B4-BE49-F238E27FC236}">
                <a16:creationId xmlns:a16="http://schemas.microsoft.com/office/drawing/2014/main" id="{634D4939-07CF-12D6-2008-D4A22D6142FA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4318000"/>
          <a:ext cx="11173968" cy="203511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4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状态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含义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允许流转至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0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待接单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0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ASSIGNED / CANCELLED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1020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ASSIGNED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已接派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PICKED_UP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PICKED_UP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已取货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DELIVERING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DELIVERING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配送中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WAIT_CONFIRM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WAIT_CONFIRM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待确认付款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FINISHED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000" noProof="1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</a:rPr>
                        <a:t>FINISHED 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终态 / 售后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</a:rPr>
                        <a:t>FINISHED 不可再流转；REFUNDING 由管理员处理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3" name="ft-line">
            <a:extLst>
              <a:ext uri="{FF2B5EF4-FFF2-40B4-BE49-F238E27FC236}">
                <a16:creationId xmlns:a16="http://schemas.microsoft.com/office/drawing/2014/main" id="{BFF6B245-4A29-526A-5359-B121740DE196}"/>
              </a:ext>
            </a:extLst>
          </p:cNvPr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ft-page">
            <a:extLst>
              <a:ext uri="{FF2B5EF4-FFF2-40B4-BE49-F238E27FC236}">
                <a16:creationId xmlns:a16="http://schemas.microsoft.com/office/drawing/2014/main" id="{1AB1C120-AB3F-A0A4-A5F4-500AD0CB2FE4}"/>
              </a:ext>
            </a:extLst>
          </p:cNvPr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9 / 44</a:t>
            </a:r>
            <a:endParaRPr lang="en-US" sz="1000" noProof="1"/>
          </a:p>
        </p:txBody>
      </p:sp>
      <p:sp>
        <p:nvSpPr>
          <p:cNvPr id="76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数据需求与非功能需求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02 · 需求分析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数据需求（四组核心数据）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用户类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用户账号与角色、实名信息、跑腿员认证资料、信用分与信誉变动记录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订单类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代取 / 代买 / 转交订单、状态流转日志、投诉与处理记录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站点类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中转节点及其状态、服务—节点适用规则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资金类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支付流水、退款记录、跑腿员收益结算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非功能需求（团队设计指标）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并发能力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热点行采用 FOR UPDATE 行锁，避免抢单冲突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数据一致性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下单、支付、状态推进在同一事务内提交，失败整体回滚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安全性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密码加盐哈希存储；按角色最小授权；参数化 SQL 防注入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可扩展性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站点、楼宇、订单类型均可横向扩展，新校区接入不改表结构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10 / 44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03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数据库设计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概念模型 · 关系模式 · 规范化 · 索引与约束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03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11 / 44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总体 E-R 图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03 · 数据库设计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er-caption"/>
          <p:cNvSpPr txBox="1"/>
          <p:nvPr/>
        </p:nvSpPr>
        <p:spPr>
          <a:xfrm>
            <a:off x="508000" y="5943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图 2　总体 E-R 图</a:t>
            </a:r>
            <a:endParaRPr lang="en-US" sz="1000" noProof="1"/>
          </a:p>
        </p:txBody>
      </p:sp>
      <p:sp>
        <p:nvSpPr>
          <p:cNvPr id="50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52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12 / 44</a:t>
            </a:r>
            <a:endParaRPr lang="en-US" sz="1000" noProof="1"/>
          </a:p>
        </p:txBody>
      </p:sp>
      <p:sp>
        <p:nvSpPr>
          <p:cNvPr id="53" name="ent-user"/>
          <p:cNvSpPr/>
          <p:nvPr/>
        </p:nvSpPr>
        <p:spPr>
          <a:xfrm>
            <a:off x="640080" y="1417320"/>
            <a:ext cx="17373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用户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USER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user_id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账号 · 手机号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角色 · 账号状态</a:t>
            </a:r>
          </a:p>
        </p:txBody>
      </p:sp>
      <p:sp>
        <p:nvSpPr>
          <p:cNvPr id="54" name="ent-task"/>
          <p:cNvSpPr/>
          <p:nvPr/>
        </p:nvSpPr>
        <p:spPr>
          <a:xfrm>
            <a:off x="4023360" y="1234440"/>
            <a:ext cx="2057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任务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TASKS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task_id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类型 · 价格 · 状态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交接节点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发布 / 完成时间</a:t>
            </a:r>
          </a:p>
        </p:txBody>
      </p:sp>
      <p:sp>
        <p:nvSpPr>
          <p:cNvPr id="55" name="ent-node"/>
          <p:cNvSpPr/>
          <p:nvPr/>
        </p:nvSpPr>
        <p:spPr>
          <a:xfrm>
            <a:off x="7863840" y="1417320"/>
            <a:ext cx="17373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节点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NODE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node_id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类型 · 名称 · 位置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状态</a:t>
            </a:r>
          </a:p>
        </p:txBody>
      </p:sp>
      <p:sp>
        <p:nvSpPr>
          <p:cNvPr id="56" name="ent-review"/>
          <p:cNvSpPr/>
          <p:nvPr/>
        </p:nvSpPr>
        <p:spPr>
          <a:xfrm>
            <a:off x="9829800" y="2743200"/>
            <a:ext cx="18288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评价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REVIEW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review_id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星级 · 内容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信誉变动值</a:t>
            </a:r>
          </a:p>
        </p:txBody>
      </p:sp>
      <p:sp>
        <p:nvSpPr>
          <p:cNvPr id="57" name="ent-runner"/>
          <p:cNvSpPr/>
          <p:nvPr/>
        </p:nvSpPr>
        <p:spPr>
          <a:xfrm>
            <a:off x="640080" y="4069080"/>
            <a:ext cx="17373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跑腿员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RUNNERS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runner_id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认证状态 · 工作状态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信用分</a:t>
            </a:r>
          </a:p>
        </p:txBody>
      </p:sp>
      <p:sp>
        <p:nvSpPr>
          <p:cNvPr id="58" name="ent-assign"/>
          <p:cNvSpPr/>
          <p:nvPr/>
        </p:nvSpPr>
        <p:spPr>
          <a:xfrm>
            <a:off x="4023360" y="4023360"/>
            <a:ext cx="20574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接派记录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ASSIGN_RECORD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record_id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操作类型 · 接派时间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重派原因</a:t>
            </a:r>
          </a:p>
        </p:txBody>
      </p:sp>
      <p:sp>
        <p:nvSpPr>
          <p:cNvPr id="59" name="ent-payment"/>
          <p:cNvSpPr/>
          <p:nvPr/>
        </p:nvSpPr>
        <p:spPr>
          <a:xfrm>
            <a:off x="7360920" y="4069080"/>
            <a:ext cx="17373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支付单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PAYMENT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payment_id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订单金额 · 实付金额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渠道 · 状态</a:t>
            </a:r>
          </a:p>
        </p:txBody>
      </p:sp>
      <p:sp>
        <p:nvSpPr>
          <p:cNvPr id="60" name="ent-settle"/>
          <p:cNvSpPr/>
          <p:nvPr/>
        </p:nvSpPr>
        <p:spPr>
          <a:xfrm>
            <a:off x="10195560" y="4069080"/>
            <a:ext cx="14630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t"/>
          <a:lstStyle/>
          <a:p>
            <a:pPr algn="ctr"/>
            <a:r>
              <a:rPr sz="1150" b="1">
                <a:solidFill>
                  <a:srgbClr val="23272E"/>
                </a:solidFill>
                <a:latin typeface="MiSans"/>
                <a:ea typeface="MiSans"/>
              </a:rPr>
              <a:t>结算单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</a:rPr>
              <a:t> SETTLEMENT</a:t>
            </a:r>
          </a:p>
          <a:p>
            <a:pPr algn="ctr"/>
            <a:r>
              <a:rPr sz="950" b="1">
                <a:solidFill>
                  <a:srgbClr val="23272E"/>
                </a:solidFill>
                <a:latin typeface="MiSans"/>
                <a:ea typeface="MiSans"/>
              </a:rPr>
              <a:t>settlement_id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总额 · 抽成</a:t>
            </a:r>
          </a:p>
          <a:p>
            <a:pPr algn="ctr"/>
            <a:r>
              <a:rPr sz="950" b="0">
                <a:solidFill>
                  <a:srgbClr val="77716A"/>
                </a:solidFill>
                <a:latin typeface="MiSans"/>
                <a:ea typeface="MiSans"/>
              </a:rPr>
              <a:t>净收入 · 状态</a:t>
            </a:r>
          </a:p>
        </p:txBody>
      </p:sp>
      <p:sp>
        <p:nvSpPr>
          <p:cNvPr id="61" name="rel-pub"/>
          <p:cNvSpPr/>
          <p:nvPr/>
        </p:nvSpPr>
        <p:spPr>
          <a:xfrm>
            <a:off x="2697480" y="1828800"/>
            <a:ext cx="868680" cy="54864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发布</a:t>
            </a:r>
          </a:p>
        </p:txBody>
      </p:sp>
      <p:sp>
        <p:nvSpPr>
          <p:cNvPr id="62" name="rel-node"/>
          <p:cNvSpPr/>
          <p:nvPr/>
        </p:nvSpPr>
        <p:spPr>
          <a:xfrm>
            <a:off x="6537960" y="1828800"/>
            <a:ext cx="868680" cy="54864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交接</a:t>
            </a:r>
          </a:p>
        </p:txBody>
      </p:sp>
      <p:sp>
        <p:nvSpPr>
          <p:cNvPr id="63" name="rel-review"/>
          <p:cNvSpPr/>
          <p:nvPr/>
        </p:nvSpPr>
        <p:spPr>
          <a:xfrm>
            <a:off x="6400800" y="2551176"/>
            <a:ext cx="822960" cy="384048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获得</a:t>
            </a:r>
          </a:p>
        </p:txBody>
      </p:sp>
      <p:sp>
        <p:nvSpPr>
          <p:cNvPr id="64" name="rel-gen"/>
          <p:cNvSpPr/>
          <p:nvPr/>
        </p:nvSpPr>
        <p:spPr>
          <a:xfrm>
            <a:off x="4640580" y="3291840"/>
            <a:ext cx="822960" cy="50292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生成</a:t>
            </a:r>
          </a:p>
        </p:txBody>
      </p:sp>
      <p:sp>
        <p:nvSpPr>
          <p:cNvPr id="65" name="rel-take"/>
          <p:cNvSpPr/>
          <p:nvPr/>
        </p:nvSpPr>
        <p:spPr>
          <a:xfrm>
            <a:off x="2697480" y="4480560"/>
            <a:ext cx="868680" cy="54864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承接</a:t>
            </a:r>
          </a:p>
        </p:txBody>
      </p:sp>
      <p:sp>
        <p:nvSpPr>
          <p:cNvPr id="66" name="rel-pay"/>
          <p:cNvSpPr/>
          <p:nvPr/>
        </p:nvSpPr>
        <p:spPr>
          <a:xfrm>
            <a:off x="6400800" y="4480560"/>
            <a:ext cx="868680" cy="54864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对应</a:t>
            </a:r>
          </a:p>
        </p:txBody>
      </p:sp>
      <p:sp>
        <p:nvSpPr>
          <p:cNvPr id="67" name="rel-into"/>
          <p:cNvSpPr/>
          <p:nvPr/>
        </p:nvSpPr>
        <p:spPr>
          <a:xfrm>
            <a:off x="9235440" y="4480560"/>
            <a:ext cx="731520" cy="54864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汇入</a:t>
            </a:r>
          </a:p>
        </p:txBody>
      </p:sp>
      <p:sp>
        <p:nvSpPr>
          <p:cNvPr id="68" name="rel-own"/>
          <p:cNvSpPr/>
          <p:nvPr/>
        </p:nvSpPr>
        <p:spPr>
          <a:xfrm>
            <a:off x="5532120" y="5541264"/>
            <a:ext cx="822960" cy="365760"/>
          </a:xfrm>
          <a:prstGeom prst="diamond">
            <a:avLst/>
          </a:prstGeom>
          <a:solidFill>
            <a:srgbClr val="F4DCCB"/>
          </a:solidFill>
          <a:ln w="15240">
            <a:solidFill>
              <a:srgbClr val="E85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归属</a:t>
            </a:r>
          </a:p>
        </p:txBody>
      </p:sp>
      <p:sp>
        <p:nvSpPr>
          <p:cNvPr id="69" name="l-pub-1"/>
          <p:cNvSpPr/>
          <p:nvPr/>
        </p:nvSpPr>
        <p:spPr>
          <a:xfrm>
            <a:off x="2377440" y="2093976"/>
            <a:ext cx="3200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l-pub-2"/>
          <p:cNvSpPr/>
          <p:nvPr/>
        </p:nvSpPr>
        <p:spPr>
          <a:xfrm>
            <a:off x="3566160" y="2093976"/>
            <a:ext cx="45720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l-node-1"/>
          <p:cNvSpPr/>
          <p:nvPr/>
        </p:nvSpPr>
        <p:spPr>
          <a:xfrm>
            <a:off x="6080760" y="2093976"/>
            <a:ext cx="45720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-node-2"/>
          <p:cNvSpPr/>
          <p:nvPr/>
        </p:nvSpPr>
        <p:spPr>
          <a:xfrm>
            <a:off x="7406640" y="2093976"/>
            <a:ext cx="45720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l-rev-1"/>
          <p:cNvSpPr/>
          <p:nvPr/>
        </p:nvSpPr>
        <p:spPr>
          <a:xfrm>
            <a:off x="6080760" y="2734056"/>
            <a:ext cx="3200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l-rev-2"/>
          <p:cNvSpPr/>
          <p:nvPr/>
        </p:nvSpPr>
        <p:spPr>
          <a:xfrm>
            <a:off x="7223760" y="2734056"/>
            <a:ext cx="26060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-gen-1"/>
          <p:cNvSpPr/>
          <p:nvPr/>
        </p:nvSpPr>
        <p:spPr>
          <a:xfrm>
            <a:off x="5042916" y="2971800"/>
            <a:ext cx="18288" cy="32004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-gen-2"/>
          <p:cNvSpPr/>
          <p:nvPr/>
        </p:nvSpPr>
        <p:spPr>
          <a:xfrm>
            <a:off x="5042916" y="3794760"/>
            <a:ext cx="18288" cy="2286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l-take-1"/>
          <p:cNvSpPr/>
          <p:nvPr/>
        </p:nvSpPr>
        <p:spPr>
          <a:xfrm>
            <a:off x="2377440" y="4745736"/>
            <a:ext cx="3200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l-take-2"/>
          <p:cNvSpPr/>
          <p:nvPr/>
        </p:nvSpPr>
        <p:spPr>
          <a:xfrm>
            <a:off x="3566160" y="4745736"/>
            <a:ext cx="45720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-pay-1"/>
          <p:cNvSpPr/>
          <p:nvPr/>
        </p:nvSpPr>
        <p:spPr>
          <a:xfrm>
            <a:off x="6080760" y="4745736"/>
            <a:ext cx="3200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l-pay-2"/>
          <p:cNvSpPr/>
          <p:nvPr/>
        </p:nvSpPr>
        <p:spPr>
          <a:xfrm>
            <a:off x="7269480" y="4745736"/>
            <a:ext cx="9144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l-into-1"/>
          <p:cNvSpPr/>
          <p:nvPr/>
        </p:nvSpPr>
        <p:spPr>
          <a:xfrm>
            <a:off x="9098280" y="4745736"/>
            <a:ext cx="13716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l-into-2"/>
          <p:cNvSpPr/>
          <p:nvPr/>
        </p:nvSpPr>
        <p:spPr>
          <a:xfrm>
            <a:off x="9966960" y="4745736"/>
            <a:ext cx="228600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l-own-1"/>
          <p:cNvSpPr/>
          <p:nvPr/>
        </p:nvSpPr>
        <p:spPr>
          <a:xfrm>
            <a:off x="1499616" y="5440680"/>
            <a:ext cx="18288" cy="29260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l-own-2"/>
          <p:cNvSpPr/>
          <p:nvPr/>
        </p:nvSpPr>
        <p:spPr>
          <a:xfrm>
            <a:off x="1499616" y="5715000"/>
            <a:ext cx="9427464" cy="1828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l-own-3"/>
          <p:cNvSpPr/>
          <p:nvPr/>
        </p:nvSpPr>
        <p:spPr>
          <a:xfrm>
            <a:off x="10917936" y="5440680"/>
            <a:ext cx="18288" cy="292608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ard-1-2.66"/>
          <p:cNvSpPr txBox="1"/>
          <p:nvPr/>
        </p:nvSpPr>
        <p:spPr>
          <a:xfrm>
            <a:off x="2432304" y="1828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87" name="card-N-4.02"/>
          <p:cNvSpPr txBox="1"/>
          <p:nvPr/>
        </p:nvSpPr>
        <p:spPr>
          <a:xfrm>
            <a:off x="3675887" y="1828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88" name="card-N-6.72"/>
          <p:cNvSpPr txBox="1"/>
          <p:nvPr/>
        </p:nvSpPr>
        <p:spPr>
          <a:xfrm>
            <a:off x="6144768" y="1828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89" name="card-1-8.2"/>
          <p:cNvSpPr txBox="1"/>
          <p:nvPr/>
        </p:nvSpPr>
        <p:spPr>
          <a:xfrm>
            <a:off x="7498079" y="1828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90" name="card-1 : 1-7.0"/>
          <p:cNvSpPr txBox="1"/>
          <p:nvPr/>
        </p:nvSpPr>
        <p:spPr>
          <a:xfrm>
            <a:off x="6400800" y="2962656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 : 1</a:t>
            </a:r>
          </a:p>
        </p:txBody>
      </p:sp>
      <p:sp>
        <p:nvSpPr>
          <p:cNvPr id="91" name="card-1-5.62"/>
          <p:cNvSpPr txBox="1"/>
          <p:nvPr/>
        </p:nvSpPr>
        <p:spPr>
          <a:xfrm>
            <a:off x="5138928" y="301752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92" name="card-N-5.62"/>
          <p:cNvSpPr txBox="1"/>
          <p:nvPr/>
        </p:nvSpPr>
        <p:spPr>
          <a:xfrm>
            <a:off x="5138928" y="3822191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93" name="card-1-2.66"/>
          <p:cNvSpPr txBox="1"/>
          <p:nvPr/>
        </p:nvSpPr>
        <p:spPr>
          <a:xfrm>
            <a:off x="2432304" y="44805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94" name="card-N-4.02"/>
          <p:cNvSpPr txBox="1"/>
          <p:nvPr/>
        </p:nvSpPr>
        <p:spPr>
          <a:xfrm>
            <a:off x="3675887" y="44805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</a:t>
            </a:r>
          </a:p>
        </p:txBody>
      </p:sp>
      <p:sp>
        <p:nvSpPr>
          <p:cNvPr id="95" name="card-1 : 1-6.98"/>
          <p:cNvSpPr txBox="1"/>
          <p:nvPr/>
        </p:nvSpPr>
        <p:spPr>
          <a:xfrm>
            <a:off x="6382512" y="4206240"/>
            <a:ext cx="905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 : 1</a:t>
            </a:r>
          </a:p>
        </p:txBody>
      </p:sp>
      <p:sp>
        <p:nvSpPr>
          <p:cNvPr id="96" name="card-N : 1-10.0"/>
          <p:cNvSpPr txBox="1"/>
          <p:nvPr/>
        </p:nvSpPr>
        <p:spPr>
          <a:xfrm>
            <a:off x="9144000" y="4187952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 : 1</a:t>
            </a:r>
          </a:p>
        </p:txBody>
      </p:sp>
      <p:sp>
        <p:nvSpPr>
          <p:cNvPr id="97" name="card-1-1.74"/>
          <p:cNvSpPr txBox="1"/>
          <p:nvPr/>
        </p:nvSpPr>
        <p:spPr>
          <a:xfrm>
            <a:off x="1591056" y="5458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1</a:t>
            </a:r>
          </a:p>
        </p:txBody>
      </p:sp>
      <p:sp>
        <p:nvSpPr>
          <p:cNvPr id="98" name="card-N-11.56"/>
          <p:cNvSpPr txBox="1"/>
          <p:nvPr/>
        </p:nvSpPr>
        <p:spPr>
          <a:xfrm>
            <a:off x="10570464" y="5458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3272E"/>
                </a:solidFill>
                <a:latin typeface="MiSans"/>
                <a:ea typeface="MiSans"/>
              </a:rPr>
              <a:t>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逻辑结构设计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03 · 数据库设计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6" name="schema-table"/>
          <p:cNvGraphicFramePr>
            <a:graphicFrameLocks noGrp="1"/>
          </p:cNvGraphicFramePr>
          <p:nvPr/>
        </p:nvGraphicFramePr>
        <p:xfrm>
          <a:off x="508000" y="1219200"/>
          <a:ext cx="11176000" cy="4521202"/>
        </p:xfrm>
        <a:graphic>
          <a:graphicData uri="http://schemas.openxmlformats.org/drawingml/2006/table">
            <a:tbl>
              <a:tblPr/>
              <a:tblGrid>
                <a:gridCol w="178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86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表名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主要属性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主码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外码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users 用户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username, phone, password_hash, user_role, account_status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runners 跑腿员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user_id, real_name, identity_info, audit_status, work_status, credit_score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runner_id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user_id →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tasks 任务主单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publisher_user_id, service_type_id, address_no, node_id, task_title, task_price, urgent_flag, task_status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组合外键引用 users、user_addresses、service_node_rules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任务明细（外卖 / 代取 / 转交）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food_delivery_details, express_pickup_details, private_task_details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(task_id, detail_no)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task_id →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assign_records 接派记录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task_id, runner_id, operation_type, assigned_at, reassign_reason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record_id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task_id → tasks, runner_id → runners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task_status_logs 状态日志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record_id, status_before, status_after, operator_user_id, operated_at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log_id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record_id → assign_records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payments 支付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record_id, order_amount, pay_amount, pay_method, pay_status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payment_id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record_id → assign_records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reviews 评价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task_id, record_id, rating, comment_text, credit_delta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review_id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(record_id, task_id) → assign_records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chema-note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eyJpY29uTmFtZSI6ImZhczp0YWJsZSJ9</pptd:icon>
              </p:ext>
            </p:extLst>
          </p:nvPr>
        </p:nvSpPr>
        <p:spPr>
          <a:xfrm>
            <a:off x="508000" y="591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lnTo>
                  <a:pt x="58" y="480"/>
                </a:lnTo>
                <a:cubicBezTo>
                  <a:pt x="25" y="476"/>
                  <a:pt x="0" y="449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64" y="320"/>
                </a:moveTo>
                <a:lnTo>
                  <a:pt x="64" y="416"/>
                </a:lnTo>
                <a:lnTo>
                  <a:pt x="192" y="416"/>
                </a:lnTo>
                <a:lnTo>
                  <a:pt x="192" y="320"/>
                </a:lnTo>
                <a:lnTo>
                  <a:pt x="64" y="320"/>
                </a:lnTo>
                <a:close/>
                <a:moveTo>
                  <a:pt x="256" y="320"/>
                </a:moveTo>
                <a:lnTo>
                  <a:pt x="256" y="416"/>
                </a:lnTo>
                <a:lnTo>
                  <a:pt x="384" y="416"/>
                </a:lnTo>
                <a:lnTo>
                  <a:pt x="384" y="320"/>
                </a:lnTo>
                <a:lnTo>
                  <a:pt x="256" y="320"/>
                </a:lnTo>
                <a:close/>
                <a:moveTo>
                  <a:pt x="64" y="256"/>
                </a:moveTo>
                <a:lnTo>
                  <a:pt x="192" y="256"/>
                </a:lnTo>
                <a:lnTo>
                  <a:pt x="192" y="160"/>
                </a:lnTo>
                <a:lnTo>
                  <a:pt x="64" y="160"/>
                </a:lnTo>
                <a:lnTo>
                  <a:pt x="64" y="256"/>
                </a:lnTo>
                <a:close/>
                <a:moveTo>
                  <a:pt x="256" y="256"/>
                </a:moveTo>
                <a:lnTo>
                  <a:pt x="384" y="256"/>
                </a:lnTo>
                <a:lnTo>
                  <a:pt x="384" y="160"/>
                </a:lnTo>
                <a:lnTo>
                  <a:pt x="256" y="160"/>
                </a:lnTo>
                <a:lnTo>
                  <a:pt x="256" y="256"/>
                </a:ln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chema-note"/>
          <p:cNvSpPr txBox="1"/>
          <p:nvPr/>
        </p:nvSpPr>
        <p:spPr>
          <a:xfrm>
            <a:off x="787400" y="5867400"/>
            <a:ext cx="10896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转换规则：实体 → 表 · 弱实体复合主键关联主单 · 1:N 并入 N 端外码 · N:M 独立成表（service_node_rules）· 完整 DDL 见报告附录</a:t>
            </a:r>
            <a:endParaRPr lang="en-US" sz="1100" noProof="1"/>
          </a:p>
        </p:txBody>
      </p:sp>
      <p:sp>
        <p:nvSpPr>
          <p:cNvPr id="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13 / 44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tasks 任务主表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03 · 数据库设计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6" name="orders-table"/>
          <p:cNvGraphicFramePr>
            <a:graphicFrameLocks noGrp="1"/>
          </p:cNvGraphicFramePr>
          <p:nvPr/>
        </p:nvGraphicFramePr>
        <p:xfrm>
          <a:off x="508000" y="1219200"/>
          <a:ext cx="7112000" cy="5373434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字段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约束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PK，身份列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任务内部标识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publisher_user_id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FK 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发布用户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address_no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联合外键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与发布用户组合引用 user_addresses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service_type_id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联合外键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与 node_id 组合引用服务—节点规则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node_id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FK 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交接节点（校门/驿站/分发点）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task_title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VARCHAR2(100 CHAR)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NOT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任务标题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task_price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NUMBER(10,2)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CHECK ≥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任务价格，避免浮点误差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urgent_flag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CHAR(1)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CHECK Y/N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加急标志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task_status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VARCHAR2(30 CHAR)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DEFAULT 'CREATED'，CHECK 限定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状态机 10 个合法状态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DEFAULT SYSDATE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发布时间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completed_at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CHECK ≥ created_at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完成时间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note-label"/>
          <p:cNvSpPr txBox="1"/>
          <p:nvPr/>
        </p:nvSpPr>
        <p:spPr>
          <a:xfrm>
            <a:off x="8128000" y="12192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设计要点</a:t>
            </a:r>
            <a:endParaRPr lang="en-US" sz="1200" noProof="1"/>
          </a:p>
        </p:txBody>
      </p:sp>
      <p:sp>
        <p:nvSpPr>
          <p:cNvPr id="8" name="note1"/>
          <p:cNvSpPr txBox="1"/>
          <p:nvPr/>
        </p:nvSpPr>
        <p:spPr>
          <a:xfrm>
            <a:off x="8128000" y="1600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主单与明细分离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任务公共字段入 tasks，外卖 / 代取 / 转交专有字段分设明细弱实体表</a:t>
            </a:r>
            <a:endParaRPr lang="en-US" sz="1150" noProof="1"/>
          </a:p>
        </p:txBody>
      </p:sp>
      <p:sp>
        <p:nvSpPr>
          <p:cNvPr id="9" name="note1-line"/>
          <p:cNvSpPr/>
          <p:nvPr/>
        </p:nvSpPr>
        <p:spPr>
          <a:xfrm>
            <a:off x="8128000" y="2819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note2"/>
          <p:cNvSpPr txBox="1"/>
          <p:nvPr/>
        </p:nvSpPr>
        <p:spPr>
          <a:xfrm>
            <a:off x="8128000" y="2997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状态由约束限定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task_status 取值由 CHECK 约束限定，非法状态无法入库</a:t>
            </a:r>
            <a:endParaRPr lang="en-US" sz="1150" noProof="1"/>
          </a:p>
        </p:txBody>
      </p:sp>
      <p:sp>
        <p:nvSpPr>
          <p:cNvPr id="11" name="note2-line"/>
          <p:cNvSpPr/>
          <p:nvPr/>
        </p:nvSpPr>
        <p:spPr>
          <a:xfrm>
            <a:off x="8128000" y="4216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ote3"/>
          <p:cNvSpPr txBox="1"/>
          <p:nvPr/>
        </p:nvSpPr>
        <p:spPr>
          <a:xfrm>
            <a:off x="8128000" y="4394200"/>
            <a:ext cx="3556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行锁防并发抢单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SELECT … FOR UPDATE 锁定任务行后校验状态，防止重复接单</a:t>
            </a:r>
            <a:endParaRPr lang="en-US" sz="1150" noProof="1"/>
          </a:p>
        </p:txBody>
      </p:sp>
      <p:sp>
        <p:nvSpPr>
          <p:cNvPr id="13" name="note3-line"/>
          <p:cNvSpPr/>
          <p:nvPr/>
        </p:nvSpPr>
        <p:spPr>
          <a:xfrm>
            <a:off x="8128000" y="5613400"/>
            <a:ext cx="355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ote4"/>
          <p:cNvSpPr txBox="1"/>
          <p:nvPr/>
        </p:nvSpPr>
        <p:spPr>
          <a:xfrm>
            <a:off x="8128000" y="57912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组合外键：服务类型与交接节点绑定规则强制匹配</a:t>
            </a:r>
            <a:endParaRPr lang="en-US" sz="1000" noProof="1"/>
          </a:p>
        </p:txBody>
      </p:sp>
      <p:sp>
        <p:nvSpPr>
          <p:cNvPr id="15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7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14 / 44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规范化设计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03 · 数据库设计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nf1-box"/>
          <p:cNvSpPr/>
          <p:nvPr/>
        </p:nvSpPr>
        <p:spPr>
          <a:xfrm>
            <a:off x="508000" y="1270000"/>
            <a:ext cx="3429000" cy="939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nf1-t"/>
          <p:cNvSpPr txBox="1"/>
          <p:nvPr/>
        </p:nvSpPr>
        <p:spPr>
          <a:xfrm>
            <a:off x="711200" y="13970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1NF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 属性原子化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地址拆为校区、楼栋房间等独立列，联系人姓名与电话分列存储</a:t>
            </a:r>
            <a:endParaRPr lang="en-US" sz="1600" noProof="1"/>
          </a:p>
        </p:txBody>
      </p:sp>
      <p:sp>
        <p:nvSpPr>
          <p:cNvPr id="8" name="nf-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eyJ2aWV3Qm94IjpbNDQsMTJdLCJwb2ludHMiOiIwLDYgNDQsNiJ9</pptd:line>
              </p:ext>
            </p:extLst>
          </p:nvPr>
        </p:nvSpPr>
        <p:spPr>
          <a:xfrm>
            <a:off x="4038600" y="1651000"/>
            <a:ext cx="558800" cy="152400"/>
          </a:xfrm>
          <a:custGeom>
            <a:avLst/>
            <a:gdLst/>
            <a:ahLst/>
            <a:cxnLst/>
            <a:rect l="l" t="t" r="r" b="b"/>
            <a:pathLst>
              <a:path w="44" h="12">
                <a:moveTo>
                  <a:pt x="0" y="6"/>
                </a:moveTo>
                <a:lnTo>
                  <a:pt x="44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9" name="nf2-box"/>
          <p:cNvSpPr/>
          <p:nvPr/>
        </p:nvSpPr>
        <p:spPr>
          <a:xfrm>
            <a:off x="4699000" y="1270000"/>
            <a:ext cx="3429000" cy="939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3272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nf2-t"/>
          <p:cNvSpPr txBox="1"/>
          <p:nvPr/>
        </p:nvSpPr>
        <p:spPr>
          <a:xfrm>
            <a:off x="4902200" y="13970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2NF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 消除部分依赖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user_addresses 与任务明细的非主属性完整依赖联合主键</a:t>
            </a:r>
            <a:endParaRPr lang="en-US" sz="1600" noProof="1"/>
          </a:p>
        </p:txBody>
      </p:sp>
      <p:sp>
        <p:nvSpPr>
          <p:cNvPr id="11" name="nf-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eyJ2aWV3Qm94IjpbNDQsMTJdLCJwb2ludHMiOiIwLDYgNDQsNiJ9</pptd:line>
              </p:ext>
            </p:extLst>
          </p:nvPr>
        </p:nvSpPr>
        <p:spPr>
          <a:xfrm>
            <a:off x="8229600" y="1651000"/>
            <a:ext cx="558800" cy="152400"/>
          </a:xfrm>
          <a:custGeom>
            <a:avLst/>
            <a:gdLst/>
            <a:ahLst/>
            <a:cxnLst/>
            <a:rect l="l" t="t" r="r" b="b"/>
            <a:pathLst>
              <a:path w="44" h="12">
                <a:moveTo>
                  <a:pt x="0" y="6"/>
                </a:moveTo>
                <a:lnTo>
                  <a:pt x="44" y="6"/>
                </a:lnTo>
              </a:path>
            </a:pathLst>
          </a:custGeom>
          <a:noFill/>
          <a:ln w="19050" cap="rnd">
            <a:solidFill>
              <a:srgbClr val="E8551D"/>
            </a:solidFill>
            <a:round/>
            <a:tailEnd type="stealth"/>
          </a:ln>
        </p:spPr>
        <p:txBody>
          <a:bodyPr/>
          <a:lstStyle/>
          <a:p>
            <a:endParaRPr/>
          </a:p>
        </p:txBody>
      </p:sp>
      <p:sp>
        <p:nvSpPr>
          <p:cNvPr id="12" name="nf3-box"/>
          <p:cNvSpPr/>
          <p:nvPr/>
        </p:nvSpPr>
        <p:spPr>
          <a:xfrm>
            <a:off x="8890000" y="1270000"/>
            <a:ext cx="2794000" cy="9398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nf3-t"/>
          <p:cNvSpPr txBox="1"/>
          <p:nvPr/>
        </p:nvSpPr>
        <p:spPr>
          <a:xfrm>
            <a:off x="9093200" y="13970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b="1" noProof="1">
                <a:solidFill>
                  <a:srgbClr val="FFFFFF"/>
                </a:solidFill>
                <a:latin typeface="MiSans"/>
                <a:ea typeface="MiSans"/>
              </a:rPr>
              <a:t>3NF</a:t>
            </a: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 消除传递依赖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B9B2A6"/>
                </a:solidFill>
                <a:latin typeface="MiSans"/>
                <a:ea typeface="MiSans"/>
              </a:rPr>
              <a:t>全部 24 张表均达到 3NF</a:t>
            </a:r>
            <a:endParaRPr lang="en-US" sz="1600" noProof="1"/>
          </a:p>
        </p:txBody>
      </p:sp>
      <p:sp>
        <p:nvSpPr>
          <p:cNvPr id="14" name="ex-label"/>
          <p:cNvSpPr txBox="1"/>
          <p:nvPr/>
        </p:nvSpPr>
        <p:spPr>
          <a:xfrm>
            <a:off x="508000" y="2616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典型问题的分解实例</a:t>
            </a:r>
            <a:endParaRPr lang="en-US" sz="1200" noProof="1"/>
          </a:p>
        </p:txBody>
      </p:sp>
      <p:sp>
        <p:nvSpPr>
          <p:cNvPr id="15" name="ex1-title"/>
          <p:cNvSpPr txBox="1"/>
          <p:nvPr/>
        </p:nvSpPr>
        <p:spPr>
          <a:xfrm>
            <a:off x="508000" y="2997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实例 1：任务宽表 → tasks + 类型明细表</a:t>
            </a:r>
            <a:endParaRPr lang="en-US" sz="1300" noProof="1"/>
          </a:p>
        </p:txBody>
      </p:sp>
      <p:sp>
        <p:nvSpPr>
          <p:cNvPr id="16" name="ex1-body"/>
          <p:cNvSpPr txBox="1"/>
          <p:nvPr/>
        </p:nvSpPr>
        <p:spPr>
          <a:xfrm>
            <a:off x="508000" y="3327400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任务专有字段混入主表 → 空值多、扩展需改主表 → 拆分后 tasks 存公共字段，明细按类型独立</a:t>
            </a:r>
            <a:endParaRPr lang="en-US" sz="1150" noProof="1"/>
          </a:p>
        </p:txBody>
      </p:sp>
      <p:sp>
        <p:nvSpPr>
          <p:cNvPr id="17" name="ex2-title"/>
          <p:cNvSpPr txBox="1"/>
          <p:nvPr/>
        </p:nvSpPr>
        <p:spPr>
          <a:xfrm>
            <a:off x="508000" y="4597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实例 2：多对多 → service_node_rules 独立成表</a:t>
            </a:r>
            <a:endParaRPr lang="en-US" sz="1300" noProof="1"/>
          </a:p>
        </p:txBody>
      </p:sp>
      <p:sp>
        <p:nvSpPr>
          <p:cNvPr id="18" name="ex2-body"/>
          <p:cNvSpPr txBox="1"/>
          <p:nvPr/>
        </p:nvSpPr>
        <p:spPr>
          <a:xfrm>
            <a:off x="508000" y="4927600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服务与节点绑定混登记 → 冗余且难维护 → 独立为 service_node_rules，联合主键约束</a:t>
            </a:r>
            <a:endParaRPr lang="en-US" sz="1150" noProof="1"/>
          </a:p>
        </p:txBody>
      </p:sp>
      <p:sp>
        <p:nvSpPr>
          <p:cNvPr id="19" name="vdiv"/>
          <p:cNvSpPr/>
          <p:nvPr/>
        </p:nvSpPr>
        <p:spPr>
          <a:xfrm>
            <a:off x="6299200" y="2743200"/>
            <a:ext cx="12700" cy="340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rade-label"/>
          <p:cNvSpPr txBox="1"/>
          <p:nvPr/>
        </p:nvSpPr>
        <p:spPr>
          <a:xfrm>
            <a:off x="6654800" y="2616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有意的反规范化（权衡说明）</a:t>
            </a:r>
            <a:endParaRPr lang="en-US" sz="1200" noProof="1"/>
          </a:p>
        </p:txBody>
      </p:sp>
      <p:sp>
        <p:nvSpPr>
          <p:cNvPr id="21" name="trade-body"/>
          <p:cNvSpPr txBox="1"/>
          <p:nvPr/>
        </p:nvSpPr>
        <p:spPr>
          <a:xfrm>
            <a:off x="6654800" y="2997200"/>
            <a:ext cx="50292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地址引用　任务保存发布时的 (user_id, address_no) 组合外键，地址明细由 user_addresses 统一维护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结算统计　结算汇总不设冗余统计列，统计结果写入 settlements 结算单与结算明细，可审计、可重算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判断标准　是否引入冗余以写路径一致性保障与读路径频度为依据，未满足条件一律保持规范化</a:t>
            </a:r>
            <a:endParaRPr lang="en-US" sz="1150" noProof="1"/>
          </a:p>
        </p:txBody>
      </p:sp>
      <p:sp>
        <p:nvSpPr>
          <p:cNvPr id="22" name="trade-line"/>
          <p:cNvSpPr/>
          <p:nvPr/>
        </p:nvSpPr>
        <p:spPr>
          <a:xfrm>
            <a:off x="6654800" y="5740400"/>
            <a:ext cx="50292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rade-concl"/>
          <p:cNvSpPr txBox="1"/>
          <p:nvPr/>
        </p:nvSpPr>
        <p:spPr>
          <a:xfrm>
            <a:off x="6654800" y="5867400"/>
            <a:ext cx="5029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规范化保一致性 · 统计落结算单与报表记录</a:t>
            </a:r>
            <a:endParaRPr lang="en-US" sz="1200" noProof="1"/>
          </a:p>
        </p:txBody>
      </p:sp>
      <p:sp>
        <p:nvSpPr>
          <p:cNvPr id="24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6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15 / 44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数据库对象设计：索引、完整性约束与事务控制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03 · 数据库设计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索引 INDEX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uk_user_addresses_one_default　单默认地址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uk_service_types_name_ci　名称归一化唯一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idx_tasks_publisher / service / node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idx_tasks_status / created · idx_assign_task / runner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覆盖任务大厅检索、我的任务、接派查询等高频访问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完整性约束 CONSTRAINT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主外键与组合外键　任务—服务—节点匹配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CHECK 约束　状态机取值、金额非负、枚举取值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唯一约束　一任务一评价、支付流水号唯一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业务唯一性同时落实到 Service 层与数据库层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事务与行锁 TRANSACTION / LOCK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状态更新与日志写入在同一事务内提交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支付、退款、结算跨表写入，失败整体回滚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SELECT … FOR UPDATE 行锁保护抢单等热点行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自动化测试与 Oracle 端到端用例验证事务边界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触发器与存储过程说明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当前实现未使用触发器与存储过程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状态留痕、结算汇总等逻辑集中于持久层参数化 SQL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事务边界显式可控，便于自动化测试与问题定位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列表类查询由服务层封装，敏感字段在展示层脱敏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索引提速、约束保准、行锁防冲突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16 / 44</a:t>
            </a:r>
            <a:endParaRPr lang="en-US" sz="10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04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系统实现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功能界面 · 核心业务 SQL · 事务控制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04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17 / 44</a:t>
            </a:r>
            <a:endParaRPr lang="en-US" sz="10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系统功能界面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04 · 系统实现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h1"/>
          <p:cNvSpPr/>
          <p:nvPr/>
        </p:nvSpPr>
        <p:spPr>
          <a:xfrm>
            <a:off x="508000" y="1270000"/>
            <a:ext cx="5461000" cy="406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ph1-cap"/>
          <p:cNvSpPr txBox="1"/>
          <p:nvPr/>
        </p:nvSpPr>
        <p:spPr>
          <a:xfrm>
            <a:off x="508000" y="54610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77716A"/>
                </a:solidFill>
                <a:latin typeface="MiSans"/>
                <a:ea typeface="MiSans"/>
              </a:rPr>
              <a:t>用户端</a:t>
            </a: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　发布代取需求、查看订单状态流转、确认送达并评价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对应数据表：tasks · payments · reviews</a:t>
            </a:r>
            <a:endParaRPr lang="en-US" sz="1100" noProof="1"/>
          </a:p>
        </p:txBody>
      </p:sp>
      <p:sp>
        <p:nvSpPr>
          <p:cNvPr id="10" name="ph2"/>
          <p:cNvSpPr/>
          <p:nvPr/>
        </p:nvSpPr>
        <p:spPr>
          <a:xfrm>
            <a:off x="6223000" y="1270000"/>
            <a:ext cx="5461000" cy="406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16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ph2-cap"/>
          <p:cNvSpPr txBox="1"/>
          <p:nvPr/>
        </p:nvSpPr>
        <p:spPr>
          <a:xfrm>
            <a:off x="6223000" y="54610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b="1" noProof="1">
                <a:solidFill>
                  <a:srgbClr val="77716A"/>
                </a:solidFill>
                <a:latin typeface="MiSans"/>
                <a:ea typeface="MiSans"/>
              </a:rPr>
              <a:t>跑腿端 / 中转站端</a:t>
            </a: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　抢单、扫码出入站、收益结算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对应数据表：tasks · assign_records · settlements</a:t>
            </a:r>
            <a:endParaRPr lang="en-US" sz="1100" noProof="1"/>
          </a:p>
        </p:txBody>
      </p:sp>
      <p:sp>
        <p:nvSpPr>
          <p:cNvPr id="14" name="ui-note"/>
          <p:cNvSpPr txBox="1"/>
          <p:nvPr/>
        </p:nvSpPr>
        <p:spPr>
          <a:xfrm>
            <a:off x="508000" y="61214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5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7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18 / 44</a:t>
            </a:r>
            <a:endParaRPr lang="en-US" sz="1000" noProof="1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D1B312D-1E8B-AFB9-1F92-E1DA225CC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24000"/>
            <a:ext cx="11176000" cy="362320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848FDD1-8352-8486-018C-B1CC9116B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1689688"/>
            <a:ext cx="8426450" cy="473354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182AF9A-1FC2-057E-A28C-345510CCE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17" y="1862618"/>
            <a:ext cx="5170201" cy="461255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DE36319-399B-31E4-2631-63CB85F89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518" y="2106968"/>
            <a:ext cx="9124432" cy="423313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40A477D-C395-BD14-18EC-E93F74EC6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9033" y="2324688"/>
            <a:ext cx="10254804" cy="3732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业务 SQL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04 · 系统实现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ode-panel"/>
          <p:cNvSpPr/>
          <p:nvPr/>
        </p:nvSpPr>
        <p:spPr>
          <a:xfrm>
            <a:off x="508000" y="1219200"/>
            <a:ext cx="6604000" cy="49784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ode-tag"/>
          <p:cNvSpPr/>
          <p:nvPr/>
        </p:nvSpPr>
        <p:spPr>
          <a:xfrm>
            <a:off x="508000" y="1219200"/>
            <a:ext cx="63500" cy="49784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code-text"/>
          <p:cNvSpPr txBox="1"/>
          <p:nvPr/>
        </p:nvSpPr>
        <p:spPr>
          <a:xfrm>
            <a:off x="812800" y="1422400"/>
            <a:ext cx="6096000" cy="462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8A8478"/>
                </a:solidFill>
                <a:latin typeface="JetBrains Mono"/>
                <a:ea typeface="JetBrains Mono"/>
              </a:rPr>
              <a:t>-- ① 下单：事务内建单并写入任务明细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INSERT INTO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tasks (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publisher_user_id, service_type_id,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address_no, node_id, task_title,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task_price, urgent_flag, task_status)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VALUES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(:pubId, :serviceTypeId, :addrNo,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    :nodeId, </a:t>
            </a:r>
            <a:r>
              <a:rPr lang="en-US" sz="1000" noProof="1">
                <a:solidFill>
                  <a:srgbClr val="9DC88D"/>
                </a:solidFill>
                <a:latin typeface="JetBrains Mono"/>
                <a:ea typeface="JetBrains Mono"/>
              </a:rPr>
              <a:t>'代取快递 · 驿站A区至学三楼502'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,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    3.50, </a:t>
            </a:r>
            <a:r>
              <a:rPr lang="en-US" sz="1000" noProof="1">
                <a:solidFill>
                  <a:srgbClr val="9DC88D"/>
                </a:solidFill>
                <a:latin typeface="JetBrains Mono"/>
                <a:ea typeface="JetBrains Mono"/>
              </a:rPr>
              <a:t>'N'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, </a:t>
            </a:r>
            <a:r>
              <a:rPr lang="en-US" sz="1000" noProof="1">
                <a:solidFill>
                  <a:srgbClr val="9DC88D"/>
                </a:solidFill>
                <a:latin typeface="JetBrains Mono"/>
                <a:ea typeface="JetBrains Mono"/>
              </a:rPr>
              <a:t>'WAITING'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)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RETURNING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task_id </a:t>
            </a: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INTO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:taskId;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8A8478"/>
                </a:solidFill>
                <a:latin typeface="JetBrains Mono"/>
                <a:ea typeface="JetBrains Mono"/>
              </a:rPr>
              <a:t>-- 同一事务内继续写入明细表，最后 COMMIT</a:t>
            </a:r>
            <a:endParaRPr lang="en-US" sz="1000" noProof="1"/>
          </a:p>
          <a:p>
            <a:pPr>
              <a:lnSpc>
                <a:spcPct val="142000"/>
              </a:lnSpc>
            </a:pP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8A8478"/>
                </a:solidFill>
                <a:latin typeface="JetBrains Mono"/>
                <a:ea typeface="JetBrains Mono"/>
              </a:rPr>
              <a:t>-- ② 抢单：FOR UPDATE 行锁防止并发冲突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SELECT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task_status </a:t>
            </a: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FROM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tasks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WHERE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task_id = 10240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</a:t>
            </a: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FOR UPDATE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;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8A8478"/>
                </a:solidFill>
                <a:latin typeface="JetBrains Mono"/>
                <a:ea typeface="JetBrains Mono"/>
              </a:rPr>
              <a:t>-- 行锁内校验状态，仅 WAITING 可接单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UPDATE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tasks </a:t>
            </a: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SET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task_status = </a:t>
            </a:r>
            <a:r>
              <a:rPr lang="en-US" sz="1000" noProof="1">
                <a:solidFill>
                  <a:srgbClr val="9DC88D"/>
                </a:solidFill>
                <a:latin typeface="JetBrains Mono"/>
                <a:ea typeface="JetBrains Mono"/>
              </a:rPr>
              <a:t>'ASSIGNED'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WHERE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task_id = 10240;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INSERT INTO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assign_records (task_id, runner_id,</a:t>
            </a:r>
            <a:endParaRPr lang="en-US" sz="1000" noProof="1"/>
          </a:p>
          <a:p>
            <a:pPr>
              <a:lnSpc>
                <a:spcPct val="142000"/>
              </a:lnSpc>
            </a:pP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   operation_type, assigned_at) </a:t>
            </a:r>
            <a:r>
              <a:rPr lang="en-US" sz="1000" noProof="1">
                <a:solidFill>
                  <a:srgbClr val="EFA04F"/>
                </a:solidFill>
                <a:latin typeface="JetBrains Mono"/>
                <a:ea typeface="JetBrains Mono"/>
              </a:rPr>
              <a:t>VALUES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 (10240, 2077, </a:t>
            </a:r>
            <a:r>
              <a:rPr lang="en-US" sz="1000" noProof="1">
                <a:solidFill>
                  <a:srgbClr val="9DC88D"/>
                </a:solidFill>
                <a:latin typeface="JetBrains Mono"/>
                <a:ea typeface="JetBrains Mono"/>
              </a:rPr>
              <a:t>'SELF'</a:t>
            </a:r>
            <a:r>
              <a:rPr lang="en-US" sz="1000" noProof="1">
                <a:solidFill>
                  <a:srgbClr val="E8E2D6"/>
                </a:solidFill>
                <a:latin typeface="JetBrains Mono"/>
                <a:ea typeface="JetBrains Mono"/>
              </a:rPr>
              <a:t>, SYSDATE);</a:t>
            </a:r>
            <a:endParaRPr lang="en-US" sz="1000" noProof="1"/>
          </a:p>
        </p:txBody>
      </p:sp>
      <p:sp>
        <p:nvSpPr>
          <p:cNvPr id="10" name="anno1-n"/>
          <p:cNvSpPr txBox="1"/>
          <p:nvPr/>
        </p:nvSpPr>
        <p:spPr>
          <a:xfrm>
            <a:off x="7620000" y="160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E8551D"/>
                </a:solidFill>
                <a:latin typeface="MiSans"/>
                <a:ea typeface="MiSans"/>
              </a:rPr>
              <a:t>①</a:t>
            </a:r>
            <a:endParaRPr lang="en-US" sz="1600" noProof="1"/>
          </a:p>
        </p:txBody>
      </p:sp>
      <p:sp>
        <p:nvSpPr>
          <p:cNvPr id="11" name="anno1"/>
          <p:cNvSpPr txBox="1"/>
          <p:nvPr/>
        </p:nvSpPr>
        <p:spPr>
          <a:xfrm>
            <a:off x="8077200" y="157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事务保证原子性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建单、明细写入、状态变更与日志写入要么同时提交，要么整体回滚</a:t>
            </a:r>
            <a:endParaRPr lang="en-US" sz="1150" noProof="1"/>
          </a:p>
        </p:txBody>
      </p:sp>
      <p:sp>
        <p:nvSpPr>
          <p:cNvPr id="12" name="anno1-line"/>
          <p:cNvSpPr/>
          <p:nvPr/>
        </p:nvSpPr>
        <p:spPr>
          <a:xfrm>
            <a:off x="7620000" y="264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anno2-n"/>
          <p:cNvSpPr txBox="1"/>
          <p:nvPr/>
        </p:nvSpPr>
        <p:spPr>
          <a:xfrm>
            <a:off x="7620000" y="287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E8551D"/>
                </a:solidFill>
                <a:latin typeface="MiSans"/>
                <a:ea typeface="MiSans"/>
              </a:rPr>
              <a:t>②</a:t>
            </a:r>
            <a:endParaRPr lang="en-US" sz="1600" noProof="1"/>
          </a:p>
        </p:txBody>
      </p:sp>
      <p:sp>
        <p:nvSpPr>
          <p:cNvPr id="14" name="anno2"/>
          <p:cNvSpPr txBox="1"/>
          <p:nvPr/>
        </p:nvSpPr>
        <p:spPr>
          <a:xfrm>
            <a:off x="8077200" y="284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行锁防并发抢单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FOR UPDATE 锁定任务行，后到事务读到最新状态校验失败，杜绝重复接单</a:t>
            </a:r>
            <a:endParaRPr lang="en-US" sz="1150" noProof="1"/>
          </a:p>
        </p:txBody>
      </p:sp>
      <p:sp>
        <p:nvSpPr>
          <p:cNvPr id="15" name="anno2-line"/>
          <p:cNvSpPr/>
          <p:nvPr/>
        </p:nvSpPr>
        <p:spPr>
          <a:xfrm>
            <a:off x="7620000" y="391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anno3-n"/>
          <p:cNvSpPr txBox="1"/>
          <p:nvPr/>
        </p:nvSpPr>
        <p:spPr>
          <a:xfrm>
            <a:off x="7620000" y="4140200"/>
            <a:ext cx="40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E8551D"/>
                </a:solidFill>
                <a:latin typeface="MiSans"/>
                <a:ea typeface="MiSans"/>
              </a:rPr>
              <a:t>③</a:t>
            </a:r>
            <a:endParaRPr lang="en-US" sz="1600" noProof="1"/>
          </a:p>
        </p:txBody>
      </p:sp>
      <p:sp>
        <p:nvSpPr>
          <p:cNvPr id="17" name="anno3"/>
          <p:cNvSpPr txBox="1"/>
          <p:nvPr/>
        </p:nvSpPr>
        <p:spPr>
          <a:xfrm>
            <a:off x="8077200" y="4114800"/>
            <a:ext cx="3606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状态变更同事务留痕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状态更新与 task_status_logs 写入在同一事务内提交</a:t>
            </a:r>
            <a:endParaRPr lang="en-US" sz="1150" noProof="1"/>
          </a:p>
        </p:txBody>
      </p:sp>
      <p:sp>
        <p:nvSpPr>
          <p:cNvPr id="18" name="anno3-line"/>
          <p:cNvSpPr/>
          <p:nvPr/>
        </p:nvSpPr>
        <p:spPr>
          <a:xfrm>
            <a:off x="7620000" y="5181600"/>
            <a:ext cx="406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anno-note"/>
          <p:cNvSpPr txBox="1"/>
          <p:nvPr/>
        </p:nvSpPr>
        <p:spPr>
          <a:xfrm>
            <a:off x="7620000" y="5359400"/>
            <a:ext cx="406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i="0" noProof="1">
                <a:solidFill>
                  <a:srgbClr val="77716A"/>
                </a:solidFill>
                <a:latin typeface="MiSans"/>
                <a:ea typeface="MiSans"/>
              </a:rPr>
              <a:t>缺陷修复：重复接单 → 引入行锁</a:t>
            </a:r>
            <a:endParaRPr lang="en-US" sz="1000" noProof="1"/>
          </a:p>
        </p:txBody>
      </p:sp>
      <p:sp>
        <p:nvSpPr>
          <p:cNvPr id="20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2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19 / 44</a:t>
            </a:r>
            <a:endParaRPr lang="en-US" sz="10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05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团队分工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角色职责 · 核心实现 · 产出与验证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05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20 / 44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1　总集成与架构模块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总集成与架构负责人，统一项目骨架与集成口径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项目搭建 · Oracle 连接 · 公共 Layout 与菜单 · 权限过滤 · 代码合并联调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全库 24 张表接入 · users（角色与权限过滤）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可运行项目骨架 · 公共工具类 · 最终整合版本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各模块 Controller / Service / Repository 代码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统一 Layout、菜单与权限过滤的集成版本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五层边界门禁 · Oracle 连接统一配置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21 / 44</a:t>
            </a:r>
            <a:endParaRPr lang="en-US" sz="10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1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集成门禁 GATE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View → Controller → IService → Service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→ IRepository → Repository → Oracle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越层引用由静态门禁检查拦截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分层边界构成集成质量门禁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联调验证 INTEGRATION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公网 HTTPS 部署 · 四类角色导航 31 路由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Release 构建 0 警告 0 错误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POST 防伪 47/47 · 自动化测试 52/52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集成版本以自动化门禁与路由抽查为准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可运行项目骨架 · 公共工具类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最终整合版本（test 分支）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公共连接配置外置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骨架与工具类供各模块复用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TC-INT-01 ～ 05 全部通过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docs/test-evidence/manual/组员1-总集成与架构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记录、截图与门禁证据已归档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结论以归档记录为准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统一骨架 · 边界门禁 · 集成联调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22 / 44</a:t>
            </a:r>
            <a:endParaRPr lang="en-US" sz="10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2　数据库与基础数据模块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数据库与基础数据负责人，维护全库结构与初始数据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24 张表建表脚本 · 中文枚举核对 · 测试数据 · 基础资料初始化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全库关系表 · nodes · service_types · service_node_rules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建表 SQL · 初始化 SQL · 测试数据 SQL · 数据库字典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E-R 模型与关系模式设计结论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可初始化的库结构与受控枚举口径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英文代码入库 · 页面显示中文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23 / 44</a:t>
            </a:r>
            <a:endParaRPr lang="en-US" sz="10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2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建表脚本 SCHEMA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主外键 · 唯一 · CHECK 约束全量声明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函数唯一索引 · 全表与字段 COMMENT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脚本 002–007 按序可复跑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结构、约束与注释对应设计文档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枚举与数据 DATA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中文枚举与英文代码一一核对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基础资料初始化 · 测试数据脚本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数据库字典受控更新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枚举口径与页面显示一致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campus_runner_oracle_schema.sql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002–007 增量脚本 · 数据库字典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脚本与字典纳入仓库版本控制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口径变更经字典同步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TC-DB-01 ～ 06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证据归档 docs/test-evidence（待提交）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答辩前完成归档与复核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用例设计见 docs/test-plan.md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约束定口径 · 枚举对齐 · 脚本可复跑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24 / 44</a:t>
            </a:r>
            <a:endParaRPr lang="en-US" sz="10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3　账户与权限模块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账户与权限模块负责人，支撑全系统身份与授权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注册登录 · 角色权限 · 用户信息 · 地址管理 · 账号状态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users · user_addresses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注册 / 登录 / 地址功能 · 账号生命周期处理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注册信息与登录凭据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各模块会话身份、角色与地址数据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密码仅存带盐哈希 · 角色最小授权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25 / 44</a:t>
            </a:r>
            <a:endParaRPr lang="en-US" sz="10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3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账号安全 SECURITY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PasswordHasher 带盐哈希存储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username / phone 唯一约束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注销账号手机号复用缺陷已修复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敏感字段仅存哈希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地址规则 ADDRESS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(user_id, address_no) 组合主键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单默认地址函数唯一索引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跨用户地址访问拦截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至多一个默认地址由唯一索引保证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注册 / 登录 / 账号状态功能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地址增删改与默认地址管理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模块功能与 SQL 证据对应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账号生命周期覆盖封禁与注销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TC-ACC-01 ～ 12（8 份记录 · 3 份 SQL）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截图 9 张 · docs/test-evidence/manual/组员3-账户与权限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结论均为通过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含跨用户越权用例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哈希存储 · 唯一约束 · 越权拦截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26 / 44</a:t>
            </a:r>
            <a:endParaRPr lang="en-US" sz="10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4　基础资料与跑腿员模块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基础资料与跑腿员模块负责人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节点管理 · 服务类型 · 服务—节点规则 · 跑腿员申请与审核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nodes · service_types · service_node_rules · runners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基础资料维护功能 · 跑腿员审核流程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跑腿员申请资料与站点配置需求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审核通过的跑腿员与可用服务—节点规则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任务发布依赖 service_node_rules 匹配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27 / 44</a:t>
            </a:r>
            <a:endParaRPr lang="en-US" sz="10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4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规则绑定 BINDING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service_types × nodes 多对多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→ service_node_rules 联合主键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下单组合外键强制匹配规则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规则缺失的组合无法下单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跑腿员审核 AUDIT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audit_status 审核状态流转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实名认证资料 · work_status 工作状态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credit_score 信用分基线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个人中心显示真实姓名（补充验证）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节点 / 服务类型 / 规则维护功能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跑腿员申请与审核功能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基础数据初始化配套脚本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基础数据全量受控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TC-BASE-01 ～ 08（22 张截图）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docs/test-evidence/manual/组员4-基础资料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含 SQL 查询结果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含姓名显示补充验证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规则绑定 · 审核流转 · 基础数据受控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28 / 44</a:t>
            </a:r>
            <a:endParaRPr lang="en-US" sz="10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5　任务发布模块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任务发布模块负责人，承载三类任务入口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任务主单 · 三类任务明细 · 我的任务 · 任务详情 · 任务取消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tasks · food_delivery_details · express_pickup_details · private_task_details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三类任务发布与取消功能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用户需求、地址与服务—节点规则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WAITING 状态任务进入任务大厅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组合外键校验 · 价格非负约束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29 / 44</a:t>
            </a:r>
            <a:endParaRPr lang="en-US" sz="10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5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主单明细分离 MASTER–DETAIL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tasks 存公共字段与状态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三类明细弱实体 (task_id, detail_no)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复合主键关联主单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结构差异大的字段不混入主单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有效性约束 VALIDITY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(publisher_user_id, address_no) 外键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(service_type_id, node_id) 外键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task_price CHECK ≥ 0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非法组合在数据库层被拒绝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三类任务发布 / 详情 / 取消功能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我的任务列表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与任务大厅以 WAITING 状态衔接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取消仅限 WAITING 自助操作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TC-TASK-01 ～ 08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用例见 docs/test-plan.md · 证据待归档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含三类明细表单写校验 SQL 证据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答辩前完成归档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主单明细分离 · 组合外键 · 弱实体建模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30 / 44</a:t>
            </a:r>
            <a:endParaRPr lang="en-US" sz="10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6　接单派单与状态流转模块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接单派单与状态流转负责人，覆盖抢单到送达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任务大厅 · 抢单 · 管理员派单 / 重派 · 状态更新 · 状态日志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assign_records · task_status_logs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抢单派单与状态流转功能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WAITING 任务与跑腿员接单请求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接派记录与状态日志，推进至 WAIT_CONFIRM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行锁互斥 · 状态变更同事务留痕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31 / 44</a:t>
            </a:r>
            <a:endParaRPr lang="en-US" sz="10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6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并发抢单 CLAIM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idx_tasks_status 检索任务大厅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→ SELECT … FOR UPDATE 行锁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→ 状态校验 → 同事务写记录与日志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后到事务校验失败，重复接单消除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派单与重派 DISPATCH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operation_type：SELF / ADMIN / REASSIGN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重派绑定原记录并写重派原因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状态流转全程绑定接派记录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多单承接与重派流程已优化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任务大厅 / 抢单 / 派单 / 重派功能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状态更新与状态日志功能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与支付模块以 WAIT_CONFIRM 衔接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已接派任务不再进入任务大厅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TC-ASSIGN-01 ～ 09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用例见 docs/test-plan.md · 证据待归档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并发抢单用例需双会话截图与 SQL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答辩前完成归档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行锁互斥 · 同事务留痕 · 状态机驱动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32 / 44</a:t>
            </a:r>
            <a:endParaRPr lang="en-US" sz="10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7　收货后支付与退款模块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收货后支付与退款模块负责人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收货确认支付 · 支付记录 · 退款登记 · 退款审核 · 状态联动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payments · refunds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支付与退款全流程功能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WAIT_CONFIRM 任务的确认收货操作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PAID 支付单与退款流水，触发结算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支付流水号唯一 · 已结算订单限制退款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33 / 44</a:t>
            </a:r>
            <a:endParaRPr lang="en-US" sz="100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7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支付联动 PAYMENT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确认收货生成支付单 → PAID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pay_status 状态机流转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uk_payments_trade_no 流水号唯一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支付与任务状态同事务推进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退款审核 REFUND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退款登记 → 管理员审核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退款状态与订单状态联动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已结算订单禁止普通退款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资金操作失败整体回滚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收货确认与支付功能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退款登记 / 审核功能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与结算模块以支付状态衔接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支付时点后置到确认收货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TC-PAY-01 ～ 09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用例见 docs/test-plan.md · 证据待归档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退款 DONE 与结算排除需 SQL 证据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答辩前完成归档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收货后支付 · 流水唯一 · 退款受控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34 / 44</a:t>
            </a:r>
            <a:endParaRPr lang="en-US" sz="100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8　评价投诉与信誉模块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评价投诉与信誉模块负责人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用户评价 · 用户投诉 · 管理员处理 · 信誉分变化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reviews · complaints · runners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评价 / 投诉 / 信誉联动功能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FINISHED 任务与支付完成状态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评分与信誉变动值 · 投诉处理结论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一任务一评价 · 处理结果联动信誉分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35 / 44</a:t>
            </a:r>
            <a:endParaRPr lang="en-US" sz="100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8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评价约束 REVIEW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uk_reviews_task 一任务一评价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rating → credit_delta 按评分计算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回写 runners.credit_score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信誉变动值随评价记录留痕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投诉处理 COMPLAINT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投诉登记 → 管理员处理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process_status 状态流转可查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处理结果联动信誉分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投诉与处理记录全量留痕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评价 / 投诉 / 信誉功能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信誉分计算与回写逻辑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依赖任务 FINISHED 状态触发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一单一评由数据库约束强制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TC-REVIEW-01 ～ 09（9 份记录 · 5 份 SQL）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截图 21 张 · docs/test-evidence/manual/组员8-评价、投诉与信誉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结论均为通过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含重复评价拦截用例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一单一评 · 分值联动 · 处理留痕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36 / 44</a:t>
            </a:r>
            <a:endParaRPr lang="en-US" sz="100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9　结算审计报表模块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结算审计报表模块负责人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跑腿员结算 · 结算明细 · 审计日志 · 统计报表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settlements · settlement_payment_items · audit_logs · reports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结算 / 审计 / 报表功能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PAID 支付单与退款、投诉状态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结算单与净收入 · 审计日志 · 报表导出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退款 / 投诉中支付不结算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37 / 44</a:t>
            </a:r>
            <a:endParaRPr lang="en-US" sz="1000" noProof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9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结算规则 SETTLEMENT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生成结算单与结算明细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重复结算限制 · 跑腿员归属校验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退款 / 投诉中支付排除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已结算订单同步禁止普通退款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审计与报表 AUDIT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支付 / 退款 / 状态日志三类审计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按月统计报表与 CSV 导出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删除报表保留审计日志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结算结果可重算、可核对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结算 / 审计 / 报表功能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审计与报表功能入门说明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报表删除不影响审计留痕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审计覆盖三类业务对象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TC-SETTLE-01 ～ 10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docs/test-evidence/manual/组员9-结算审计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含审计、报表与跑腿员视角用例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结论以测试记录为准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结算受控 · 操作留痕 · 结果可复算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38 / 44</a:t>
            </a:r>
            <a:endParaRPr lang="en-US" sz="1000" noProof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10　测试文档与答辩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l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职责与主导数据</a:t>
            </a:r>
            <a:endParaRPr lang="en-US" sz="1200" noProof="1"/>
          </a:p>
        </p:txBody>
      </p:sp>
      <p:sp>
        <p:nvSpPr>
          <p:cNvPr id="7" name="dg1"/>
          <p:cNvSpPr txBox="1"/>
          <p:nvPr/>
        </p:nvSpPr>
        <p:spPr>
          <a:xfrm>
            <a:off x="508000" y="16002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角色定位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测试文档与答辩负责人，统筹验证与材料</a:t>
            </a:r>
            <a:endParaRPr lang="en-US" sz="1200" noProof="1"/>
          </a:p>
        </p:txBody>
      </p:sp>
      <p:sp>
        <p:nvSpPr>
          <p:cNvPr id="8" name="dg1-line"/>
          <p:cNvSpPr/>
          <p:nvPr/>
        </p:nvSpPr>
        <p:spPr>
          <a:xfrm>
            <a:off x="508000" y="2540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dg2"/>
          <p:cNvSpPr txBox="1"/>
          <p:nvPr/>
        </p:nvSpPr>
        <p:spPr>
          <a:xfrm>
            <a:off x="508000" y="2717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负责模块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功能测试 · Bug 记录 · 截图整理 · 系统文档 · 答辩材料</a:t>
            </a:r>
            <a:endParaRPr lang="en-US" sz="1200" noProof="1"/>
          </a:p>
        </p:txBody>
      </p:sp>
      <p:sp>
        <p:nvSpPr>
          <p:cNvPr id="10" name="dg2-line"/>
          <p:cNvSpPr/>
          <p:nvPr/>
        </p:nvSpPr>
        <p:spPr>
          <a:xfrm>
            <a:off x="508000" y="36576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g3"/>
          <p:cNvSpPr txBox="1"/>
          <p:nvPr/>
        </p:nvSpPr>
        <p:spPr>
          <a:xfrm>
            <a:off x="508000" y="38354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主导数据表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跨模块链路 tasks → assign_records → payments → settlements</a:t>
            </a:r>
            <a:endParaRPr lang="en-US" sz="1200" noProof="1"/>
          </a:p>
        </p:txBody>
      </p:sp>
      <p:sp>
        <p:nvSpPr>
          <p:cNvPr id="12" name="dg3-line"/>
          <p:cNvSpPr/>
          <p:nvPr/>
        </p:nvSpPr>
        <p:spPr>
          <a:xfrm>
            <a:off x="508000" y="47752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g4"/>
          <p:cNvSpPr txBox="1"/>
          <p:nvPr/>
        </p:nvSpPr>
        <p:spPr>
          <a:xfrm>
            <a:off x="508000" y="4953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核心产出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测试报告 · 演示截图 · 答辩材料 · 证据索引</a:t>
            </a:r>
            <a:endParaRPr lang="en-US" sz="1200" noProof="1"/>
          </a:p>
        </p:txBody>
      </p:sp>
      <p:sp>
        <p:nvSpPr>
          <p:cNvPr id="14" name="vdiv"/>
          <p:cNvSpPr/>
          <p:nvPr/>
        </p:nvSpPr>
        <p:spPr>
          <a:xfrm>
            <a:off x="62484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nf-label"/>
          <p:cNvSpPr txBox="1"/>
          <p:nvPr/>
        </p:nvSpPr>
        <p:spPr>
          <a:xfrm>
            <a:off x="6604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模块衔接（输入 / 输出）</a:t>
            </a:r>
            <a:endParaRPr lang="en-US" sz="1200" noProof="1"/>
          </a:p>
        </p:txBody>
      </p:sp>
      <p:sp>
        <p:nvSpPr>
          <p:cNvPr id="16" name="nf-body"/>
          <p:cNvSpPr txBox="1"/>
          <p:nvPr/>
        </p:nvSpPr>
        <p:spPr>
          <a:xfrm>
            <a:off x="6604000" y="1600200"/>
            <a:ext cx="508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上游输入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各模块测试记录与截图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本模块输出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测试报告与 test-evidence 归档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衔接约束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16A"/>
                </a:solidFill>
                <a:latin typeface="MiSans"/>
                <a:ea typeface="MiSans"/>
              </a:rPr>
              <a:t>结论以执行记录为准</a:t>
            </a:r>
            <a:endParaRPr lang="en-US" sz="1200" noProof="1"/>
          </a:p>
        </p:txBody>
      </p:sp>
      <p:sp>
        <p:nvSpPr>
          <p:cNvPr id="17" name="nf-line"/>
          <p:cNvSpPr/>
          <p:nvPr/>
        </p:nvSpPr>
        <p:spPr>
          <a:xfrm>
            <a:off x="6604000" y="5588000"/>
            <a:ext cx="5080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f-note"/>
          <p:cNvSpPr txBox="1"/>
          <p:nvPr/>
        </p:nvSpPr>
        <p:spPr>
          <a:xfrm>
            <a:off x="6604000" y="574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9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1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39 / 44</a:t>
            </a:r>
            <a:endParaRPr lang="en-US" sz="1000" noProof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组员 10　核心实现与验证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05 · 团队分工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q1-title"/>
          <p:cNvSpPr txBox="1"/>
          <p:nvPr/>
        </p:nvSpPr>
        <p:spPr>
          <a:xfrm>
            <a:off x="508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端到端验收 END-TO-END</a:t>
            </a:r>
            <a:endParaRPr lang="en-US" sz="1500" noProof="1"/>
          </a:p>
        </p:txBody>
      </p:sp>
      <p:sp>
        <p:nvSpPr>
          <p:cNvPr id="7" name="q1-body"/>
          <p:cNvSpPr txBox="1"/>
          <p:nvPr/>
        </p:nvSpPr>
        <p:spPr>
          <a:xfrm>
            <a:off x="508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共享 Oracle 写入型 E2E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主链路 / 并发抢单 / 退款 / 投诉 / 结算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TC-E2E-01 ～ 07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关键场景在真实库验证</a:t>
            </a:r>
            <a:endParaRPr lang="en-US" sz="1100" noProof="1"/>
          </a:p>
        </p:txBody>
      </p:sp>
      <p:sp>
        <p:nvSpPr>
          <p:cNvPr id="8" name="q2-title"/>
          <p:cNvSpPr txBox="1"/>
          <p:nvPr/>
        </p:nvSpPr>
        <p:spPr>
          <a:xfrm>
            <a:off x="6477000" y="1244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质量门禁 QUALITY GATE</a:t>
            </a:r>
            <a:endParaRPr lang="en-US" sz="1500" noProof="1"/>
          </a:p>
        </p:txBody>
      </p:sp>
      <p:sp>
        <p:nvSpPr>
          <p:cNvPr id="9" name="q2-body"/>
          <p:cNvSpPr txBox="1"/>
          <p:nvPr/>
        </p:nvSpPr>
        <p:spPr>
          <a:xfrm>
            <a:off x="6477000" y="16256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自动化测试 52/52 通过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Bug 登记 → 修复 → 回归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证据目录索引维护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报告 9.4 节记录门禁结果</a:t>
            </a:r>
            <a:endParaRPr lang="en-US" sz="1100" noProof="1"/>
          </a:p>
        </p:txBody>
      </p:sp>
      <p:sp>
        <p:nvSpPr>
          <p:cNvPr id="10" name="q3-title"/>
          <p:cNvSpPr txBox="1"/>
          <p:nvPr/>
        </p:nvSpPr>
        <p:spPr>
          <a:xfrm>
            <a:off x="508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核心产出 DELIVERABLES</a:t>
            </a:r>
            <a:endParaRPr lang="en-US" sz="1500" noProof="1"/>
          </a:p>
        </p:txBody>
      </p:sp>
      <p:sp>
        <p:nvSpPr>
          <p:cNvPr id="11" name="q3-body"/>
          <p:cNvSpPr txBox="1"/>
          <p:nvPr/>
        </p:nvSpPr>
        <p:spPr>
          <a:xfrm>
            <a:off x="508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docs/system-test-report.md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演示截图 · 答辩 PPT · 演示脚本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test-evidence 证据索引持续更新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答辩材料与证据互为对照</a:t>
            </a:r>
            <a:endParaRPr lang="en-US" sz="1100" noProof="1"/>
          </a:p>
        </p:txBody>
      </p:sp>
      <p:sp>
        <p:nvSpPr>
          <p:cNvPr id="12" name="q4-title"/>
          <p:cNvSpPr txBox="1"/>
          <p:nvPr/>
        </p:nvSpPr>
        <p:spPr>
          <a:xfrm>
            <a:off x="6477000" y="3759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551D"/>
                </a:solidFill>
                <a:latin typeface="MiSans"/>
                <a:ea typeface="MiSans"/>
              </a:rPr>
              <a:t>测试验证 EVIDENCE</a:t>
            </a:r>
            <a:endParaRPr lang="en-US" sz="1500" noProof="1"/>
          </a:p>
        </p:txBody>
      </p:sp>
      <p:sp>
        <p:nvSpPr>
          <p:cNvPr id="13" name="q4-body"/>
          <p:cNvSpPr txBox="1"/>
          <p:nvPr/>
        </p:nvSpPr>
        <p:spPr>
          <a:xfrm>
            <a:off x="6477000" y="414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2026-08-16 / 2026-08-22-shared-e2e.md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docs/test-evidence/manual/ 组员1/3/4/8/9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23272E"/>
                </a:solidFill>
                <a:latin typeface="JetBrains Mono"/>
                <a:ea typeface="JetBrains Mono"/>
              </a:rPr>
              <a:t>四模块证据归档推进中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7716A"/>
                </a:solidFill>
                <a:latin typeface="MiSans"/>
                <a:ea typeface="MiSans"/>
              </a:rPr>
              <a:t>归档完成后更新索引表</a:t>
            </a:r>
            <a:endParaRPr lang="en-US" sz="1100" noProof="1"/>
          </a:p>
        </p:txBody>
      </p:sp>
      <p:sp>
        <p:nvSpPr>
          <p:cNvPr id="14" name="h-div"/>
          <p:cNvSpPr/>
          <p:nvPr/>
        </p:nvSpPr>
        <p:spPr>
          <a:xfrm>
            <a:off x="508000" y="3581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v-div"/>
          <p:cNvSpPr/>
          <p:nvPr/>
        </p:nvSpPr>
        <p:spPr>
          <a:xfrm>
            <a:off x="6096000" y="1244600"/>
            <a:ext cx="12700" cy="46736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bj-concl"/>
          <p:cNvSpPr txBox="1"/>
          <p:nvPr/>
        </p:nvSpPr>
        <p:spPr>
          <a:xfrm>
            <a:off x="508000" y="60706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场景覆盖 · 证据归档 · 结论可核</a:t>
            </a:r>
            <a:endParaRPr lang="en-US" sz="1200" noProof="1"/>
          </a:p>
        </p:txBody>
      </p:sp>
      <p:sp>
        <p:nvSpPr>
          <p:cNvPr id="17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9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40 / 44</a:t>
            </a:r>
            <a:endParaRPr lang="en-US" sz="1000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-num"/>
          <p:cNvSpPr txBox="1"/>
          <p:nvPr/>
        </p:nvSpPr>
        <p:spPr>
          <a:xfrm>
            <a:off x="711200" y="1524000"/>
            <a:ext cx="4064000" cy="215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0" b="1" noProof="1">
                <a:solidFill>
                  <a:srgbClr val="E8551D"/>
                </a:solidFill>
                <a:latin typeface="MiSans"/>
                <a:ea typeface="MiSans"/>
              </a:rPr>
              <a:t>06</a:t>
            </a:r>
            <a:endParaRPr lang="en-US" sz="14000" noProof="1"/>
          </a:p>
        </p:txBody>
      </p:sp>
      <p:sp>
        <p:nvSpPr>
          <p:cNvPr id="3" name="div-line"/>
          <p:cNvSpPr/>
          <p:nvPr/>
        </p:nvSpPr>
        <p:spPr>
          <a:xfrm>
            <a:off x="762000" y="40132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div-title"/>
          <p:cNvSpPr txBox="1"/>
          <p:nvPr/>
        </p:nvSpPr>
        <p:spPr>
          <a:xfrm>
            <a:off x="711200" y="4318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MiSans"/>
                <a:ea typeface="MiSans"/>
              </a:rPr>
              <a:t>测试与总结</a:t>
            </a:r>
            <a:endParaRPr lang="en-US" sz="4000" noProof="1"/>
          </a:p>
        </p:txBody>
      </p:sp>
      <p:sp>
        <p:nvSpPr>
          <p:cNvPr id="5" name="div-sub"/>
          <p:cNvSpPr txBox="1"/>
          <p:nvPr/>
        </p:nvSpPr>
        <p:spPr>
          <a:xfrm>
            <a:off x="711200" y="5156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2A6"/>
                </a:solidFill>
                <a:latin typeface="MiSans"/>
                <a:ea typeface="MiSans"/>
              </a:rPr>
              <a:t>测试验证 · 成果总结 · 改进方向</a:t>
            </a:r>
            <a:endParaRPr lang="en-US" sz="1400" noProof="1"/>
          </a:p>
        </p:txBody>
      </p:sp>
      <p:sp>
        <p:nvSpPr>
          <p:cNvPr id="6" name="div-progress"/>
          <p:cNvSpPr txBox="1"/>
          <p:nvPr/>
        </p:nvSpPr>
        <p:spPr>
          <a:xfrm>
            <a:off x="7112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kern="0" spc="200" noProof="1">
                <a:solidFill>
                  <a:srgbClr val="8A8478"/>
                </a:solidFill>
                <a:latin typeface="MiSans"/>
                <a:ea typeface="MiSans"/>
              </a:rPr>
              <a:t>SECTION 06 / 06</a:t>
            </a:r>
            <a:endParaRPr lang="en-US" sz="1100" noProof="1"/>
          </a:p>
        </p:txBody>
      </p:sp>
      <p:sp>
        <p:nvSpPr>
          <p:cNvPr id="7" name="div-brand"/>
          <p:cNvSpPr txBox="1"/>
          <p:nvPr/>
        </p:nvSpPr>
        <p:spPr>
          <a:xfrm>
            <a:off x="711200" y="6299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济跑跑 JIRUN · 数据库课程设计答辩</a:t>
            </a:r>
            <a:endParaRPr lang="en-US" sz="1000" noProof="1"/>
          </a:p>
        </p:txBody>
      </p:sp>
      <p:sp>
        <p:nvSpPr>
          <p:cNvPr id="8" name="div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41 / 44</a:t>
            </a:r>
            <a:endParaRPr lang="en-US" sz="1000" noProof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系统测试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06 · 测试与总结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6" name="test-table"/>
          <p:cNvGraphicFramePr>
            <a:graphicFrameLocks noGrp="1"/>
          </p:cNvGraphicFramePr>
          <p:nvPr/>
        </p:nvGraphicFramePr>
        <p:xfrm>
          <a:off x="508000" y="1219200"/>
          <a:ext cx="11176000" cy="3937000"/>
        </p:xfrm>
        <a:graphic>
          <a:graphicData uri="http://schemas.openxmlformats.org/drawingml/2006/table">
            <a:tbl>
              <a:tblPr/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测试场景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预期结果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验证机制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用户下单并支付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事务提交，tasks 与 payments 写入一致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事务原子性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两名跑腿员同时抢同一单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仅一人接单成功，另一人状态校验失败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行锁互斥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取消已支付订单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生成退款流水，订单状态按状态机回退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退款与状态回退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中转站扫码入库 / 出库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生成接派与状态日志记录，状态按状态机推进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接派留痕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用户提交评价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评分写入 reviews 并联动信誉分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信誉分联动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投诉与管理员处理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投诉状态流转可查，处理结果联动信誉分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00" b="1" noProof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</a:rPr>
                        <a:t>投诉处理流程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st-env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eyJpY29uTmFtZSI6ImZhczpmbGFzayJ9</pptd:icon>
              </p:ext>
            </p:extLst>
          </p:nvPr>
        </p:nvSpPr>
        <p:spPr>
          <a:xfrm>
            <a:off x="5080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>
            <a:srgbClr val="7771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st-env"/>
          <p:cNvSpPr txBox="1"/>
          <p:nvPr/>
        </p:nvSpPr>
        <p:spPr>
          <a:xfrm>
            <a:off x="787400" y="5334000"/>
            <a:ext cx="10896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23272E"/>
                </a:solidFill>
                <a:latin typeface="MiSans"/>
                <a:ea typeface="MiSans"/>
              </a:rPr>
              <a:t>测试环境：Oracle 19c · 覆盖下单、抢单、结算等核心场景的自动化测试与端到端用例</a:t>
            </a:r>
            <a:endParaRPr lang="en-US" sz="1150" noProof="1"/>
          </a:p>
        </p:txBody>
      </p:sp>
      <p:sp>
        <p:nvSpPr>
          <p:cNvPr id="9" name="test-line"/>
          <p:cNvSpPr/>
          <p:nvPr/>
        </p:nvSpPr>
        <p:spPr>
          <a:xfrm>
            <a:off x="508000" y="5740400"/>
            <a:ext cx="111760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st-concl"/>
          <p:cNvSpPr txBox="1"/>
          <p:nvPr/>
        </p:nvSpPr>
        <p:spPr>
          <a:xfrm>
            <a:off x="508000" y="58928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23272E"/>
                </a:solidFill>
                <a:latin typeface="MiSans"/>
                <a:ea typeface="MiSans"/>
              </a:rPr>
              <a:t>第五阶段模块测试：总集成 · 账户权限 · 基础资料 · 评价投诉 · 结算审计报表，记录与截图存档</a:t>
            </a:r>
            <a:endParaRPr lang="en-US" sz="1300" noProof="1"/>
          </a:p>
        </p:txBody>
      </p:sp>
      <p:sp>
        <p:nvSpPr>
          <p:cNvPr id="11" name="test-note"/>
          <p:cNvSpPr txBox="1"/>
          <p:nvPr/>
        </p:nvSpPr>
        <p:spPr>
          <a:xfrm>
            <a:off x="508000" y="62738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endParaRPr lang="en-US" sz="1000" noProof="1"/>
          </a:p>
        </p:txBody>
      </p:sp>
      <p:sp>
        <p:nvSpPr>
          <p:cNvPr id="12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14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42 / 44</a:t>
            </a:r>
            <a:endParaRPr lang="en-US" sz="1000" noProof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ick"/>
          <p:cNvSpPr/>
          <p:nvPr/>
        </p:nvSpPr>
        <p:spPr>
          <a:xfrm>
            <a:off x="508000" y="431800"/>
            <a:ext cx="63500" cy="304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d-title"/>
          <p:cNvSpPr txBox="1"/>
          <p:nvPr/>
        </p:nvSpPr>
        <p:spPr>
          <a:xfrm>
            <a:off x="711200" y="381000"/>
            <a:ext cx="838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23272E"/>
                </a:solidFill>
                <a:latin typeface="MiSans"/>
                <a:ea typeface="MiSans"/>
              </a:rPr>
              <a:t>总结与展望</a:t>
            </a:r>
            <a:endParaRPr lang="en-US" sz="2500" noProof="1"/>
          </a:p>
        </p:txBody>
      </p:sp>
      <p:sp>
        <p:nvSpPr>
          <p:cNvPr id="4" name="hd-sec"/>
          <p:cNvSpPr txBox="1"/>
          <p:nvPr/>
        </p:nvSpPr>
        <p:spPr>
          <a:xfrm>
            <a:off x="8890000" y="533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200" noProof="1">
                <a:solidFill>
                  <a:srgbClr val="77716A"/>
                </a:solidFill>
                <a:latin typeface="MiSans"/>
                <a:ea typeface="MiSans"/>
              </a:rPr>
              <a:t>06 · 测试与总结</a:t>
            </a:r>
            <a:endParaRPr lang="en-US" sz="1100" noProof="1"/>
          </a:p>
        </p:txBody>
      </p:sp>
      <p:sp>
        <p:nvSpPr>
          <p:cNvPr id="5" name="hd-line"/>
          <p:cNvSpPr/>
          <p:nvPr/>
        </p:nvSpPr>
        <p:spPr>
          <a:xfrm>
            <a:off x="508000" y="9652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done-label"/>
          <p:cNvSpPr txBox="1"/>
          <p:nvPr/>
        </p:nvSpPr>
        <p:spPr>
          <a:xfrm>
            <a:off x="5080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完成情况</a:t>
            </a:r>
            <a:endParaRPr lang="en-US" sz="1200" noProof="1"/>
          </a:p>
        </p:txBody>
      </p:sp>
      <p:sp>
        <p:nvSpPr>
          <p:cNvPr id="7" name="done1-n"/>
          <p:cNvSpPr txBox="1"/>
          <p:nvPr/>
        </p:nvSpPr>
        <p:spPr>
          <a:xfrm>
            <a:off x="508000" y="1600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8551D"/>
                </a:solidFill>
                <a:latin typeface="MiSans"/>
                <a:ea typeface="MiSans"/>
              </a:rPr>
              <a:t>01</a:t>
            </a:r>
            <a:endParaRPr lang="en-US" sz="1800" noProof="1"/>
          </a:p>
        </p:txBody>
      </p:sp>
      <p:sp>
        <p:nvSpPr>
          <p:cNvPr id="8" name="done1"/>
          <p:cNvSpPr txBox="1"/>
          <p:nvPr/>
        </p:nvSpPr>
        <p:spPr>
          <a:xfrm>
            <a:off x="1092200" y="1574800"/>
            <a:ext cx="474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完整走完数据库设计全流程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需求分析 → E-R 建模 → 关系模式 → 规范化论证 → 物理实现</a:t>
            </a:r>
            <a:endParaRPr lang="en-US" sz="1150" noProof="1"/>
          </a:p>
        </p:txBody>
      </p:sp>
      <p:sp>
        <p:nvSpPr>
          <p:cNvPr id="9" name="done1-line"/>
          <p:cNvSpPr/>
          <p:nvPr/>
        </p:nvSpPr>
        <p:spPr>
          <a:xfrm>
            <a:off x="508000" y="2413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done2-n"/>
          <p:cNvSpPr txBox="1"/>
          <p:nvPr/>
        </p:nvSpPr>
        <p:spPr>
          <a:xfrm>
            <a:off x="508000" y="2616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8551D"/>
                </a:solidFill>
                <a:latin typeface="MiSans"/>
                <a:ea typeface="MiSans"/>
              </a:rPr>
              <a:t>02</a:t>
            </a:r>
            <a:endParaRPr lang="en-US" sz="1800" noProof="1"/>
          </a:p>
        </p:txBody>
      </p:sp>
      <p:sp>
        <p:nvSpPr>
          <p:cNvPr id="11" name="done2"/>
          <p:cNvSpPr txBox="1"/>
          <p:nvPr/>
        </p:nvSpPr>
        <p:spPr>
          <a:xfrm>
            <a:off x="1092200" y="2590800"/>
            <a:ext cx="474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实现 24 张关系表与索引、约束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状态机取值、金额与业务唯一性由数据库约束强制执行</a:t>
            </a:r>
            <a:endParaRPr lang="en-US" sz="1150" noProof="1"/>
          </a:p>
        </p:txBody>
      </p:sp>
      <p:sp>
        <p:nvSpPr>
          <p:cNvPr id="12" name="done2-line"/>
          <p:cNvSpPr/>
          <p:nvPr/>
        </p:nvSpPr>
        <p:spPr>
          <a:xfrm>
            <a:off x="508000" y="3429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one3-n"/>
          <p:cNvSpPr txBox="1"/>
          <p:nvPr/>
        </p:nvSpPr>
        <p:spPr>
          <a:xfrm>
            <a:off x="508000" y="3632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8551D"/>
                </a:solidFill>
                <a:latin typeface="MiSans"/>
                <a:ea typeface="MiSans"/>
              </a:rPr>
              <a:t>03</a:t>
            </a:r>
            <a:endParaRPr lang="en-US" sz="1800" noProof="1"/>
          </a:p>
        </p:txBody>
      </p:sp>
      <p:sp>
        <p:nvSpPr>
          <p:cNvPr id="14" name="done3"/>
          <p:cNvSpPr txBox="1"/>
          <p:nvPr/>
        </p:nvSpPr>
        <p:spPr>
          <a:xfrm>
            <a:off x="1092200" y="3606800"/>
            <a:ext cx="474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订单状态机贯穿前后端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状态流转受数据库约束，跨表写入同事务提交，热点操作行锁</a:t>
            </a:r>
            <a:endParaRPr lang="en-US" sz="1150" noProof="1"/>
          </a:p>
        </p:txBody>
      </p:sp>
      <p:sp>
        <p:nvSpPr>
          <p:cNvPr id="15" name="done3-line"/>
          <p:cNvSpPr/>
          <p:nvPr/>
        </p:nvSpPr>
        <p:spPr>
          <a:xfrm>
            <a:off x="508000" y="4445000"/>
            <a:ext cx="5334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done4-n"/>
          <p:cNvSpPr txBox="1"/>
          <p:nvPr/>
        </p:nvSpPr>
        <p:spPr>
          <a:xfrm>
            <a:off x="508000" y="4648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E8551D"/>
                </a:solidFill>
                <a:latin typeface="MiSans"/>
                <a:ea typeface="MiSans"/>
              </a:rPr>
              <a:t>04</a:t>
            </a:r>
            <a:endParaRPr lang="en-US" sz="1800" noProof="1"/>
          </a:p>
        </p:txBody>
      </p:sp>
      <p:sp>
        <p:nvSpPr>
          <p:cNvPr id="17" name="done4"/>
          <p:cNvSpPr txBox="1"/>
          <p:nvPr/>
        </p:nvSpPr>
        <p:spPr>
          <a:xfrm>
            <a:off x="1092200" y="4622800"/>
            <a:ext cx="4749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补齐模块并推进第五阶段测试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投诉、结算、审计、报表模块补齐，支持多单承接与重派优化，消除重复接单、注销手机号复用等缺陷</a:t>
            </a:r>
            <a:endParaRPr lang="en-US" sz="1150" noProof="1"/>
          </a:p>
        </p:txBody>
      </p:sp>
      <p:sp>
        <p:nvSpPr>
          <p:cNvPr id="18" name="vdiv"/>
          <p:cNvSpPr/>
          <p:nvPr/>
        </p:nvSpPr>
        <p:spPr>
          <a:xfrm>
            <a:off x="6299200" y="1219200"/>
            <a:ext cx="12700" cy="47244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future-label"/>
          <p:cNvSpPr txBox="1"/>
          <p:nvPr/>
        </p:nvSpPr>
        <p:spPr>
          <a:xfrm>
            <a:off x="6654800" y="121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77716A"/>
                </a:solidFill>
                <a:latin typeface="MiSans"/>
                <a:ea typeface="MiSans"/>
              </a:rPr>
              <a:t>不足与展望</a:t>
            </a:r>
            <a:endParaRPr lang="en-US" sz="1200" noProof="1"/>
          </a:p>
        </p:txBody>
      </p:sp>
      <p:sp>
        <p:nvSpPr>
          <p:cNvPr id="20" name="future-body"/>
          <p:cNvSpPr txBox="1"/>
          <p:nvPr/>
        </p:nvSpPr>
        <p:spPr>
          <a:xfrm>
            <a:off x="6654800" y="1600200"/>
            <a:ext cx="50292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引入缓存与消息队列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任务大厅抢单查询当前直接读取数据库，存在响应延迟；拟引入 Redis 缓存与消息队列优化。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读写分离与分表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针对订单规模持续增长场景，拟采用基于用户哈希的分表策略，并对历史订单实施归档存储。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信用模型细化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当前信用分仅依据订单评分计算；拟将履约率与投诉率纳入信用评价模型。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US" sz="1150" b="1" noProof="1">
                <a:solidFill>
                  <a:srgbClr val="23272E"/>
                </a:solidFill>
                <a:latin typeface="MiSans"/>
                <a:ea typeface="MiSans"/>
              </a:rPr>
              <a:t>数据分析能力</a:t>
            </a:r>
            <a:endParaRPr lang="en-US" sz="1150" noProof="1"/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lang="en-US" sz="1150" noProof="1">
                <a:solidFill>
                  <a:srgbClr val="77716A"/>
                </a:solidFill>
                <a:latin typeface="MiSans"/>
                <a:ea typeface="MiSans"/>
              </a:rPr>
              <a:t>拟基于订单流水数据开展高峰预测与站点容量规划，当前尚未实施。</a:t>
            </a:r>
            <a:endParaRPr lang="en-US" sz="1150" noProof="1"/>
          </a:p>
        </p:txBody>
      </p:sp>
      <p:sp>
        <p:nvSpPr>
          <p:cNvPr id="21" name="future-line"/>
          <p:cNvSpPr/>
          <p:nvPr/>
        </p:nvSpPr>
        <p:spPr>
          <a:xfrm>
            <a:off x="6654800" y="5588000"/>
            <a:ext cx="5029200" cy="12700"/>
          </a:xfrm>
          <a:prstGeom prst="rect">
            <a:avLst/>
          </a:prstGeom>
          <a:solidFill>
            <a:srgbClr val="232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future-concl"/>
          <p:cNvSpPr txBox="1"/>
          <p:nvPr/>
        </p:nvSpPr>
        <p:spPr>
          <a:xfrm>
            <a:off x="6654800" y="5740400"/>
            <a:ext cx="502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23272E"/>
                </a:solidFill>
                <a:latin typeface="MiSans"/>
                <a:ea typeface="MiSans"/>
              </a:rPr>
              <a:t>实现阶段保留 24 张表主体结构 · 调整集中于状态流转与并发控制</a:t>
            </a:r>
            <a:endParaRPr lang="en-US" sz="1200" noProof="1"/>
          </a:p>
        </p:txBody>
      </p:sp>
      <p:sp>
        <p:nvSpPr>
          <p:cNvPr id="23" name="ft-line"/>
          <p:cNvSpPr/>
          <p:nvPr/>
        </p:nvSpPr>
        <p:spPr>
          <a:xfrm>
            <a:off x="508000" y="6502400"/>
            <a:ext cx="11176000" cy="12700"/>
          </a:xfrm>
          <a:prstGeom prst="rect">
            <a:avLst/>
          </a:prstGeom>
          <a:solidFill>
            <a:srgbClr val="DCD5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t-brand"/>
          <p:cNvSpPr txBox="1"/>
          <p:nvPr/>
        </p:nvSpPr>
        <p:spPr>
          <a:xfrm>
            <a:off x="508000" y="6604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济跑跑 JIRUN · 校园中转分发与跑腿服务管理系统</a:t>
            </a:r>
            <a:endParaRPr lang="en-US" sz="1000" noProof="1"/>
          </a:p>
        </p:txBody>
      </p:sp>
      <p:sp>
        <p:nvSpPr>
          <p:cNvPr id="25" name="ft-page"/>
          <p:cNvSpPr txBox="1"/>
          <p:nvPr/>
        </p:nvSpPr>
        <p:spPr>
          <a:xfrm>
            <a:off x="10414000" y="6604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77716A"/>
                </a:solidFill>
                <a:latin typeface="MiSans"/>
                <a:ea typeface="MiSans"/>
              </a:rPr>
              <a:t>43 / 44</a:t>
            </a:r>
            <a:endParaRPr lang="en-US" sz="1000" noProof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-logo-box"/>
          <p:cNvSpPr/>
          <p:nvPr/>
        </p:nvSpPr>
        <p:spPr>
          <a:xfrm>
            <a:off x="711200" y="1219200"/>
            <a:ext cx="558800" cy="5588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h-logo"/>
          <p:cNvSpPr txBox="1"/>
          <p:nvPr/>
        </p:nvSpPr>
        <p:spPr>
          <a:xfrm>
            <a:off x="711200" y="1219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200" noProof="1"/>
          </a:p>
        </p:txBody>
      </p:sp>
      <p:sp>
        <p:nvSpPr>
          <p:cNvPr id="4" name="th-brand"/>
          <p:cNvSpPr txBox="1"/>
          <p:nvPr/>
        </p:nvSpPr>
        <p:spPr>
          <a:xfrm>
            <a:off x="1422400" y="12192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济跑跑 JIRUN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8A8478"/>
                </a:solidFill>
                <a:latin typeface="MiSans"/>
                <a:ea typeface="MiSans"/>
              </a:rPr>
              <a:t>CAMPUS RUNNER</a:t>
            </a:r>
            <a:endParaRPr lang="en-US" sz="1600" noProof="1"/>
          </a:p>
        </p:txBody>
      </p:sp>
      <p:sp>
        <p:nvSpPr>
          <p:cNvPr id="5" name="th-main"/>
          <p:cNvSpPr txBox="1"/>
          <p:nvPr/>
        </p:nvSpPr>
        <p:spPr>
          <a:xfrm>
            <a:off x="711200" y="26670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400" b="1" noProof="1">
                <a:solidFill>
                  <a:srgbClr val="FFFFFF"/>
                </a:solidFill>
                <a:latin typeface="MiSans"/>
                <a:ea typeface="MiSans"/>
              </a:rPr>
              <a:t>恳请各位老师批评指正</a:t>
            </a:r>
            <a:endParaRPr lang="en-US" sz="4400" noProof="1"/>
          </a:p>
        </p:txBody>
      </p:sp>
      <p:sp>
        <p:nvSpPr>
          <p:cNvPr id="6" name="th-qa"/>
          <p:cNvSpPr txBox="1"/>
          <p:nvPr/>
        </p:nvSpPr>
        <p:spPr>
          <a:xfrm>
            <a:off x="711200" y="3759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kern="0" spc="400" noProof="1">
                <a:solidFill>
                  <a:srgbClr val="E8551D"/>
                </a:solidFill>
                <a:latin typeface="MiSans"/>
                <a:ea typeface="MiSans"/>
              </a:rPr>
              <a:t>Q&amp;</a:t>
            </a:r>
            <a:r>
              <a:rPr lang="en-US" altLang="zh-CN" sz="2600" b="1" kern="0" spc="400" noProof="1">
                <a:solidFill>
                  <a:srgbClr val="E8551D"/>
                </a:solidFill>
                <a:latin typeface="MiSans"/>
                <a:ea typeface="MiSans"/>
              </a:rPr>
              <a:t>A</a:t>
            </a:r>
            <a:endParaRPr lang="en-US" sz="2600" noProof="1"/>
          </a:p>
        </p:txBody>
      </p:sp>
      <p:sp>
        <p:nvSpPr>
          <p:cNvPr id="7" name="th-line"/>
          <p:cNvSpPr/>
          <p:nvPr/>
        </p:nvSpPr>
        <p:spPr>
          <a:xfrm>
            <a:off x="762000" y="4927600"/>
            <a:ext cx="1524000" cy="38100"/>
          </a:xfrm>
          <a:prstGeom prst="rect">
            <a:avLst/>
          </a:prstGeom>
          <a:solidFill>
            <a:srgbClr val="E855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h-page"/>
          <p:cNvSpPr txBox="1"/>
          <p:nvPr/>
        </p:nvSpPr>
        <p:spPr>
          <a:xfrm>
            <a:off x="10922000" y="6299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44 / 44</a:t>
            </a:r>
            <a:endParaRPr lang="en-US" sz="1000" noProof="1"/>
          </a:p>
        </p:txBody>
      </p:sp>
      <p:sp>
        <p:nvSpPr>
          <p:cNvPr id="10" name="TextBox 9"/>
          <p:cNvSpPr txBox="1"/>
          <p:nvPr/>
        </p:nvSpPr>
        <p:spPr>
          <a:xfrm>
            <a:off x="713232" y="5102352"/>
            <a:ext cx="658834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dirty="0" err="1">
                <a:solidFill>
                  <a:srgbClr val="E8551D"/>
                </a:solidFill>
                <a:latin typeface="MiSans"/>
                <a:ea typeface="MiSans"/>
              </a:rPr>
              <a:t>小组成员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：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刘相成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薛毓哲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唐独彪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李柏言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韩昊苏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桑治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崔少坤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谢智行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蒋昊沄</a:t>
            </a:r>
            <a:r>
              <a:rPr sz="1200" dirty="0">
                <a:solidFill>
                  <a:srgbClr val="E8551D"/>
                </a:solidFill>
                <a:latin typeface="MiSans"/>
                <a:ea typeface="MiSans"/>
              </a:rPr>
              <a:t> / </a:t>
            </a:r>
            <a:r>
              <a:rPr lang="zh-CN" altLang="en-US" sz="1200" dirty="0">
                <a:solidFill>
                  <a:srgbClr val="E8551D"/>
                </a:solidFill>
                <a:latin typeface="MiSans"/>
                <a:ea typeface="MiSans"/>
              </a:rPr>
              <a:t>赵崇治</a:t>
            </a:r>
            <a:endParaRPr sz="1200" dirty="0">
              <a:solidFill>
                <a:srgbClr val="E8551D"/>
              </a:solidFill>
              <a:latin typeface="MiSans"/>
              <a:ea typeface="MiSans"/>
            </a:endParaRPr>
          </a:p>
        </p:txBody>
      </p:sp>
      <p:pic>
        <p:nvPicPr>
          <p:cNvPr id="8" name="logo-img">
            <a:extLst>
              <a:ext uri="{FF2B5EF4-FFF2-40B4-BE49-F238E27FC236}">
                <a16:creationId xmlns:a16="http://schemas.microsoft.com/office/drawing/2014/main" id="{13B48F4B-95AB-0990-FE73-ACB98FBB5C7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1155700"/>
            <a:ext cx="7112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4347</Words>
  <Application>Microsoft Office PowerPoint</Application>
  <PresentationFormat>宽屏</PresentationFormat>
  <Paragraphs>1010</Paragraphs>
  <Slides>44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9" baseType="lpstr">
      <vt:lpstr>JetBrains Mono</vt:lpstr>
      <vt:lpstr>Times New Roman</vt:lpstr>
      <vt:lpstr>MiSans</vt:lpstr>
      <vt:lpstr>等线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jirun_defense.pptd</dc:title>
  <cp:lastModifiedBy>Shalom Hush-X</cp:lastModifiedBy>
  <cp:revision>23</cp:revision>
  <dcterms:modified xsi:type="dcterms:W3CDTF">2026-09-02T02:45:28Z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