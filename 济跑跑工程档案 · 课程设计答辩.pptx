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embeddedFontLst>
    <p:embeddedFont>
      <p:font typeface="MiSans" panose="02010600030101010101" charset="-122"/>
      <p:regular r:id="rId16"/>
    </p:embeddedFont>
    <p:embeddedFont>
      <p:font typeface="思源宋体" panose="02010600030101010101" charset="-122"/>
      <p:regular r:id="rId1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797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开场：这份档案记录的是济跑跑——校园中转分发与跑腿服务管理系统的设计与实现。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摘要页：一段话讲清系统是什么、和电商模式的差别；右侧是关键参数登记；底部是本档案的索引。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先念一遍引文定调：我们做的是履约系统，不是电商。然后逐条念三个问题，最后落到结论句。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沿主线从左到右走一遍九个环节，强调接派记录是锚点；下方数据链路说明表与表之间如何衔接。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功能清册对应工作量评分点。从上到下八个模块念一遍，最后强调口径：30 项功能点、28 项含业务逻辑。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架构页按工程图讲：五层单向依赖，SQL 只在持久层，右侧四条注解对应四条强制规则。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数据库页：左侧三线表报约束实测数据，右侧三条 3NF 论证，底部命名规范与完整性亮点。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状态机按工程图讲：六种稳态从左到右，红色虚线是两条例外通道；下方四条规则逐条带过。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一致性页：左边把抢单协议当实验步骤念五步，右边信誉分账表加三条事务规则。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图版页：三张真实运行截图，按档案图版格式呈现；末尾注解说明界面品牌视觉与本档案版式各自独立。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验证页：左侧验证记录三线表，右侧一张完整缺陷单；最后念诚实声明——未执行的用例不宣称通过。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分工页：左侧成员登记为占位，答辩前替换真实姓名；右侧是支撑材料的归档清单。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收尾：一句话收束，进入答疑。深色页与封面形成首尾呼应。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op-tl"/>
          <p:cNvSpPr/>
          <p:nvPr/>
        </p:nvSpPr>
        <p:spPr>
          <a:xfrm>
            <a:off x="330200" y="330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4"/>
                </a:lnTo>
                <a:lnTo>
                  <a:pt x="14" y="14"/>
                </a:lnTo>
                <a:lnTo>
                  <a:pt x="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1B1813"/>
          </a:solidFill>
          <a:ln>
            <a:noFill/>
          </a:ln>
        </p:spPr>
      </p:sp>
      <p:sp>
        <p:nvSpPr>
          <p:cNvPr id="3" name="crop-tr"/>
          <p:cNvSpPr/>
          <p:nvPr/>
        </p:nvSpPr>
        <p:spPr>
          <a:xfrm rot="5400000">
            <a:off x="11582400" y="330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4"/>
                </a:lnTo>
                <a:lnTo>
                  <a:pt x="14" y="14"/>
                </a:lnTo>
                <a:lnTo>
                  <a:pt x="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1B1813"/>
          </a:solidFill>
          <a:ln>
            <a:noFill/>
          </a:ln>
        </p:spPr>
      </p:sp>
      <p:sp>
        <p:nvSpPr>
          <p:cNvPr id="4" name="crop-br"/>
          <p:cNvSpPr/>
          <p:nvPr/>
        </p:nvSpPr>
        <p:spPr>
          <a:xfrm rot="10800000">
            <a:off x="11582400" y="6248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4"/>
                </a:lnTo>
                <a:lnTo>
                  <a:pt x="14" y="14"/>
                </a:lnTo>
                <a:lnTo>
                  <a:pt x="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1B1813"/>
          </a:solidFill>
          <a:ln>
            <a:noFill/>
          </a:ln>
        </p:spPr>
      </p:sp>
      <p:sp>
        <p:nvSpPr>
          <p:cNvPr id="5" name="crop-bl"/>
          <p:cNvSpPr/>
          <p:nvPr/>
        </p:nvSpPr>
        <p:spPr>
          <a:xfrm rot="16200000">
            <a:off x="330200" y="6248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4"/>
                </a:lnTo>
                <a:lnTo>
                  <a:pt x="14" y="14"/>
                </a:lnTo>
                <a:lnTo>
                  <a:pt x="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1B1813"/>
          </a:solidFill>
          <a:ln>
            <a:noFill/>
          </a:ln>
        </p:spPr>
      </p:sp>
      <p:sp>
        <p:nvSpPr>
          <p:cNvPr id="6" name="head-rule"/>
          <p:cNvSpPr/>
          <p:nvPr/>
        </p:nvSpPr>
        <p:spPr>
          <a:xfrm>
            <a:off x="812800" y="533400"/>
            <a:ext cx="105664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7" name="head-left"/>
          <p:cNvSpPr txBox="1"/>
          <p:nvPr/>
        </p:nvSpPr>
        <p:spPr>
          <a:xfrm>
            <a:off x="812800" y="3048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数据库系统课程设计 · 答辩汇报</a:t>
            </a:r>
            <a:endParaRPr lang="en-US" sz="850" noProof="1"/>
          </a:p>
        </p:txBody>
      </p:sp>
      <p:sp>
        <p:nvSpPr>
          <p:cNvPr id="8" name="head-right"/>
          <p:cNvSpPr txBox="1"/>
          <p:nvPr/>
        </p:nvSpPr>
        <p:spPr>
          <a:xfrm>
            <a:off x="7569200" y="3048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2026-08</a:t>
            </a:r>
            <a:endParaRPr lang="en-US" sz="850" noProof="1"/>
          </a:p>
        </p:txBody>
      </p:sp>
      <p:sp>
        <p:nvSpPr>
          <p:cNvPr id="9" name="doc-no"/>
          <p:cNvSpPr txBox="1"/>
          <p:nvPr/>
        </p:nvSpPr>
        <p:spPr>
          <a:xfrm>
            <a:off x="812800" y="1320800"/>
            <a:ext cx="406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000" kern="0" spc="300" noProof="1">
                <a:solidFill>
                  <a:srgbClr val="C22441"/>
                </a:solidFill>
                <a:latin typeface="MiSans"/>
                <a:ea typeface="MiSans"/>
              </a:rPr>
              <a:t>数据库课程设计</a:t>
            </a:r>
            <a:endParaRPr lang="en-US" sz="1000" noProof="1"/>
          </a:p>
        </p:txBody>
      </p:sp>
      <p:sp>
        <p:nvSpPr>
          <p:cNvPr id="10" name="title"/>
          <p:cNvSpPr txBox="1"/>
          <p:nvPr/>
        </p:nvSpPr>
        <p:spPr>
          <a:xfrm>
            <a:off x="762000" y="1574800"/>
            <a:ext cx="8128000" cy="149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noProof="1">
                <a:solidFill>
                  <a:srgbClr val="1B1813"/>
                </a:solidFill>
                <a:latin typeface="思源宋体"/>
                <a:ea typeface="思源宋体"/>
              </a:rPr>
              <a:t>济跑跑</a:t>
            </a:r>
            <a:endParaRPr lang="en-US" sz="9600" noProof="1"/>
          </a:p>
        </p:txBody>
      </p:sp>
      <p:sp>
        <p:nvSpPr>
          <p:cNvPr id="11" name="subtitle"/>
          <p:cNvSpPr txBox="1"/>
          <p:nvPr/>
        </p:nvSpPr>
        <p:spPr>
          <a:xfrm>
            <a:off x="812800" y="3200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noProof="1">
                <a:solidFill>
                  <a:srgbClr val="1B1813"/>
                </a:solidFill>
                <a:latin typeface="思源宋体"/>
                <a:ea typeface="思源宋体"/>
              </a:rPr>
              <a:t>校园中转分发与跑腿服务管理系统</a:t>
            </a:r>
            <a:endParaRPr lang="en-US" sz="2100" noProof="1"/>
          </a:p>
        </p:txBody>
      </p:sp>
      <p:sp>
        <p:nvSpPr>
          <p:cNvPr id="12" name="subtitle-en"/>
          <p:cNvSpPr txBox="1"/>
          <p:nvPr/>
        </p:nvSpPr>
        <p:spPr>
          <a:xfrm>
            <a:off x="812800" y="3683000"/>
            <a:ext cx="7874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JIRUN · CAMPUS DELIVERY &amp; ERRAND SERVICE SYSTEM</a:t>
            </a:r>
            <a:endParaRPr lang="en-US" sz="850" noProof="1"/>
          </a:p>
        </p:txBody>
      </p:sp>
      <p:sp>
        <p:nvSpPr>
          <p:cNvPr id="13" name="defense-mark"/>
          <p:cNvSpPr/>
          <p:nvPr/>
        </p:nvSpPr>
        <p:spPr>
          <a:xfrm>
            <a:off x="812800" y="4165600"/>
            <a:ext cx="152400" cy="152400"/>
          </a:xfrm>
          <a:prstGeom prst="rect">
            <a:avLst/>
          </a:prstGeom>
          <a:solidFill>
            <a:srgbClr val="C22441"/>
          </a:solidFill>
          <a:ln>
            <a:noFill/>
          </a:ln>
        </p:spPr>
      </p:sp>
      <p:sp>
        <p:nvSpPr>
          <p:cNvPr id="14" name="defense-text"/>
          <p:cNvSpPr txBox="1"/>
          <p:nvPr/>
        </p:nvSpPr>
        <p:spPr>
          <a:xfrm>
            <a:off x="1092200" y="41402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校内代取代送，从发单到结算</a:t>
            </a:r>
            <a:endParaRPr lang="en-US" sz="1100" noProof="1"/>
          </a:p>
        </p:txBody>
      </p:sp>
      <p:sp>
        <p:nvSpPr>
          <p:cNvPr id="15" name="reg-rule-top"/>
          <p:cNvSpPr/>
          <p:nvPr/>
        </p:nvSpPr>
        <p:spPr>
          <a:xfrm>
            <a:off x="812800" y="4876800"/>
            <a:ext cx="10566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6" name="reg-l1-label"/>
          <p:cNvSpPr txBox="1"/>
          <p:nvPr/>
        </p:nvSpPr>
        <p:spPr>
          <a:xfrm>
            <a:off x="812800" y="50546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课程</a:t>
            </a:r>
            <a:endParaRPr lang="en-US" sz="850" noProof="1"/>
          </a:p>
        </p:txBody>
      </p:sp>
      <p:sp>
        <p:nvSpPr>
          <p:cNvPr id="17" name="reg-l1-value"/>
          <p:cNvSpPr txBox="1"/>
          <p:nvPr/>
        </p:nvSpPr>
        <p:spPr>
          <a:xfrm>
            <a:off x="1778000" y="50419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数据库系统课程设计</a:t>
            </a:r>
            <a:endParaRPr lang="en-US" sz="1100" noProof="1"/>
          </a:p>
        </p:txBody>
      </p:sp>
      <p:sp>
        <p:nvSpPr>
          <p:cNvPr id="18" name="reg-l2-label"/>
          <p:cNvSpPr txBox="1"/>
          <p:nvPr/>
        </p:nvSpPr>
        <p:spPr>
          <a:xfrm>
            <a:off x="812800" y="54356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小组</a:t>
            </a:r>
            <a:endParaRPr lang="en-US" sz="850" noProof="1"/>
          </a:p>
        </p:txBody>
      </p:sp>
      <p:sp>
        <p:nvSpPr>
          <p:cNvPr id="19" name="reg-l2-value"/>
          <p:cNvSpPr txBox="1"/>
          <p:nvPr/>
        </p:nvSpPr>
        <p:spPr>
          <a:xfrm>
            <a:off x="1778000" y="5422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〔第 X 小组 · 成员姓名〕</a:t>
            </a:r>
            <a:endParaRPr lang="en-US" sz="1100" noProof="1"/>
          </a:p>
        </p:txBody>
      </p:sp>
      <p:sp>
        <p:nvSpPr>
          <p:cNvPr id="20" name="reg-l3-label"/>
          <p:cNvSpPr txBox="1"/>
          <p:nvPr/>
        </p:nvSpPr>
        <p:spPr>
          <a:xfrm>
            <a:off x="812800" y="58166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汇报</a:t>
            </a:r>
            <a:endParaRPr lang="en-US" sz="850" noProof="1"/>
          </a:p>
        </p:txBody>
      </p:sp>
      <p:sp>
        <p:nvSpPr>
          <p:cNvPr id="21" name="reg-l3-value"/>
          <p:cNvSpPr txBox="1"/>
          <p:nvPr/>
        </p:nvSpPr>
        <p:spPr>
          <a:xfrm>
            <a:off x="1778000" y="5803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〔汇报人〕</a:t>
            </a:r>
            <a:endParaRPr lang="en-US" sz="1100" noProof="1"/>
          </a:p>
        </p:txBody>
      </p:sp>
      <p:sp>
        <p:nvSpPr>
          <p:cNvPr id="22" name="reg-r1-label"/>
          <p:cNvSpPr txBox="1"/>
          <p:nvPr/>
        </p:nvSpPr>
        <p:spPr>
          <a:xfrm>
            <a:off x="6350000" y="50546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技术栈</a:t>
            </a:r>
            <a:endParaRPr lang="en-US" sz="850" noProof="1"/>
          </a:p>
        </p:txBody>
      </p:sp>
      <p:sp>
        <p:nvSpPr>
          <p:cNvPr id="23" name="reg-r1-value"/>
          <p:cNvSpPr txBox="1"/>
          <p:nvPr/>
        </p:nvSpPr>
        <p:spPr>
          <a:xfrm>
            <a:off x="7315200" y="5041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ASP.NET Core MVC · Oracle 19c</a:t>
            </a:r>
            <a:endParaRPr lang="en-US" sz="1100" noProof="1"/>
          </a:p>
        </p:txBody>
      </p:sp>
      <p:sp>
        <p:nvSpPr>
          <p:cNvPr id="24" name="reg-r2-label"/>
          <p:cNvSpPr txBox="1"/>
          <p:nvPr/>
        </p:nvSpPr>
        <p:spPr>
          <a:xfrm>
            <a:off x="6350000" y="54356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规模</a:t>
            </a:r>
            <a:endParaRPr lang="en-US" sz="850" noProof="1"/>
          </a:p>
        </p:txBody>
      </p:sp>
      <p:sp>
        <p:nvSpPr>
          <p:cNvPr id="25" name="reg-r2-value"/>
          <p:cNvSpPr txBox="1"/>
          <p:nvPr/>
        </p:nvSpPr>
        <p:spPr>
          <a:xfrm>
            <a:off x="7315200" y="5422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24 张关系表 · 30 项功能点</a:t>
            </a:r>
            <a:endParaRPr lang="en-US" sz="1100" noProof="1"/>
          </a:p>
        </p:txBody>
      </p:sp>
      <p:sp>
        <p:nvSpPr>
          <p:cNvPr id="26" name="reg-r3-label"/>
          <p:cNvSpPr txBox="1"/>
          <p:nvPr/>
        </p:nvSpPr>
        <p:spPr>
          <a:xfrm>
            <a:off x="6350000" y="58166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状态</a:t>
            </a:r>
            <a:endParaRPr lang="en-US" sz="850" noProof="1"/>
          </a:p>
        </p:txBody>
      </p:sp>
      <p:sp>
        <p:nvSpPr>
          <p:cNvPr id="27" name="reg-r3-value"/>
          <p:cNvSpPr txBox="1"/>
          <p:nvPr/>
        </p:nvSpPr>
        <p:spPr>
          <a:xfrm>
            <a:off x="7315200" y="5803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100" noProof="1">
                <a:solidFill>
                  <a:srgbClr val="1B1813"/>
                </a:solidFill>
                <a:latin typeface="MiSans"/>
                <a:ea typeface="MiSans"/>
              </a:rPr>
              <a:t>验收通过</a:t>
            </a:r>
            <a:endParaRPr lang="en-US" sz="1100" noProof="1"/>
          </a:p>
        </p:txBody>
      </p:sp>
      <p:sp>
        <p:nvSpPr>
          <p:cNvPr id="28" name="reg-rule-bottom"/>
          <p:cNvSpPr/>
          <p:nvPr/>
        </p:nvSpPr>
        <p:spPr>
          <a:xfrm>
            <a:off x="812800" y="6172200"/>
            <a:ext cx="10566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0001BE19-6915-421B-BC41-621CB0586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260838"/>
            <a:ext cx="4971562" cy="4971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摘要 · ABSTRACT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abs-label"/>
          <p:cNvSpPr txBox="1"/>
          <p:nvPr/>
        </p:nvSpPr>
        <p:spPr>
          <a:xfrm>
            <a:off x="609600" y="9652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摘要 · ABSTRACT</a:t>
            </a:r>
            <a:endParaRPr lang="en-US" sz="850" noProof="1"/>
          </a:p>
        </p:txBody>
      </p:sp>
      <p:sp>
        <p:nvSpPr>
          <p:cNvPr id="6" name="abs-prose"/>
          <p:cNvSpPr txBox="1"/>
          <p:nvPr/>
        </p:nvSpPr>
        <p:spPr>
          <a:xfrm>
            <a:off x="609600" y="1270000"/>
            <a:ext cx="5969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90000"/>
              </a:lnSpc>
            </a:pPr>
            <a:r>
              <a:rPr lang="en-US" sz="1250" noProof="1">
                <a:solidFill>
                  <a:srgbClr val="1B1813"/>
                </a:solidFill>
                <a:latin typeface="MiSans"/>
                <a:ea typeface="MiSans"/>
              </a:rPr>
              <a:t>学校里代取快递、分外卖、跑杂事，以前都靠群聊。这个项目把它做成了一套系统。</a:t>
            </a:r>
            <a:endParaRPr lang="en-US" sz="1250" noProof="1"/>
          </a:p>
          <a:p>
            <a:pPr algn="l">
              <a:lnSpc>
                <a:spcPct val="19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B1813"/>
                </a:solidFill>
                <a:latin typeface="MiSans"/>
                <a:ea typeface="MiSans"/>
              </a:rPr>
              <a:t>用户发任务，跑腿员接单送货，送到了再付款。之后的评价、投诉、退款、结算、审计，都挂在这一次配送的</a:t>
            </a: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接派记录</a:t>
            </a:r>
            <a:r>
              <a:rPr lang="en-US" sz="1250" noProof="1">
                <a:solidFill>
                  <a:srgbClr val="1B1813"/>
                </a:solidFill>
                <a:latin typeface="MiSans"/>
                <a:ea typeface="MiSans"/>
              </a:rPr>
              <a:t>上。</a:t>
            </a:r>
            <a:endParaRPr lang="en-US" sz="1250" noProof="1"/>
          </a:p>
          <a:p>
            <a:pPr algn="l">
              <a:lnSpc>
                <a:spcPct val="190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1B1813"/>
                </a:solidFill>
                <a:latin typeface="MiSans"/>
                <a:ea typeface="MiSans"/>
              </a:rPr>
              <a:t>规则写在服务层和数据库约束里。</a:t>
            </a:r>
            <a:endParaRPr lang="en-US" sz="1250" noProof="1"/>
          </a:p>
        </p:txBody>
      </p:sp>
      <p:sp>
        <p:nvSpPr>
          <p:cNvPr id="7" name="reg-label"/>
          <p:cNvSpPr txBox="1"/>
          <p:nvPr/>
        </p:nvSpPr>
        <p:spPr>
          <a:xfrm>
            <a:off x="7366000" y="965200"/>
            <a:ext cx="4216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关键参数 · PARAMETERS</a:t>
            </a:r>
            <a:endParaRPr lang="en-US" sz="850" noProof="1"/>
          </a:p>
        </p:txBody>
      </p:sp>
      <p:sp>
        <p:nvSpPr>
          <p:cNvPr id="8" name="reg-rule0"/>
          <p:cNvSpPr/>
          <p:nvPr/>
        </p:nvSpPr>
        <p:spPr>
          <a:xfrm>
            <a:off x="7366000" y="1244600"/>
            <a:ext cx="4216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9" name="reg1-label"/>
          <p:cNvSpPr txBox="1"/>
          <p:nvPr/>
        </p:nvSpPr>
        <p:spPr>
          <a:xfrm>
            <a:off x="7366000" y="14224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角色</a:t>
            </a:r>
            <a:endParaRPr lang="en-US" sz="850" noProof="1"/>
          </a:p>
        </p:txBody>
      </p:sp>
      <p:sp>
        <p:nvSpPr>
          <p:cNvPr id="10" name="reg1-value"/>
          <p:cNvSpPr txBox="1"/>
          <p:nvPr/>
        </p:nvSpPr>
        <p:spPr>
          <a:xfrm>
            <a:off x="8331200" y="14097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用户 · 跑腿员 · 管理员</a:t>
            </a:r>
            <a:endParaRPr lang="en-US" sz="1100" noProof="1"/>
          </a:p>
        </p:txBody>
      </p:sp>
      <p:sp>
        <p:nvSpPr>
          <p:cNvPr id="11" name="reg-rule1"/>
          <p:cNvSpPr/>
          <p:nvPr/>
        </p:nvSpPr>
        <p:spPr>
          <a:xfrm>
            <a:off x="7366000" y="1752600"/>
            <a:ext cx="4216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2" name="reg2-label"/>
          <p:cNvSpPr txBox="1"/>
          <p:nvPr/>
        </p:nvSpPr>
        <p:spPr>
          <a:xfrm>
            <a:off x="7366000" y="19304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闭环</a:t>
            </a:r>
            <a:endParaRPr lang="en-US" sz="850" noProof="1"/>
          </a:p>
        </p:txBody>
      </p:sp>
      <p:sp>
        <p:nvSpPr>
          <p:cNvPr id="13" name="reg2-value"/>
          <p:cNvSpPr txBox="1"/>
          <p:nvPr/>
        </p:nvSpPr>
        <p:spPr>
          <a:xfrm>
            <a:off x="8331200" y="1917700"/>
            <a:ext cx="3251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发布 → 接派 → 配送 → 付款 → 售后 → 结算 → 审计</a:t>
            </a:r>
            <a:endParaRPr lang="en-US" sz="1100" noProof="1"/>
          </a:p>
        </p:txBody>
      </p:sp>
      <p:sp>
        <p:nvSpPr>
          <p:cNvPr id="14" name="reg-rule2"/>
          <p:cNvSpPr/>
          <p:nvPr/>
        </p:nvSpPr>
        <p:spPr>
          <a:xfrm>
            <a:off x="7366000" y="2413000"/>
            <a:ext cx="4216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5" name="reg3-label"/>
          <p:cNvSpPr txBox="1"/>
          <p:nvPr/>
        </p:nvSpPr>
        <p:spPr>
          <a:xfrm>
            <a:off x="7366000" y="25908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架构</a:t>
            </a:r>
            <a:endParaRPr lang="en-US" sz="850" noProof="1"/>
          </a:p>
        </p:txBody>
      </p:sp>
      <p:sp>
        <p:nvSpPr>
          <p:cNvPr id="16" name="reg3-value"/>
          <p:cNvSpPr txBox="1"/>
          <p:nvPr/>
        </p:nvSpPr>
        <p:spPr>
          <a:xfrm>
            <a:off x="8331200" y="25781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MVC 五层，单向依赖</a:t>
            </a:r>
            <a:endParaRPr lang="en-US" sz="1100" noProof="1"/>
          </a:p>
        </p:txBody>
      </p:sp>
      <p:sp>
        <p:nvSpPr>
          <p:cNvPr id="17" name="reg-rule3"/>
          <p:cNvSpPr/>
          <p:nvPr/>
        </p:nvSpPr>
        <p:spPr>
          <a:xfrm>
            <a:off x="7366000" y="2921000"/>
            <a:ext cx="4216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8" name="reg4-label"/>
          <p:cNvSpPr txBox="1"/>
          <p:nvPr/>
        </p:nvSpPr>
        <p:spPr>
          <a:xfrm>
            <a:off x="7366000" y="30988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验证</a:t>
            </a:r>
            <a:endParaRPr lang="en-US" sz="850" noProof="1"/>
          </a:p>
        </p:txBody>
      </p:sp>
      <p:sp>
        <p:nvSpPr>
          <p:cNvPr id="19" name="reg4-value"/>
          <p:cNvSpPr txBox="1"/>
          <p:nvPr/>
        </p:nvSpPr>
        <p:spPr>
          <a:xfrm>
            <a:off x="8331200" y="30861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39 项自动化测试 + 静态门禁</a:t>
            </a:r>
            <a:endParaRPr lang="en-US" sz="1100" noProof="1"/>
          </a:p>
        </p:txBody>
      </p:sp>
      <p:sp>
        <p:nvSpPr>
          <p:cNvPr id="20" name="reg-rule4"/>
          <p:cNvSpPr/>
          <p:nvPr/>
        </p:nvSpPr>
        <p:spPr>
          <a:xfrm>
            <a:off x="7366000" y="3429000"/>
            <a:ext cx="4216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21" name="reg5-label"/>
          <p:cNvSpPr txBox="1"/>
          <p:nvPr/>
        </p:nvSpPr>
        <p:spPr>
          <a:xfrm>
            <a:off x="7366000" y="36068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证据</a:t>
            </a:r>
            <a:endParaRPr lang="en-US" sz="850" noProof="1"/>
          </a:p>
        </p:txBody>
      </p:sp>
      <p:sp>
        <p:nvSpPr>
          <p:cNvPr id="22" name="reg5-value"/>
          <p:cNvSpPr txBox="1"/>
          <p:nvPr/>
        </p:nvSpPr>
        <p:spPr>
          <a:xfrm>
            <a:off x="8331200" y="3594100"/>
            <a:ext cx="3251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docs/ 设计文档与 test-evidence/ 截图归档</a:t>
            </a:r>
            <a:endParaRPr lang="en-US" sz="1100" noProof="1"/>
          </a:p>
        </p:txBody>
      </p:sp>
      <p:sp>
        <p:nvSpPr>
          <p:cNvPr id="23" name="reg-rule5"/>
          <p:cNvSpPr/>
          <p:nvPr/>
        </p:nvSpPr>
        <p:spPr>
          <a:xfrm>
            <a:off x="7366000" y="4089400"/>
            <a:ext cx="4216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24" name="idx-rule-top"/>
          <p:cNvSpPr/>
          <p:nvPr/>
        </p:nvSpPr>
        <p:spPr>
          <a:xfrm>
            <a:off x="609600" y="5334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25" name="idx-label"/>
          <p:cNvSpPr txBox="1"/>
          <p:nvPr/>
        </p:nvSpPr>
        <p:spPr>
          <a:xfrm>
            <a:off x="609600" y="55118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索引 · INDEX</a:t>
            </a:r>
            <a:endParaRPr lang="en-US" sz="850" noProof="1"/>
          </a:p>
        </p:txBody>
      </p:sp>
      <p:sp>
        <p:nvSpPr>
          <p:cNvPr id="26" name="idx-list"/>
          <p:cNvSpPr txBox="1"/>
          <p:nvPr/>
        </p:nvSpPr>
        <p:spPr>
          <a:xfrm>
            <a:off x="609600" y="5765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01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问题　</a:t>
            </a: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02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闭环　</a:t>
            </a: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03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功能　</a:t>
            </a: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04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架构　</a:t>
            </a: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05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数据　</a:t>
            </a: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06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状态　</a:t>
            </a: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07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一致性　</a:t>
            </a: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08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图版　</a:t>
            </a: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09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验证　</a:t>
            </a:r>
            <a:r>
              <a:rPr lang="en-US" sz="1100" noProof="1">
                <a:solidFill>
                  <a:srgbClr val="1B1813"/>
                </a:solidFill>
                <a:latin typeface="思源宋体"/>
                <a:ea typeface="思源宋体"/>
              </a:rPr>
              <a:t>10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分工</a:t>
            </a:r>
            <a:endParaRPr lang="en-US" sz="1100" noProof="1"/>
          </a:p>
        </p:txBody>
      </p:sp>
      <p:sp>
        <p:nvSpPr>
          <p:cNvPr id="27" name="idx-rule-bottom"/>
          <p:cNvSpPr/>
          <p:nvPr/>
        </p:nvSpPr>
        <p:spPr>
          <a:xfrm>
            <a:off x="609600" y="61722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28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02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问题定义 · PROBLEM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quote"/>
          <p:cNvSpPr txBox="1"/>
          <p:nvPr/>
        </p:nvSpPr>
        <p:spPr>
          <a:xfrm>
            <a:off x="609600" y="1092200"/>
            <a:ext cx="10714892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600" noProof="1">
                <a:solidFill>
                  <a:srgbClr val="000000"/>
                </a:solidFill>
                <a:latin typeface="思源宋体"/>
                <a:ea typeface="思源宋体"/>
              </a:rPr>
              <a:t>「</a:t>
            </a:r>
            <a:r>
              <a:rPr lang="en-US" sz="2600" noProof="1">
                <a:solidFill>
                  <a:srgbClr val="1B1813"/>
                </a:solidFill>
                <a:latin typeface="思源宋体"/>
                <a:ea typeface="思源宋体"/>
              </a:rPr>
              <a:t>支付记录不是发单时的预付订单，是一次配送真正做完之后的收款。</a:t>
            </a:r>
            <a:r>
              <a:rPr lang="en-US" sz="2600" noProof="1">
                <a:solidFill>
                  <a:srgbClr val="000000"/>
                </a:solidFill>
                <a:latin typeface="思源宋体"/>
                <a:ea typeface="思源宋体"/>
              </a:rPr>
              <a:t>」</a:t>
            </a:r>
            <a:endParaRPr lang="en-US" sz="2600" noProof="1"/>
          </a:p>
        </p:txBody>
      </p:sp>
      <p:sp>
        <p:nvSpPr>
          <p:cNvPr id="6" name="quote-attr"/>
          <p:cNvSpPr txBox="1"/>
          <p:nvPr/>
        </p:nvSpPr>
        <p:spPr>
          <a:xfrm>
            <a:off x="609600" y="21844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—— 业务口径定义，docs/business-logic-overview.md</a:t>
            </a:r>
            <a:endParaRPr lang="en-US" sz="850" noProof="1"/>
          </a:p>
        </p:txBody>
      </p:sp>
      <p:sp>
        <p:nvSpPr>
          <p:cNvPr id="7" name="prob-rule0"/>
          <p:cNvSpPr/>
          <p:nvPr/>
        </p:nvSpPr>
        <p:spPr>
          <a:xfrm>
            <a:off x="609600" y="27178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8" name="prob1-num"/>
          <p:cNvSpPr txBox="1"/>
          <p:nvPr/>
        </p:nvSpPr>
        <p:spPr>
          <a:xfrm>
            <a:off x="609600" y="29464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B1813"/>
                </a:solidFill>
                <a:latin typeface="思源宋体"/>
                <a:ea typeface="思源宋体"/>
              </a:rPr>
              <a:t>01</a:t>
            </a:r>
            <a:endParaRPr lang="en-US" sz="2600" noProof="1"/>
          </a:p>
        </p:txBody>
      </p:sp>
      <p:sp>
        <p:nvSpPr>
          <p:cNvPr id="9" name="prob1-title"/>
          <p:cNvSpPr txBox="1"/>
          <p:nvPr/>
        </p:nvSpPr>
        <p:spPr>
          <a:xfrm>
            <a:off x="1549400" y="29718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B1813"/>
                </a:solidFill>
                <a:latin typeface="MiSans"/>
                <a:ea typeface="MiSans"/>
              </a:rPr>
              <a:t>发单靠群聊</a:t>
            </a:r>
            <a:endParaRPr lang="en-US" sz="1400" noProof="1"/>
          </a:p>
        </p:txBody>
      </p:sp>
      <p:sp>
        <p:nvSpPr>
          <p:cNvPr id="10" name="prob1-desc"/>
          <p:cNvSpPr txBox="1"/>
          <p:nvPr/>
        </p:nvSpPr>
        <p:spPr>
          <a:xfrm>
            <a:off x="1549400" y="32766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8B8271"/>
                </a:solidFill>
                <a:latin typeface="MiSans"/>
                <a:ea typeface="MiSans"/>
              </a:rPr>
              <a:t>代取快递、分外卖、跑杂事都靠群聊和私聊。谁发的单、谁接的、多少钱，得翻聊天记录才知道。</a:t>
            </a:r>
            <a:endParaRPr lang="en-US" sz="1050" noProof="1"/>
          </a:p>
        </p:txBody>
      </p:sp>
      <p:sp>
        <p:nvSpPr>
          <p:cNvPr id="11" name="prob-rule1"/>
          <p:cNvSpPr/>
          <p:nvPr/>
        </p:nvSpPr>
        <p:spPr>
          <a:xfrm>
            <a:off x="609600" y="38100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2" name="prob2-num"/>
          <p:cNvSpPr txBox="1"/>
          <p:nvPr/>
        </p:nvSpPr>
        <p:spPr>
          <a:xfrm>
            <a:off x="609600" y="4038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B1813"/>
                </a:solidFill>
                <a:latin typeface="思源宋体"/>
                <a:ea typeface="思源宋体"/>
              </a:rPr>
              <a:t>02</a:t>
            </a:r>
            <a:endParaRPr lang="en-US" sz="2600" noProof="1"/>
          </a:p>
        </p:txBody>
      </p:sp>
      <p:sp>
        <p:nvSpPr>
          <p:cNvPr id="13" name="prob2-title"/>
          <p:cNvSpPr txBox="1"/>
          <p:nvPr/>
        </p:nvSpPr>
        <p:spPr>
          <a:xfrm>
            <a:off x="1549400" y="40640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B1813"/>
                </a:solidFill>
                <a:latin typeface="MiSans"/>
                <a:ea typeface="MiSans"/>
              </a:rPr>
              <a:t>出了问题没凭据</a:t>
            </a:r>
            <a:endParaRPr lang="en-US" sz="1400" noProof="1"/>
          </a:p>
        </p:txBody>
      </p:sp>
      <p:sp>
        <p:nvSpPr>
          <p:cNvPr id="14" name="prob2-desc"/>
          <p:cNvSpPr txBox="1"/>
          <p:nvPr/>
        </p:nvSpPr>
        <p:spPr>
          <a:xfrm>
            <a:off x="1549400" y="43688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8B8271"/>
                </a:solidFill>
                <a:latin typeface="MiSans"/>
                <a:ea typeface="MiSans"/>
              </a:rPr>
              <a:t>送到了没有、钱付了没有、退款到哪一步，全凭口头。真出了纠纷，两边都说不清。</a:t>
            </a:r>
            <a:endParaRPr lang="en-US" sz="1050" noProof="1"/>
          </a:p>
        </p:txBody>
      </p:sp>
      <p:sp>
        <p:nvSpPr>
          <p:cNvPr id="15" name="prob-rule2"/>
          <p:cNvSpPr/>
          <p:nvPr/>
        </p:nvSpPr>
        <p:spPr>
          <a:xfrm>
            <a:off x="609600" y="49022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6" name="prob3-num"/>
          <p:cNvSpPr txBox="1"/>
          <p:nvPr/>
        </p:nvSpPr>
        <p:spPr>
          <a:xfrm>
            <a:off x="609600" y="51308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B1813"/>
                </a:solidFill>
                <a:latin typeface="思源宋体"/>
                <a:ea typeface="思源宋体"/>
              </a:rPr>
              <a:t>03</a:t>
            </a:r>
            <a:endParaRPr lang="en-US" sz="2600" noProof="1"/>
          </a:p>
        </p:txBody>
      </p:sp>
      <p:sp>
        <p:nvSpPr>
          <p:cNvPr id="17" name="prob3-title"/>
          <p:cNvSpPr txBox="1"/>
          <p:nvPr/>
        </p:nvSpPr>
        <p:spPr>
          <a:xfrm>
            <a:off x="1549400" y="51562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B1813"/>
                </a:solidFill>
                <a:latin typeface="MiSans"/>
                <a:ea typeface="MiSans"/>
              </a:rPr>
              <a:t>人多了管不过来</a:t>
            </a:r>
            <a:endParaRPr lang="en-US" sz="1400" noProof="1"/>
          </a:p>
        </p:txBody>
      </p:sp>
      <p:sp>
        <p:nvSpPr>
          <p:cNvPr id="18" name="prob3-desc"/>
          <p:cNvSpPr txBox="1"/>
          <p:nvPr/>
        </p:nvSpPr>
        <p:spPr>
          <a:xfrm>
            <a:off x="1549400" y="54610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8B8271"/>
                </a:solidFill>
                <a:latin typeface="MiSans"/>
                <a:ea typeface="MiSans"/>
              </a:rPr>
              <a:t>跑腿的人靠不靠谱、工钱怎么结、服务好不好，都没有个说法。人一多，就乱。</a:t>
            </a:r>
            <a:endParaRPr lang="en-US" sz="1050" noProof="1"/>
          </a:p>
        </p:txBody>
      </p:sp>
      <p:sp>
        <p:nvSpPr>
          <p:cNvPr id="19" name="prob-rule3"/>
          <p:cNvSpPr/>
          <p:nvPr/>
        </p:nvSpPr>
        <p:spPr>
          <a:xfrm>
            <a:off x="609600" y="59944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20" name="conclusion"/>
          <p:cNvSpPr txBox="1"/>
          <p:nvPr/>
        </p:nvSpPr>
        <p:spPr>
          <a:xfrm>
            <a:off x="609600" y="61722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1B1813"/>
                </a:solidFill>
                <a:latin typeface="思源宋体"/>
                <a:ea typeface="思源宋体"/>
              </a:rPr>
              <a:t>所以这份设计的出发点很朴素：</a:t>
            </a:r>
            <a:r>
              <a:rPr lang="en-US" sz="1250" noProof="1">
                <a:solidFill>
                  <a:srgbClr val="000000"/>
                </a:solidFill>
                <a:latin typeface="思源宋体"/>
                <a:ea typeface="思源宋体"/>
              </a:rPr>
              <a:t>每一单、每一笔账，系统里都要查得到。</a:t>
            </a:r>
            <a:endParaRPr lang="en-US" sz="1250" noProof="1"/>
          </a:p>
        </p:txBody>
      </p:sp>
      <p:sp>
        <p:nvSpPr>
          <p:cNvPr id="21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03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业务闭环 · MAIN FLOW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headline"/>
          <p:cNvSpPr txBox="1"/>
          <p:nvPr/>
        </p:nvSpPr>
        <p:spPr>
          <a:xfrm>
            <a:off x="609600" y="812800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B1813"/>
                </a:solidFill>
                <a:latin typeface="思源宋体"/>
                <a:ea typeface="思源宋体"/>
              </a:rPr>
              <a:t>任务发布结算</a:t>
            </a:r>
            <a:endParaRPr lang="en-US" sz="3000" noProof="1"/>
          </a:p>
        </p:txBody>
      </p:sp>
      <p:sp>
        <p:nvSpPr>
          <p:cNvPr id="6" name="flow-line"/>
          <p:cNvSpPr/>
          <p:nvPr/>
        </p:nvSpPr>
        <p:spPr>
          <a:xfrm>
            <a:off x="812800" y="2286000"/>
            <a:ext cx="105664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7" name="st1-num"/>
          <p:cNvSpPr txBox="1"/>
          <p:nvPr/>
        </p:nvSpPr>
        <p:spPr>
          <a:xfrm>
            <a:off x="1778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B1813"/>
                </a:solidFill>
                <a:latin typeface="思源宋体"/>
                <a:ea typeface="思源宋体"/>
              </a:rPr>
              <a:t>1</a:t>
            </a:r>
            <a:endParaRPr lang="en-US" sz="1500" noProof="1"/>
          </a:p>
        </p:txBody>
      </p:sp>
      <p:sp>
        <p:nvSpPr>
          <p:cNvPr id="8" name="st1-name"/>
          <p:cNvSpPr txBox="1"/>
          <p:nvPr/>
        </p:nvSpPr>
        <p:spPr>
          <a:xfrm>
            <a:off x="177800" y="251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发布任务</a:t>
            </a:r>
            <a:endParaRPr lang="en-US" sz="1050" noProof="1"/>
          </a:p>
        </p:txBody>
      </p:sp>
      <p:sp>
        <p:nvSpPr>
          <p:cNvPr id="9" name="st1-tick"/>
          <p:cNvSpPr/>
          <p:nvPr/>
        </p:nvSpPr>
        <p:spPr>
          <a:xfrm>
            <a:off x="800100" y="2184400"/>
            <a:ext cx="12700" cy="1016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10" name="st2-num"/>
          <p:cNvSpPr txBox="1"/>
          <p:nvPr/>
        </p:nvSpPr>
        <p:spPr>
          <a:xfrm>
            <a:off x="14986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C22441"/>
                </a:solidFill>
                <a:latin typeface="思源宋体"/>
                <a:ea typeface="思源宋体"/>
              </a:rPr>
              <a:t>2</a:t>
            </a:r>
            <a:endParaRPr lang="en-US" sz="1500" noProof="1"/>
          </a:p>
        </p:txBody>
      </p:sp>
      <p:sp>
        <p:nvSpPr>
          <p:cNvPr id="11" name="st2-name"/>
          <p:cNvSpPr txBox="1"/>
          <p:nvPr/>
        </p:nvSpPr>
        <p:spPr>
          <a:xfrm>
            <a:off x="1498600" y="251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C22441"/>
                </a:solidFill>
                <a:latin typeface="MiSans"/>
                <a:ea typeface="MiSans"/>
              </a:rPr>
              <a:t>接派</a:t>
            </a:r>
            <a:endParaRPr lang="en-US" sz="1050" noProof="1"/>
          </a:p>
        </p:txBody>
      </p:sp>
      <p:sp>
        <p:nvSpPr>
          <p:cNvPr id="12" name="st2-tick"/>
          <p:cNvSpPr/>
          <p:nvPr/>
        </p:nvSpPr>
        <p:spPr>
          <a:xfrm>
            <a:off x="2120900" y="2159000"/>
            <a:ext cx="19050" cy="127000"/>
          </a:xfrm>
          <a:prstGeom prst="rect">
            <a:avLst/>
          </a:prstGeom>
          <a:solidFill>
            <a:srgbClr val="C22441"/>
          </a:solidFill>
          <a:ln>
            <a:noFill/>
          </a:ln>
        </p:spPr>
      </p:sp>
      <p:sp>
        <p:nvSpPr>
          <p:cNvPr id="13" name="st3-num"/>
          <p:cNvSpPr txBox="1"/>
          <p:nvPr/>
        </p:nvSpPr>
        <p:spPr>
          <a:xfrm>
            <a:off x="28194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B1813"/>
                </a:solidFill>
                <a:latin typeface="思源宋体"/>
                <a:ea typeface="思源宋体"/>
              </a:rPr>
              <a:t>3</a:t>
            </a:r>
            <a:endParaRPr lang="en-US" sz="1500" noProof="1"/>
          </a:p>
        </p:txBody>
      </p:sp>
      <p:sp>
        <p:nvSpPr>
          <p:cNvPr id="14" name="st3-name"/>
          <p:cNvSpPr txBox="1"/>
          <p:nvPr/>
        </p:nvSpPr>
        <p:spPr>
          <a:xfrm>
            <a:off x="2819400" y="251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取货</a:t>
            </a:r>
            <a:endParaRPr lang="en-US" sz="1050" noProof="1"/>
          </a:p>
        </p:txBody>
      </p:sp>
      <p:sp>
        <p:nvSpPr>
          <p:cNvPr id="15" name="st3-tick"/>
          <p:cNvSpPr/>
          <p:nvPr/>
        </p:nvSpPr>
        <p:spPr>
          <a:xfrm>
            <a:off x="3441700" y="2184400"/>
            <a:ext cx="12700" cy="1016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16" name="st4-num"/>
          <p:cNvSpPr txBox="1"/>
          <p:nvPr/>
        </p:nvSpPr>
        <p:spPr>
          <a:xfrm>
            <a:off x="41402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B1813"/>
                </a:solidFill>
                <a:latin typeface="思源宋体"/>
                <a:ea typeface="思源宋体"/>
              </a:rPr>
              <a:t>4</a:t>
            </a:r>
            <a:endParaRPr lang="en-US" sz="1500" noProof="1"/>
          </a:p>
        </p:txBody>
      </p:sp>
      <p:sp>
        <p:nvSpPr>
          <p:cNvPr id="17" name="st4-name"/>
          <p:cNvSpPr txBox="1"/>
          <p:nvPr/>
        </p:nvSpPr>
        <p:spPr>
          <a:xfrm>
            <a:off x="4140200" y="251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配送</a:t>
            </a:r>
            <a:endParaRPr lang="en-US" sz="1050" noProof="1"/>
          </a:p>
        </p:txBody>
      </p:sp>
      <p:sp>
        <p:nvSpPr>
          <p:cNvPr id="18" name="st4-tick"/>
          <p:cNvSpPr/>
          <p:nvPr/>
        </p:nvSpPr>
        <p:spPr>
          <a:xfrm>
            <a:off x="4762500" y="2184400"/>
            <a:ext cx="12700" cy="1016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19" name="st5-num"/>
          <p:cNvSpPr txBox="1"/>
          <p:nvPr/>
        </p:nvSpPr>
        <p:spPr>
          <a:xfrm>
            <a:off x="54610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B1813"/>
                </a:solidFill>
                <a:latin typeface="思源宋体"/>
                <a:ea typeface="思源宋体"/>
              </a:rPr>
              <a:t>5</a:t>
            </a:r>
            <a:endParaRPr lang="en-US" sz="1500" noProof="1"/>
          </a:p>
        </p:txBody>
      </p:sp>
      <p:sp>
        <p:nvSpPr>
          <p:cNvPr id="20" name="st5-name"/>
          <p:cNvSpPr txBox="1"/>
          <p:nvPr/>
        </p:nvSpPr>
        <p:spPr>
          <a:xfrm>
            <a:off x="5461000" y="251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送达</a:t>
            </a:r>
            <a:endParaRPr lang="en-US" sz="1050" noProof="1"/>
          </a:p>
        </p:txBody>
      </p:sp>
      <p:sp>
        <p:nvSpPr>
          <p:cNvPr id="21" name="st5-tick"/>
          <p:cNvSpPr/>
          <p:nvPr/>
        </p:nvSpPr>
        <p:spPr>
          <a:xfrm>
            <a:off x="6083300" y="2184400"/>
            <a:ext cx="12700" cy="1016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22" name="st6-num"/>
          <p:cNvSpPr txBox="1"/>
          <p:nvPr/>
        </p:nvSpPr>
        <p:spPr>
          <a:xfrm>
            <a:off x="67818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B1813"/>
                </a:solidFill>
                <a:latin typeface="思源宋体"/>
                <a:ea typeface="思源宋体"/>
              </a:rPr>
              <a:t>6</a:t>
            </a:r>
            <a:endParaRPr lang="en-US" sz="1500" noProof="1"/>
          </a:p>
        </p:txBody>
      </p:sp>
      <p:sp>
        <p:nvSpPr>
          <p:cNvPr id="23" name="st6-name"/>
          <p:cNvSpPr txBox="1"/>
          <p:nvPr/>
        </p:nvSpPr>
        <p:spPr>
          <a:xfrm>
            <a:off x="6781800" y="251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确认收货</a:t>
            </a:r>
            <a:endParaRPr lang="en-US" sz="1050" noProof="1"/>
          </a:p>
        </p:txBody>
      </p:sp>
      <p:sp>
        <p:nvSpPr>
          <p:cNvPr id="24" name="st6-tick"/>
          <p:cNvSpPr/>
          <p:nvPr/>
        </p:nvSpPr>
        <p:spPr>
          <a:xfrm>
            <a:off x="7404100" y="2184400"/>
            <a:ext cx="12700" cy="1016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25" name="st7-num"/>
          <p:cNvSpPr txBox="1"/>
          <p:nvPr/>
        </p:nvSpPr>
        <p:spPr>
          <a:xfrm>
            <a:off x="81026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B1813"/>
                </a:solidFill>
                <a:latin typeface="思源宋体"/>
                <a:ea typeface="思源宋体"/>
              </a:rPr>
              <a:t>7</a:t>
            </a:r>
            <a:endParaRPr lang="en-US" sz="1500" noProof="1"/>
          </a:p>
        </p:txBody>
      </p:sp>
      <p:sp>
        <p:nvSpPr>
          <p:cNvPr id="26" name="st7-name"/>
          <p:cNvSpPr txBox="1"/>
          <p:nvPr/>
        </p:nvSpPr>
        <p:spPr>
          <a:xfrm>
            <a:off x="8102600" y="251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付款</a:t>
            </a:r>
            <a:endParaRPr lang="en-US" sz="1050" noProof="1"/>
          </a:p>
        </p:txBody>
      </p:sp>
      <p:sp>
        <p:nvSpPr>
          <p:cNvPr id="27" name="st7-tick"/>
          <p:cNvSpPr/>
          <p:nvPr/>
        </p:nvSpPr>
        <p:spPr>
          <a:xfrm>
            <a:off x="8724900" y="2184400"/>
            <a:ext cx="12700" cy="1016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28" name="st8-num"/>
          <p:cNvSpPr txBox="1"/>
          <p:nvPr/>
        </p:nvSpPr>
        <p:spPr>
          <a:xfrm>
            <a:off x="94234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B1813"/>
                </a:solidFill>
                <a:latin typeface="思源宋体"/>
                <a:ea typeface="思源宋体"/>
              </a:rPr>
              <a:t>8</a:t>
            </a:r>
            <a:endParaRPr lang="en-US" sz="1500" noProof="1"/>
          </a:p>
        </p:txBody>
      </p:sp>
      <p:sp>
        <p:nvSpPr>
          <p:cNvPr id="29" name="st8-name"/>
          <p:cNvSpPr txBox="1"/>
          <p:nvPr/>
        </p:nvSpPr>
        <p:spPr>
          <a:xfrm>
            <a:off x="9423400" y="251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评价 · 投诉</a:t>
            </a:r>
            <a:endParaRPr lang="en-US" sz="1050" noProof="1"/>
          </a:p>
        </p:txBody>
      </p:sp>
      <p:sp>
        <p:nvSpPr>
          <p:cNvPr id="30" name="st8-tick"/>
          <p:cNvSpPr/>
          <p:nvPr/>
        </p:nvSpPr>
        <p:spPr>
          <a:xfrm>
            <a:off x="10045700" y="2184400"/>
            <a:ext cx="12700" cy="1016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31" name="st9-num"/>
          <p:cNvSpPr txBox="1"/>
          <p:nvPr/>
        </p:nvSpPr>
        <p:spPr>
          <a:xfrm>
            <a:off x="107442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B1813"/>
                </a:solidFill>
                <a:latin typeface="思源宋体"/>
                <a:ea typeface="思源宋体"/>
              </a:rPr>
              <a:t>9</a:t>
            </a:r>
            <a:endParaRPr lang="en-US" sz="1500" noProof="1"/>
          </a:p>
        </p:txBody>
      </p:sp>
      <p:sp>
        <p:nvSpPr>
          <p:cNvPr id="32" name="st9-name"/>
          <p:cNvSpPr txBox="1"/>
          <p:nvPr/>
        </p:nvSpPr>
        <p:spPr>
          <a:xfrm>
            <a:off x="10744200" y="251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结算 · 审计</a:t>
            </a:r>
            <a:endParaRPr lang="en-US" sz="1050" noProof="1"/>
          </a:p>
        </p:txBody>
      </p:sp>
      <p:sp>
        <p:nvSpPr>
          <p:cNvPr id="33" name="st9-tick"/>
          <p:cNvSpPr/>
          <p:nvPr/>
        </p:nvSpPr>
        <p:spPr>
          <a:xfrm>
            <a:off x="11366500" y="2184400"/>
            <a:ext cx="12700" cy="1016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34" name="anchor-leade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eyJ2aWV3Qm94IjpbMSwzMF0sInBvaW50cyI6IjAuNSwwIDAuNSwzMCIsImN1cnZlIjoic2hhcnAifQ</pptd:line>
              </p:ext>
            </p:extLst>
          </p:nvPr>
        </p:nvSpPr>
        <p:spPr>
          <a:xfrm>
            <a:off x="2120900" y="2768600"/>
            <a:ext cx="12700" cy="381000"/>
          </a:xfrm>
          <a:custGeom>
            <a:avLst/>
            <a:gdLst/>
            <a:ahLst/>
            <a:cxnLst/>
            <a:rect l="l" t="t" r="r" b="b"/>
            <a:pathLst>
              <a:path w="1" h="30">
                <a:moveTo>
                  <a:pt x="1" y="0"/>
                </a:moveTo>
                <a:lnTo>
                  <a:pt x="1" y="30"/>
                </a:lnTo>
              </a:path>
            </a:pathLst>
          </a:custGeom>
          <a:noFill/>
          <a:ln w="12700">
            <a:solidFill>
              <a:srgbClr val="C22441"/>
            </a:solidFill>
            <a:prstDash val="dash"/>
          </a:ln>
        </p:spPr>
      </p:sp>
      <p:sp>
        <p:nvSpPr>
          <p:cNvPr id="35" name="anchor-note"/>
          <p:cNvSpPr txBox="1"/>
          <p:nvPr/>
        </p:nvSpPr>
        <p:spPr>
          <a:xfrm>
            <a:off x="2311400" y="28194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第 2 步是这一页最要紧的地方：支付、评价、投诉、结算、状态日志，全都挂在 </a:t>
            </a:r>
            <a:r>
              <a:rPr lang="en-US" sz="1050" noProof="1">
                <a:solidFill>
                  <a:srgbClr val="000000"/>
                </a:solidFill>
                <a:latin typeface="MiSans"/>
                <a:ea typeface="MiSans"/>
              </a:rPr>
              <a:t>assign_records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这一次真实接派上。</a:t>
            </a:r>
            <a:endParaRPr lang="en-US" sz="1050" noProof="1"/>
          </a:p>
        </p:txBody>
      </p:sp>
      <p:sp>
        <p:nvSpPr>
          <p:cNvPr id="36" name="chain-label"/>
          <p:cNvSpPr txBox="1"/>
          <p:nvPr/>
        </p:nvSpPr>
        <p:spPr>
          <a:xfrm>
            <a:off x="609600" y="37084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数据链路 · DATA CHAIN</a:t>
            </a:r>
            <a:endParaRPr lang="en-US" sz="850" noProof="1"/>
          </a:p>
        </p:txBody>
      </p:sp>
      <p:sp>
        <p:nvSpPr>
          <p:cNvPr id="37" name="chain-box"/>
          <p:cNvSpPr/>
          <p:nvPr/>
        </p:nvSpPr>
        <p:spPr>
          <a:xfrm>
            <a:off x="609600" y="3987800"/>
            <a:ext cx="10972800" cy="1371600"/>
          </a:xfrm>
          <a:prstGeom prst="rect">
            <a:avLst/>
          </a:prstGeom>
          <a:noFill/>
          <a:ln w="12700">
            <a:solidFill>
              <a:srgbClr val="8B8271"/>
            </a:solidFill>
            <a:prstDash val="dash"/>
          </a:ln>
        </p:spPr>
      </p:sp>
      <p:sp>
        <p:nvSpPr>
          <p:cNvPr id="38" name="chain-text"/>
          <p:cNvSpPr txBox="1"/>
          <p:nvPr/>
        </p:nvSpPr>
        <p:spPr>
          <a:xfrm>
            <a:off x="914400" y="4191000"/>
            <a:ext cx="10363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90000"/>
              </a:lnSpc>
            </a:pPr>
            <a:r>
              <a:rPr lang="en-US" sz="1100" noProof="1">
                <a:solidFill>
                  <a:srgbClr val="000000"/>
                </a:solidFill>
                <a:latin typeface="MiSans"/>
                <a:ea typeface="MiSans"/>
              </a:rPr>
              <a:t>基础资料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　users · user_addresses · service_types · nodes · service_node_rules</a:t>
            </a:r>
            <a:endParaRPr lang="en-US" sz="1100" noProof="1"/>
          </a:p>
          <a:p>
            <a:pPr algn="l">
              <a:lnSpc>
                <a:spcPct val="190000"/>
              </a:lnSpc>
            </a:pPr>
            <a:r>
              <a:rPr lang="en-US" sz="1100" noProof="1">
                <a:solidFill>
                  <a:srgbClr val="000000"/>
                </a:solidFill>
                <a:latin typeface="MiSans"/>
                <a:ea typeface="MiSans"/>
              </a:rPr>
              <a:t>业务主链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　tasks → assign_records → payments</a:t>
            </a:r>
            <a:endParaRPr lang="en-US" sz="1100" noProof="1"/>
          </a:p>
          <a:p>
            <a:pPr algn="l">
              <a:lnSpc>
                <a:spcPct val="190000"/>
              </a:lnSpc>
            </a:pPr>
            <a:r>
              <a:rPr lang="en-US" sz="1100" noProof="1">
                <a:solidFill>
                  <a:srgbClr val="000000"/>
                </a:solidFill>
                <a:latin typeface="MiSans"/>
                <a:ea typeface="MiSans"/>
              </a:rPr>
              <a:t>履约延伸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　refunds · reviews · complaints · settlements · audit_logs · reports</a:t>
            </a:r>
            <a:endParaRPr lang="en-US" sz="1100" noProof="1"/>
          </a:p>
        </p:txBody>
      </p:sp>
      <p:sp>
        <p:nvSpPr>
          <p:cNvPr id="39" name="chain-note"/>
          <p:cNvSpPr txBox="1"/>
          <p:nvPr/>
        </p:nvSpPr>
        <p:spPr>
          <a:xfrm>
            <a:off x="609600" y="56388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注：状态日志自接派起逐步写入；审计与报表只读取历史业务数据，不反向修改业务主表。</a:t>
            </a:r>
            <a:endParaRPr lang="en-US" sz="1000" noProof="1"/>
          </a:p>
        </p:txBody>
      </p:sp>
      <p:sp>
        <p:nvSpPr>
          <p:cNvPr id="40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04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功能清册 · FEATURES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headline"/>
          <p:cNvSpPr txBox="1"/>
          <p:nvPr/>
        </p:nvSpPr>
        <p:spPr>
          <a:xfrm>
            <a:off x="609600" y="762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B1813"/>
                </a:solidFill>
                <a:latin typeface="思源宋体"/>
                <a:ea typeface="思源宋体"/>
              </a:rPr>
              <a:t>系统功能</a:t>
            </a:r>
            <a:endParaRPr lang="en-US" sz="2800" noProof="1"/>
          </a:p>
        </p:txBody>
      </p:sp>
      <p:sp>
        <p:nvSpPr>
          <p:cNvPr id="6" name="list-rule-top"/>
          <p:cNvSpPr/>
          <p:nvPr/>
        </p:nvSpPr>
        <p:spPr>
          <a:xfrm>
            <a:off x="609600" y="14224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7" name="f1-num"/>
          <p:cNvSpPr txBox="1"/>
          <p:nvPr/>
        </p:nvSpPr>
        <p:spPr>
          <a:xfrm>
            <a:off x="609600" y="15748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B1813"/>
                </a:solidFill>
                <a:latin typeface="思源宋体"/>
                <a:ea typeface="思源宋体"/>
              </a:rPr>
              <a:t>01</a:t>
            </a:r>
            <a:endParaRPr lang="en-US" sz="1600" noProof="1"/>
          </a:p>
        </p:txBody>
      </p:sp>
      <p:sp>
        <p:nvSpPr>
          <p:cNvPr id="8" name="f1-name"/>
          <p:cNvSpPr txBox="1"/>
          <p:nvPr/>
        </p:nvSpPr>
        <p:spPr>
          <a:xfrm>
            <a:off x="1244600" y="1600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B1813"/>
                </a:solidFill>
                <a:latin typeface="MiSans"/>
                <a:ea typeface="MiSans"/>
              </a:rPr>
              <a:t>账户与权限</a:t>
            </a:r>
            <a:endParaRPr lang="en-US" sz="1250" noProof="1"/>
          </a:p>
        </p:txBody>
      </p:sp>
      <p:sp>
        <p:nvSpPr>
          <p:cNvPr id="9" name="f1-desc"/>
          <p:cNvSpPr txBox="1"/>
          <p:nvPr/>
        </p:nvSpPr>
        <p:spPr>
          <a:xfrm>
            <a:off x="3225800" y="1612900"/>
            <a:ext cx="673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注册登录、角色授权、封禁 / 注销 / 恢复，地址维护与默认地址唯一约束</a:t>
            </a:r>
            <a:endParaRPr lang="en-US" sz="1000" noProof="1"/>
          </a:p>
        </p:txBody>
      </p:sp>
      <p:sp>
        <p:nvSpPr>
          <p:cNvPr id="10" name="f1-role"/>
          <p:cNvSpPr txBox="1"/>
          <p:nvPr/>
        </p:nvSpPr>
        <p:spPr>
          <a:xfrm>
            <a:off x="10033000" y="16129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用户 · 管理员</a:t>
            </a:r>
            <a:endParaRPr lang="en-US" sz="850" noProof="1"/>
          </a:p>
        </p:txBody>
      </p:sp>
      <p:sp>
        <p:nvSpPr>
          <p:cNvPr id="11" name="f1-rule"/>
          <p:cNvSpPr/>
          <p:nvPr/>
        </p:nvSpPr>
        <p:spPr>
          <a:xfrm>
            <a:off x="609600" y="19558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2" name="f2-num"/>
          <p:cNvSpPr txBox="1"/>
          <p:nvPr/>
        </p:nvSpPr>
        <p:spPr>
          <a:xfrm>
            <a:off x="609600" y="2108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B1813"/>
                </a:solidFill>
                <a:latin typeface="思源宋体"/>
                <a:ea typeface="思源宋体"/>
              </a:rPr>
              <a:t>02</a:t>
            </a:r>
            <a:endParaRPr lang="en-US" sz="1600" noProof="1"/>
          </a:p>
        </p:txBody>
      </p:sp>
      <p:sp>
        <p:nvSpPr>
          <p:cNvPr id="13" name="f2-name"/>
          <p:cNvSpPr txBox="1"/>
          <p:nvPr/>
        </p:nvSpPr>
        <p:spPr>
          <a:xfrm>
            <a:off x="1244600" y="21336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B1813"/>
                </a:solidFill>
                <a:latin typeface="MiSans"/>
                <a:ea typeface="MiSans"/>
              </a:rPr>
              <a:t>跑腿员体系</a:t>
            </a:r>
            <a:endParaRPr lang="en-US" sz="1250" noProof="1"/>
          </a:p>
        </p:txBody>
      </p:sp>
      <p:sp>
        <p:nvSpPr>
          <p:cNvPr id="14" name="f2-desc"/>
          <p:cNvSpPr txBox="1"/>
          <p:nvPr/>
        </p:nvSpPr>
        <p:spPr>
          <a:xfrm>
            <a:off x="3225800" y="2146300"/>
            <a:ext cx="673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资格申请、驳回后重新申请、管理员审核并同步用户角色与工作状态</a:t>
            </a:r>
            <a:endParaRPr lang="en-US" sz="1000" noProof="1"/>
          </a:p>
        </p:txBody>
      </p:sp>
      <p:sp>
        <p:nvSpPr>
          <p:cNvPr id="15" name="f2-role"/>
          <p:cNvSpPr txBox="1"/>
          <p:nvPr/>
        </p:nvSpPr>
        <p:spPr>
          <a:xfrm>
            <a:off x="10033000" y="21463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用户 · 管理员</a:t>
            </a:r>
            <a:endParaRPr lang="en-US" sz="850" noProof="1"/>
          </a:p>
        </p:txBody>
      </p:sp>
      <p:sp>
        <p:nvSpPr>
          <p:cNvPr id="16" name="f2-rule"/>
          <p:cNvSpPr/>
          <p:nvPr/>
        </p:nvSpPr>
        <p:spPr>
          <a:xfrm>
            <a:off x="609600" y="24892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7" name="f3-num"/>
          <p:cNvSpPr txBox="1"/>
          <p:nvPr/>
        </p:nvSpPr>
        <p:spPr>
          <a:xfrm>
            <a:off x="609600" y="2641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B1813"/>
                </a:solidFill>
                <a:latin typeface="思源宋体"/>
                <a:ea typeface="思源宋体"/>
              </a:rPr>
              <a:t>03</a:t>
            </a:r>
            <a:endParaRPr lang="en-US" sz="1600" noProof="1"/>
          </a:p>
        </p:txBody>
      </p:sp>
      <p:sp>
        <p:nvSpPr>
          <p:cNvPr id="18" name="f3-name"/>
          <p:cNvSpPr txBox="1"/>
          <p:nvPr/>
        </p:nvSpPr>
        <p:spPr>
          <a:xfrm>
            <a:off x="1244600" y="266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B1813"/>
                </a:solidFill>
                <a:latin typeface="MiSans"/>
                <a:ea typeface="MiSans"/>
              </a:rPr>
              <a:t>任务发布</a:t>
            </a:r>
            <a:endParaRPr lang="en-US" sz="1250" noProof="1"/>
          </a:p>
        </p:txBody>
      </p:sp>
      <p:sp>
        <p:nvSpPr>
          <p:cNvPr id="19" name="f3-desc"/>
          <p:cNvSpPr txBox="1"/>
          <p:nvPr/>
        </p:nvSpPr>
        <p:spPr>
          <a:xfrm>
            <a:off x="3225800" y="2679700"/>
            <a:ext cx="673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外卖分发 / 快递代取 / 私人跑腿三类明细，地址归属与节点规则校验</a:t>
            </a:r>
            <a:endParaRPr lang="en-US" sz="1000" noProof="1"/>
          </a:p>
        </p:txBody>
      </p:sp>
      <p:sp>
        <p:nvSpPr>
          <p:cNvPr id="20" name="f3-role"/>
          <p:cNvSpPr txBox="1"/>
          <p:nvPr/>
        </p:nvSpPr>
        <p:spPr>
          <a:xfrm>
            <a:off x="10033000" y="26797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用户</a:t>
            </a:r>
            <a:endParaRPr lang="en-US" sz="850" noProof="1"/>
          </a:p>
        </p:txBody>
      </p:sp>
      <p:sp>
        <p:nvSpPr>
          <p:cNvPr id="21" name="f3-rule"/>
          <p:cNvSpPr/>
          <p:nvPr/>
        </p:nvSpPr>
        <p:spPr>
          <a:xfrm>
            <a:off x="609600" y="30226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22" name="f4-num"/>
          <p:cNvSpPr txBox="1"/>
          <p:nvPr/>
        </p:nvSpPr>
        <p:spPr>
          <a:xfrm>
            <a:off x="609600" y="31750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B1813"/>
                </a:solidFill>
                <a:latin typeface="思源宋体"/>
                <a:ea typeface="思源宋体"/>
              </a:rPr>
              <a:t>04</a:t>
            </a:r>
            <a:endParaRPr lang="en-US" sz="1600" noProof="1"/>
          </a:p>
        </p:txBody>
      </p:sp>
      <p:sp>
        <p:nvSpPr>
          <p:cNvPr id="23" name="f4-name"/>
          <p:cNvSpPr txBox="1"/>
          <p:nvPr/>
        </p:nvSpPr>
        <p:spPr>
          <a:xfrm>
            <a:off x="1244600" y="32004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B1813"/>
                </a:solidFill>
                <a:latin typeface="MiSans"/>
                <a:ea typeface="MiSans"/>
              </a:rPr>
              <a:t>接派调度</a:t>
            </a:r>
            <a:endParaRPr lang="en-US" sz="1250" noProof="1"/>
          </a:p>
        </p:txBody>
      </p:sp>
      <p:sp>
        <p:nvSpPr>
          <p:cNvPr id="24" name="f4-desc"/>
          <p:cNvSpPr txBox="1"/>
          <p:nvPr/>
        </p:nvSpPr>
        <p:spPr>
          <a:xfrm>
            <a:off x="3225800" y="3213100"/>
            <a:ext cx="673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任务大厅抢单、管理员派单、重派时的跑腿员释放与占用</a:t>
            </a:r>
            <a:endParaRPr lang="en-US" sz="1000" noProof="1"/>
          </a:p>
        </p:txBody>
      </p:sp>
      <p:sp>
        <p:nvSpPr>
          <p:cNvPr id="25" name="f4-role"/>
          <p:cNvSpPr txBox="1"/>
          <p:nvPr/>
        </p:nvSpPr>
        <p:spPr>
          <a:xfrm>
            <a:off x="10033000" y="32131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跑腿员 · 管理员</a:t>
            </a:r>
            <a:endParaRPr lang="en-US" sz="850" noProof="1"/>
          </a:p>
        </p:txBody>
      </p:sp>
      <p:sp>
        <p:nvSpPr>
          <p:cNvPr id="26" name="f4-rule"/>
          <p:cNvSpPr/>
          <p:nvPr/>
        </p:nvSpPr>
        <p:spPr>
          <a:xfrm>
            <a:off x="609600" y="35560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27" name="f5-num"/>
          <p:cNvSpPr txBox="1"/>
          <p:nvPr/>
        </p:nvSpPr>
        <p:spPr>
          <a:xfrm>
            <a:off x="609600" y="37084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B1813"/>
                </a:solidFill>
                <a:latin typeface="思源宋体"/>
                <a:ea typeface="思源宋体"/>
              </a:rPr>
              <a:t>05</a:t>
            </a:r>
            <a:endParaRPr lang="en-US" sz="1600" noProof="1"/>
          </a:p>
        </p:txBody>
      </p:sp>
      <p:sp>
        <p:nvSpPr>
          <p:cNvPr id="28" name="f5-name"/>
          <p:cNvSpPr txBox="1"/>
          <p:nvPr/>
        </p:nvSpPr>
        <p:spPr>
          <a:xfrm>
            <a:off x="1244600" y="37338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B1813"/>
                </a:solidFill>
                <a:latin typeface="MiSans"/>
                <a:ea typeface="MiSans"/>
              </a:rPr>
              <a:t>支付与退款</a:t>
            </a:r>
            <a:endParaRPr lang="en-US" sz="1250" noProof="1"/>
          </a:p>
        </p:txBody>
      </p:sp>
      <p:sp>
        <p:nvSpPr>
          <p:cNvPr id="29" name="f5-desc"/>
          <p:cNvSpPr txBox="1"/>
          <p:nvPr/>
        </p:nvSpPr>
        <p:spPr>
          <a:xfrm>
            <a:off x="3225800" y="3746500"/>
            <a:ext cx="673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确认收货后付款或稍后补付，退款申请与管理员审核联动任务状态</a:t>
            </a:r>
            <a:endParaRPr lang="en-US" sz="1000" noProof="1"/>
          </a:p>
        </p:txBody>
      </p:sp>
      <p:sp>
        <p:nvSpPr>
          <p:cNvPr id="30" name="f5-role"/>
          <p:cNvSpPr txBox="1"/>
          <p:nvPr/>
        </p:nvSpPr>
        <p:spPr>
          <a:xfrm>
            <a:off x="10033000" y="37465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用户 · 管理员</a:t>
            </a:r>
            <a:endParaRPr lang="en-US" sz="850" noProof="1"/>
          </a:p>
        </p:txBody>
      </p:sp>
      <p:sp>
        <p:nvSpPr>
          <p:cNvPr id="31" name="f5-rule"/>
          <p:cNvSpPr/>
          <p:nvPr/>
        </p:nvSpPr>
        <p:spPr>
          <a:xfrm>
            <a:off x="609600" y="40894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32" name="f6-num"/>
          <p:cNvSpPr txBox="1"/>
          <p:nvPr/>
        </p:nvSpPr>
        <p:spPr>
          <a:xfrm>
            <a:off x="609600" y="42418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B1813"/>
                </a:solidFill>
                <a:latin typeface="思源宋体"/>
                <a:ea typeface="思源宋体"/>
              </a:rPr>
              <a:t>06</a:t>
            </a:r>
            <a:endParaRPr lang="en-US" sz="1600" noProof="1"/>
          </a:p>
        </p:txBody>
      </p:sp>
      <p:sp>
        <p:nvSpPr>
          <p:cNvPr id="33" name="f6-name"/>
          <p:cNvSpPr txBox="1"/>
          <p:nvPr/>
        </p:nvSpPr>
        <p:spPr>
          <a:xfrm>
            <a:off x="1244600" y="4267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B1813"/>
                </a:solidFill>
                <a:latin typeface="MiSans"/>
                <a:ea typeface="MiSans"/>
              </a:rPr>
              <a:t>评价与投诉</a:t>
            </a:r>
            <a:endParaRPr lang="en-US" sz="1250" noProof="1"/>
          </a:p>
        </p:txBody>
      </p:sp>
      <p:sp>
        <p:nvSpPr>
          <p:cNvPr id="34" name="f6-desc"/>
          <p:cNvSpPr txBox="1"/>
          <p:nvPr/>
        </p:nvSpPr>
        <p:spPr>
          <a:xfrm>
            <a:off x="3225800" y="4279900"/>
            <a:ext cx="673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星级评分与信誉分事务联动、一任务一评价，投诉提交与处理闭环</a:t>
            </a:r>
            <a:endParaRPr lang="en-US" sz="1000" noProof="1"/>
          </a:p>
        </p:txBody>
      </p:sp>
      <p:sp>
        <p:nvSpPr>
          <p:cNvPr id="35" name="f6-role"/>
          <p:cNvSpPr txBox="1"/>
          <p:nvPr/>
        </p:nvSpPr>
        <p:spPr>
          <a:xfrm>
            <a:off x="10033000" y="42799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用户 · 管理员</a:t>
            </a:r>
            <a:endParaRPr lang="en-US" sz="850" noProof="1"/>
          </a:p>
        </p:txBody>
      </p:sp>
      <p:sp>
        <p:nvSpPr>
          <p:cNvPr id="36" name="f6-rule"/>
          <p:cNvSpPr/>
          <p:nvPr/>
        </p:nvSpPr>
        <p:spPr>
          <a:xfrm>
            <a:off x="609600" y="46228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37" name="f7-num"/>
          <p:cNvSpPr txBox="1"/>
          <p:nvPr/>
        </p:nvSpPr>
        <p:spPr>
          <a:xfrm>
            <a:off x="609600" y="4775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B1813"/>
                </a:solidFill>
                <a:latin typeface="思源宋体"/>
                <a:ea typeface="思源宋体"/>
              </a:rPr>
              <a:t>07</a:t>
            </a:r>
            <a:endParaRPr lang="en-US" sz="1600" noProof="1"/>
          </a:p>
        </p:txBody>
      </p:sp>
      <p:sp>
        <p:nvSpPr>
          <p:cNvPr id="38" name="f7-name"/>
          <p:cNvSpPr txBox="1"/>
          <p:nvPr/>
        </p:nvSpPr>
        <p:spPr>
          <a:xfrm>
            <a:off x="1244600" y="48006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B1813"/>
                </a:solidFill>
                <a:latin typeface="MiSans"/>
                <a:ea typeface="MiSans"/>
              </a:rPr>
              <a:t>结算与审计</a:t>
            </a:r>
            <a:endParaRPr lang="en-US" sz="1250" noProof="1"/>
          </a:p>
        </p:txBody>
      </p:sp>
      <p:sp>
        <p:nvSpPr>
          <p:cNvPr id="39" name="f7-desc"/>
          <p:cNvSpPr txBox="1"/>
          <p:nvPr/>
        </p:nvSpPr>
        <p:spPr>
          <a:xfrm>
            <a:off x="3225800" y="4813300"/>
            <a:ext cx="673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候选筛选排除争议款、10% 平台费，支付 / 退款 / 日志三类审计登记</a:t>
            </a:r>
            <a:endParaRPr lang="en-US" sz="1000" noProof="1"/>
          </a:p>
        </p:txBody>
      </p:sp>
      <p:sp>
        <p:nvSpPr>
          <p:cNvPr id="40" name="f7-role"/>
          <p:cNvSpPr txBox="1"/>
          <p:nvPr/>
        </p:nvSpPr>
        <p:spPr>
          <a:xfrm>
            <a:off x="10033000" y="48133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管理员</a:t>
            </a:r>
            <a:endParaRPr lang="en-US" sz="850" noProof="1"/>
          </a:p>
        </p:txBody>
      </p:sp>
      <p:sp>
        <p:nvSpPr>
          <p:cNvPr id="41" name="f7-rule"/>
          <p:cNvSpPr/>
          <p:nvPr/>
        </p:nvSpPr>
        <p:spPr>
          <a:xfrm>
            <a:off x="609600" y="51562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42" name="f8-num"/>
          <p:cNvSpPr txBox="1"/>
          <p:nvPr/>
        </p:nvSpPr>
        <p:spPr>
          <a:xfrm>
            <a:off x="609600" y="5308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B1813"/>
                </a:solidFill>
                <a:latin typeface="思源宋体"/>
                <a:ea typeface="思源宋体"/>
              </a:rPr>
              <a:t>08</a:t>
            </a:r>
            <a:endParaRPr lang="en-US" sz="1600" noProof="1"/>
          </a:p>
        </p:txBody>
      </p:sp>
      <p:sp>
        <p:nvSpPr>
          <p:cNvPr id="43" name="f8-name"/>
          <p:cNvSpPr txBox="1"/>
          <p:nvPr/>
        </p:nvSpPr>
        <p:spPr>
          <a:xfrm>
            <a:off x="1244600" y="5334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B1813"/>
                </a:solidFill>
                <a:latin typeface="MiSans"/>
                <a:ea typeface="MiSans"/>
              </a:rPr>
              <a:t>配置与报表</a:t>
            </a:r>
            <a:endParaRPr lang="en-US" sz="1250" noProof="1"/>
          </a:p>
        </p:txBody>
      </p:sp>
      <p:sp>
        <p:nvSpPr>
          <p:cNvPr id="44" name="f8-desc"/>
          <p:cNvSpPr txBox="1"/>
          <p:nvPr/>
        </p:nvSpPr>
        <p:spPr>
          <a:xfrm>
            <a:off x="3225800" y="5346700"/>
            <a:ext cx="673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节点与服务规则维护，按月报表与 CSV 导出，数据库状态诊断页</a:t>
            </a:r>
            <a:endParaRPr lang="en-US" sz="1000" noProof="1"/>
          </a:p>
        </p:txBody>
      </p:sp>
      <p:sp>
        <p:nvSpPr>
          <p:cNvPr id="45" name="f8-role"/>
          <p:cNvSpPr txBox="1"/>
          <p:nvPr/>
        </p:nvSpPr>
        <p:spPr>
          <a:xfrm>
            <a:off x="10033000" y="53467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管理员</a:t>
            </a:r>
            <a:endParaRPr lang="en-US" sz="850" noProof="1"/>
          </a:p>
        </p:txBody>
      </p:sp>
      <p:sp>
        <p:nvSpPr>
          <p:cNvPr id="46" name="f8-rule"/>
          <p:cNvSpPr/>
          <p:nvPr/>
        </p:nvSpPr>
        <p:spPr>
          <a:xfrm>
            <a:off x="609600" y="56896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47" name="scope-note"/>
          <p:cNvSpPr txBox="1"/>
          <p:nvPr/>
        </p:nvSpPr>
        <p:spPr>
          <a:xfrm>
            <a:off x="609600" y="58928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课程要求至少 </a:t>
            </a:r>
            <a:r>
              <a:rPr lang="en-US" sz="1050" noProof="1">
                <a:solidFill>
                  <a:srgbClr val="000000"/>
                </a:solidFill>
                <a:latin typeface="MiSans"/>
                <a:ea typeface="MiSans"/>
              </a:rPr>
              <a:t>20 个功能点、15 个带业务逻辑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。我们做了 30 个，其中 28 个要动事务、状态机或规则校验。</a:t>
            </a:r>
            <a:endParaRPr lang="en-US" sz="1050" noProof="1"/>
          </a:p>
        </p:txBody>
      </p:sp>
      <p:sp>
        <p:nvSpPr>
          <p:cNvPr id="48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05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架构 · ARCHITECTURE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headline"/>
          <p:cNvSpPr txBox="1"/>
          <p:nvPr/>
        </p:nvSpPr>
        <p:spPr>
          <a:xfrm>
            <a:off x="609600" y="762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altLang="zh-CN" sz="2800" noProof="1">
                <a:solidFill>
                  <a:srgbClr val="1B1813"/>
                </a:solidFill>
                <a:latin typeface="思源宋体"/>
                <a:ea typeface="思源宋体"/>
              </a:rPr>
              <a:t>MVC</a:t>
            </a:r>
            <a:r>
              <a:rPr lang="en-US" sz="2800" noProof="1">
                <a:solidFill>
                  <a:srgbClr val="1B1813"/>
                </a:solidFill>
                <a:latin typeface="思源宋体"/>
                <a:ea typeface="思源宋体"/>
              </a:rPr>
              <a:t>五层结构</a:t>
            </a:r>
            <a:endParaRPr lang="en-US" sz="2800" noProof="1"/>
          </a:p>
        </p:txBody>
      </p:sp>
      <p:sp>
        <p:nvSpPr>
          <p:cNvPr id="6" name="layer1"/>
          <p:cNvSpPr/>
          <p:nvPr/>
        </p:nvSpPr>
        <p:spPr>
          <a:xfrm>
            <a:off x="812800" y="1498600"/>
            <a:ext cx="4826000" cy="6858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7" name="layer1-text"/>
          <p:cNvSpPr txBox="1"/>
          <p:nvPr/>
        </p:nvSpPr>
        <p:spPr>
          <a:xfrm>
            <a:off x="1041400" y="1600200"/>
            <a:ext cx="4368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1B1813"/>
                </a:solidFill>
                <a:latin typeface="思源宋体"/>
                <a:ea typeface="思源宋体"/>
              </a:rPr>
              <a:t>表现层　</a:t>
            </a:r>
            <a:r>
              <a:rPr lang="en-US" sz="900" noProof="1">
                <a:solidFill>
                  <a:srgbClr val="000000"/>
                </a:solidFill>
                <a:latin typeface="MiSans"/>
                <a:ea typeface="MiSans"/>
              </a:rPr>
              <a:t>Razor Views · ViewModels · wwwroot</a:t>
            </a:r>
            <a:endParaRPr lang="en-US" sz="1400" noProof="1"/>
          </a:p>
        </p:txBody>
      </p:sp>
      <p:sp>
        <p:nvSpPr>
          <p:cNvPr id="8" name="arr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eyJ2aWV3Qm94IjpbMiwxNl0sInBvaW50cyI6IjEsMCAxLDE2IiwiY3VydmUiOiJzaGFycCJ9</pptd:line>
              </p:ext>
            </p:extLst>
          </p:nvPr>
        </p:nvSpPr>
        <p:spPr>
          <a:xfrm>
            <a:off x="3213100" y="22098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0"/>
                </a:moveTo>
                <a:lnTo>
                  <a:pt x="1" y="16"/>
                </a:lnTo>
              </a:path>
            </a:pathLst>
          </a:custGeom>
          <a:noFill/>
          <a:ln w="19050">
            <a:solidFill>
              <a:srgbClr val="1B1813"/>
            </a:solidFill>
            <a:tailEnd type="arrow"/>
          </a:ln>
        </p:spPr>
      </p:sp>
      <p:sp>
        <p:nvSpPr>
          <p:cNvPr id="9" name="layer2"/>
          <p:cNvSpPr/>
          <p:nvPr/>
        </p:nvSpPr>
        <p:spPr>
          <a:xfrm>
            <a:off x="812800" y="2438400"/>
            <a:ext cx="4826000" cy="6858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10" name="layer2-text"/>
          <p:cNvSpPr txBox="1"/>
          <p:nvPr/>
        </p:nvSpPr>
        <p:spPr>
          <a:xfrm>
            <a:off x="1041400" y="2540000"/>
            <a:ext cx="4368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1B1813"/>
                </a:solidFill>
                <a:latin typeface="思源宋体"/>
                <a:ea typeface="思源宋体"/>
              </a:rPr>
              <a:t>控制层　</a:t>
            </a:r>
            <a:r>
              <a:rPr lang="en-US" sz="900" noProof="1">
                <a:solidFill>
                  <a:srgbClr val="000000"/>
                </a:solidFill>
                <a:latin typeface="MiSans"/>
                <a:ea typeface="MiSans"/>
              </a:rPr>
              <a:t>Controllers · 参数绑定 · 返回视图或跳转</a:t>
            </a:r>
            <a:endParaRPr lang="en-US" sz="1400" noProof="1"/>
          </a:p>
        </p:txBody>
      </p:sp>
      <p:sp>
        <p:nvSpPr>
          <p:cNvPr id="11" name="arr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eyJ2aWV3Qm94IjpbMiwxNl0sInBvaW50cyI6IjEsMCAxLDE2IiwiY3VydmUiOiJzaGFycCJ9</pptd:line>
              </p:ext>
            </p:extLst>
          </p:nvPr>
        </p:nvSpPr>
        <p:spPr>
          <a:xfrm>
            <a:off x="3213100" y="31496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0"/>
                </a:moveTo>
                <a:lnTo>
                  <a:pt x="1" y="16"/>
                </a:lnTo>
              </a:path>
            </a:pathLst>
          </a:custGeom>
          <a:noFill/>
          <a:ln w="19050">
            <a:solidFill>
              <a:srgbClr val="1B1813"/>
            </a:solidFill>
            <a:tailEnd type="arrow"/>
          </a:ln>
        </p:spPr>
      </p:sp>
      <p:sp>
        <p:nvSpPr>
          <p:cNvPr id="12" name="layer3"/>
          <p:cNvSpPr/>
          <p:nvPr/>
        </p:nvSpPr>
        <p:spPr>
          <a:xfrm>
            <a:off x="812800" y="3378200"/>
            <a:ext cx="4826000" cy="685800"/>
          </a:xfrm>
          <a:prstGeom prst="rect">
            <a:avLst/>
          </a:prstGeom>
          <a:noFill/>
          <a:ln w="19050">
            <a:solidFill>
              <a:srgbClr val="C22441"/>
            </a:solidFill>
          </a:ln>
        </p:spPr>
      </p:sp>
      <p:sp>
        <p:nvSpPr>
          <p:cNvPr id="13" name="layer3-text"/>
          <p:cNvSpPr txBox="1"/>
          <p:nvPr/>
        </p:nvSpPr>
        <p:spPr>
          <a:xfrm>
            <a:off x="1041400" y="3479800"/>
            <a:ext cx="4368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1B1813"/>
                </a:solidFill>
                <a:latin typeface="思源宋体"/>
                <a:ea typeface="思源宋体"/>
              </a:rPr>
              <a:t>业务层　</a:t>
            </a:r>
            <a:r>
              <a:rPr lang="en-US" sz="900" noProof="1">
                <a:solidFill>
                  <a:srgbClr val="000000"/>
                </a:solidFill>
                <a:latin typeface="MiSans"/>
                <a:ea typeface="MiSans"/>
              </a:rPr>
              <a:t>Services · 业务规则 · 状态机 · 事务边界</a:t>
            </a:r>
            <a:endParaRPr lang="en-US" sz="1400" noProof="1"/>
          </a:p>
        </p:txBody>
      </p:sp>
      <p:sp>
        <p:nvSpPr>
          <p:cNvPr id="14" name="arr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eyJ2aWV3Qm94IjpbMiwxNl0sInBvaW50cyI6IjEsMCAxLDE2IiwiY3VydmUiOiJzaGFycCJ9</pptd:line>
              </p:ext>
            </p:extLst>
          </p:nvPr>
        </p:nvSpPr>
        <p:spPr>
          <a:xfrm>
            <a:off x="3213100" y="40894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0"/>
                </a:moveTo>
                <a:lnTo>
                  <a:pt x="1" y="16"/>
                </a:lnTo>
              </a:path>
            </a:pathLst>
          </a:custGeom>
          <a:noFill/>
          <a:ln w="19050">
            <a:solidFill>
              <a:srgbClr val="1B1813"/>
            </a:solidFill>
            <a:tailEnd type="arrow"/>
          </a:ln>
        </p:spPr>
      </p:sp>
      <p:sp>
        <p:nvSpPr>
          <p:cNvPr id="15" name="layer4"/>
          <p:cNvSpPr/>
          <p:nvPr/>
        </p:nvSpPr>
        <p:spPr>
          <a:xfrm>
            <a:off x="812800" y="4318000"/>
            <a:ext cx="4826000" cy="6858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16" name="layer4-text"/>
          <p:cNvSpPr txBox="1"/>
          <p:nvPr/>
        </p:nvSpPr>
        <p:spPr>
          <a:xfrm>
            <a:off x="1041400" y="4419600"/>
            <a:ext cx="4368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1B1813"/>
                </a:solidFill>
                <a:latin typeface="思源宋体"/>
                <a:ea typeface="思源宋体"/>
              </a:rPr>
              <a:t>持久层　</a:t>
            </a:r>
            <a:r>
              <a:rPr lang="en-US" sz="900" noProof="1">
                <a:solidFill>
                  <a:srgbClr val="000000"/>
                </a:solidFill>
                <a:latin typeface="MiSans"/>
                <a:ea typeface="MiSans"/>
              </a:rPr>
              <a:t>Repositories · 参数化 SQL · FOR UPDATE 行锁</a:t>
            </a:r>
            <a:endParaRPr lang="en-US" sz="1400" noProof="1"/>
          </a:p>
        </p:txBody>
      </p:sp>
      <p:sp>
        <p:nvSpPr>
          <p:cNvPr id="17" name="arr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eyJ2aWV3Qm94IjpbMiwxNl0sInBvaW50cyI6IjEsMCAxLDE2IiwiY3VydmUiOiJzaGFycCJ9</pptd:line>
              </p:ext>
            </p:extLst>
          </p:nvPr>
        </p:nvSpPr>
        <p:spPr>
          <a:xfrm>
            <a:off x="3213100" y="50292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0"/>
                </a:moveTo>
                <a:lnTo>
                  <a:pt x="1" y="16"/>
                </a:lnTo>
              </a:path>
            </a:pathLst>
          </a:custGeom>
          <a:noFill/>
          <a:ln w="19050">
            <a:solidFill>
              <a:srgbClr val="1B1813"/>
            </a:solidFill>
            <a:tailEnd type="arrow"/>
          </a:ln>
        </p:spPr>
      </p:sp>
      <p:sp>
        <p:nvSpPr>
          <p:cNvPr id="18" name="layer5"/>
          <p:cNvSpPr/>
          <p:nvPr/>
        </p:nvSpPr>
        <p:spPr>
          <a:xfrm>
            <a:off x="812800" y="5257800"/>
            <a:ext cx="4826000" cy="6858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19" name="layer5-text"/>
          <p:cNvSpPr txBox="1"/>
          <p:nvPr/>
        </p:nvSpPr>
        <p:spPr>
          <a:xfrm>
            <a:off x="1041400" y="5359400"/>
            <a:ext cx="4368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noProof="1">
                <a:solidFill>
                  <a:srgbClr val="F2EDE3"/>
                </a:solidFill>
                <a:latin typeface="思源宋体"/>
                <a:ea typeface="思源宋体"/>
              </a:rPr>
              <a:t>数据库层　</a:t>
            </a:r>
            <a:r>
              <a:rPr lang="en-US" sz="900" noProof="1">
                <a:solidFill>
                  <a:srgbClr val="B4AA93"/>
                </a:solidFill>
                <a:latin typeface="MiSans"/>
                <a:ea typeface="MiSans"/>
              </a:rPr>
              <a:t>Oracle 19c · 24 张关系表 · 约束与索引</a:t>
            </a:r>
            <a:endParaRPr lang="en-US" sz="1400" noProof="1"/>
          </a:p>
        </p:txBody>
      </p:sp>
      <p:sp>
        <p:nvSpPr>
          <p:cNvPr id="20" name="note1-leade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eyJ2aWV3Qm94IjpbNjAsMl0sInBvaW50cyI6IjAsMSA2MCwxIiwiY3VydmUiOiJzaGFycCJ9</pptd:line>
              </p:ext>
            </p:extLst>
          </p:nvPr>
        </p:nvSpPr>
        <p:spPr>
          <a:xfrm>
            <a:off x="5689600" y="27813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1"/>
                </a:moveTo>
                <a:lnTo>
                  <a:pt x="60" y="1"/>
                </a:lnTo>
              </a:path>
            </a:pathLst>
          </a:custGeom>
          <a:noFill/>
          <a:ln w="12700">
            <a:solidFill>
              <a:srgbClr val="8B8271"/>
            </a:solidFill>
            <a:prstDash val="dash"/>
          </a:ln>
        </p:spPr>
      </p:sp>
      <p:sp>
        <p:nvSpPr>
          <p:cNvPr id="21" name="note1"/>
          <p:cNvSpPr txBox="1"/>
          <p:nvPr/>
        </p:nvSpPr>
        <p:spPr>
          <a:xfrm>
            <a:off x="6604000" y="2489200"/>
            <a:ext cx="4978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①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接口隔离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Controller 只注入 IService，Service 只注入 IRepository，依赖注入统一组装。</a:t>
            </a:r>
            <a:endParaRPr lang="en-US" sz="1050" noProof="1"/>
          </a:p>
        </p:txBody>
      </p:sp>
      <p:sp>
        <p:nvSpPr>
          <p:cNvPr id="22" name="note2-leade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eyJ2aWV3Qm94IjpbNjAsMl0sInBvaW50cyI6IjAsMSA2MCwxIiwiY3VydmUiOiJzaGFycCJ9</pptd:line>
              </p:ext>
            </p:extLst>
          </p:nvPr>
        </p:nvSpPr>
        <p:spPr>
          <a:xfrm>
            <a:off x="5689600" y="37211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1"/>
                </a:moveTo>
                <a:lnTo>
                  <a:pt x="60" y="1"/>
                </a:lnTo>
              </a:path>
            </a:pathLst>
          </a:custGeom>
          <a:noFill/>
          <a:ln w="12700">
            <a:solidFill>
              <a:srgbClr val="8B8271"/>
            </a:solidFill>
            <a:prstDash val="dash"/>
          </a:ln>
        </p:spPr>
      </p:sp>
      <p:sp>
        <p:nvSpPr>
          <p:cNvPr id="23" name="note2"/>
          <p:cNvSpPr txBox="1"/>
          <p:nvPr/>
        </p:nvSpPr>
        <p:spPr>
          <a:xfrm>
            <a:off x="6604000" y="3429000"/>
            <a:ext cx="4978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②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事务边界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发布、抢单、支付、评价等多表写入，在业务层统一提交或整体回滚。</a:t>
            </a:r>
            <a:endParaRPr lang="en-US" sz="1050" noProof="1"/>
          </a:p>
        </p:txBody>
      </p:sp>
      <p:sp>
        <p:nvSpPr>
          <p:cNvPr id="24" name="note3-leade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eyJ2aWV3Qm94IjpbNjAsMl0sInBvaW50cyI6IjAsMSA2MCwxIiwiY3VydmUiOiJzaGFycCJ9</pptd:line>
              </p:ext>
            </p:extLst>
          </p:nvPr>
        </p:nvSpPr>
        <p:spPr>
          <a:xfrm>
            <a:off x="5689600" y="46609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1"/>
                </a:moveTo>
                <a:lnTo>
                  <a:pt x="60" y="1"/>
                </a:lnTo>
              </a:path>
            </a:pathLst>
          </a:custGeom>
          <a:noFill/>
          <a:ln w="12700">
            <a:solidFill>
              <a:srgbClr val="8B8271"/>
            </a:solidFill>
            <a:prstDash val="dash"/>
          </a:ln>
        </p:spPr>
      </p:sp>
      <p:sp>
        <p:nvSpPr>
          <p:cNvPr id="25" name="note3"/>
          <p:cNvSpPr txBox="1"/>
          <p:nvPr/>
        </p:nvSpPr>
        <p:spPr>
          <a:xfrm>
            <a:off x="6604000" y="4368800"/>
            <a:ext cx="4978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③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SQL 收敛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Oracle 类型与参数化命令只允许出现在持久层，页面事件与数据库完全隔离。</a:t>
            </a:r>
            <a:endParaRPr lang="en-US" sz="1050" noProof="1"/>
          </a:p>
        </p:txBody>
      </p:sp>
      <p:sp>
        <p:nvSpPr>
          <p:cNvPr id="26" name="note4-leade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eyJ2aWV3Qm94IjpbNjAsMl0sInBvaW50cyI6IjAsMSA2MCwxIiwiY3VydmUiOiJzaGFycCJ9</pptd:line>
              </p:ext>
            </p:extLst>
          </p:nvPr>
        </p:nvSpPr>
        <p:spPr>
          <a:xfrm>
            <a:off x="5689600" y="56007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1"/>
                </a:moveTo>
                <a:lnTo>
                  <a:pt x="60" y="1"/>
                </a:lnTo>
              </a:path>
            </a:pathLst>
          </a:custGeom>
          <a:noFill/>
          <a:ln w="12700">
            <a:solidFill>
              <a:srgbClr val="8B8271"/>
            </a:solidFill>
            <a:prstDash val="dash"/>
          </a:ln>
        </p:spPr>
      </p:sp>
      <p:sp>
        <p:nvSpPr>
          <p:cNvPr id="27" name="note4"/>
          <p:cNvSpPr txBox="1"/>
          <p:nvPr/>
        </p:nvSpPr>
        <p:spPr>
          <a:xfrm>
            <a:off x="6604000" y="5308600"/>
            <a:ext cx="4978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④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静态门禁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脚本扫描越层引用：Controller 直连 Repository、Service 写 Oracle 命令，均无法通过。</a:t>
            </a:r>
            <a:endParaRPr lang="en-US" sz="1050" noProof="1"/>
          </a:p>
        </p:txBody>
      </p:sp>
      <p:sp>
        <p:nvSpPr>
          <p:cNvPr id="28" name="chain"/>
          <p:cNvSpPr txBox="1"/>
          <p:nvPr/>
        </p:nvSpPr>
        <p:spPr>
          <a:xfrm>
            <a:off x="609600" y="61722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kern="0" spc="200" noProof="1">
                <a:solidFill>
                  <a:srgbClr val="8B8271"/>
                </a:solidFill>
                <a:latin typeface="MiSans"/>
                <a:ea typeface="MiSans"/>
              </a:rPr>
              <a:t>VIEW → CONTROLLER → ISERVICE → SERVICE → IREPOSITORY → REPOSITORY → ORACLE</a:t>
            </a:r>
            <a:endParaRPr lang="en-US" sz="900" noProof="1"/>
          </a:p>
        </p:txBody>
      </p:sp>
      <p:sp>
        <p:nvSpPr>
          <p:cNvPr id="29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06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数据库 · SCHEMA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headline"/>
          <p:cNvSpPr txBox="1"/>
          <p:nvPr/>
        </p:nvSpPr>
        <p:spPr>
          <a:xfrm>
            <a:off x="609600" y="762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B1813"/>
                </a:solidFill>
                <a:latin typeface="思源宋体"/>
                <a:ea typeface="思源宋体"/>
              </a:rPr>
              <a:t>24 张表，每张都有主键</a:t>
            </a:r>
            <a:endParaRPr lang="en-US" sz="2800" noProof="1"/>
          </a:p>
        </p:txBody>
      </p:sp>
      <p:sp>
        <p:nvSpPr>
          <p:cNvPr id="6" name="table-label"/>
          <p:cNvSpPr txBox="1"/>
          <p:nvPr/>
        </p:nvSpPr>
        <p:spPr>
          <a:xfrm>
            <a:off x="609600" y="14732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表一 · 约束实测统计</a:t>
            </a:r>
            <a:endParaRPr lang="en-US" sz="850" noProof="1"/>
          </a:p>
        </p:txBody>
      </p:sp>
      <p:graphicFrame>
        <p:nvGraphicFramePr>
          <p:cNvPr id="7" name="constraint-table"/>
          <p:cNvGraphicFramePr>
            <a:graphicFrameLocks noGrp="1"/>
          </p:cNvGraphicFramePr>
          <p:nvPr/>
        </p:nvGraphicFramePr>
        <p:xfrm>
          <a:off x="609600" y="1752600"/>
          <a:ext cx="5588000" cy="2667000"/>
        </p:xfrm>
        <a:graphic>
          <a:graphicData uri="http://schemas.openxmlformats.org/drawingml/2006/table">
            <a:tbl>
              <a:tblPr/>
              <a:tblGrid>
                <a:gridCol w="122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8B8271"/>
                          </a:solidFill>
                          <a:latin typeface="MiSans"/>
                          <a:ea typeface="MiSans"/>
                        </a:rPr>
                        <a:t>　约束类型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B1813"/>
                      </a:solidFill>
                    </a:lnT>
                    <a:lnB w="1270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8B8271"/>
                          </a:solidFill>
                          <a:latin typeface="MiSans"/>
                          <a:ea typeface="MiSans"/>
                        </a:rPr>
                        <a:t>数量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B1813"/>
                      </a:solidFill>
                    </a:lnT>
                    <a:lnB w="1270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8B8271"/>
                          </a:solidFill>
                          <a:latin typeface="MiSans"/>
                          <a:ea typeface="MiSans"/>
                        </a:rPr>
                        <a:t>　作用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B1813"/>
                      </a:solidFill>
                    </a:lnT>
                    <a:lnB w="12700">
                      <a:solidFill>
                        <a:srgbClr val="1B181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PK　主键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B18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B1813"/>
                          </a:solidFill>
                          <a:latin typeface="思源宋体"/>
                          <a:ea typeface="思源宋体"/>
                        </a:rPr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B18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每张表一个，无例外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B18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FK　外键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B1813"/>
                          </a:solidFill>
                          <a:latin typeface="思源宋体"/>
                          <a:ea typeface="思源宋体"/>
                        </a:rPr>
                        <a:t>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引用完整性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CK　检查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B1813"/>
                          </a:solidFill>
                          <a:latin typeface="思源宋体"/>
                          <a:ea typeface="思源宋体"/>
                        </a:rPr>
                        <a:t>141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枚举值与取值域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UK　唯一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B1813"/>
                          </a:solidFill>
                          <a:latin typeface="思源宋体"/>
                          <a:ea typeface="思源宋体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并发写入的最后兜底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81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nf-label"/>
          <p:cNvSpPr txBox="1"/>
          <p:nvPr/>
        </p:nvSpPr>
        <p:spPr>
          <a:xfrm>
            <a:off x="6858000" y="1473200"/>
            <a:ext cx="472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三范式论证 · 3NF</a:t>
            </a:r>
            <a:endParaRPr lang="en-US" sz="850" noProof="1"/>
          </a:p>
        </p:txBody>
      </p:sp>
      <p:sp>
        <p:nvSpPr>
          <p:cNvPr id="9" name="nf1"/>
          <p:cNvSpPr txBox="1"/>
          <p:nvPr/>
        </p:nvSpPr>
        <p:spPr>
          <a:xfrm>
            <a:off x="6858000" y="1778000"/>
            <a:ext cx="4724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noProof="1">
                <a:solidFill>
                  <a:srgbClr val="000000"/>
                </a:solidFill>
                <a:latin typeface="思源宋体"/>
                <a:ea typeface="思源宋体"/>
              </a:rPr>
              <a:t>①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原子性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三类任务的专属字段拆入各自明细表，tasks 主单不堆叠互斥可空列。</a:t>
            </a:r>
            <a:endParaRPr lang="en-US" sz="1050" noProof="1"/>
          </a:p>
        </p:txBody>
      </p:sp>
      <p:sp>
        <p:nvSpPr>
          <p:cNvPr id="10" name="nf1-rule"/>
          <p:cNvSpPr/>
          <p:nvPr/>
        </p:nvSpPr>
        <p:spPr>
          <a:xfrm>
            <a:off x="6858000" y="2590800"/>
            <a:ext cx="4724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1" name="nf2"/>
          <p:cNvSpPr txBox="1"/>
          <p:nvPr/>
        </p:nvSpPr>
        <p:spPr>
          <a:xfrm>
            <a:off x="6858000" y="2768600"/>
            <a:ext cx="4724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noProof="1">
                <a:solidFill>
                  <a:srgbClr val="000000"/>
                </a:solidFill>
                <a:latin typeface="思源宋体"/>
                <a:ea typeface="思源宋体"/>
              </a:rPr>
              <a:t>②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无部分依赖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接派记录、结算明细均以代理键为主键，非主属性完全依赖于键。</a:t>
            </a:r>
            <a:endParaRPr lang="en-US" sz="1050" noProof="1"/>
          </a:p>
        </p:txBody>
      </p:sp>
      <p:sp>
        <p:nvSpPr>
          <p:cNvPr id="12" name="nf2-rule"/>
          <p:cNvSpPr/>
          <p:nvPr/>
        </p:nvSpPr>
        <p:spPr>
          <a:xfrm>
            <a:off x="6858000" y="3581400"/>
            <a:ext cx="4724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3" name="nf3"/>
          <p:cNvSpPr txBox="1"/>
          <p:nvPr/>
        </p:nvSpPr>
        <p:spPr>
          <a:xfrm>
            <a:off x="6858000" y="3759200"/>
            <a:ext cx="4724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noProof="1">
                <a:solidFill>
                  <a:srgbClr val="000000"/>
                </a:solidFill>
                <a:latin typeface="思源宋体"/>
                <a:ea typeface="思源宋体"/>
              </a:rPr>
              <a:t>③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无传递依赖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状态与类型存英文代码，中文名由应用层映射，表中不留冗余名称列。</a:t>
            </a:r>
            <a:endParaRPr lang="en-US" sz="1050" noProof="1"/>
          </a:p>
        </p:txBody>
      </p:sp>
      <p:sp>
        <p:nvSpPr>
          <p:cNvPr id="14" name="nf3-rule"/>
          <p:cNvSpPr/>
          <p:nvPr/>
        </p:nvSpPr>
        <p:spPr>
          <a:xfrm>
            <a:off x="6858000" y="4572000"/>
            <a:ext cx="4724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5" name="bottom-rule"/>
          <p:cNvSpPr/>
          <p:nvPr/>
        </p:nvSpPr>
        <p:spPr>
          <a:xfrm>
            <a:off x="609600" y="49784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16" name="naming-label"/>
          <p:cNvSpPr txBox="1"/>
          <p:nvPr/>
        </p:nvSpPr>
        <p:spPr>
          <a:xfrm>
            <a:off x="609600" y="51562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命名规范</a:t>
            </a:r>
            <a:endParaRPr lang="en-US" sz="850" noProof="1"/>
          </a:p>
        </p:txBody>
      </p:sp>
      <p:sp>
        <p:nvSpPr>
          <p:cNvPr id="17" name="naming-text"/>
          <p:cNvSpPr txBox="1"/>
          <p:nvPr/>
        </p:nvSpPr>
        <p:spPr>
          <a:xfrm>
            <a:off x="609600" y="5384800"/>
            <a:ext cx="508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表名单数 snake_case；约束统一前缀 PK_ / FK_ / UK_ / CK_，从名称即可判断类型与归属。</a:t>
            </a:r>
            <a:endParaRPr lang="en-US" sz="1050" noProof="1"/>
          </a:p>
        </p:txBody>
      </p:sp>
      <p:sp>
        <p:nvSpPr>
          <p:cNvPr id="18" name="integ-label"/>
          <p:cNvSpPr txBox="1"/>
          <p:nvPr/>
        </p:nvSpPr>
        <p:spPr>
          <a:xfrm>
            <a:off x="6350000" y="51562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完整性设计亮点</a:t>
            </a:r>
            <a:endParaRPr lang="en-US" sz="850" noProof="1"/>
          </a:p>
        </p:txBody>
      </p:sp>
      <p:sp>
        <p:nvSpPr>
          <p:cNvPr id="19" name="integ-text"/>
          <p:cNvSpPr txBox="1"/>
          <p:nvPr/>
        </p:nvSpPr>
        <p:spPr>
          <a:xfrm>
            <a:off x="6350000" y="5384800"/>
            <a:ext cx="5232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reviews.task_id 唯一 —— 一项任务最多一条评价</a:t>
            </a:r>
            <a:endParaRPr lang="en-US" sz="1050" noProof="1"/>
          </a:p>
          <a:p>
            <a:pPr algn="l">
              <a:lnSpc>
                <a:spcPct val="16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（record_id, task_id）复合外键 —— 评价绑定真实接派</a:t>
            </a:r>
            <a:endParaRPr lang="en-US" sz="1050" noProof="1"/>
          </a:p>
          <a:p>
            <a:pPr algn="l">
              <a:lnSpc>
                <a:spcPct val="16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函数唯一索引 —— 同一用户最多一条默认地址</a:t>
            </a:r>
            <a:endParaRPr lang="en-US" sz="1050" noProof="1"/>
          </a:p>
        </p:txBody>
      </p:sp>
      <p:sp>
        <p:nvSpPr>
          <p:cNvPr id="20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07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状态机 · STATE MACHINE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headline"/>
          <p:cNvSpPr txBox="1"/>
          <p:nvPr/>
        </p:nvSpPr>
        <p:spPr>
          <a:xfrm>
            <a:off x="609600" y="762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B1813"/>
                </a:solidFill>
                <a:latin typeface="思源宋体"/>
                <a:ea typeface="思源宋体"/>
              </a:rPr>
              <a:t>任务的状态怎么流转</a:t>
            </a:r>
            <a:endParaRPr lang="en-US" sz="2800" noProof="1"/>
          </a:p>
        </p:txBody>
      </p:sp>
      <p:sp>
        <p:nvSpPr>
          <p:cNvPr id="6" name="legend"/>
          <p:cNvSpPr txBox="1"/>
          <p:nvPr/>
        </p:nvSpPr>
        <p:spPr>
          <a:xfrm>
            <a:off x="7772400" y="13716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8271"/>
                </a:solidFill>
                <a:latin typeface="MiSans"/>
                <a:ea typeface="MiSans"/>
              </a:rPr>
              <a:t>实线＝主流程　红色虚线＝例外通道</a:t>
            </a:r>
            <a:endParaRPr lang="en-US" sz="900" noProof="1"/>
          </a:p>
        </p:txBody>
      </p:sp>
      <p:sp>
        <p:nvSpPr>
          <p:cNvPr id="7" name="st1"/>
          <p:cNvSpPr/>
          <p:nvPr/>
        </p:nvSpPr>
        <p:spPr>
          <a:xfrm>
            <a:off x="609600" y="1651000"/>
            <a:ext cx="1498600" cy="584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8" name="st1-text"/>
          <p:cNvSpPr txBox="1"/>
          <p:nvPr/>
        </p:nvSpPr>
        <p:spPr>
          <a:xfrm>
            <a:off x="609600" y="1651000"/>
            <a:ext cx="1498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WAITING</a:t>
            </a:r>
            <a:endParaRPr lang="en-US" sz="1050" noProof="1"/>
          </a:p>
          <a:p>
            <a:pPr algn="ctr">
              <a:lnSpc>
                <a:spcPct val="135000"/>
              </a:lnSpc>
            </a:pPr>
            <a:r>
              <a:rPr lang="en-US" sz="850" noProof="1">
                <a:solidFill>
                  <a:srgbClr val="000000"/>
                </a:solidFill>
                <a:latin typeface="MiSans"/>
                <a:ea typeface="MiSans"/>
              </a:rPr>
              <a:t>待接单</a:t>
            </a:r>
            <a:endParaRPr lang="en-US" sz="1050" noProof="1"/>
          </a:p>
        </p:txBody>
      </p:sp>
      <p:sp>
        <p:nvSpPr>
          <p:cNvPr id="9" name="arr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eyJ2aWV3Qm94IjpbMjQsMl0sInBvaW50cyI6IjAsMSAyNCwxIiwiY3VydmUiOiJzaGFycCJ9</pptd:line>
              </p:ext>
            </p:extLst>
          </p:nvPr>
        </p:nvSpPr>
        <p:spPr>
          <a:xfrm>
            <a:off x="2133600" y="1930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9050">
            <a:solidFill>
              <a:srgbClr val="1B1813"/>
            </a:solidFill>
            <a:tailEnd type="arrow"/>
          </a:ln>
        </p:spPr>
      </p:sp>
      <p:sp>
        <p:nvSpPr>
          <p:cNvPr id="10" name="st2"/>
          <p:cNvSpPr/>
          <p:nvPr/>
        </p:nvSpPr>
        <p:spPr>
          <a:xfrm>
            <a:off x="2463800" y="1651000"/>
            <a:ext cx="1498600" cy="584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11" name="st2-text"/>
          <p:cNvSpPr txBox="1"/>
          <p:nvPr/>
        </p:nvSpPr>
        <p:spPr>
          <a:xfrm>
            <a:off x="2463800" y="1651000"/>
            <a:ext cx="1498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ASSIGNED</a:t>
            </a:r>
            <a:endParaRPr lang="en-US" sz="1050" noProof="1"/>
          </a:p>
          <a:p>
            <a:pPr algn="ctr">
              <a:lnSpc>
                <a:spcPct val="135000"/>
              </a:lnSpc>
            </a:pPr>
            <a:r>
              <a:rPr lang="en-US" sz="850" noProof="1">
                <a:solidFill>
                  <a:srgbClr val="000000"/>
                </a:solidFill>
                <a:latin typeface="MiSans"/>
                <a:ea typeface="MiSans"/>
              </a:rPr>
              <a:t>已接单</a:t>
            </a:r>
            <a:endParaRPr lang="en-US" sz="1050" noProof="1"/>
          </a:p>
        </p:txBody>
      </p:sp>
      <p:sp>
        <p:nvSpPr>
          <p:cNvPr id="12" name="arr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eyJ2aWV3Qm94IjpbMjQsMl0sInBvaW50cyI6IjAsMSAyNCwxIiwiY3VydmUiOiJzaGFycCJ9</pptd:line>
              </p:ext>
            </p:extLst>
          </p:nvPr>
        </p:nvSpPr>
        <p:spPr>
          <a:xfrm>
            <a:off x="3987800" y="1930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9050">
            <a:solidFill>
              <a:srgbClr val="1B1813"/>
            </a:solidFill>
            <a:tailEnd type="arrow"/>
          </a:ln>
        </p:spPr>
      </p:sp>
      <p:sp>
        <p:nvSpPr>
          <p:cNvPr id="13" name="st3"/>
          <p:cNvSpPr/>
          <p:nvPr/>
        </p:nvSpPr>
        <p:spPr>
          <a:xfrm>
            <a:off x="4318000" y="1651000"/>
            <a:ext cx="1498600" cy="584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14" name="st3-text"/>
          <p:cNvSpPr txBox="1"/>
          <p:nvPr/>
        </p:nvSpPr>
        <p:spPr>
          <a:xfrm>
            <a:off x="4318000" y="1651000"/>
            <a:ext cx="1498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PICKED_UP</a:t>
            </a:r>
            <a:endParaRPr lang="en-US" sz="1050" noProof="1"/>
          </a:p>
          <a:p>
            <a:pPr algn="ctr">
              <a:lnSpc>
                <a:spcPct val="135000"/>
              </a:lnSpc>
            </a:pPr>
            <a:r>
              <a:rPr lang="en-US" sz="850" noProof="1">
                <a:solidFill>
                  <a:srgbClr val="000000"/>
                </a:solidFill>
                <a:latin typeface="MiSans"/>
                <a:ea typeface="MiSans"/>
              </a:rPr>
              <a:t>已取货</a:t>
            </a:r>
            <a:endParaRPr lang="en-US" sz="1050" noProof="1"/>
          </a:p>
        </p:txBody>
      </p:sp>
      <p:sp>
        <p:nvSpPr>
          <p:cNvPr id="15" name="arr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eyJ2aWV3Qm94IjpbMjQsMl0sInBvaW50cyI6IjAsMSAyNCwxIiwiY3VydmUiOiJzaGFycCJ9</pptd:line>
              </p:ext>
            </p:extLst>
          </p:nvPr>
        </p:nvSpPr>
        <p:spPr>
          <a:xfrm>
            <a:off x="5842000" y="1930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9050">
            <a:solidFill>
              <a:srgbClr val="1B1813"/>
            </a:solidFill>
            <a:tailEnd type="arrow"/>
          </a:ln>
        </p:spPr>
      </p:sp>
      <p:sp>
        <p:nvSpPr>
          <p:cNvPr id="16" name="st4"/>
          <p:cNvSpPr/>
          <p:nvPr/>
        </p:nvSpPr>
        <p:spPr>
          <a:xfrm>
            <a:off x="6172200" y="1651000"/>
            <a:ext cx="1498600" cy="584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17" name="st4-text"/>
          <p:cNvSpPr txBox="1"/>
          <p:nvPr/>
        </p:nvSpPr>
        <p:spPr>
          <a:xfrm>
            <a:off x="6172200" y="1651000"/>
            <a:ext cx="1498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DELIVERING</a:t>
            </a:r>
            <a:endParaRPr lang="en-US" sz="1050" noProof="1"/>
          </a:p>
          <a:p>
            <a:pPr algn="ctr">
              <a:lnSpc>
                <a:spcPct val="135000"/>
              </a:lnSpc>
            </a:pPr>
            <a:r>
              <a:rPr lang="en-US" sz="850" noProof="1">
                <a:solidFill>
                  <a:srgbClr val="000000"/>
                </a:solidFill>
                <a:latin typeface="MiSans"/>
                <a:ea typeface="MiSans"/>
              </a:rPr>
              <a:t>配送中</a:t>
            </a:r>
            <a:endParaRPr lang="en-US" sz="1050" noProof="1"/>
          </a:p>
        </p:txBody>
      </p:sp>
      <p:sp>
        <p:nvSpPr>
          <p:cNvPr id="18" name="arr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eyJ2aWV3Qm94IjpbMjQsMl0sInBvaW50cyI6IjAsMSAyNCwxIiwiY3VydmUiOiJzaGFycCJ9</pptd:line>
              </p:ext>
            </p:extLst>
          </p:nvPr>
        </p:nvSpPr>
        <p:spPr>
          <a:xfrm>
            <a:off x="7696200" y="1930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9050">
            <a:solidFill>
              <a:srgbClr val="1B1813"/>
            </a:solidFill>
            <a:tailEnd type="arrow"/>
          </a:ln>
        </p:spPr>
      </p:sp>
      <p:sp>
        <p:nvSpPr>
          <p:cNvPr id="19" name="st5"/>
          <p:cNvSpPr/>
          <p:nvPr/>
        </p:nvSpPr>
        <p:spPr>
          <a:xfrm>
            <a:off x="8026400" y="1651000"/>
            <a:ext cx="1498600" cy="584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20" name="st5-text"/>
          <p:cNvSpPr txBox="1"/>
          <p:nvPr/>
        </p:nvSpPr>
        <p:spPr>
          <a:xfrm>
            <a:off x="8026400" y="1651000"/>
            <a:ext cx="1498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WAIT_CONFIRM</a:t>
            </a:r>
            <a:endParaRPr lang="en-US" sz="1050" noProof="1"/>
          </a:p>
          <a:p>
            <a:pPr algn="ctr">
              <a:lnSpc>
                <a:spcPct val="135000"/>
              </a:lnSpc>
            </a:pPr>
            <a:r>
              <a:rPr lang="en-US" sz="850" noProof="1">
                <a:solidFill>
                  <a:srgbClr val="000000"/>
                </a:solidFill>
                <a:latin typeface="MiSans"/>
                <a:ea typeface="MiSans"/>
              </a:rPr>
              <a:t>送达待确认</a:t>
            </a:r>
            <a:endParaRPr lang="en-US" sz="1050" noProof="1"/>
          </a:p>
        </p:txBody>
      </p:sp>
      <p:sp>
        <p:nvSpPr>
          <p:cNvPr id="21" name="arr5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eyJ2aWV3Qm94IjpbMjQsMl0sInBvaW50cyI6IjAsMSAyNCwxIiwiY3VydmUiOiJzaGFycCJ9</pptd:line>
              </p:ext>
            </p:extLst>
          </p:nvPr>
        </p:nvSpPr>
        <p:spPr>
          <a:xfrm>
            <a:off x="9550400" y="1930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9050">
            <a:solidFill>
              <a:srgbClr val="1B1813"/>
            </a:solidFill>
            <a:tailEnd type="arrow"/>
          </a:ln>
        </p:spPr>
      </p:sp>
      <p:sp>
        <p:nvSpPr>
          <p:cNvPr id="22" name="st6"/>
          <p:cNvSpPr/>
          <p:nvPr/>
        </p:nvSpPr>
        <p:spPr>
          <a:xfrm>
            <a:off x="9880600" y="1651000"/>
            <a:ext cx="1701800" cy="5842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23" name="st6-text"/>
          <p:cNvSpPr txBox="1"/>
          <p:nvPr/>
        </p:nvSpPr>
        <p:spPr>
          <a:xfrm>
            <a:off x="9880600" y="1651000"/>
            <a:ext cx="1701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050" b="1" noProof="1">
                <a:solidFill>
                  <a:srgbClr val="F2EDE3"/>
                </a:solidFill>
                <a:latin typeface="MiSans"/>
                <a:ea typeface="MiSans"/>
              </a:rPr>
              <a:t>FINISHED</a:t>
            </a:r>
            <a:endParaRPr lang="en-US" sz="1050" noProof="1"/>
          </a:p>
          <a:p>
            <a:pPr algn="ctr">
              <a:lnSpc>
                <a:spcPct val="135000"/>
              </a:lnSpc>
            </a:pPr>
            <a:r>
              <a:rPr lang="en-US" sz="850" noProof="1">
                <a:solidFill>
                  <a:srgbClr val="B4AA93"/>
                </a:solidFill>
                <a:latin typeface="MiSans"/>
                <a:ea typeface="MiSans"/>
              </a:rPr>
              <a:t>付款完成</a:t>
            </a:r>
            <a:endParaRPr lang="en-US" sz="1050" noProof="1"/>
          </a:p>
        </p:txBody>
      </p:sp>
      <p:sp>
        <p:nvSpPr>
          <p:cNvPr id="24" name="ex1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eyJ2aWV3Qm94IjpbMiwzNF0sInBvaW50cyI6IjEsMCAxLDM0IiwiY3VydmUiOiJzaGFycCJ9</pptd:line>
              </p:ext>
            </p:extLst>
          </p:nvPr>
        </p:nvSpPr>
        <p:spPr>
          <a:xfrm>
            <a:off x="1346200" y="2260600"/>
            <a:ext cx="25400" cy="431800"/>
          </a:xfrm>
          <a:custGeom>
            <a:avLst/>
            <a:gdLst/>
            <a:ahLst/>
            <a:cxnLst/>
            <a:rect l="l" t="t" r="r" b="b"/>
            <a:pathLst>
              <a:path w="2" h="34">
                <a:moveTo>
                  <a:pt x="1" y="0"/>
                </a:moveTo>
                <a:lnTo>
                  <a:pt x="1" y="34"/>
                </a:lnTo>
              </a:path>
            </a:pathLst>
          </a:custGeom>
          <a:noFill/>
          <a:ln w="12700">
            <a:solidFill>
              <a:srgbClr val="C22441"/>
            </a:solidFill>
            <a:prstDash val="dash"/>
            <a:tailEnd type="arrow"/>
          </a:ln>
        </p:spPr>
      </p:sp>
      <p:sp>
        <p:nvSpPr>
          <p:cNvPr id="25" name="ex1-node"/>
          <p:cNvSpPr/>
          <p:nvPr/>
        </p:nvSpPr>
        <p:spPr>
          <a:xfrm>
            <a:off x="609600" y="2743200"/>
            <a:ext cx="1498600" cy="431800"/>
          </a:xfrm>
          <a:prstGeom prst="rect">
            <a:avLst/>
          </a:prstGeom>
          <a:noFill/>
          <a:ln w="12700">
            <a:solidFill>
              <a:srgbClr val="C22441"/>
            </a:solidFill>
            <a:prstDash val="dash"/>
          </a:ln>
        </p:spPr>
      </p:sp>
      <p:sp>
        <p:nvSpPr>
          <p:cNvPr id="26" name="ex1-text"/>
          <p:cNvSpPr txBox="1"/>
          <p:nvPr/>
        </p:nvSpPr>
        <p:spPr>
          <a:xfrm>
            <a:off x="609600" y="2743200"/>
            <a:ext cx="1498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C22441"/>
                </a:solidFill>
                <a:latin typeface="MiSans"/>
                <a:ea typeface="MiSans"/>
              </a:rPr>
              <a:t>CANCELLED</a:t>
            </a:r>
            <a:endParaRPr lang="en-US" sz="950" noProof="1"/>
          </a:p>
          <a:p>
            <a:pPr algn="ctr">
              <a:lnSpc>
                <a:spcPct val="130000"/>
              </a:lnSpc>
            </a:pPr>
            <a:r>
              <a:rPr lang="en-US" sz="800" noProof="1">
                <a:solidFill>
                  <a:srgbClr val="C22441"/>
                </a:solidFill>
                <a:latin typeface="MiSans"/>
                <a:ea typeface="MiSans"/>
              </a:rPr>
              <a:t>仅待接单可取消</a:t>
            </a:r>
            <a:endParaRPr lang="en-US" sz="950" noProof="1"/>
          </a:p>
        </p:txBody>
      </p:sp>
      <p:sp>
        <p:nvSpPr>
          <p:cNvPr id="27" name="ex2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eyJ2aWV3Qm94IjpbMiwzNF0sInBvaW50cyI6IjEsMCAxLDM0IiwiY3VydmUiOiJzaGFycCJ9</pptd:line>
              </p:ext>
            </p:extLst>
          </p:nvPr>
        </p:nvSpPr>
        <p:spPr>
          <a:xfrm>
            <a:off x="10718800" y="2260600"/>
            <a:ext cx="25400" cy="431800"/>
          </a:xfrm>
          <a:custGeom>
            <a:avLst/>
            <a:gdLst/>
            <a:ahLst/>
            <a:cxnLst/>
            <a:rect l="l" t="t" r="r" b="b"/>
            <a:pathLst>
              <a:path w="2" h="34">
                <a:moveTo>
                  <a:pt x="1" y="0"/>
                </a:moveTo>
                <a:lnTo>
                  <a:pt x="1" y="34"/>
                </a:lnTo>
              </a:path>
            </a:pathLst>
          </a:custGeom>
          <a:noFill/>
          <a:ln w="12700">
            <a:solidFill>
              <a:srgbClr val="C22441"/>
            </a:solidFill>
            <a:prstDash val="dash"/>
            <a:tailEnd type="arrow"/>
          </a:ln>
        </p:spPr>
      </p:sp>
      <p:sp>
        <p:nvSpPr>
          <p:cNvPr id="28" name="ex2-node"/>
          <p:cNvSpPr/>
          <p:nvPr/>
        </p:nvSpPr>
        <p:spPr>
          <a:xfrm>
            <a:off x="9880600" y="2743200"/>
            <a:ext cx="1701800" cy="431800"/>
          </a:xfrm>
          <a:prstGeom prst="rect">
            <a:avLst/>
          </a:prstGeom>
          <a:noFill/>
          <a:ln w="12700">
            <a:solidFill>
              <a:srgbClr val="C22441"/>
            </a:solidFill>
            <a:prstDash val="dash"/>
          </a:ln>
        </p:spPr>
      </p:sp>
      <p:sp>
        <p:nvSpPr>
          <p:cNvPr id="29" name="ex2-text"/>
          <p:cNvSpPr txBox="1"/>
          <p:nvPr/>
        </p:nvSpPr>
        <p:spPr>
          <a:xfrm>
            <a:off x="9880600" y="27432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C22441"/>
                </a:solidFill>
                <a:latin typeface="MiSans"/>
                <a:ea typeface="MiSans"/>
              </a:rPr>
              <a:t>REFUNDING</a:t>
            </a:r>
            <a:endParaRPr lang="en-US" sz="950" noProof="1"/>
          </a:p>
          <a:p>
            <a:pPr algn="ctr">
              <a:lnSpc>
                <a:spcPct val="130000"/>
              </a:lnSpc>
            </a:pPr>
            <a:r>
              <a:rPr lang="en-US" sz="800" noProof="1">
                <a:solidFill>
                  <a:srgbClr val="C22441"/>
                </a:solidFill>
                <a:latin typeface="MiSans"/>
                <a:ea typeface="MiSans"/>
              </a:rPr>
              <a:t>售后处理中</a:t>
            </a:r>
            <a:endParaRPr lang="en-US" sz="950" noProof="1"/>
          </a:p>
        </p:txBody>
      </p:sp>
      <p:sp>
        <p:nvSpPr>
          <p:cNvPr id="30" name="rules-rule-top"/>
          <p:cNvSpPr/>
          <p:nvPr/>
        </p:nvSpPr>
        <p:spPr>
          <a:xfrm>
            <a:off x="609600" y="3683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31" name="rl1"/>
          <p:cNvSpPr txBox="1"/>
          <p:nvPr/>
        </p:nvSpPr>
        <p:spPr>
          <a:xfrm>
            <a:off x="609600" y="38862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①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日志边界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状态日志自 ASSIGNED 起逐步写入 task_status_logs；发布任务与未接单取消不产生日志。</a:t>
            </a:r>
            <a:endParaRPr lang="en-US" sz="1050" noProof="1"/>
          </a:p>
        </p:txBody>
      </p:sp>
      <p:sp>
        <p:nvSpPr>
          <p:cNvPr id="32" name="rl1-rule"/>
          <p:cNvSpPr/>
          <p:nvPr/>
        </p:nvSpPr>
        <p:spPr>
          <a:xfrm>
            <a:off x="609600" y="44196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33" name="rl2"/>
          <p:cNvSpPr txBox="1"/>
          <p:nvPr/>
        </p:nvSpPr>
        <p:spPr>
          <a:xfrm>
            <a:off x="609600" y="46228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②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取消限制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仅发布者可取消且仅限 WAITING；已接单任务的取消须绑定当前接派记录并写入日志。</a:t>
            </a:r>
            <a:endParaRPr lang="en-US" sz="1050" noProof="1"/>
          </a:p>
        </p:txBody>
      </p:sp>
      <p:sp>
        <p:nvSpPr>
          <p:cNvPr id="34" name="rl2-rule"/>
          <p:cNvSpPr/>
          <p:nvPr/>
        </p:nvSpPr>
        <p:spPr>
          <a:xfrm>
            <a:off x="609600" y="51562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35" name="rl3"/>
          <p:cNvSpPr txBox="1"/>
          <p:nvPr/>
        </p:nvSpPr>
        <p:spPr>
          <a:xfrm>
            <a:off x="609600" y="53594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③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重派机制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保留旧接派记录并新增 REASSIGN 记录；支付、评价、投诉、结算始终绑定最新有效接派。</a:t>
            </a:r>
            <a:endParaRPr lang="en-US" sz="1050" noProof="1"/>
          </a:p>
        </p:txBody>
      </p:sp>
      <p:sp>
        <p:nvSpPr>
          <p:cNvPr id="36" name="rl3-rule"/>
          <p:cNvSpPr/>
          <p:nvPr/>
        </p:nvSpPr>
        <p:spPr>
          <a:xfrm>
            <a:off x="609600" y="58928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37" name="rl4"/>
          <p:cNvSpPr txBox="1"/>
          <p:nvPr/>
        </p:nvSpPr>
        <p:spPr>
          <a:xfrm>
            <a:off x="609600" y="60960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④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并发抢单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FOR UPDATE 行锁 + 状态重读校验 + 唯一约束兜底，并发下仅一人成功。</a:t>
            </a:r>
            <a:endParaRPr lang="en-US" sz="1050" noProof="1"/>
          </a:p>
        </p:txBody>
      </p:sp>
      <p:sp>
        <p:nvSpPr>
          <p:cNvPr id="38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08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一致性 · CONSISTENCY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headline"/>
          <p:cNvSpPr txBox="1"/>
          <p:nvPr/>
        </p:nvSpPr>
        <p:spPr>
          <a:xfrm>
            <a:off x="609600" y="762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800" noProof="1">
                <a:solidFill>
                  <a:srgbClr val="1B1813"/>
                </a:solidFill>
                <a:latin typeface="思源宋体"/>
                <a:ea typeface="思源宋体"/>
              </a:rPr>
              <a:t>并发访问</a:t>
            </a:r>
            <a:endParaRPr lang="en-US" sz="2800" noProof="1"/>
          </a:p>
        </p:txBody>
      </p:sp>
      <p:sp>
        <p:nvSpPr>
          <p:cNvPr id="6" name="proto-label"/>
          <p:cNvSpPr txBox="1"/>
          <p:nvPr/>
        </p:nvSpPr>
        <p:spPr>
          <a:xfrm>
            <a:off x="609600" y="14732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程序一 · 并发抢单协议</a:t>
            </a:r>
            <a:endParaRPr lang="en-US" sz="850" noProof="1"/>
          </a:p>
        </p:txBody>
      </p:sp>
      <p:sp>
        <p:nvSpPr>
          <p:cNvPr id="7" name="proto-box"/>
          <p:cNvSpPr/>
          <p:nvPr/>
        </p:nvSpPr>
        <p:spPr>
          <a:xfrm>
            <a:off x="609600" y="1752600"/>
            <a:ext cx="5588000" cy="2997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8" name="proto-steps"/>
          <p:cNvSpPr txBox="1"/>
          <p:nvPr/>
        </p:nvSpPr>
        <p:spPr>
          <a:xfrm>
            <a:off x="889000" y="1955800"/>
            <a:ext cx="5029200" cy="259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95000"/>
              </a:lnSpc>
            </a:pPr>
            <a:r>
              <a:rPr lang="en-US" sz="1100" noProof="1">
                <a:solidFill>
                  <a:srgbClr val="000000"/>
                </a:solidFill>
                <a:latin typeface="思源宋体"/>
                <a:ea typeface="思源宋体"/>
              </a:rPr>
              <a:t>1.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SELECT … FOR UPDATE 锁定任务行</a:t>
            </a:r>
            <a:endParaRPr lang="en-US" sz="1100" noProof="1"/>
          </a:p>
          <a:p>
            <a:pPr algn="l">
              <a:lnSpc>
                <a:spcPct val="195000"/>
              </a:lnSpc>
            </a:pPr>
            <a:r>
              <a:rPr lang="en-US" sz="1100" noProof="1">
                <a:solidFill>
                  <a:srgbClr val="000000"/>
                </a:solidFill>
                <a:latin typeface="思源宋体"/>
                <a:ea typeface="思源宋体"/>
              </a:rPr>
              <a:t>2.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锁定跑腿员行</a:t>
            </a:r>
            <a:endParaRPr lang="en-US" sz="1100" noProof="1"/>
          </a:p>
          <a:p>
            <a:pPr algn="l">
              <a:lnSpc>
                <a:spcPct val="195000"/>
              </a:lnSpc>
            </a:pPr>
            <a:r>
              <a:rPr lang="en-US" sz="1100" noProof="1">
                <a:solidFill>
                  <a:srgbClr val="000000"/>
                </a:solidFill>
                <a:latin typeface="思源宋体"/>
                <a:ea typeface="思源宋体"/>
              </a:rPr>
              <a:t>3.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重读状态：任务 WAITING 且跑腿员 FREE</a:t>
            </a:r>
            <a:endParaRPr lang="en-US" sz="1100" noProof="1"/>
          </a:p>
          <a:p>
            <a:pPr algn="l">
              <a:lnSpc>
                <a:spcPct val="195000"/>
              </a:lnSpc>
            </a:pPr>
            <a:r>
              <a:rPr lang="en-US" sz="1100" noProof="1">
                <a:solidFill>
                  <a:srgbClr val="000000"/>
                </a:solidFill>
                <a:latin typeface="思源宋体"/>
                <a:ea typeface="思源宋体"/>
              </a:rPr>
              <a:t>4.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同事务写入接派、任务、跑腿员、日志四表</a:t>
            </a:r>
            <a:endParaRPr lang="en-US" sz="1100" noProof="1"/>
          </a:p>
          <a:p>
            <a:pPr algn="l">
              <a:lnSpc>
                <a:spcPct val="195000"/>
              </a:lnSpc>
            </a:pPr>
            <a:r>
              <a:rPr lang="en-US" sz="1100" noProof="1">
                <a:solidFill>
                  <a:srgbClr val="000000"/>
                </a:solidFill>
                <a:latin typeface="思源宋体"/>
                <a:ea typeface="思源宋体"/>
              </a:rPr>
              <a:t>5.</a:t>
            </a:r>
            <a:r>
              <a:rPr lang="en-US" sz="1100" noProof="1">
                <a:solidFill>
                  <a:srgbClr val="1B1813"/>
                </a:solidFill>
                <a:latin typeface="MiSans"/>
                <a:ea typeface="MiSans"/>
              </a:rPr>
              <a:t> 提交；任一步失败整体回滚</a:t>
            </a:r>
            <a:endParaRPr lang="en-US" sz="1100" noProof="1"/>
          </a:p>
        </p:txBody>
      </p:sp>
      <p:sp>
        <p:nvSpPr>
          <p:cNvPr id="9" name="proto-result"/>
          <p:cNvSpPr txBox="1"/>
          <p:nvPr/>
        </p:nvSpPr>
        <p:spPr>
          <a:xfrm>
            <a:off x="609600" y="4927600"/>
            <a:ext cx="558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结果：两个人同时抢同一单，</a:t>
            </a:r>
            <a:r>
              <a:rPr lang="en-US" sz="1050" noProof="1">
                <a:solidFill>
                  <a:srgbClr val="000000"/>
                </a:solidFill>
                <a:latin typeface="MiSans"/>
                <a:ea typeface="MiSans"/>
              </a:rPr>
              <a:t>只有先拿到锁的那个提交成功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，表里不会多出一条接派记录。</a:t>
            </a:r>
            <a:endParaRPr lang="en-US" sz="1050" noProof="1"/>
          </a:p>
        </p:txBody>
      </p:sp>
      <p:sp>
        <p:nvSpPr>
          <p:cNvPr id="10" name="credit-label"/>
          <p:cNvSpPr txBox="1"/>
          <p:nvPr/>
        </p:nvSpPr>
        <p:spPr>
          <a:xfrm>
            <a:off x="6858000" y="1473200"/>
            <a:ext cx="472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表二 · 信誉分账</a:t>
            </a:r>
            <a:endParaRPr lang="en-US" sz="850" noProof="1"/>
          </a:p>
        </p:txBody>
      </p:sp>
      <p:graphicFrame>
        <p:nvGraphicFramePr>
          <p:cNvPr id="11" name="credit-table"/>
          <p:cNvGraphicFramePr>
            <a:graphicFrameLocks noGrp="1"/>
          </p:cNvGraphicFramePr>
          <p:nvPr/>
        </p:nvGraphicFramePr>
        <p:xfrm>
          <a:off x="6858000" y="1752600"/>
          <a:ext cx="4724400" cy="1856232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392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8B8271"/>
                          </a:solidFill>
                          <a:latin typeface="MiSans"/>
                          <a:ea typeface="MiSans"/>
                        </a:rPr>
                        <a:t>　行为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B1813"/>
                      </a:solidFill>
                    </a:lnT>
                    <a:lnB w="1270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8B8271"/>
                          </a:solidFill>
                          <a:latin typeface="MiSans"/>
                          <a:ea typeface="MiSans"/>
                        </a:rPr>
                        <a:t>信誉分变动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B1813"/>
                      </a:solidFill>
                    </a:lnT>
                    <a:lnB w="12700">
                      <a:solidFill>
                        <a:srgbClr val="1B181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评价 5 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B18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+2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B18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评价 4 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+1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评价 3 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评价 2 星 / 1 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−1 / −2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投诉成立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−10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81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credit-rules"/>
          <p:cNvSpPr txBox="1"/>
          <p:nvPr/>
        </p:nvSpPr>
        <p:spPr>
          <a:xfrm>
            <a:off x="6858000" y="4089400"/>
            <a:ext cx="47244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·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评价写入与信誉分调整在</a:t>
            </a: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同一事务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，失败整体回滚</a:t>
            </a:r>
            <a:endParaRPr lang="en-US" sz="1050" noProof="1"/>
          </a:p>
          <a:p>
            <a:pPr algn="l">
              <a:lnSpc>
                <a:spcPct val="165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·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修改 / 删除评价按差额回滚，信誉分下限为 0</a:t>
            </a:r>
            <a:endParaRPr lang="en-US" sz="1050" noProof="1"/>
          </a:p>
          <a:p>
            <a:pPr algn="l">
              <a:lnSpc>
                <a:spcPct val="165000"/>
              </a:lnSpc>
            </a:pPr>
            <a:r>
              <a:rPr lang="en-US" sz="1050" noProof="1">
                <a:solidFill>
                  <a:srgbClr val="000000"/>
                </a:solidFill>
                <a:latin typeface="思源宋体"/>
                <a:ea typeface="思源宋体"/>
              </a:rPr>
              <a:t>·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 门槛：任务 FINISHED + 支付 PAID + 无活动退款，一任务一次</a:t>
            </a:r>
            <a:endParaRPr lang="en-US" sz="1050" noProof="1"/>
          </a:p>
        </p:txBody>
      </p:sp>
      <p:sp>
        <p:nvSpPr>
          <p:cNvPr id="13" name="bottom-rule"/>
          <p:cNvSpPr/>
          <p:nvPr/>
        </p:nvSpPr>
        <p:spPr>
          <a:xfrm>
            <a:off x="609600" y="5689600"/>
            <a:ext cx="109728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4" name="bottom-note"/>
          <p:cNvSpPr txBox="1"/>
          <p:nvPr/>
        </p:nvSpPr>
        <p:spPr>
          <a:xfrm>
            <a:off x="609600" y="58674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MiSans"/>
                <a:ea typeface="MiSans"/>
              </a:rPr>
              <a:t>同类事务边界同样约束：发布任务、派单重派、配送状态、确认付款、退款审核、结算与审计写入。</a:t>
            </a:r>
            <a:endParaRPr lang="en-US" sz="1000" noProof="1"/>
          </a:p>
        </p:txBody>
      </p:sp>
      <p:sp>
        <p:nvSpPr>
          <p:cNvPr id="15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09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界面图版 · PLATES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headline"/>
          <p:cNvSpPr txBox="1"/>
          <p:nvPr/>
        </p:nvSpPr>
        <p:spPr>
          <a:xfrm>
            <a:off x="609600" y="762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B1813"/>
                </a:solidFill>
                <a:latin typeface="思源宋体"/>
                <a:ea typeface="思源宋体"/>
              </a:rPr>
              <a:t>界面</a:t>
            </a:r>
            <a:r>
              <a:rPr lang="zh-CN" altLang="en-US" sz="2800" noProof="1">
                <a:solidFill>
                  <a:srgbClr val="1B1813"/>
                </a:solidFill>
                <a:latin typeface="思源宋体"/>
                <a:ea typeface="思源宋体"/>
              </a:rPr>
              <a:t>设计</a:t>
            </a:r>
            <a:endParaRPr lang="en-US" sz="2800" noProof="1"/>
          </a:p>
        </p:txBody>
      </p:sp>
      <p:pic>
        <p:nvPicPr>
          <p:cNvPr id="6" name="plate1"/>
          <p:cNvPicPr/>
          <p:nvPr/>
        </p:nvPicPr>
        <p:blipFill>
          <a:blip r:embed="rId3"/>
          <a:srcRect l="5315" r="5315"/>
          <a:stretch>
            <a:fillRect/>
          </a:stretch>
        </p:blipFill>
        <p:spPr>
          <a:xfrm>
            <a:off x="609600" y="1473200"/>
            <a:ext cx="5969000" cy="3759200"/>
          </a:xfrm>
          <a:prstGeom prst="rect">
            <a:avLst/>
          </a:prstGeom>
          <a:ln>
            <a:noFill/>
          </a:ln>
        </p:spPr>
      </p:pic>
      <p:sp>
        <p:nvSpPr>
          <p:cNvPr id="7" name="plate1-border"/>
          <p:cNvSpPr/>
          <p:nvPr/>
        </p:nvSpPr>
        <p:spPr>
          <a:xfrm>
            <a:off x="609600" y="1473200"/>
            <a:ext cx="5969000" cy="3759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8" name="plate1-cap"/>
          <p:cNvSpPr txBox="1"/>
          <p:nvPr/>
        </p:nvSpPr>
        <p:spPr>
          <a:xfrm>
            <a:off x="609600" y="5359400"/>
            <a:ext cx="596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50" noProof="1">
                <a:solidFill>
                  <a:srgbClr val="000000"/>
                </a:solidFill>
                <a:latin typeface="思源宋体"/>
                <a:ea typeface="思源宋体"/>
              </a:rPr>
              <a:t>图版 01</a:t>
            </a:r>
            <a:r>
              <a:rPr lang="en-US" sz="950" noProof="1">
                <a:solidFill>
                  <a:srgbClr val="8B8271"/>
                </a:solidFill>
                <a:latin typeface="MiSans"/>
                <a:ea typeface="MiSans"/>
              </a:rPr>
              <a:t>　首页门户 —— 按访客 / 用户 / 跑腿员 / 管理员身份展示真实入口</a:t>
            </a:r>
            <a:endParaRPr lang="en-US" sz="950" noProof="1"/>
          </a:p>
        </p:txBody>
      </p:sp>
      <p:pic>
        <p:nvPicPr>
          <p:cNvPr id="9" name="plate2"/>
          <p:cNvPicPr/>
          <p:nvPr/>
        </p:nvPicPr>
        <p:blipFill>
          <a:blip r:embed="rId4"/>
          <a:srcRect t="3059" b="3059"/>
          <a:stretch>
            <a:fillRect/>
          </a:stretch>
        </p:blipFill>
        <p:spPr>
          <a:xfrm>
            <a:off x="7112000" y="1473200"/>
            <a:ext cx="4470400" cy="2362200"/>
          </a:xfrm>
          <a:prstGeom prst="rect">
            <a:avLst/>
          </a:prstGeom>
          <a:ln>
            <a:noFill/>
          </a:ln>
        </p:spPr>
      </p:pic>
      <p:sp>
        <p:nvSpPr>
          <p:cNvPr id="10" name="plate2-border"/>
          <p:cNvSpPr/>
          <p:nvPr/>
        </p:nvSpPr>
        <p:spPr>
          <a:xfrm>
            <a:off x="7112000" y="1473200"/>
            <a:ext cx="4470400" cy="2362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11" name="plate2-cap"/>
          <p:cNvSpPr txBox="1"/>
          <p:nvPr/>
        </p:nvSpPr>
        <p:spPr>
          <a:xfrm>
            <a:off x="7112000" y="3962400"/>
            <a:ext cx="4470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50" noProof="1">
                <a:solidFill>
                  <a:srgbClr val="000000"/>
                </a:solidFill>
                <a:latin typeface="思源宋体"/>
                <a:ea typeface="思源宋体"/>
              </a:rPr>
              <a:t>图版 02</a:t>
            </a:r>
            <a:r>
              <a:rPr lang="en-US" sz="950" noProof="1">
                <a:solidFill>
                  <a:srgbClr val="8B8271"/>
                </a:solidFill>
                <a:latin typeface="MiSans"/>
                <a:ea typeface="MiSans"/>
              </a:rPr>
              <a:t>　管理员工作台 —— 运营、审核、结算审计入口</a:t>
            </a:r>
            <a:endParaRPr lang="en-US" sz="950" noProof="1"/>
          </a:p>
        </p:txBody>
      </p:sp>
      <p:pic>
        <p:nvPicPr>
          <p:cNvPr id="12" name="plate3"/>
          <p:cNvPicPr/>
          <p:nvPr/>
        </p:nvPicPr>
        <p:blipFill>
          <a:blip r:embed="rId5"/>
          <a:srcRect t="25772" b="25772"/>
          <a:stretch>
            <a:fillRect/>
          </a:stretch>
        </p:blipFill>
        <p:spPr>
          <a:xfrm>
            <a:off x="7112000" y="4470400"/>
            <a:ext cx="4470400" cy="1219200"/>
          </a:xfrm>
          <a:prstGeom prst="rect">
            <a:avLst/>
          </a:prstGeom>
          <a:ln>
            <a:noFill/>
          </a:ln>
        </p:spPr>
      </p:pic>
      <p:sp>
        <p:nvSpPr>
          <p:cNvPr id="13" name="plate3-border"/>
          <p:cNvSpPr/>
          <p:nvPr/>
        </p:nvSpPr>
        <p:spPr>
          <a:xfrm>
            <a:off x="7112000" y="4470400"/>
            <a:ext cx="4470400" cy="1219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14" name="plate3-cap"/>
          <p:cNvSpPr txBox="1"/>
          <p:nvPr/>
        </p:nvSpPr>
        <p:spPr>
          <a:xfrm>
            <a:off x="7112000" y="5816600"/>
            <a:ext cx="4470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000000"/>
                </a:solidFill>
                <a:latin typeface="思源宋体"/>
                <a:ea typeface="思源宋体"/>
              </a:rPr>
              <a:t>图版 03</a:t>
            </a:r>
            <a:r>
              <a:rPr lang="en-US" sz="950" noProof="1">
                <a:solidFill>
                  <a:srgbClr val="8B8271"/>
                </a:solidFill>
                <a:latin typeface="MiSans"/>
                <a:ea typeface="MiSans"/>
              </a:rPr>
              <a:t>　统计报表 —— 月度指标与节点业务量</a:t>
            </a:r>
            <a:endParaRPr lang="en-US" sz="950" noProof="1"/>
          </a:p>
        </p:txBody>
      </p:sp>
      <p:sp>
        <p:nvSpPr>
          <p:cNvPr id="15" name="plate-note"/>
          <p:cNvSpPr txBox="1"/>
          <p:nvPr/>
        </p:nvSpPr>
        <p:spPr>
          <a:xfrm>
            <a:off x="609600" y="5943600"/>
            <a:ext cx="596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50" noProof="1">
                <a:solidFill>
                  <a:srgbClr val="8B8271"/>
                </a:solidFill>
                <a:latin typeface="MiSans"/>
                <a:ea typeface="MiSans"/>
              </a:rPr>
              <a:t>注：系统界面采用济跑跑品牌视觉（校园蓝 / 活力青 / 订单橙）；本档案版式为答辩汇报专用，二者各自独立。</a:t>
            </a:r>
            <a:endParaRPr lang="en-US" sz="950" noProof="1"/>
          </a:p>
        </p:txBody>
      </p:sp>
      <p:sp>
        <p:nvSpPr>
          <p:cNvPr id="16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10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验证 · VERIFICATION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headline"/>
          <p:cNvSpPr txBox="1"/>
          <p:nvPr/>
        </p:nvSpPr>
        <p:spPr>
          <a:xfrm>
            <a:off x="609600" y="762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800" noProof="1">
                <a:solidFill>
                  <a:srgbClr val="1B1813"/>
                </a:solidFill>
                <a:latin typeface="思源宋体"/>
                <a:ea typeface="思源宋体"/>
              </a:rPr>
              <a:t>测试记录</a:t>
            </a:r>
            <a:endParaRPr lang="en-US" sz="2800" noProof="1"/>
          </a:p>
        </p:txBody>
      </p:sp>
      <p:sp>
        <p:nvSpPr>
          <p:cNvPr id="6" name="ver-label"/>
          <p:cNvSpPr txBox="1"/>
          <p:nvPr/>
        </p:nvSpPr>
        <p:spPr>
          <a:xfrm>
            <a:off x="609600" y="14732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表三 · 验证记录（2026-08-15 实测）</a:t>
            </a:r>
            <a:endParaRPr lang="en-US" sz="850" noProof="1"/>
          </a:p>
        </p:txBody>
      </p:sp>
      <p:graphicFrame>
        <p:nvGraphicFramePr>
          <p:cNvPr id="7" name="ver-table"/>
          <p:cNvGraphicFramePr>
            <a:graphicFrameLocks noGrp="1"/>
          </p:cNvGraphicFramePr>
          <p:nvPr/>
        </p:nvGraphicFramePr>
        <p:xfrm>
          <a:off x="609600" y="1752600"/>
          <a:ext cx="5842000" cy="2794000"/>
        </p:xfrm>
        <a:graphic>
          <a:graphicData uri="http://schemas.openxmlformats.org/drawingml/2006/table">
            <a:tbl>
              <a:tblPr/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8B8271"/>
                          </a:solidFill>
                          <a:latin typeface="MiSans"/>
                          <a:ea typeface="MiSans"/>
                        </a:rPr>
                        <a:t>　验证项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B1813"/>
                      </a:solidFill>
                    </a:lnT>
                    <a:lnB w="1270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8B8271"/>
                          </a:solidFill>
                          <a:latin typeface="MiSans"/>
                          <a:ea typeface="MiSans"/>
                        </a:rPr>
                        <a:t>结果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B1813"/>
                      </a:solidFill>
                    </a:lnT>
                    <a:lnB w="1270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8B8271"/>
                          </a:solidFill>
                          <a:latin typeface="MiSans"/>
                          <a:ea typeface="MiSans"/>
                        </a:rPr>
                        <a:t>　证据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B1813"/>
                      </a:solidFill>
                    </a:lnT>
                    <a:lnB w="12700">
                      <a:solidFill>
                        <a:srgbClr val="1B181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804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自动化业务测试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B18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B1813"/>
                          </a:solidFill>
                          <a:latin typeface="思源宋体"/>
                          <a:ea typeface="思源宋体"/>
                        </a:rPr>
                        <a:t>39 / 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B18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本地实际执行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B18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804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静态质量门禁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B1813"/>
                          </a:solidFill>
                          <a:latin typeface="思源宋体"/>
                          <a:ea typeface="思源宋体"/>
                        </a:rPr>
                        <a:t>5 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run-tests.ps1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804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POST 防伪令牌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B1813"/>
                          </a:solidFill>
                          <a:latin typeface="思源宋体"/>
                          <a:ea typeface="思源宋体"/>
                        </a:rPr>
                        <a:t>46 / 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逐一扫描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804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FOR UPDATE 行锁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B1813"/>
                          </a:solidFill>
                          <a:latin typeface="思源宋体"/>
                          <a:ea typeface="思源宋体"/>
                        </a:rPr>
                        <a:t>14 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仓储层检出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804"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关系表数量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B1813"/>
                          </a:solidFill>
                          <a:latin typeface="思源宋体"/>
                          <a:ea typeface="思源宋体"/>
                        </a:rPr>
                        <a:t>24 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81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1B1813"/>
                          </a:solidFill>
                          <a:latin typeface="MiSans"/>
                          <a:ea typeface="MiSans"/>
                        </a:rPr>
                        <a:t>　要求 ≥ 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181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ver-note"/>
          <p:cNvSpPr txBox="1"/>
          <p:nvPr/>
        </p:nvSpPr>
        <p:spPr>
          <a:xfrm>
            <a:off x="609600" y="4724400"/>
            <a:ext cx="584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测试工程只覆盖高价值规则：并发抢单、状态机、确认幂等、支付评价事务、结算状态机与报表导出，不以 CRUD 测试凑数。</a:t>
            </a:r>
            <a:endParaRPr lang="en-US" sz="1050" noProof="1"/>
          </a:p>
        </p:txBody>
      </p:sp>
      <p:sp>
        <p:nvSpPr>
          <p:cNvPr id="9" name="bug-label"/>
          <p:cNvSpPr txBox="1"/>
          <p:nvPr/>
        </p:nvSpPr>
        <p:spPr>
          <a:xfrm>
            <a:off x="7112000" y="1473200"/>
            <a:ext cx="4470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单据 · 缺陷闭环示例</a:t>
            </a:r>
            <a:endParaRPr lang="en-US" sz="850" noProof="1"/>
          </a:p>
        </p:txBody>
      </p:sp>
      <p:sp>
        <p:nvSpPr>
          <p:cNvPr id="10" name="bug-box"/>
          <p:cNvSpPr/>
          <p:nvPr/>
        </p:nvSpPr>
        <p:spPr>
          <a:xfrm>
            <a:off x="7112000" y="1752600"/>
            <a:ext cx="4470400" cy="2997200"/>
          </a:xfrm>
          <a:prstGeom prst="rect">
            <a:avLst/>
          </a:prstGeom>
          <a:noFill/>
          <a:ln w="12700">
            <a:solidFill>
              <a:srgbClr val="1B1813"/>
            </a:solidFill>
          </a:ln>
        </p:spPr>
      </p:sp>
      <p:sp>
        <p:nvSpPr>
          <p:cNvPr id="11" name="bug-no"/>
          <p:cNvSpPr txBox="1"/>
          <p:nvPr/>
        </p:nvSpPr>
        <p:spPr>
          <a:xfrm>
            <a:off x="7366000" y="1930400"/>
            <a:ext cx="3962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C22441"/>
                </a:solidFill>
                <a:latin typeface="MiSans"/>
                <a:ea typeface="MiSans"/>
              </a:rPr>
              <a:t>缺陷单 BUG-20260816-03</a:t>
            </a:r>
            <a:endParaRPr lang="en-US" sz="1150" noProof="1"/>
          </a:p>
        </p:txBody>
      </p:sp>
      <p:sp>
        <p:nvSpPr>
          <p:cNvPr id="12" name="bug-rule1"/>
          <p:cNvSpPr/>
          <p:nvPr/>
        </p:nvSpPr>
        <p:spPr>
          <a:xfrm>
            <a:off x="7366000" y="2260600"/>
            <a:ext cx="39624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3" name="bug-body"/>
          <p:cNvSpPr txBox="1"/>
          <p:nvPr/>
        </p:nvSpPr>
        <p:spPr>
          <a:xfrm>
            <a:off x="7366000" y="2413000"/>
            <a:ext cx="39624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现象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评价列表三处页面 500，ORA-00933</a:t>
            </a:r>
            <a:endParaRPr lang="en-US" sz="1000" noProof="1"/>
          </a:p>
          <a:p>
            <a:pPr algn="l">
              <a:lnSpc>
                <a:spcPct val="165000"/>
              </a:lnSpc>
              <a:spcBef>
                <a:spcPts val="7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根因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C# 多行 raw string 首尾换行不计入，SQL 子句粘连缺分隔符</a:t>
            </a:r>
            <a:endParaRPr lang="en-US" sz="1000" noProof="1"/>
          </a:p>
          <a:p>
            <a:pPr algn="l">
              <a:lnSpc>
                <a:spcPct val="165000"/>
              </a:lnSpc>
              <a:spcBef>
                <a:spcPts val="7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修复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按仓储既有写法补显式空格分隔</a:t>
            </a:r>
            <a:endParaRPr lang="en-US" sz="1000" noProof="1"/>
          </a:p>
          <a:p>
            <a:pPr algn="l">
              <a:lnSpc>
                <a:spcPct val="165000"/>
              </a:lnSpc>
              <a:spcBef>
                <a:spcPts val="7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回归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共享 19c 库复现并验证修复，39 项自动化测试全部通过</a:t>
            </a:r>
            <a:endParaRPr lang="en-US" sz="1000" noProof="1"/>
          </a:p>
        </p:txBody>
      </p:sp>
      <p:sp>
        <p:nvSpPr>
          <p:cNvPr id="14" name="honest-rule"/>
          <p:cNvSpPr/>
          <p:nvPr/>
        </p:nvSpPr>
        <p:spPr>
          <a:xfrm>
            <a:off x="609600" y="558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15" name="honest-note"/>
          <p:cNvSpPr txBox="1"/>
          <p:nvPr/>
        </p:nvSpPr>
        <p:spPr>
          <a:xfrm>
            <a:off x="609600" y="57658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有一点要说清楚：手工验收的结论分四级记录，PASS、PASS-READONLY、PARTIAL、PENDING-DB，截图和 SQL 一一对应。没执行的用例就标待执行，不计入通过率。</a:t>
            </a:r>
            <a:endParaRPr lang="en-US" sz="1050" noProof="1"/>
          </a:p>
        </p:txBody>
      </p:sp>
      <p:sp>
        <p:nvSpPr>
          <p:cNvPr id="16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11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left"/>
          <p:cNvSpPr txBox="1"/>
          <p:nvPr/>
        </p:nvSpPr>
        <p:spPr>
          <a:xfrm>
            <a:off x="609600" y="2540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济跑跑工程档案 · CAMPUS RUNNER DOSSIER</a:t>
            </a:r>
            <a:endParaRPr lang="en-US" sz="850" noProof="1"/>
          </a:p>
        </p:txBody>
      </p:sp>
      <p:sp>
        <p:nvSpPr>
          <p:cNvPr id="3" name="head-right"/>
          <p:cNvSpPr txBox="1"/>
          <p:nvPr/>
        </p:nvSpPr>
        <p:spPr>
          <a:xfrm>
            <a:off x="6502400" y="254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分工与归档 · TEAM &amp; ARCHIVE · 2026-08</a:t>
            </a:r>
            <a:endParaRPr lang="en-US" sz="850" noProof="1"/>
          </a:p>
        </p:txBody>
      </p:sp>
      <p:sp>
        <p:nvSpPr>
          <p:cNvPr id="4" name="head-rul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5" name="headline"/>
          <p:cNvSpPr txBox="1"/>
          <p:nvPr/>
        </p:nvSpPr>
        <p:spPr>
          <a:xfrm>
            <a:off x="609600" y="762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800" noProof="1">
                <a:solidFill>
                  <a:srgbClr val="1B1813"/>
                </a:solidFill>
                <a:latin typeface="思源宋体"/>
                <a:ea typeface="思源宋体"/>
              </a:rPr>
              <a:t>成员分工</a:t>
            </a:r>
            <a:endParaRPr lang="en-US" sz="2800" noProof="1"/>
          </a:p>
        </p:txBody>
      </p:sp>
      <p:sp>
        <p:nvSpPr>
          <p:cNvPr id="6" name="team-label"/>
          <p:cNvSpPr txBox="1"/>
          <p:nvPr/>
        </p:nvSpPr>
        <p:spPr>
          <a:xfrm>
            <a:off x="609600" y="14732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分工登记 · MEMBERS</a:t>
            </a:r>
            <a:endParaRPr lang="en-US" sz="850" noProof="1"/>
          </a:p>
        </p:txBody>
      </p:sp>
      <p:sp>
        <p:nvSpPr>
          <p:cNvPr id="7" name="team-rule0"/>
          <p:cNvSpPr/>
          <p:nvPr/>
        </p:nvSpPr>
        <p:spPr>
          <a:xfrm>
            <a:off x="609600" y="1752600"/>
            <a:ext cx="55880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8" name="tm1"/>
          <p:cNvSpPr txBox="1"/>
          <p:nvPr/>
        </p:nvSpPr>
        <p:spPr>
          <a:xfrm>
            <a:off x="609600" y="1930400"/>
            <a:ext cx="558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〔成员 A〕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账户 · 地址 · 权限</a:t>
            </a:r>
            <a:endParaRPr lang="en-US" sz="1050" noProof="1"/>
          </a:p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000000"/>
                </a:solidFill>
                <a:latin typeface="MiSans"/>
                <a:ea typeface="MiSans"/>
              </a:rPr>
              <a:t>密码哈希迁移工具；封禁即时生效；地址并发事务</a:t>
            </a:r>
            <a:endParaRPr lang="en-US" sz="1050" noProof="1"/>
          </a:p>
        </p:txBody>
      </p:sp>
      <p:sp>
        <p:nvSpPr>
          <p:cNvPr id="9" name="tm1-rule"/>
          <p:cNvSpPr/>
          <p:nvPr/>
        </p:nvSpPr>
        <p:spPr>
          <a:xfrm>
            <a:off x="609600" y="2463800"/>
            <a:ext cx="55880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0" name="tm2"/>
          <p:cNvSpPr txBox="1"/>
          <p:nvPr/>
        </p:nvSpPr>
        <p:spPr>
          <a:xfrm>
            <a:off x="609600" y="2641600"/>
            <a:ext cx="558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〔成员 B〕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任务 · 接派 · 配送</a:t>
            </a:r>
            <a:endParaRPr lang="en-US" sz="1050" noProof="1"/>
          </a:p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000000"/>
                </a:solidFill>
                <a:latin typeface="MiSans"/>
                <a:ea typeface="MiSans"/>
              </a:rPr>
              <a:t>三类任务发布；并发抢单行锁；配送状态机与日志</a:t>
            </a:r>
            <a:endParaRPr lang="en-US" sz="1050" noProof="1"/>
          </a:p>
        </p:txBody>
      </p:sp>
      <p:sp>
        <p:nvSpPr>
          <p:cNvPr id="11" name="tm2-rule"/>
          <p:cNvSpPr/>
          <p:nvPr/>
        </p:nvSpPr>
        <p:spPr>
          <a:xfrm>
            <a:off x="609600" y="3175000"/>
            <a:ext cx="55880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2" name="tm3"/>
          <p:cNvSpPr txBox="1"/>
          <p:nvPr/>
        </p:nvSpPr>
        <p:spPr>
          <a:xfrm>
            <a:off x="609600" y="3352800"/>
            <a:ext cx="558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〔成员 C〕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支付 · 退款 · 评价 · 投诉</a:t>
            </a:r>
            <a:endParaRPr lang="en-US" sz="1050" noProof="1"/>
          </a:p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000000"/>
                </a:solidFill>
                <a:latin typeface="MiSans"/>
                <a:ea typeface="MiSans"/>
              </a:rPr>
              <a:t>评价支付门槛修复；信誉分事务联动；投诉处理闭环</a:t>
            </a:r>
            <a:endParaRPr lang="en-US" sz="1050" noProof="1"/>
          </a:p>
        </p:txBody>
      </p:sp>
      <p:sp>
        <p:nvSpPr>
          <p:cNvPr id="13" name="tm3-rule"/>
          <p:cNvSpPr/>
          <p:nvPr/>
        </p:nvSpPr>
        <p:spPr>
          <a:xfrm>
            <a:off x="609600" y="3886200"/>
            <a:ext cx="55880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4" name="tm4"/>
          <p:cNvSpPr txBox="1"/>
          <p:nvPr/>
        </p:nvSpPr>
        <p:spPr>
          <a:xfrm>
            <a:off x="609600" y="4064000"/>
            <a:ext cx="558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〔成员 D〕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结算 · 审计 · 报表</a:t>
            </a:r>
            <a:endParaRPr lang="en-US" sz="1050" noProof="1"/>
          </a:p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000000"/>
                </a:solidFill>
                <a:latin typeface="MiSans"/>
                <a:ea typeface="MiSans"/>
              </a:rPr>
              <a:t>结算状态机与候选筛选；三类审计；报表生成与 CSV 导出</a:t>
            </a:r>
            <a:endParaRPr lang="en-US" sz="1050" noProof="1"/>
          </a:p>
        </p:txBody>
      </p:sp>
      <p:sp>
        <p:nvSpPr>
          <p:cNvPr id="15" name="tm4-rule"/>
          <p:cNvSpPr/>
          <p:nvPr/>
        </p:nvSpPr>
        <p:spPr>
          <a:xfrm>
            <a:off x="609600" y="4597400"/>
            <a:ext cx="5588000" cy="12700"/>
          </a:xfrm>
          <a:prstGeom prst="rect">
            <a:avLst/>
          </a:prstGeom>
          <a:solidFill>
            <a:srgbClr val="C8BFA9"/>
          </a:solidFill>
          <a:ln>
            <a:noFill/>
          </a:ln>
        </p:spPr>
      </p:sp>
      <p:sp>
        <p:nvSpPr>
          <p:cNvPr id="16" name="tm5"/>
          <p:cNvSpPr txBox="1"/>
          <p:nvPr/>
        </p:nvSpPr>
        <p:spPr>
          <a:xfrm>
            <a:off x="609600" y="4775200"/>
            <a:ext cx="558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B1813"/>
                </a:solidFill>
                <a:latin typeface="MiSans"/>
                <a:ea typeface="MiSans"/>
              </a:rPr>
              <a:t>〔成员 E〕</a:t>
            </a: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　基础配置 · 页面 · 测试</a:t>
            </a:r>
            <a:endParaRPr lang="en-US" sz="1050" noProof="1"/>
          </a:p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000000"/>
                </a:solidFill>
                <a:latin typeface="MiSans"/>
                <a:ea typeface="MiSans"/>
              </a:rPr>
              <a:t>节点与服务配置；页面实现；39 项自动化测试与证据归档</a:t>
            </a:r>
            <a:endParaRPr lang="en-US" sz="1050" noProof="1"/>
          </a:p>
        </p:txBody>
      </p:sp>
      <p:sp>
        <p:nvSpPr>
          <p:cNvPr id="17" name="tm5-rule"/>
          <p:cNvSpPr/>
          <p:nvPr/>
        </p:nvSpPr>
        <p:spPr>
          <a:xfrm>
            <a:off x="609600" y="5308600"/>
            <a:ext cx="55880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18" name="team-note"/>
          <p:cNvSpPr txBox="1"/>
          <p:nvPr/>
        </p:nvSpPr>
        <p:spPr>
          <a:xfrm>
            <a:off x="609600" y="5511800"/>
            <a:ext cx="558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50" noProof="1">
                <a:solidFill>
                  <a:srgbClr val="1B1813"/>
                </a:solidFill>
                <a:latin typeface="MiSans"/>
                <a:ea typeface="MiSans"/>
              </a:rPr>
              <a:t>答辩时每个人说清楚自己负责的那块：做了什么，为什么这么定。工作量不用嘴说，仓库里的提交记录和文档都在。</a:t>
            </a:r>
            <a:endParaRPr lang="en-US" sz="1050" noProof="1"/>
          </a:p>
        </p:txBody>
      </p:sp>
      <p:sp>
        <p:nvSpPr>
          <p:cNvPr id="19" name="arch-label"/>
          <p:cNvSpPr txBox="1"/>
          <p:nvPr/>
        </p:nvSpPr>
        <p:spPr>
          <a:xfrm>
            <a:off x="6858000" y="1473200"/>
            <a:ext cx="472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8B8271"/>
                </a:solidFill>
                <a:latin typeface="MiSans"/>
                <a:ea typeface="MiSans"/>
              </a:rPr>
              <a:t>归档清单 · ARCHIVE（docs/）</a:t>
            </a:r>
            <a:endParaRPr lang="en-US" sz="850" noProof="1"/>
          </a:p>
        </p:txBody>
      </p:sp>
      <p:sp>
        <p:nvSpPr>
          <p:cNvPr id="20" name="arch-rule0"/>
          <p:cNvSpPr/>
          <p:nvPr/>
        </p:nvSpPr>
        <p:spPr>
          <a:xfrm>
            <a:off x="6858000" y="1752600"/>
            <a:ext cx="4724400" cy="12700"/>
          </a:xfrm>
          <a:prstGeom prst="rect">
            <a:avLst/>
          </a:prstGeom>
          <a:solidFill>
            <a:srgbClr val="1B1813"/>
          </a:solidFill>
          <a:ln>
            <a:noFill/>
          </a:ln>
        </p:spPr>
      </p:sp>
      <p:sp>
        <p:nvSpPr>
          <p:cNvPr id="21" name="arch-list"/>
          <p:cNvSpPr txBox="1"/>
          <p:nvPr/>
        </p:nvSpPr>
        <p:spPr>
          <a:xfrm>
            <a:off x="6858000" y="1905000"/>
            <a:ext cx="47244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85000"/>
              </a:lnSpc>
            </a:pPr>
            <a:r>
              <a:rPr lang="en-US" sz="1000" noProof="1">
                <a:solidFill>
                  <a:srgbClr val="000000"/>
                </a:solidFill>
                <a:latin typeface="思源宋体"/>
                <a:ea typeface="思源宋体"/>
              </a:rPr>
              <a:t>01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business-logic-overview　业务逻辑总览</a:t>
            </a:r>
            <a:endParaRPr lang="en-US" sz="1000" noProof="1"/>
          </a:p>
          <a:p>
            <a:pPr algn="l">
              <a:lnSpc>
                <a:spcPct val="185000"/>
              </a:lnSpc>
            </a:pPr>
            <a:r>
              <a:rPr lang="en-US" sz="1000" noProof="1">
                <a:solidFill>
                  <a:srgbClr val="000000"/>
                </a:solidFill>
                <a:latin typeface="思源宋体"/>
                <a:ea typeface="思源宋体"/>
              </a:rPr>
              <a:t>02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mvc-five-layer-spec　五层架构规范</a:t>
            </a:r>
            <a:endParaRPr lang="en-US" sz="1000" noProof="1"/>
          </a:p>
          <a:p>
            <a:pPr algn="l">
              <a:lnSpc>
                <a:spcPct val="185000"/>
              </a:lnSpc>
            </a:pPr>
            <a:r>
              <a:rPr lang="en-US" sz="1000" noProof="1">
                <a:solidFill>
                  <a:srgbClr val="000000"/>
                </a:solidFill>
                <a:latin typeface="思源宋体"/>
                <a:ea typeface="思源宋体"/>
              </a:rPr>
              <a:t>03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database_dictionary　数据库字典</a:t>
            </a:r>
            <a:endParaRPr lang="en-US" sz="1000" noProof="1"/>
          </a:p>
          <a:p>
            <a:pPr algn="l">
              <a:lnSpc>
                <a:spcPct val="185000"/>
              </a:lnSpc>
            </a:pPr>
            <a:r>
              <a:rPr lang="en-US" sz="1000" noProof="1">
                <a:solidFill>
                  <a:srgbClr val="000000"/>
                </a:solidFill>
                <a:latin typeface="思源宋体"/>
                <a:ea typeface="思源宋体"/>
              </a:rPr>
              <a:t>04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business-logic-required-rules　必需规则</a:t>
            </a:r>
            <a:endParaRPr lang="en-US" sz="1000" noProof="1"/>
          </a:p>
          <a:p>
            <a:pPr algn="l">
              <a:lnSpc>
                <a:spcPct val="185000"/>
              </a:lnSpc>
            </a:pPr>
            <a:r>
              <a:rPr lang="en-US" sz="1000" noProof="1">
                <a:solidFill>
                  <a:srgbClr val="000000"/>
                </a:solidFill>
                <a:latin typeface="思源宋体"/>
                <a:ea typeface="思源宋体"/>
              </a:rPr>
              <a:t>05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system-test-report　系统测试报告</a:t>
            </a:r>
            <a:endParaRPr lang="en-US" sz="1000" noProof="1"/>
          </a:p>
          <a:p>
            <a:pPr algn="l">
              <a:lnSpc>
                <a:spcPct val="185000"/>
              </a:lnSpc>
            </a:pPr>
            <a:r>
              <a:rPr lang="en-US" sz="1000" noProof="1">
                <a:solidFill>
                  <a:srgbClr val="000000"/>
                </a:solidFill>
                <a:latin typeface="思源宋体"/>
                <a:ea typeface="思源宋体"/>
              </a:rPr>
              <a:t>06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manual-system-test-guide　手工测试指南</a:t>
            </a:r>
            <a:endParaRPr lang="en-US" sz="1000" noProof="1"/>
          </a:p>
          <a:p>
            <a:pPr algn="l">
              <a:lnSpc>
                <a:spcPct val="185000"/>
              </a:lnSpc>
            </a:pPr>
            <a:r>
              <a:rPr lang="en-US" sz="1000" noProof="1">
                <a:solidFill>
                  <a:srgbClr val="000000"/>
                </a:solidFill>
                <a:latin typeface="思源宋体"/>
                <a:ea typeface="思源宋体"/>
              </a:rPr>
              <a:t>07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test-evidence/　截图与 SQL 复核证据</a:t>
            </a:r>
            <a:endParaRPr lang="en-US" sz="1000" noProof="1"/>
          </a:p>
          <a:p>
            <a:pPr algn="l">
              <a:lnSpc>
                <a:spcPct val="185000"/>
              </a:lnSpc>
            </a:pPr>
            <a:r>
              <a:rPr lang="en-US" sz="1000" noProof="1">
                <a:solidFill>
                  <a:srgbClr val="000000"/>
                </a:solidFill>
                <a:latin typeface="思源宋体"/>
                <a:ea typeface="思源宋体"/>
              </a:rPr>
              <a:t>08</a:t>
            </a:r>
            <a:r>
              <a:rPr lang="en-US" sz="1000" noProof="1">
                <a:solidFill>
                  <a:srgbClr val="1B1813"/>
                </a:solidFill>
                <a:latin typeface="MiSans"/>
                <a:ea typeface="MiSans"/>
              </a:rPr>
              <a:t>　jirun-brand-guideline　品牌与界面规范</a:t>
            </a:r>
            <a:endParaRPr lang="en-US" sz="1000" noProof="1"/>
          </a:p>
        </p:txBody>
      </p:sp>
      <p:sp>
        <p:nvSpPr>
          <p:cNvPr id="22" name="arch-note"/>
          <p:cNvSpPr txBox="1"/>
          <p:nvPr/>
        </p:nvSpPr>
        <p:spPr>
          <a:xfrm>
            <a:off x="6858000" y="5384800"/>
            <a:ext cx="472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50" noProof="1">
                <a:solidFill>
                  <a:srgbClr val="8B8271"/>
                </a:solidFill>
                <a:latin typeface="MiSans"/>
                <a:ea typeface="MiSans"/>
              </a:rPr>
              <a:t>另含环境、部署、命名、数据显示等规范文档；全部随仓库提交，可随时调阅。</a:t>
            </a:r>
            <a:endParaRPr lang="en-US" sz="950" noProof="1"/>
          </a:p>
        </p:txBody>
      </p:sp>
      <p:sp>
        <p:nvSpPr>
          <p:cNvPr id="23" name="folio"/>
          <p:cNvSpPr txBox="1"/>
          <p:nvPr/>
        </p:nvSpPr>
        <p:spPr>
          <a:xfrm>
            <a:off x="5461000" y="6527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B8271"/>
                </a:solidFill>
                <a:latin typeface="思源宋体"/>
                <a:ea typeface="思源宋体"/>
              </a:rPr>
              <a:t>— 12 —</a:t>
            </a:r>
            <a:endParaRPr lang="en-US" sz="10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op-tl"/>
          <p:cNvSpPr/>
          <p:nvPr/>
        </p:nvSpPr>
        <p:spPr>
          <a:xfrm>
            <a:off x="330200" y="330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4"/>
                </a:lnTo>
                <a:lnTo>
                  <a:pt x="14" y="14"/>
                </a:lnTo>
                <a:lnTo>
                  <a:pt x="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EDE3"/>
          </a:solidFill>
          <a:ln>
            <a:noFill/>
          </a:ln>
        </p:spPr>
      </p:sp>
      <p:sp>
        <p:nvSpPr>
          <p:cNvPr id="3" name="crop-tr"/>
          <p:cNvSpPr/>
          <p:nvPr/>
        </p:nvSpPr>
        <p:spPr>
          <a:xfrm rot="5400000">
            <a:off x="11582400" y="330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4"/>
                </a:lnTo>
                <a:lnTo>
                  <a:pt x="14" y="14"/>
                </a:lnTo>
                <a:lnTo>
                  <a:pt x="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EDE3"/>
          </a:solidFill>
          <a:ln>
            <a:noFill/>
          </a:ln>
        </p:spPr>
      </p:sp>
      <p:sp>
        <p:nvSpPr>
          <p:cNvPr id="4" name="crop-br"/>
          <p:cNvSpPr/>
          <p:nvPr/>
        </p:nvSpPr>
        <p:spPr>
          <a:xfrm rot="10800000">
            <a:off x="11582400" y="6248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4"/>
                </a:lnTo>
                <a:lnTo>
                  <a:pt x="14" y="14"/>
                </a:lnTo>
                <a:lnTo>
                  <a:pt x="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EDE3"/>
          </a:solidFill>
          <a:ln>
            <a:noFill/>
          </a:ln>
        </p:spPr>
      </p:sp>
      <p:sp>
        <p:nvSpPr>
          <p:cNvPr id="5" name="crop-bl"/>
          <p:cNvSpPr/>
          <p:nvPr/>
        </p:nvSpPr>
        <p:spPr>
          <a:xfrm rot="16200000">
            <a:off x="330200" y="6248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4"/>
                </a:lnTo>
                <a:lnTo>
                  <a:pt x="14" y="14"/>
                </a:lnTo>
                <a:lnTo>
                  <a:pt x="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EDE3"/>
          </a:solidFill>
          <a:ln>
            <a:noFill/>
          </a:ln>
        </p:spPr>
      </p:sp>
      <p:sp>
        <p:nvSpPr>
          <p:cNvPr id="6" name="head-rule"/>
          <p:cNvSpPr/>
          <p:nvPr/>
        </p:nvSpPr>
        <p:spPr>
          <a:xfrm>
            <a:off x="812800" y="533400"/>
            <a:ext cx="10566400" cy="12700"/>
          </a:xfrm>
          <a:prstGeom prst="rect">
            <a:avLst/>
          </a:prstGeom>
          <a:solidFill>
            <a:srgbClr val="F2EDE3">
              <a:alpha val="40000"/>
            </a:srgbClr>
          </a:solidFill>
          <a:ln>
            <a:noFill/>
          </a:ln>
        </p:spPr>
      </p:sp>
      <p:sp>
        <p:nvSpPr>
          <p:cNvPr id="7" name="head-left"/>
          <p:cNvSpPr txBox="1"/>
          <p:nvPr/>
        </p:nvSpPr>
        <p:spPr>
          <a:xfrm>
            <a:off x="812800" y="3048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kern="0" spc="200" noProof="1">
                <a:solidFill>
                  <a:srgbClr val="B4AA93"/>
                </a:solidFill>
                <a:latin typeface="MiSans"/>
                <a:ea typeface="MiSans"/>
              </a:rPr>
              <a:t>济跑跑工程档案 · 卷末</a:t>
            </a:r>
            <a:endParaRPr lang="en-US" sz="850" noProof="1"/>
          </a:p>
        </p:txBody>
      </p:sp>
      <p:sp>
        <p:nvSpPr>
          <p:cNvPr id="8" name="head-right"/>
          <p:cNvSpPr txBox="1"/>
          <p:nvPr/>
        </p:nvSpPr>
        <p:spPr>
          <a:xfrm>
            <a:off x="7569200" y="3048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kern="0" spc="200" noProof="1">
                <a:solidFill>
                  <a:srgbClr val="B4AA93"/>
                </a:solidFill>
                <a:latin typeface="MiSans"/>
                <a:ea typeface="MiSans"/>
              </a:rPr>
              <a:t>2026-08</a:t>
            </a:r>
            <a:endParaRPr lang="en-US" sz="850" noProof="1"/>
          </a:p>
        </p:txBody>
      </p:sp>
      <p:sp>
        <p:nvSpPr>
          <p:cNvPr id="9" name="end-mark"/>
          <p:cNvSpPr txBox="1"/>
          <p:nvPr/>
        </p:nvSpPr>
        <p:spPr>
          <a:xfrm>
            <a:off x="762000" y="1905000"/>
            <a:ext cx="8890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600" noProof="1">
                <a:solidFill>
                  <a:srgbClr val="F2EDE3"/>
                </a:solidFill>
                <a:latin typeface="思源宋体"/>
                <a:ea typeface="思源宋体"/>
              </a:rPr>
              <a:t>以上。</a:t>
            </a:r>
            <a:endParaRPr lang="en-US" sz="7600" noProof="1"/>
          </a:p>
        </p:txBody>
      </p:sp>
      <p:sp>
        <p:nvSpPr>
          <p:cNvPr id="10" name="end-line"/>
          <p:cNvSpPr txBox="1"/>
          <p:nvPr/>
        </p:nvSpPr>
        <p:spPr>
          <a:xfrm>
            <a:off x="812800" y="35052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noProof="1">
                <a:solidFill>
                  <a:srgbClr val="F2EDE3"/>
                </a:solidFill>
                <a:latin typeface="思源宋体"/>
                <a:ea typeface="思源宋体"/>
              </a:rPr>
              <a:t>恳请各位老师批评指正</a:t>
            </a:r>
            <a:endParaRPr lang="en-US" sz="1900" noProof="1"/>
          </a:p>
        </p:txBody>
      </p:sp>
      <p:sp>
        <p:nvSpPr>
          <p:cNvPr id="11" name="end-sub"/>
          <p:cNvSpPr txBox="1"/>
          <p:nvPr/>
        </p:nvSpPr>
        <p:spPr>
          <a:xfrm>
            <a:off x="812800" y="4064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kern="0" spc="200" noProof="1">
                <a:solidFill>
                  <a:srgbClr val="B4AA93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2" name="end-rule"/>
          <p:cNvSpPr/>
          <p:nvPr/>
        </p:nvSpPr>
        <p:spPr>
          <a:xfrm>
            <a:off x="812800" y="5334000"/>
            <a:ext cx="10566400" cy="12700"/>
          </a:xfrm>
          <a:prstGeom prst="rect">
            <a:avLst/>
          </a:prstGeom>
          <a:solidFill>
            <a:srgbClr val="F2EDE3">
              <a:alpha val="40000"/>
            </a:srgbClr>
          </a:solidFill>
          <a:ln>
            <a:noFill/>
          </a:ln>
        </p:spPr>
      </p:sp>
      <p:sp>
        <p:nvSpPr>
          <p:cNvPr id="13" name="end-meta"/>
          <p:cNvSpPr txBox="1"/>
          <p:nvPr/>
        </p:nvSpPr>
        <p:spPr>
          <a:xfrm>
            <a:off x="812800" y="5562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kern="0" spc="200" noProof="1">
                <a:solidFill>
                  <a:srgbClr val="B4AA93"/>
                </a:solidFill>
                <a:latin typeface="MiSans"/>
                <a:ea typeface="MiSans"/>
              </a:rPr>
              <a:t>档案编号 JR-2026-001 · 全文 13 页</a:t>
            </a:r>
            <a:endParaRPr lang="en-US" sz="900" noProof="1"/>
          </a:p>
        </p:txBody>
      </p:sp>
      <p:sp>
        <p:nvSpPr>
          <p:cNvPr id="14" name="end-qa"/>
          <p:cNvSpPr txBox="1"/>
          <p:nvPr/>
        </p:nvSpPr>
        <p:spPr>
          <a:xfrm>
            <a:off x="9042400" y="5461000"/>
            <a:ext cx="2336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C22441"/>
                </a:solidFill>
                <a:latin typeface="思源宋体"/>
                <a:ea typeface="思源宋体"/>
              </a:rPr>
              <a:t>Q &amp; A</a:t>
            </a:r>
            <a:endParaRPr lang="en-US" sz="160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circle/>
      </p:transition>
    </mc:Choice>
    <mc:Fallback>
      <p:transition>
        <p:circle/>
      </p:transition>
    </mc:Fallback>
  </mc:AlternateContent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1403</Words>
  <Application>Microsoft Office PowerPoint</Application>
  <PresentationFormat>宽屏</PresentationFormat>
  <Paragraphs>301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MiSans</vt:lpstr>
      <vt:lpstr>思源宋体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济跑跑工程档案 · 课程设计答辩</dc:title>
  <dc:subject>济跑跑工程档案 · 课程设计答辩</dc:subject>
  <dc:creator>Kimi</dc:creator>
  <cp:lastModifiedBy>Shalom Hush-X</cp:lastModifiedBy>
  <cp:revision>3</cp:revision>
  <dcterms:modified xsi:type="dcterms:W3CDTF">2026-08-18T07:08:08Z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{"Label":"济跑跑工程档案 · 课程设计答辩","ContentProducer":"001191110108MACG2KBH8F10000","ProduceID":"jirun-defense","ReservedCode1":"","ContentPropagator":"001191110108MACG2KBH8F20000","PropagateID":"agent:main:main:conversation:3f24f83d-aa54-4b9b-858a-f3f591669a02","ReservedCode2":""}</vt:lpwstr>
  </property>
</Properties>
</file>