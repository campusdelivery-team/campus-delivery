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15d6e45df440cf" /><Relationship Type="http://schemas.openxmlformats.org/officeDocument/2006/relationships/extended-properties" Target="/docProps/app.xml" Id="Rf77ddeab6dda4b07" /><Relationship Type="http://schemas.openxmlformats.org/officeDocument/2006/relationships/officeDocument" Target="/ppt/presentation.xml" Id="Ra5f2138ba7084536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9522cb74ba3245f6"/>
  </p:sldMasterIdLst>
  <p:notesMasterIdLst>
    <p:notesMasterId xmlns:r="http://schemas.openxmlformats.org/officeDocument/2006/relationships" r:id="Rf809e8d75f334c8f"/>
  </p:notesMasterIdLst>
  <p:sldIdLst>
    <p:sldId xmlns:r="http://schemas.openxmlformats.org/officeDocument/2006/relationships" id="256" r:id="R80a491630c354356"/>
    <p:sldId xmlns:r="http://schemas.openxmlformats.org/officeDocument/2006/relationships" id="257" r:id="Rbc0ccebc3f944c0c"/>
    <p:sldId xmlns:r="http://schemas.openxmlformats.org/officeDocument/2006/relationships" id="258" r:id="R90d30a838e0e49ef"/>
    <p:sldId xmlns:r="http://schemas.openxmlformats.org/officeDocument/2006/relationships" id="259" r:id="R938be29930fd432f"/>
    <p:sldId xmlns:r="http://schemas.openxmlformats.org/officeDocument/2006/relationships" id="260" r:id="Rb852f96783ea4db8"/>
    <p:sldId xmlns:r="http://schemas.openxmlformats.org/officeDocument/2006/relationships" id="261" r:id="R97f4a57163324cdf"/>
    <p:sldId xmlns:r="http://schemas.openxmlformats.org/officeDocument/2006/relationships" id="262" r:id="R127db8777b7b49c9"/>
    <p:sldId xmlns:r="http://schemas.openxmlformats.org/officeDocument/2006/relationships" id="263" r:id="R469a017d9c284512"/>
    <p:sldId xmlns:r="http://schemas.openxmlformats.org/officeDocument/2006/relationships" id="264" r:id="R13cb07a2c7284b2a"/>
    <p:sldId xmlns:r="http://schemas.openxmlformats.org/officeDocument/2006/relationships" id="265" r:id="Rc3d0bd1c8f6c45ab"/>
    <p:sldId xmlns:r="http://schemas.openxmlformats.org/officeDocument/2006/relationships" id="266" r:id="R3c09391720c1455a"/>
    <p:sldId xmlns:r="http://schemas.openxmlformats.org/officeDocument/2006/relationships" id="267" r:id="R6d8506f4ea824f06"/>
    <p:sldId xmlns:r="http://schemas.openxmlformats.org/officeDocument/2006/relationships" id="268" r:id="Red9afb40f1f84b3a"/>
    <p:sldId xmlns:r="http://schemas.openxmlformats.org/officeDocument/2006/relationships" id="269" r:id="Rc5dc2601e3314a48"/>
    <p:sldId xmlns:r="http://schemas.openxmlformats.org/officeDocument/2006/relationships" id="270" r:id="R24a1796f9e594409"/>
    <p:sldId xmlns:r="http://schemas.openxmlformats.org/officeDocument/2006/relationships" id="271" r:id="Rf1af1b12197b47e5"/>
    <p:sldId xmlns:r="http://schemas.openxmlformats.org/officeDocument/2006/relationships" id="272" r:id="Rae70b04545b64c70"/>
    <p:sldId xmlns:r="http://schemas.openxmlformats.org/officeDocument/2006/relationships" id="273" r:id="Re517bb1c6fc5460c"/>
    <p:sldId xmlns:r="http://schemas.openxmlformats.org/officeDocument/2006/relationships" id="274" r:id="Re3b7b685d0cd4b72"/>
    <p:sldId xmlns:r="http://schemas.openxmlformats.org/officeDocument/2006/relationships" id="275" r:id="R8e347c6dc9e94ae9"/>
    <p:sldId xmlns:r="http://schemas.openxmlformats.org/officeDocument/2006/relationships" id="276" r:id="Raf09f187565b4626"/>
    <p:sldId xmlns:r="http://schemas.openxmlformats.org/officeDocument/2006/relationships" id="277" r:id="R4f11c1b1bcbd449c"/>
    <p:sldId xmlns:r="http://schemas.openxmlformats.org/officeDocument/2006/relationships" id="278" r:id="Rb842a7faac08457e"/>
    <p:sldId xmlns:r="http://schemas.openxmlformats.org/officeDocument/2006/relationships" id="279" r:id="Rdc6b7278aaf041ba"/>
    <p:sldId xmlns:r="http://schemas.openxmlformats.org/officeDocument/2006/relationships" id="280" r:id="R99d0dac1204b43f8"/>
    <p:sldId xmlns:r="http://schemas.openxmlformats.org/officeDocument/2006/relationships" id="281" r:id="Rbc89bda679ef4906"/>
    <p:sldId xmlns:r="http://schemas.openxmlformats.org/officeDocument/2006/relationships" id="282" r:id="R2d1f6088bbb54c1a"/>
    <p:sldId xmlns:r="http://schemas.openxmlformats.org/officeDocument/2006/relationships" id="283" r:id="R9ec12b0328594fa4"/>
    <p:sldId xmlns:r="http://schemas.openxmlformats.org/officeDocument/2006/relationships" id="284" r:id="R6042832b6ad24465"/>
    <p:sldId xmlns:r="http://schemas.openxmlformats.org/officeDocument/2006/relationships" id="285" r:id="R088a5a52657d485b"/>
    <p:sldId xmlns:r="http://schemas.openxmlformats.org/officeDocument/2006/relationships" id="286" r:id="Ra104dd7dca73421c"/>
    <p:sldId xmlns:r="http://schemas.openxmlformats.org/officeDocument/2006/relationships" id="287" r:id="Re53317dea78c43ff"/>
    <p:sldId xmlns:r="http://schemas.openxmlformats.org/officeDocument/2006/relationships" id="288" r:id="R1efc16bb31d14179"/>
    <p:sldId xmlns:r="http://schemas.openxmlformats.org/officeDocument/2006/relationships" id="289" r:id="R97d313de8930483a"/>
    <p:sldId xmlns:r="http://schemas.openxmlformats.org/officeDocument/2006/relationships" id="290" r:id="R758e30723e084bb4"/>
    <p:sldId xmlns:r="http://schemas.openxmlformats.org/officeDocument/2006/relationships" id="291" r:id="R9b3dd23dbb27440b"/>
    <p:sldId xmlns:r="http://schemas.openxmlformats.org/officeDocument/2006/relationships" id="292" r:id="Rc405ced86e91492f"/>
    <p:sldId xmlns:r="http://schemas.openxmlformats.org/officeDocument/2006/relationships" id="293" r:id="R01ad89d5e2bd49df"/>
    <p:sldId xmlns:r="http://schemas.openxmlformats.org/officeDocument/2006/relationships" id="294" r:id="Rfa7acc6a6b6948a9"/>
    <p:sldId xmlns:r="http://schemas.openxmlformats.org/officeDocument/2006/relationships" id="295" r:id="Ra7b9f66e278b4fca"/>
    <p:sldId xmlns:r="http://schemas.openxmlformats.org/officeDocument/2006/relationships" id="296" r:id="Rdef9b10441cb47fa"/>
    <p:sldId xmlns:r="http://schemas.openxmlformats.org/officeDocument/2006/relationships" id="297" r:id="R0239c09af38f49c8"/>
    <p:sldId xmlns:r="http://schemas.openxmlformats.org/officeDocument/2006/relationships" id="298" r:id="R619b65b1e82e473d"/>
    <p:sldId xmlns:r="http://schemas.openxmlformats.org/officeDocument/2006/relationships" id="299" r:id="R1895c1e5466346ec"/>
  </p:sldIdLst>
  <p:sldSz cx="12192000" cy="6858000"/>
  <p:notesSz cx="6858000" cy="9144000"/>
  <p:embeddedFontLst>
    <p:embeddedFont>
      <p:font typeface="MiSans"/>
      <p:regular xmlns:r="http://schemas.openxmlformats.org/officeDocument/2006/relationships" r:id="R5b5c551732654d36"/>
    </p:embeddedFont>
    <p:embeddedFont>
      <p:font typeface="JetBrains Mono"/>
      <p:regular xmlns:r="http://schemas.openxmlformats.org/officeDocument/2006/relationships" r:id="R493bdecc731c4bc8"/>
    </p:embeddedFont>
    <p:embeddedFont>
      <p:font typeface="等线"/>
      <p:regular xmlns:r="http://schemas.openxmlformats.org/officeDocument/2006/relationships" r:id="Rfc2a88e155664511"/>
      <p:bold xmlns:r="http://schemas.openxmlformats.org/officeDocument/2006/relationships" r:id="R488ed53ac4864b4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fe443a0dd740d5" /><Relationship Type="http://schemas.openxmlformats.org/officeDocument/2006/relationships/slideMaster" Target="/ppt/slideMasters/slideMaster1.xml" Id="R9522cb74ba3245f6" /><Relationship Type="http://schemas.openxmlformats.org/officeDocument/2006/relationships/notesMaster" Target="/ppt/notesMasters/notesMaster1.xml" Id="Rf809e8d75f334c8f" /><Relationship Type="http://schemas.openxmlformats.org/officeDocument/2006/relationships/presProps" Target="/ppt/presProps.xml" Id="Rc748aa5898c24e4e" /><Relationship Type="http://schemas.openxmlformats.org/officeDocument/2006/relationships/viewProps" Target="/ppt/viewProps.xml" Id="R1ca4440d7bf04ed8" /><Relationship Type="http://schemas.openxmlformats.org/officeDocument/2006/relationships/tableStyles" Target="/ppt/tableStyles.xml" Id="R570dced5d9734489" /><Relationship Type="http://schemas.openxmlformats.org/officeDocument/2006/relationships/font" Target="/ppt/fonts/font.dat" Id="R5b5c551732654d36" /><Relationship Type="http://schemas.openxmlformats.org/officeDocument/2006/relationships/font" Target="/ppt/fonts/font2.dat" Id="R493bdecc731c4bc8" /><Relationship Type="http://schemas.openxmlformats.org/officeDocument/2006/relationships/font" Target="/ppt/fonts/font3.dat" Id="Rfc2a88e155664511" /><Relationship Type="http://schemas.openxmlformats.org/officeDocument/2006/relationships/font" Target="/ppt/fonts/font4.dat" Id="R488ed53ac4864b4a" /><Relationship Type="http://schemas.openxmlformats.org/officeDocument/2006/relationships/slide" Target="/ppt/slides/slide1.xml" Id="R80a491630c354356" /><Relationship Type="http://schemas.openxmlformats.org/officeDocument/2006/relationships/slide" Target="/ppt/slides/slide2.xml" Id="Rbc0ccebc3f944c0c" /><Relationship Type="http://schemas.openxmlformats.org/officeDocument/2006/relationships/slide" Target="/ppt/slides/slide3.xml" Id="R90d30a838e0e49ef" /><Relationship Type="http://schemas.openxmlformats.org/officeDocument/2006/relationships/slide" Target="/ppt/slides/slide4.xml" Id="R938be29930fd432f" /><Relationship Type="http://schemas.openxmlformats.org/officeDocument/2006/relationships/slide" Target="/ppt/slides/slide5.xml" Id="Rb852f96783ea4db8" /><Relationship Type="http://schemas.openxmlformats.org/officeDocument/2006/relationships/slide" Target="/ppt/slides/slide6.xml" Id="R97f4a57163324cdf" /><Relationship Type="http://schemas.openxmlformats.org/officeDocument/2006/relationships/slide" Target="/ppt/slides/slide7.xml" Id="R127db8777b7b49c9" /><Relationship Type="http://schemas.openxmlformats.org/officeDocument/2006/relationships/slide" Target="/ppt/slides/slide8.xml" Id="R469a017d9c284512" /><Relationship Type="http://schemas.openxmlformats.org/officeDocument/2006/relationships/slide" Target="/ppt/slides/slide9.xml" Id="R13cb07a2c7284b2a" /><Relationship Type="http://schemas.openxmlformats.org/officeDocument/2006/relationships/slide" Target="/ppt/slides/slide10.xml" Id="Rc3d0bd1c8f6c45ab" /><Relationship Type="http://schemas.openxmlformats.org/officeDocument/2006/relationships/slide" Target="/ppt/slides/slide11.xml" Id="R3c09391720c1455a" /><Relationship Type="http://schemas.openxmlformats.org/officeDocument/2006/relationships/slide" Target="/ppt/slides/slide12.xml" Id="R6d8506f4ea824f06" /><Relationship Type="http://schemas.openxmlformats.org/officeDocument/2006/relationships/slide" Target="/ppt/slides/slide13.xml" Id="Red9afb40f1f84b3a" /><Relationship Type="http://schemas.openxmlformats.org/officeDocument/2006/relationships/slide" Target="/ppt/slides/slide14.xml" Id="Rc5dc2601e3314a48" /><Relationship Type="http://schemas.openxmlformats.org/officeDocument/2006/relationships/slide" Target="/ppt/slides/slide15.xml" Id="R24a1796f9e594409" /><Relationship Type="http://schemas.openxmlformats.org/officeDocument/2006/relationships/slide" Target="/ppt/slides/slide16.xml" Id="Rf1af1b12197b47e5" /><Relationship Type="http://schemas.openxmlformats.org/officeDocument/2006/relationships/slide" Target="/ppt/slides/slide17.xml" Id="Rae70b04545b64c70" /><Relationship Type="http://schemas.openxmlformats.org/officeDocument/2006/relationships/slide" Target="/ppt/slides/slide18.xml" Id="Re517bb1c6fc5460c" /><Relationship Type="http://schemas.openxmlformats.org/officeDocument/2006/relationships/slide" Target="/ppt/slides/slide19.xml" Id="Re3b7b685d0cd4b72" /><Relationship Type="http://schemas.openxmlformats.org/officeDocument/2006/relationships/slide" Target="/ppt/slides/slide20.xml" Id="R8e347c6dc9e94ae9" /><Relationship Type="http://schemas.openxmlformats.org/officeDocument/2006/relationships/slide" Target="/ppt/slides/slide21.xml" Id="Raf09f187565b4626" /><Relationship Type="http://schemas.openxmlformats.org/officeDocument/2006/relationships/slide" Target="/ppt/slides/slide22.xml" Id="R4f11c1b1bcbd449c" /><Relationship Type="http://schemas.openxmlformats.org/officeDocument/2006/relationships/slide" Target="/ppt/slides/slide23.xml" Id="Rb842a7faac08457e" /><Relationship Type="http://schemas.openxmlformats.org/officeDocument/2006/relationships/slide" Target="/ppt/slides/slide24.xml" Id="Rdc6b7278aaf041ba" /><Relationship Type="http://schemas.openxmlformats.org/officeDocument/2006/relationships/slide" Target="/ppt/slides/slide25.xml" Id="R99d0dac1204b43f8" /><Relationship Type="http://schemas.openxmlformats.org/officeDocument/2006/relationships/slide" Target="/ppt/slides/slide26.xml" Id="Rbc89bda679ef4906" /><Relationship Type="http://schemas.openxmlformats.org/officeDocument/2006/relationships/slide" Target="/ppt/slides/slide27.xml" Id="R2d1f6088bbb54c1a" /><Relationship Type="http://schemas.openxmlformats.org/officeDocument/2006/relationships/slide" Target="/ppt/slides/slide28.xml" Id="R9ec12b0328594fa4" /><Relationship Type="http://schemas.openxmlformats.org/officeDocument/2006/relationships/slide" Target="/ppt/slides/slide29.xml" Id="R6042832b6ad24465" /><Relationship Type="http://schemas.openxmlformats.org/officeDocument/2006/relationships/slide" Target="/ppt/slides/slide30.xml" Id="R088a5a52657d485b" /><Relationship Type="http://schemas.openxmlformats.org/officeDocument/2006/relationships/slide" Target="/ppt/slides/slide31.xml" Id="Ra104dd7dca73421c" /><Relationship Type="http://schemas.openxmlformats.org/officeDocument/2006/relationships/slide" Target="/ppt/slides/slide32.xml" Id="Re53317dea78c43ff" /><Relationship Type="http://schemas.openxmlformats.org/officeDocument/2006/relationships/slide" Target="/ppt/slides/slide33.xml" Id="R1efc16bb31d14179" /><Relationship Type="http://schemas.openxmlformats.org/officeDocument/2006/relationships/slide" Target="/ppt/slides/slide34.xml" Id="R97d313de8930483a" /><Relationship Type="http://schemas.openxmlformats.org/officeDocument/2006/relationships/slide" Target="/ppt/slides/slide35.xml" Id="R758e30723e084bb4" /><Relationship Type="http://schemas.openxmlformats.org/officeDocument/2006/relationships/slide" Target="/ppt/slides/slide36.xml" Id="R9b3dd23dbb27440b" /><Relationship Type="http://schemas.openxmlformats.org/officeDocument/2006/relationships/slide" Target="/ppt/slides/slide37.xml" Id="Rc405ced86e91492f" /><Relationship Type="http://schemas.openxmlformats.org/officeDocument/2006/relationships/slide" Target="/ppt/slides/slide38.xml" Id="R01ad89d5e2bd49df" /><Relationship Type="http://schemas.openxmlformats.org/officeDocument/2006/relationships/slide" Target="/ppt/slides/slide39.xml" Id="Rfa7acc6a6b6948a9" /><Relationship Type="http://schemas.openxmlformats.org/officeDocument/2006/relationships/slide" Target="/ppt/slides/slide40.xml" Id="Ra7b9f66e278b4fca" /><Relationship Type="http://schemas.openxmlformats.org/officeDocument/2006/relationships/slide" Target="/ppt/slides/slide41.xml" Id="Rdef9b10441cb47fa" /><Relationship Type="http://schemas.openxmlformats.org/officeDocument/2006/relationships/slide" Target="/ppt/slides/slide42.xml" Id="R0239c09af38f49c8" /><Relationship Type="http://schemas.openxmlformats.org/officeDocument/2006/relationships/slide" Target="/ppt/slides/slide43.xml" Id="R619b65b1e82e473d" /><Relationship Type="http://schemas.openxmlformats.org/officeDocument/2006/relationships/slide" Target="/ppt/slides/slide44.xml" Id="R1895c1e5466346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420fb4d7e04d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>
          <a:solidFill>
            <a:schemeClr val="accent1"/>
          </a:solidFill>
          <a:prstDash val="solid"/>
        </a:ln>
        <a:ln w="12700">
          <a:solidFill>
            <a:schemeClr val="accent1"/>
          </a:solidFill>
          <a:prstDash val="solid"/>
        </a:ln>
        <a:ln w="19050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bac590576a493d" /><Relationship Type="http://schemas.openxmlformats.org/officeDocument/2006/relationships/notesMaster" Target="/ppt/notesMasters/notesMaster1.xml" Id="R31594cde282649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7677b80e4c4a9a" /><Relationship Type="http://schemas.openxmlformats.org/officeDocument/2006/relationships/notesMaster" Target="/ppt/notesMasters/notesMaster1.xml" Id="R21922805b48a48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675823fe4b4ef4" /><Relationship Type="http://schemas.openxmlformats.org/officeDocument/2006/relationships/notesMaster" Target="/ppt/notesMasters/notesMaster1.xml" Id="R5a42fdbc72614c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87d79af5604213" /><Relationship Type="http://schemas.openxmlformats.org/officeDocument/2006/relationships/notesMaster" Target="/ppt/notesMasters/notesMaster1.xml" Id="Rb7b750b876a241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400a3faf1b4ef3" /><Relationship Type="http://schemas.openxmlformats.org/officeDocument/2006/relationships/notesMaster" Target="/ppt/notesMasters/notesMaster1.xml" Id="R36c492446fe44a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a9fadb68394c4b" /><Relationship Type="http://schemas.openxmlformats.org/officeDocument/2006/relationships/notesMaster" Target="/ppt/notesMasters/notesMaster1.xml" Id="R1c87c566ec1747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0374c128734ac1" /><Relationship Type="http://schemas.openxmlformats.org/officeDocument/2006/relationships/notesMaster" Target="/ppt/notesMasters/notesMaster1.xml" Id="Ra3745b5b26374b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ba76e7e79b4dfa" /><Relationship Type="http://schemas.openxmlformats.org/officeDocument/2006/relationships/notesMaster" Target="/ppt/notesMasters/notesMaster1.xml" Id="R2e7c589104e546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f6bb6dc69448d1" /><Relationship Type="http://schemas.openxmlformats.org/officeDocument/2006/relationships/notesMaster" Target="/ppt/notesMasters/notesMaster1.xml" Id="R4e5a9dbc0d6548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e6996c645be4015" /><Relationship Type="http://schemas.openxmlformats.org/officeDocument/2006/relationships/notesMaster" Target="/ppt/notesMasters/notesMaster1.xml" Id="R8afce1cded664e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f3aa451d53e4153" /><Relationship Type="http://schemas.openxmlformats.org/officeDocument/2006/relationships/notesMaster" Target="/ppt/notesMasters/notesMaster1.xml" Id="R7db138195daa448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d3720eeee944d91" /><Relationship Type="http://schemas.openxmlformats.org/officeDocument/2006/relationships/notesMaster" Target="/ppt/notesMasters/notesMaster1.xml" Id="Rf213ed23e9d544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ab426929984d34" /><Relationship Type="http://schemas.openxmlformats.org/officeDocument/2006/relationships/notesMaster" Target="/ppt/notesMasters/notesMaster1.xml" Id="Rff9d1b89210f45b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0b25a40e47b4296" /><Relationship Type="http://schemas.openxmlformats.org/officeDocument/2006/relationships/notesMaster" Target="/ppt/notesMasters/notesMaster1.xml" Id="R92761b493dc246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e87a7c81a3244e5" /><Relationship Type="http://schemas.openxmlformats.org/officeDocument/2006/relationships/notesMaster" Target="/ppt/notesMasters/notesMaster1.xml" Id="Rcd888c12fd1a46f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c08256943dc4c83" /><Relationship Type="http://schemas.openxmlformats.org/officeDocument/2006/relationships/notesMaster" Target="/ppt/notesMasters/notesMaster1.xml" Id="R23e5714c4eae41d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393bb57ff764a6d" /><Relationship Type="http://schemas.openxmlformats.org/officeDocument/2006/relationships/notesMaster" Target="/ppt/notesMasters/notesMaster1.xml" Id="R3499d84747014bc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3b1410cbd304fd3" /><Relationship Type="http://schemas.openxmlformats.org/officeDocument/2006/relationships/notesMaster" Target="/ppt/notesMasters/notesMaster1.xml" Id="Rd1794c08253a4f7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47136c5b85f4e84" /><Relationship Type="http://schemas.openxmlformats.org/officeDocument/2006/relationships/notesMaster" Target="/ppt/notesMasters/notesMaster1.xml" Id="R028a5e8af959470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ecbe4a0b289493a" /><Relationship Type="http://schemas.openxmlformats.org/officeDocument/2006/relationships/notesMaster" Target="/ppt/notesMasters/notesMaster1.xml" Id="R52635a1f9ad5463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e08bb8b8c2e420c" /><Relationship Type="http://schemas.openxmlformats.org/officeDocument/2006/relationships/notesMaster" Target="/ppt/notesMasters/notesMaster1.xml" Id="Rdc2a9062682442e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a48e3fc38d24529" /><Relationship Type="http://schemas.openxmlformats.org/officeDocument/2006/relationships/notesMaster" Target="/ppt/notesMasters/notesMaster1.xml" Id="Rdc82874fcdd0411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64be8d855df4865" /><Relationship Type="http://schemas.openxmlformats.org/officeDocument/2006/relationships/notesMaster" Target="/ppt/notesMasters/notesMaster1.xml" Id="R714640c8b2cc405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0f6aac65d93403b" /><Relationship Type="http://schemas.openxmlformats.org/officeDocument/2006/relationships/notesMaster" Target="/ppt/notesMasters/notesMaster1.xml" Id="Rf933c625b1584e0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4d196288e384d6e" /><Relationship Type="http://schemas.openxmlformats.org/officeDocument/2006/relationships/notesMaster" Target="/ppt/notesMasters/notesMaster1.xml" Id="R878692bfa82e4e6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51e8fde6d0c4470" /><Relationship Type="http://schemas.openxmlformats.org/officeDocument/2006/relationships/notesMaster" Target="/ppt/notesMasters/notesMaster1.xml" Id="R9afbd21d77fe490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f7e8236ba314aa6" /><Relationship Type="http://schemas.openxmlformats.org/officeDocument/2006/relationships/notesMaster" Target="/ppt/notesMasters/notesMaster1.xml" Id="R61da81373705418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b9ca99f443a4324" /><Relationship Type="http://schemas.openxmlformats.org/officeDocument/2006/relationships/notesMaster" Target="/ppt/notesMasters/notesMaster1.xml" Id="Rb0816eb346e4457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bf38a78acaa40f1" /><Relationship Type="http://schemas.openxmlformats.org/officeDocument/2006/relationships/notesMaster" Target="/ppt/notesMasters/notesMaster1.xml" Id="Rd6ee733c3f754f8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1324fb69c2d433b" /><Relationship Type="http://schemas.openxmlformats.org/officeDocument/2006/relationships/notesMaster" Target="/ppt/notesMasters/notesMaster1.xml" Id="Rc576cf0d1b2c4f3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d88e7ef66594eaf" /><Relationship Type="http://schemas.openxmlformats.org/officeDocument/2006/relationships/notesMaster" Target="/ppt/notesMasters/notesMaster1.xml" Id="R2ec29c0285db4b0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f4988b7630b4da9" /><Relationship Type="http://schemas.openxmlformats.org/officeDocument/2006/relationships/notesMaster" Target="/ppt/notesMasters/notesMaster1.xml" Id="R1382ed10b442413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f06fa343c524bf2" /><Relationship Type="http://schemas.openxmlformats.org/officeDocument/2006/relationships/notesMaster" Target="/ppt/notesMasters/notesMaster1.xml" Id="Ra0deea4eb60e423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b9b26147a394f65" /><Relationship Type="http://schemas.openxmlformats.org/officeDocument/2006/relationships/notesMaster" Target="/ppt/notesMasters/notesMaster1.xml" Id="R013450c0acd6407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4a0fcfa05f84d4b" /><Relationship Type="http://schemas.openxmlformats.org/officeDocument/2006/relationships/notesMaster" Target="/ppt/notesMasters/notesMaster1.xml" Id="R430844f0137c457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7d9f381e6d74435" /><Relationship Type="http://schemas.openxmlformats.org/officeDocument/2006/relationships/notesMaster" Target="/ppt/notesMasters/notesMaster1.xml" Id="Ref3495bfcd60443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66900e0484e4682" /><Relationship Type="http://schemas.openxmlformats.org/officeDocument/2006/relationships/notesMaster" Target="/ppt/notesMasters/notesMaster1.xml" Id="R4fd1e11610354de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0c765d57cd44b59" /><Relationship Type="http://schemas.openxmlformats.org/officeDocument/2006/relationships/notesMaster" Target="/ppt/notesMasters/notesMaster1.xml" Id="R73e1ec087d3e49d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419b76bda614a46" /><Relationship Type="http://schemas.openxmlformats.org/officeDocument/2006/relationships/notesMaster" Target="/ppt/notesMasters/notesMaster1.xml" Id="R86ce51b6e8cd4b0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df7ccab40404732" /><Relationship Type="http://schemas.openxmlformats.org/officeDocument/2006/relationships/notesMaster" Target="/ppt/notesMasters/notesMaster1.xml" Id="Ra090ad6490bc4df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54598558d0c4f6f" /><Relationship Type="http://schemas.openxmlformats.org/officeDocument/2006/relationships/notesMaster" Target="/ppt/notesMasters/notesMaster1.xml" Id="Racec36ee9196461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2eaa5b5678c14b85" /><Relationship Type="http://schemas.openxmlformats.org/officeDocument/2006/relationships/notesMaster" Target="/ppt/notesMasters/notesMaster1.xml" Id="Rd25dbf87e02b4ee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0037785b0d34f11" /><Relationship Type="http://schemas.openxmlformats.org/officeDocument/2006/relationships/notesMaster" Target="/ppt/notesMasters/notesMaster1.xml" Id="R83f5ad2ee68b417f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c2cf3c35232493b" /><Relationship Type="http://schemas.openxmlformats.org/officeDocument/2006/relationships/notesMaster" Target="/ppt/notesMasters/notesMaster1.xml" Id="R9bfc35db8bc446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分层细节（口头说明）：Controller 只注入 Service 接口，Service 只注入 Repository 接口；越层引用由静态门禁检查拦截。该约束保证了 Oracle 类型与 SQL 不会泄漏到业务层与表现层，也使仓储可以用测试替身替换。</a:t>
            </a:r>
          </a:p>
          <a:p xmlns:a="http://schemas.openxmlformats.org/drawingml/2006/main">
            <a:r>
              <a:t>数据口径示例（口头说明）：nodes.node_type 存 GATE / STATION / DISTRIBUTION，Service 转换为「校门 / 驿站 / 分发点」后交 View 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功能点与业务规则统计明细见课程设计报告；汇报时按五个功能域口头展开，不必逐条点数。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状态机在数据库中的实现（口头说明）：task_status 保存英文状态代码，页面显示中文名称；接单起每次状态变更写入 task_status_logs 并绑定接派记录；状态更新与日志写入在同一事务内提交；已接派任务不再出现在任务大厅，避免重复接单。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并发指标（口头说明）：300 并发为设计期估算，未做生产压测；并发正确性由行锁机制与抢单冲突场景测试保障，答辩时如实说明。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图注细节（口头说明）：任务与外卖分发、快递代取、私人转交三类明细构成弱实体联系；服务类型与节点的多对多联系在逻辑设计阶段独立为 service_node_rules 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备问（组合外键）：(publisher_user_id, address_no) 引用 user_addresses，(service_type_id, node_id) 引用 service_node_rules，保证任务的服务类型与交接节点必须存在适用规则；task_status 默认 CREATED，由 CHECK 约束限定 10 个合法取值。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分解论证（口头说明）：实例 1，若任务表混存三类专有字段，大量列长期为空（插入异常），类型扩展要改主表结构；实例 2，适用节点若登记在服务类型表中，节点增删要反复改主表。分解后更新只影响一行。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备问（约束与索引）：一任务一评价由 uk_reviews_task 唯一约束强制；支付流水号唯一由 uk_payments_trade_no 约束强制；单默认地址由函数唯一索引 uk_user_addresses_one_default（CASE WHEN is_default = 'Y' THEN user_id END）实现；服务类型名称唯一索引为 UPPER(TRIM(service_name)) 函数索引，_ci 表示大小写不敏感。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界面截图提示（答辩前操作</a:t>
            </a:r>
            <a:r>
              <a:t>）：</a:t>
            </a:r>
            <a:r>
              <a:t>济跑跑品牌标识与前端页面展示已完成改版，请将改版后的真实系统截图插入两个占位框，两张截图同比例、同基线</a:t>
            </a:r>
            <a:r>
              <a:t>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口头补充：完整建库脚本见课程设计报告附录。最初方案用 version 乐观锁做冲突检测，迁移 Oracle 后统一改为 SELECT … FOR UPDATE 行锁，语义更直接，也便于在端到端用例中验证互斥效果。</a:t>
            </a:r>
          </a:p>
          <a:p xmlns:a="http://schemas.openxmlformats.org/drawingml/2006/main">
            <a:r>
              <a:t>行锁修复经过（口头说明）：初期实现未启用行锁，并发测试暴露两名跑腿员重复接单问题；引入 SELECT … FOR UPDATE 行锁后消除。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本章节由十位组员依次汇报，每人两页：职责与数据范围、核心实现与验证。口头串场按业务链路：账户→基础资料→任务发布→接单派单→支付退款→评价投诉→结算报表→测试→总集成。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口头介绍提纲：负责把各成员代码合成为一个可运行系统——搭建骨架、连接 Oracle、实现公共 Layout 与菜单、编写权限过滤，最后统一联调。备问：越层引用由静态门禁检查拦截；集成质量由 TC-INT-01～05 验证（公网 HTTPS、四类角色导航、31 个页面路由、自动化门禁）。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口头介绍提纲：先讲静态门禁如何守住五层边界，再讲集成验证（Release 构建 0 警告 0 错误、52/52 自动化测试、31 路由抽查）。备问：POST 防伪 47/47 为静态门禁清点结果，见组员1证据目录。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口头介绍提纲：把数据库设计文档转为可执行建表脚本（24 张表），统一枚举中英文口径，准备初始化与测试数据。备问：脚本按 002–007 编号顺序执行、可复跑。注意：TC-DB-01～06 证据待归档，答辩前补齐。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口头介绍提纲：强调脚本与数据字典一致性、枚举对齐。如实说明：模块测试证据归档尚待提交，用例设计已完成。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口头介绍提纲：注册登录采用 PasswordHasher 带盐哈希；账号含封禁与注销生命周期。缺陷修复案例：注销账号手机号被占用导致无法重新注册，已修复。备问：跨用户地址越权由用例 TC012 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口头介绍提纲：先讲哈希与唯一约束，再讲单默认地址函数唯一索引（CASE WHEN 实现），最后讲越权拦截用例。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口头介绍提纲：基础资料是全系统运行前提——节点、服务类型、适用规则、跑腿员资质从这里维护。备问：服务与节点为多对多，独立为 service_node_rules 后由联合主键约束。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口头介绍提纲：讲 service_node_rules 在下单链路的作用（组合外键强制匹配）与跑腿员审核状态机。证据 22 张截图已归档。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口头介绍提纲：主单与三类明细分离是设计核心——公共字段入 tasks，专有字段按类型分表。备问：为何不用宽表——专有字段差异大，宽表空值多、扩展需改主表。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口头介绍提纲：重点讲两个组合外键与弱实体建模；取消规则仅 WAITING 可自助取消。如实说明证据归档进度。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口头介绍提纲：按"检索→行锁→校验→同事务写"顺序讲抢单链路；重派由管理员新增 REASSIGN 记录。缺陷修复案例：初期未启用行锁出现重复接单，引入行锁后消除。注意：证据归档待提交。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口头介绍提纲：重点讲 FOR UPDATE 行锁互斥与同事务留痕；备问：已接派任务从任务大厅检索中排除，配合行锁消除重复接单。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口头介绍提纲：支付时点在确认收货之后，支付状态与任务状态联动；退款走登记—审核两步。规则补强：已结算订单禁止发起普通退款。备问：重复支付由 third_trade_no 唯一约束防止。注意：证据归档待提交。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口头介绍提纲：讲支付后置设计与退款审核链路；主动讲"已结算订单禁止普通退款"规则补强。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口头介绍提纲：评价受唯一约束（一任务一评），评分经 credit_delta 换算回写跑腿员信用分；投诉由管理员处理并联动信誉分。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口头介绍提纲：先讲唯一约束，再讲 credit_delta 计算与回写，最后讲投诉流程；用 TC-REVIEW 证据支撑（9 份记录、5 份 SQL、21 张截图）。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口头介绍提纲：结算前校验跑腿员归属，退款或投诉中的支付不进入结算；审计覆盖三类对象；报表按月生成、CSV 导出，删除报表保留审计日志。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口头介绍提纲：按结算规则→审计→报表顺序讲；备问：删报表留审计是为保证审计记录完整性。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口头介绍提纲：把各成员测试证据收拢为测试报告与归档索引；维护共享 Oracle 写入型端到端用例；整理演示截图与答辩材料。备问：自动化 52/52、E2E 主链路与并发、五模块手工证据已归档，四模块待提交。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口头介绍提纲：强调"结论以执行记录为准"——每条结论对应记录、SQL 与截图；说明归档进度与索引维护机制。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测试分布（口头说明）：总集成 TC-INT-01～05、账户与权限、基础资料 TC-BASE-01～08、评价投诉与信誉 TC-REVIEW-01～09、结算审计报表 TC-SETTLE-01～10，记录与截图存档于 docs/test-evidence；数据库基础数据、任务发布、接单派单、支付退款四模块证据待提交，被问及时如实说明。自动化测试 52/52 通过、共享 Oracle 端到端用例通过（报告 9.4 节），测试代码见 backend/tests。</a:t>
            </a:r>
          </a:p>
          <a:p xmlns:a="http://schemas.openxmlformats.org/drawingml/2006/main">
            <a:r>
              <a:t>原子性验证话术（备问）：在事务中手动抛出异常，观察 payments 与 tasks 是否均未写入。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口头补充：实现阶段的调整包括支付时点后置到确认收货、抢单并发控制改用行锁、账号与权限安全加固；表主体结构未变，详见课程设计报告调整说明。</a:t>
            </a:r>
          </a:p>
          <a:p xmlns:a="http://schemas.openxmlformats.org/drawingml/2006/main">
            <a:r>
              <a:t>模块测试证据（口头说明）：总集成、账户权限、基础资料、评价投诉、结算审计报表五个模块记录与截图已存档，其余四模块待提交；自动化测试 52/52 通过（报告 9.4 节）。近期规则补强：禁止已结算订单发起普通退款；报表删除保留审计日志。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308bbf07414ba0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027aea4f5d4439" /><Relationship Type="http://schemas.openxmlformats.org/officeDocument/2006/relationships/slideLayout" Target="/ppt/slideLayouts/slideLayout1.xml" Id="R9cfecda7b5df444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fecda7b5df444c"/>
  </p:sldLayoutIdLst>
</p:sldMaster>
</file>

<file path=ppt/slideMasters/theme/theme2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>
          <a:solidFill>
            <a:schemeClr val="accent1"/>
          </a:solidFill>
          <a:prstDash val="solid"/>
        </a:ln>
        <a:ln w="12700">
          <a:solidFill>
            <a:schemeClr val="accent1"/>
          </a:solidFill>
          <a:prstDash val="solid"/>
        </a:ln>
        <a:ln w="19050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06071ad9f4dc8" /><Relationship Type="http://schemas.openxmlformats.org/officeDocument/2006/relationships/image" Target="/ppt/media/image.png" Id="R79cbfc41611b4975" /><Relationship Type="http://schemas.openxmlformats.org/officeDocument/2006/relationships/image" Target="/ppt/media/image2.png" Id="R9bd857fb8a9a4193" /><Relationship Type="http://schemas.openxmlformats.org/officeDocument/2006/relationships/notesSlide" Target="/ppt/notesSlides/notesSlide1.xml" Id="Rc473e926ec6e41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96124a243b4e88" /><Relationship Type="http://schemas.openxmlformats.org/officeDocument/2006/relationships/notesSlide" Target="/ppt/notesSlides/notesSlide2.xml" Id="R5f7a506fa5d24b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978b5c9a664b73" /><Relationship Type="http://schemas.openxmlformats.org/officeDocument/2006/relationships/notesSlide" Target="/ppt/notesSlides/notesSlide3.xml" Id="Rb303beefaaac47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71ee6894f49be" /><Relationship Type="http://schemas.openxmlformats.org/officeDocument/2006/relationships/image" Target="/ppt/media/image3.png" Id="R0a47430a70b54318" /><Relationship Type="http://schemas.openxmlformats.org/officeDocument/2006/relationships/notesSlide" Target="/ppt/notesSlides/notesSlide4.xml" Id="R97e29daf3bdb43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ca8010b384072" /><Relationship Type="http://schemas.openxmlformats.org/officeDocument/2006/relationships/notesSlide" Target="/ppt/notesSlides/notesSlide5.xml" Id="Re8d495df775f41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74b7fe7ef49aa" /><Relationship Type="http://schemas.openxmlformats.org/officeDocument/2006/relationships/notesSlide" Target="/ppt/notesSlides/notesSlide6.xml" Id="Rdbed2218404d4a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fbe783f4b432f" /><Relationship Type="http://schemas.openxmlformats.org/officeDocument/2006/relationships/notesSlide" Target="/ppt/notesSlides/notesSlide7.xml" Id="Rc1401b20cee146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77051710042fb" /><Relationship Type="http://schemas.openxmlformats.org/officeDocument/2006/relationships/notesSlide" Target="/ppt/notesSlides/notesSlide8.xml" Id="R5c9eb229cb7442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20758a3fed49f1" /><Relationship Type="http://schemas.openxmlformats.org/officeDocument/2006/relationships/notesSlide" Target="/ppt/notesSlides/notesSlide9.xml" Id="Rd8d46ed5185c48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55c28bf8084869" /><Relationship Type="http://schemas.openxmlformats.org/officeDocument/2006/relationships/notesSlide" Target="/ppt/notesSlides/notesSlide10.xml" Id="Re9418084355e43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09ff91238c45db" /><Relationship Type="http://schemas.openxmlformats.org/officeDocument/2006/relationships/notesSlide" Target="/ppt/notesSlides/notesSlide11.xml" Id="R87b756dba24546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37df908d645f1" /><Relationship Type="http://schemas.openxmlformats.org/officeDocument/2006/relationships/notesSlide" Target="/ppt/notesSlides/notesSlide12.xml" Id="R415c076309274b4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799d5e5814e2c" /><Relationship Type="http://schemas.openxmlformats.org/officeDocument/2006/relationships/notesSlide" Target="/ppt/notesSlides/notesSlide13.xml" Id="Rd1efa8cbb9e24f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be917c8dfa4ea3" /><Relationship Type="http://schemas.openxmlformats.org/officeDocument/2006/relationships/notesSlide" Target="/ppt/notesSlides/notesSlide14.xml" Id="R56da6c1d91c74da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efd25316d4c2a" /><Relationship Type="http://schemas.openxmlformats.org/officeDocument/2006/relationships/notesSlide" Target="/ppt/notesSlides/notesSlide15.xml" Id="R77e282594de545d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6e0efa7bed4cf5" /><Relationship Type="http://schemas.openxmlformats.org/officeDocument/2006/relationships/notesSlide" Target="/ppt/notesSlides/notesSlide16.xml" Id="Rb3a08804e8c24ac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12b41eced43f5" /><Relationship Type="http://schemas.openxmlformats.org/officeDocument/2006/relationships/notesSlide" Target="/ppt/notesSlides/notesSlide17.xml" Id="R9b5b6c74519f413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fc7c7edd3457e" /><Relationship Type="http://schemas.openxmlformats.org/officeDocument/2006/relationships/image" Target="/ppt/media/image4.png" Id="Re6ab59b513214426" /><Relationship Type="http://schemas.openxmlformats.org/officeDocument/2006/relationships/image" Target="/ppt/media/image5.png" Id="Rdd88b035b3cb4edf" /><Relationship Type="http://schemas.openxmlformats.org/officeDocument/2006/relationships/image" Target="/ppt/media/image6.png" Id="R6b262af4ede6454e" /><Relationship Type="http://schemas.openxmlformats.org/officeDocument/2006/relationships/image" Target="/ppt/media/image7.png" Id="R0b5151baade04dec" /><Relationship Type="http://schemas.openxmlformats.org/officeDocument/2006/relationships/image" Target="/ppt/media/image8.png" Id="R2aeb5072853c49f4" /><Relationship Type="http://schemas.openxmlformats.org/officeDocument/2006/relationships/notesSlide" Target="/ppt/notesSlides/notesSlide18.xml" Id="R6f6467f1aa1e4bf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f1a32ccbd4dfd" /><Relationship Type="http://schemas.openxmlformats.org/officeDocument/2006/relationships/notesSlide" Target="/ppt/notesSlides/notesSlide19.xml" Id="R84b2ba66ae064f1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f3772d0c44a65" /><Relationship Type="http://schemas.openxmlformats.org/officeDocument/2006/relationships/notesSlide" Target="/ppt/notesSlides/notesSlide20.xml" Id="R8dcc4dfbcd534ae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72cd3cded4157" /><Relationship Type="http://schemas.openxmlformats.org/officeDocument/2006/relationships/notesSlide" Target="/ppt/notesSlides/notesSlide21.xml" Id="R7069e456a909452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451af0dd244bb" /><Relationship Type="http://schemas.openxmlformats.org/officeDocument/2006/relationships/notesSlide" Target="/ppt/notesSlides/notesSlide22.xml" Id="Rda0e52adabe44c0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a62798e9c24062" /><Relationship Type="http://schemas.openxmlformats.org/officeDocument/2006/relationships/notesSlide" Target="/ppt/notesSlides/notesSlide23.xml" Id="R0c70a341eee7430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18aa81efd4731" /><Relationship Type="http://schemas.openxmlformats.org/officeDocument/2006/relationships/notesSlide" Target="/ppt/notesSlides/notesSlide24.xml" Id="Rd1a6cf31c43e45f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cba588eef64549" /><Relationship Type="http://schemas.openxmlformats.org/officeDocument/2006/relationships/notesSlide" Target="/ppt/notesSlides/notesSlide25.xml" Id="Rf408034c10ee4f1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7874dba474476" /><Relationship Type="http://schemas.openxmlformats.org/officeDocument/2006/relationships/notesSlide" Target="/ppt/notesSlides/notesSlide26.xml" Id="R2c98792f6b2a4f6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99fcbbf8d448b" /><Relationship Type="http://schemas.openxmlformats.org/officeDocument/2006/relationships/notesSlide" Target="/ppt/notesSlides/notesSlide27.xml" Id="R03e42ed71f6a4f6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e2f1641fa48ad" /><Relationship Type="http://schemas.openxmlformats.org/officeDocument/2006/relationships/notesSlide" Target="/ppt/notesSlides/notesSlide28.xml" Id="R4d9f0aa7c832438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082c540444610" /><Relationship Type="http://schemas.openxmlformats.org/officeDocument/2006/relationships/notesSlide" Target="/ppt/notesSlides/notesSlide29.xml" Id="R84490a5fb2e4437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cf87e95f84d4b" /><Relationship Type="http://schemas.openxmlformats.org/officeDocument/2006/relationships/notesSlide" Target="/ppt/notesSlides/notesSlide30.xml" Id="Rcfe77a76ea9449a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c38252215048b3" /><Relationship Type="http://schemas.openxmlformats.org/officeDocument/2006/relationships/notesSlide" Target="/ppt/notesSlides/notesSlide31.xml" Id="Rb373b573c8ab4d4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8316cf33f2475b" /><Relationship Type="http://schemas.openxmlformats.org/officeDocument/2006/relationships/notesSlide" Target="/ppt/notesSlides/notesSlide32.xml" Id="R591bae63133c4d3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8ffdaeb5684413" /><Relationship Type="http://schemas.openxmlformats.org/officeDocument/2006/relationships/notesSlide" Target="/ppt/notesSlides/notesSlide33.xml" Id="R812d3c86173a4d2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85dc38903949cf" /><Relationship Type="http://schemas.openxmlformats.org/officeDocument/2006/relationships/notesSlide" Target="/ppt/notesSlides/notesSlide34.xml" Id="R1ee55a843600447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e804c62f174a93" /><Relationship Type="http://schemas.openxmlformats.org/officeDocument/2006/relationships/notesSlide" Target="/ppt/notesSlides/notesSlide35.xml" Id="R643880a5b8c0441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2cbb4858d64413" /><Relationship Type="http://schemas.openxmlformats.org/officeDocument/2006/relationships/notesSlide" Target="/ppt/notesSlides/notesSlide36.xml" Id="Rc4d0dc6be9734fa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c6e6b16d14083" /><Relationship Type="http://schemas.openxmlformats.org/officeDocument/2006/relationships/notesSlide" Target="/ppt/notesSlides/notesSlide37.xml" Id="Re67faab23569426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24a78d1044bf9" /><Relationship Type="http://schemas.openxmlformats.org/officeDocument/2006/relationships/notesSlide" Target="/ppt/notesSlides/notesSlide38.xml" Id="R28702b1b68c948e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c6a0033314efe" /><Relationship Type="http://schemas.openxmlformats.org/officeDocument/2006/relationships/notesSlide" Target="/ppt/notesSlides/notesSlide39.xml" Id="R9936ed87f4e1469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4b64f46a547b9" /><Relationship Type="http://schemas.openxmlformats.org/officeDocument/2006/relationships/notesSlide" Target="/ppt/notesSlides/notesSlide40.xml" Id="R3f58c9e120184a6b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c352b919b4357" /><Relationship Type="http://schemas.openxmlformats.org/officeDocument/2006/relationships/notesSlide" Target="/ppt/notesSlides/notesSlide41.xml" Id="R1968f6d2bbb04c35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ba715967a47d9" /><Relationship Type="http://schemas.openxmlformats.org/officeDocument/2006/relationships/notesSlide" Target="/ppt/notesSlides/notesSlide42.xml" Id="Re6f283bf170d4718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24d782b03045f7" /><Relationship Type="http://schemas.openxmlformats.org/officeDocument/2006/relationships/notesSlide" Target="/ppt/notesSlides/notesSlide43.xml" Id="R0126ff593a7e4b8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20408c84c41e1" /><Relationship Type="http://schemas.openxmlformats.org/officeDocument/2006/relationships/image" Target="/ppt/media/image2.png" Id="Rd52ab3e0eaeb4d8f" /><Relationship Type="http://schemas.openxmlformats.org/officeDocument/2006/relationships/notesSlide" Target="/ppt/notesSlides/notesSlide44.xml" Id="Rdc31410e75c04f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cover-im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cbfc41611b4975"/>
          <a:srcRect xmlns:a="http://schemas.openxmlformats.org/drawingml/2006/main" l="18000" t="0" r="14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80000" y="0"/>
            <a:ext cx="711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" name="img-mask">
            <a:extLst xmlns:a="http://schemas.openxmlformats.org/drawingml/2006/main">
              <a:ext uri="{FF2B5EF4-FFF2-40B4-BE49-F238E27FC236}">
                <a16:creationId xmlns:a16="http://schemas.microsoft.com/office/drawing/2014/main" id="{C55F8B91-F19F-47AA-AD48-EC54630D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0"/>
            <a:ext cx="50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logo-box">
            <a:extLst xmlns:a="http://schemas.openxmlformats.org/drawingml/2006/main">
              <a:ext uri="{FF2B5EF4-FFF2-40B4-BE49-F238E27FC236}">
                <a16:creationId xmlns:a16="http://schemas.microsoft.com/office/drawing/2014/main" id="{F11B2C57-B291-48BB-9BBF-1717E3EF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7620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logo-text">
            <a:extLst xmlns:a="http://schemas.openxmlformats.org/drawingml/2006/main">
              <a:ext uri="{FF2B5EF4-FFF2-40B4-BE49-F238E27FC236}">
                <a16:creationId xmlns:a16="http://schemas.microsoft.com/office/drawing/2014/main" id="{079B0F6C-E417-4C06-8310-24DE1D93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7620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endParaRPr sz="2700"/>
          </a:p>
        </p:txBody>
      </p:sp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821CC905-B6E3-46DD-8B21-57F2E2D9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800" y="762000"/>
            <a:ext cx="317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</a:pPr>
            <a:r>
              <a:rPr sz="2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济跑跑</a:t>
            </a:r>
            <a:endParaRPr sz="1600"/>
          </a:p>
          <a:p xmlns:a="http://schemas.openxmlformats.org/drawingml/2006/main">
            <a:pPr algn="l">
              <a:lnSpc>
                <a:spcPct val="12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JIRUN CAMPUS RUNNER</a:t>
            </a:r>
            <a:endParaRPr sz="1600"/>
          </a:p>
        </p:txBody>
      </p:sp>
      <p:sp>
        <p:nvSpPr>
          <p:cNvPr id="7" name="cover-line1">
            <a:extLst xmlns:a="http://schemas.openxmlformats.org/drawingml/2006/main">
              <a:ext uri="{FF2B5EF4-FFF2-40B4-BE49-F238E27FC236}">
                <a16:creationId xmlns:a16="http://schemas.microsoft.com/office/drawing/2014/main" id="{A06FC50E-F62A-4BE3-A00C-9C11FF41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854200"/>
            <a:ext cx="36576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cover-label">
            <a:extLst xmlns:a="http://schemas.openxmlformats.org/drawingml/2006/main">
              <a:ext uri="{FF2B5EF4-FFF2-40B4-BE49-F238E27FC236}">
                <a16:creationId xmlns:a16="http://schemas.microsoft.com/office/drawing/2014/main" id="{264A0563-0783-4193-B8B8-945DF0E3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2082800"/>
            <a:ext cx="4064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300" b="1" spc="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数据库课程设计 · 答辩汇报</a:t>
            </a:r>
            <a:endParaRPr sz="1300"/>
          </a:p>
        </p:txBody>
      </p:sp>
      <p:sp>
        <p:nvSpPr>
          <p:cNvPr id="9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863EDBB-7FE9-49B2-9852-BCBB62F5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2540000"/>
            <a:ext cx="40132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</a:pPr>
            <a:r>
              <a:rPr sz="33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3300"/>
          </a:p>
        </p:txBody>
      </p:sp>
      <p:sp>
        <p:nvSpPr>
          <p:cNvPr id="10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D9B24FDA-AB3B-4A2B-9068-029A759E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165600"/>
            <a:ext cx="40132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Campus Comprehensive Errand and Pickup Service Management System</a:t>
            </a:r>
            <a:endParaRPr sz="1100"/>
          </a:p>
        </p:txBody>
      </p:sp>
      <p:sp>
        <p:nvSpPr>
          <p:cNvPr id="11" name="cover-meta">
            <a:extLst xmlns:a="http://schemas.openxmlformats.org/drawingml/2006/main">
              <a:ext uri="{FF2B5EF4-FFF2-40B4-BE49-F238E27FC236}">
                <a16:creationId xmlns:a16="http://schemas.microsoft.com/office/drawing/2014/main" id="{F6BB8B75-CAB8-41EF-93DB-E9A088D3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919472"/>
            <a:ext cx="40132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7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汇报人：</a:t>
            </a: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未定</a:t>
            </a: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　　指导教师：袁时金</a:t>
            </a:r>
            <a:endParaRPr sz="1200"/>
          </a:p>
          <a:p xmlns:a="http://schemas.openxmlformats.org/drawingml/2006/main">
            <a:pPr>
              <a:lnSpc>
                <a:spcPct val="17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小组成员：</a:t>
            </a:r>
            <a:r>
              <a:rPr sz="1200">
                <a:solidFill>
                  <a:srgbClr val="77716A"/>
                </a:solidFill>
              </a:rPr>
              <a:t>刘相成 </a:t>
            </a:r>
            <a:r>
              <a:rPr sz="1200">
                <a:solidFill>
                  <a:srgbClr val="77716A"/>
                </a:solidFill>
              </a:rPr>
              <a:t>/ </a:t>
            </a:r>
            <a:r>
              <a:rPr sz="1200">
                <a:solidFill>
                  <a:srgbClr val="77716A"/>
                </a:solidFill>
              </a:rPr>
              <a:t>薛毓哲 </a:t>
            </a:r>
            <a:r>
              <a:rPr sz="1200">
                <a:solidFill>
                  <a:srgbClr val="77716A"/>
                </a:solidFill>
              </a:rPr>
              <a:t>/ </a:t>
            </a:r>
            <a:r>
              <a:rPr sz="1200">
                <a:solidFill>
                  <a:srgbClr val="77716A"/>
                </a:solidFill>
              </a:rPr>
              <a:t>唐独彪 </a:t>
            </a:r>
            <a:r>
              <a:rPr sz="1200">
                <a:solidFill>
                  <a:srgbClr val="77716A"/>
                </a:solidFill>
              </a:rPr>
              <a:t>/ </a:t>
            </a:r>
            <a:r>
              <a:rPr sz="1200">
                <a:solidFill>
                  <a:srgbClr val="77716A"/>
                </a:solidFill>
              </a:rPr>
              <a:t>李柏言 </a:t>
            </a:r>
            <a:r>
              <a:rPr sz="1200">
                <a:solidFill>
                  <a:srgbClr val="77716A"/>
                </a:solidFill>
              </a:rPr>
              <a:t>/ </a:t>
            </a:r>
            <a:r>
              <a:rPr sz="1200">
                <a:solidFill>
                  <a:srgbClr val="77716A"/>
                </a:solidFill>
              </a:rPr>
              <a:t>韩昊苏 </a:t>
            </a:r>
            <a:endParaRPr sz="1200">
              <a:solidFill>
                <a:srgbClr val="77716A"/>
              </a:solidFill>
            </a:endParaRPr>
          </a:p>
          <a:p xmlns:a="http://schemas.openxmlformats.org/drawingml/2006/main">
            <a:pPr>
              <a:lnSpc>
                <a:spcPct val="175000"/>
              </a:lnSpc>
              <a:buNone/>
            </a:pPr>
            <a:r>
              <a:rPr sz="1200">
                <a:solidFill>
                  <a:srgbClr val="77716A"/>
                </a:solidFill>
              </a:rPr>
              <a:t>                     </a:t>
            </a:r>
            <a:r>
              <a:rPr sz="1200">
                <a:solidFill>
                  <a:srgbClr val="77716A"/>
                </a:solidFill>
              </a:rPr>
              <a:t>桑治 </a:t>
            </a:r>
            <a:r>
              <a:rPr sz="1200">
                <a:solidFill>
                  <a:srgbClr val="77716A"/>
                </a:solidFill>
              </a:rPr>
              <a:t>/ </a:t>
            </a:r>
            <a:r>
              <a:rPr sz="1200">
                <a:solidFill>
                  <a:srgbClr val="77716A"/>
                </a:solidFill>
              </a:rPr>
              <a:t>崔少坤 </a:t>
            </a:r>
            <a:r>
              <a:rPr sz="1200">
                <a:solidFill>
                  <a:srgbClr val="77716A"/>
                </a:solidFill>
              </a:rPr>
              <a:t>/ </a:t>
            </a:r>
            <a:r>
              <a:rPr sz="1200">
                <a:solidFill>
                  <a:srgbClr val="77716A"/>
                </a:solidFill>
              </a:rPr>
              <a:t>谢智行 </a:t>
            </a:r>
            <a:r>
              <a:rPr sz="1200">
                <a:solidFill>
                  <a:srgbClr val="77716A"/>
                </a:solidFill>
              </a:rPr>
              <a:t>/ </a:t>
            </a:r>
            <a:r>
              <a:rPr sz="1200">
                <a:solidFill>
                  <a:srgbClr val="77716A"/>
                </a:solidFill>
              </a:rPr>
              <a:t>蒋昊沄 </a:t>
            </a:r>
            <a:r>
              <a:rPr sz="1200">
                <a:solidFill>
                  <a:srgbClr val="77716A"/>
                </a:solidFill>
              </a:rPr>
              <a:t>/ </a:t>
            </a:r>
            <a:r>
              <a:rPr sz="1200">
                <a:solidFill>
                  <a:srgbClr val="77716A"/>
                </a:solidFill>
              </a:rPr>
              <a:t>赵崇治</a:t>
            </a:r>
            <a:endParaRPr sz="1200"/>
          </a:p>
          <a:p xmlns:a="http://schemas.openxmlformats.org/drawingml/2006/main">
            <a:pPr>
              <a:lnSpc>
                <a:spcPct val="17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计算机科学与技术学院 · 2026 年 9 月 12 日</a:t>
            </a:r>
            <a:endParaRPr sz="1200"/>
          </a:p>
        </p:txBody>
      </p:sp>
      <p:sp>
        <p:nvSpPr>
          <p:cNvPr id="12" name="cover-line2">
            <a:extLst xmlns:a="http://schemas.openxmlformats.org/drawingml/2006/main">
              <a:ext uri="{FF2B5EF4-FFF2-40B4-BE49-F238E27FC236}">
                <a16:creationId xmlns:a16="http://schemas.microsoft.com/office/drawing/2014/main" id="{CEC2A97E-AE01-46E8-9F6B-6751A62C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6248400"/>
            <a:ext cx="36576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cover-note">
            <a:extLst xmlns:a="http://schemas.openxmlformats.org/drawingml/2006/main">
              <a:ext uri="{FF2B5EF4-FFF2-40B4-BE49-F238E27FC236}">
                <a16:creationId xmlns:a16="http://schemas.microsoft.com/office/drawing/2014/main" id="{65D91C03-EF53-4C53-B006-813F409B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6350000"/>
            <a:ext cx="40132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pic>
        <p:nvPicPr>
          <p:cNvPr id="28" name="logo-im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857fb8a9a419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4076" y="749300"/>
            <a:ext cx="711200" cy="711200"/>
          </a:xfrm>
          <a:prstGeom xmlns:a="http://schemas.openxmlformats.org/drawingml/2006/main" prst="roundRect">
            <a:avLst>
              <a:gd name="adj" fmla="val 16667"/>
            </a:avLst>
          </a:prstGeom>
          <a:ln xmlns:a="http://schemas.openxmlformats.org/drawingml/2006/main">
            <a:noFill/>
          </a:ln>
          <a:effectLst xmlns:a="http://schemas.openxmlformats.org/drawingml/2006/main"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402044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oc-bar">
            <a:extLst xmlns:a="http://schemas.openxmlformats.org/drawingml/2006/main">
              <a:ext uri="{FF2B5EF4-FFF2-40B4-BE49-F238E27FC236}">
                <a16:creationId xmlns:a16="http://schemas.microsoft.com/office/drawing/2014/main" id="{CA14E892-EF72-4809-A716-1E01BE55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066800"/>
            <a:ext cx="63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oc-title">
            <a:extLst xmlns:a="http://schemas.openxmlformats.org/drawingml/2006/main">
              <a:ext uri="{FF2B5EF4-FFF2-40B4-BE49-F238E27FC236}">
                <a16:creationId xmlns:a16="http://schemas.microsoft.com/office/drawing/2014/main" id="{F1FBA041-FECF-4933-A36A-AAC3EBC1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106680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44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目录</a:t>
            </a:r>
            <a:endParaRPr sz="4400"/>
          </a:p>
        </p:txBody>
      </p:sp>
      <p:sp>
        <p:nvSpPr>
          <p:cNvPr id="4" name="toc-en">
            <a:extLst xmlns:a="http://schemas.openxmlformats.org/drawingml/2006/main">
              <a:ext uri="{FF2B5EF4-FFF2-40B4-BE49-F238E27FC236}">
                <a16:creationId xmlns:a16="http://schemas.microsoft.com/office/drawing/2014/main" id="{D02A173E-348C-4911-A8D9-60F935EE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1905000"/>
            <a:ext cx="3048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spc="4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CONTENTS</a:t>
            </a:r>
            <a:endParaRPr sz="1200"/>
          </a:p>
        </p:txBody>
      </p:sp>
      <p:sp>
        <p:nvSpPr>
          <p:cNvPr id="5" name="toc-brand">
            <a:extLst xmlns:a="http://schemas.openxmlformats.org/drawingml/2006/main">
              <a:ext uri="{FF2B5EF4-FFF2-40B4-BE49-F238E27FC236}">
                <a16:creationId xmlns:a16="http://schemas.microsoft.com/office/drawing/2014/main" id="{673BF9D2-63D2-4F13-A251-74EA0CA5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969000"/>
            <a:ext cx="330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数据库课程设计答辩</a:t>
            </a:r>
            <a:endParaRPr sz="1000"/>
          </a:p>
        </p:txBody>
      </p:sp>
      <p:sp>
        <p:nvSpPr>
          <p:cNvPr id="6" name="toc-n1">
            <a:extLst xmlns:a="http://schemas.openxmlformats.org/drawingml/2006/main">
              <a:ext uri="{FF2B5EF4-FFF2-40B4-BE49-F238E27FC236}">
                <a16:creationId xmlns:a16="http://schemas.microsoft.com/office/drawing/2014/main" id="{AD42828F-7EA3-4AE4-92D7-24D1347B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1042415"/>
            <a:ext cx="71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2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01</a:t>
            </a:r>
            <a:endParaRPr sz="2200"/>
          </a:p>
        </p:txBody>
      </p:sp>
      <p:sp>
        <p:nvSpPr>
          <p:cNvPr id="7" name="toc-t1">
            <a:extLst xmlns:a="http://schemas.openxmlformats.org/drawingml/2006/main">
              <a:ext uri="{FF2B5EF4-FFF2-40B4-BE49-F238E27FC236}">
                <a16:creationId xmlns:a16="http://schemas.microsoft.com/office/drawing/2014/main" id="{7DA70169-8F77-4D68-8527-D5162BCD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1042415"/>
            <a:ext cx="2540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8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项目概述</a:t>
            </a:r>
            <a:endParaRPr sz="1800"/>
          </a:p>
        </p:txBody>
      </p:sp>
      <p:sp>
        <p:nvSpPr>
          <p:cNvPr id="8" name="toc-d1">
            <a:extLst xmlns:a="http://schemas.openxmlformats.org/drawingml/2006/main">
              <a:ext uri="{FF2B5EF4-FFF2-40B4-BE49-F238E27FC236}">
                <a16:creationId xmlns:a16="http://schemas.microsoft.com/office/drawing/2014/main" id="{639E92FA-28B4-4DCC-8AEA-01EE259E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1426463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背景与痛点 · 系统定位 · 技术选型与总体架构</a:t>
            </a:r>
            <a:endParaRPr sz="1100"/>
          </a:p>
        </p:txBody>
      </p:sp>
      <p:sp>
        <p:nvSpPr>
          <p:cNvPr id="9" name="toc-l1">
            <a:extLst xmlns:a="http://schemas.openxmlformats.org/drawingml/2006/main">
              <a:ext uri="{FF2B5EF4-FFF2-40B4-BE49-F238E27FC236}">
                <a16:creationId xmlns:a16="http://schemas.microsoft.com/office/drawing/2014/main" id="{7C8885FB-3722-40FE-A8C8-2254CA9F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1856231"/>
            <a:ext cx="64008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oc-n2">
            <a:extLst xmlns:a="http://schemas.openxmlformats.org/drawingml/2006/main">
              <a:ext uri="{FF2B5EF4-FFF2-40B4-BE49-F238E27FC236}">
                <a16:creationId xmlns:a16="http://schemas.microsoft.com/office/drawing/2014/main" id="{DE12970A-6528-495D-826F-80233FE9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1901952"/>
            <a:ext cx="71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2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02</a:t>
            </a:r>
            <a:endParaRPr sz="2200"/>
          </a:p>
        </p:txBody>
      </p:sp>
      <p:sp>
        <p:nvSpPr>
          <p:cNvPr id="11" name="toc-t2">
            <a:extLst xmlns:a="http://schemas.openxmlformats.org/drawingml/2006/main">
              <a:ext uri="{FF2B5EF4-FFF2-40B4-BE49-F238E27FC236}">
                <a16:creationId xmlns:a16="http://schemas.microsoft.com/office/drawing/2014/main" id="{2CBAF831-2F8E-42ED-9AFF-C9F188B9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1901952"/>
            <a:ext cx="2540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8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需求分析</a:t>
            </a:r>
            <a:endParaRPr sz="1800"/>
          </a:p>
        </p:txBody>
      </p:sp>
      <p:sp>
        <p:nvSpPr>
          <p:cNvPr id="12" name="toc-d2">
            <a:extLst xmlns:a="http://schemas.openxmlformats.org/drawingml/2006/main">
              <a:ext uri="{FF2B5EF4-FFF2-40B4-BE49-F238E27FC236}">
                <a16:creationId xmlns:a16="http://schemas.microsoft.com/office/drawing/2014/main" id="{1C8FC4A6-F789-4AFC-9FE8-1A59E0AE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22860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功能模块 · 核心业务流程与订单状态机 · 数据与非功能需求</a:t>
            </a:r>
            <a:endParaRPr sz="1100"/>
          </a:p>
        </p:txBody>
      </p:sp>
      <p:sp>
        <p:nvSpPr>
          <p:cNvPr id="13" name="toc-l2">
            <a:extLst xmlns:a="http://schemas.openxmlformats.org/drawingml/2006/main">
              <a:ext uri="{FF2B5EF4-FFF2-40B4-BE49-F238E27FC236}">
                <a16:creationId xmlns:a16="http://schemas.microsoft.com/office/drawing/2014/main" id="{3E895960-2848-44F4-891D-4A52A6FC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2715768"/>
            <a:ext cx="64008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oc-n3">
            <a:extLst xmlns:a="http://schemas.openxmlformats.org/drawingml/2006/main">
              <a:ext uri="{FF2B5EF4-FFF2-40B4-BE49-F238E27FC236}">
                <a16:creationId xmlns:a16="http://schemas.microsoft.com/office/drawing/2014/main" id="{3918B2D0-6673-4509-9BE8-4E039033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2761488"/>
            <a:ext cx="71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2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03</a:t>
            </a:r>
            <a:endParaRPr sz="2200"/>
          </a:p>
        </p:txBody>
      </p:sp>
      <p:sp>
        <p:nvSpPr>
          <p:cNvPr id="15" name="toc-t3">
            <a:extLst xmlns:a="http://schemas.openxmlformats.org/drawingml/2006/main">
              <a:ext uri="{FF2B5EF4-FFF2-40B4-BE49-F238E27FC236}">
                <a16:creationId xmlns:a16="http://schemas.microsoft.com/office/drawing/2014/main" id="{27BC07E5-1E2D-4AF7-9C87-6CFEC653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2761488"/>
            <a:ext cx="2540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8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数据库设计</a:t>
            </a:r>
            <a:endParaRPr sz="1800"/>
          </a:p>
        </p:txBody>
      </p:sp>
      <p:sp>
        <p:nvSpPr>
          <p:cNvPr id="16" name="toc-d3">
            <a:extLst xmlns:a="http://schemas.openxmlformats.org/drawingml/2006/main">
              <a:ext uri="{FF2B5EF4-FFF2-40B4-BE49-F238E27FC236}">
                <a16:creationId xmlns:a16="http://schemas.microsoft.com/office/drawing/2014/main" id="{8EEDFA1F-A3EF-439A-A8C2-9622B955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3145536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E-R 概念模型 · 关系模式 · 规范化 · 索引与完整性约束</a:t>
            </a:r>
            <a:endParaRPr sz="1100"/>
          </a:p>
        </p:txBody>
      </p:sp>
      <p:sp>
        <p:nvSpPr>
          <p:cNvPr id="17" name="toc-l3">
            <a:extLst xmlns:a="http://schemas.openxmlformats.org/drawingml/2006/main">
              <a:ext uri="{FF2B5EF4-FFF2-40B4-BE49-F238E27FC236}">
                <a16:creationId xmlns:a16="http://schemas.microsoft.com/office/drawing/2014/main" id="{6A2061AF-EF0B-413B-B247-7A90E1B8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3575304"/>
            <a:ext cx="64008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oc-n4">
            <a:extLst xmlns:a="http://schemas.openxmlformats.org/drawingml/2006/main">
              <a:ext uri="{FF2B5EF4-FFF2-40B4-BE49-F238E27FC236}">
                <a16:creationId xmlns:a16="http://schemas.microsoft.com/office/drawing/2014/main" id="{7BD79EC0-BD06-4A6F-98FF-94634076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3621024"/>
            <a:ext cx="71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2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04</a:t>
            </a:r>
            <a:endParaRPr sz="2200"/>
          </a:p>
        </p:txBody>
      </p:sp>
      <p:sp>
        <p:nvSpPr>
          <p:cNvPr id="19" name="toc-t4">
            <a:extLst xmlns:a="http://schemas.openxmlformats.org/drawingml/2006/main">
              <a:ext uri="{FF2B5EF4-FFF2-40B4-BE49-F238E27FC236}">
                <a16:creationId xmlns:a16="http://schemas.microsoft.com/office/drawing/2014/main" id="{CFF4FDF2-8A3C-453A-B76A-BE1861CA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3621024"/>
            <a:ext cx="2540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8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系统实现</a:t>
            </a:r>
            <a:endParaRPr sz="1800"/>
          </a:p>
        </p:txBody>
      </p:sp>
      <p:sp>
        <p:nvSpPr>
          <p:cNvPr id="20" name="toc-d4">
            <a:extLst xmlns:a="http://schemas.openxmlformats.org/drawingml/2006/main">
              <a:ext uri="{FF2B5EF4-FFF2-40B4-BE49-F238E27FC236}">
                <a16:creationId xmlns:a16="http://schemas.microsoft.com/office/drawing/2014/main" id="{E07D1841-F390-4B37-B91D-BE0978BB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4005072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功能界面展示 · 核心业务 SQL 与事务控制</a:t>
            </a:r>
            <a:endParaRPr sz="1100"/>
          </a:p>
        </p:txBody>
      </p:sp>
      <p:sp>
        <p:nvSpPr>
          <p:cNvPr id="21" name="toc-l4">
            <a:extLst xmlns:a="http://schemas.openxmlformats.org/drawingml/2006/main">
              <a:ext uri="{FF2B5EF4-FFF2-40B4-BE49-F238E27FC236}">
                <a16:creationId xmlns:a16="http://schemas.microsoft.com/office/drawing/2014/main" id="{52FDBD07-8CD3-4FFF-A028-0390D8A7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4434840"/>
            <a:ext cx="64008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oc-n5">
            <a:extLst xmlns:a="http://schemas.openxmlformats.org/drawingml/2006/main">
              <a:ext uri="{FF2B5EF4-FFF2-40B4-BE49-F238E27FC236}">
                <a16:creationId xmlns:a16="http://schemas.microsoft.com/office/drawing/2014/main" id="{36671847-1DAA-4B1F-9084-012BB2E1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5340096"/>
            <a:ext cx="71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2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06</a:t>
            </a:r>
            <a:endParaRPr sz="2200"/>
          </a:p>
        </p:txBody>
      </p:sp>
      <p:sp>
        <p:nvSpPr>
          <p:cNvPr id="23" name="toc-t5">
            <a:extLst xmlns:a="http://schemas.openxmlformats.org/drawingml/2006/main">
              <a:ext uri="{FF2B5EF4-FFF2-40B4-BE49-F238E27FC236}">
                <a16:creationId xmlns:a16="http://schemas.microsoft.com/office/drawing/2014/main" id="{DA420E66-9F59-42A5-859B-D2A44831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5340096"/>
            <a:ext cx="2540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8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测试与总结</a:t>
            </a:r>
            <a:endParaRPr sz="1800"/>
          </a:p>
        </p:txBody>
      </p:sp>
      <p:sp>
        <p:nvSpPr>
          <p:cNvPr id="24" name="toc-d5">
            <a:extLst xmlns:a="http://schemas.openxmlformats.org/drawingml/2006/main">
              <a:ext uri="{FF2B5EF4-FFF2-40B4-BE49-F238E27FC236}">
                <a16:creationId xmlns:a16="http://schemas.microsoft.com/office/drawing/2014/main" id="{368769CA-A2B5-4339-85F8-CBA94D5D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5724144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功能与并发测试 · 成果总结 · 不足与展望</a:t>
            </a:r>
            <a:endParaRPr sz="1100"/>
          </a:p>
        </p:txBody>
      </p:sp>
      <p:sp>
        <p:nvSpPr>
          <p:cNvPr id="25" name="toc-l5">
            <a:extLst xmlns:a="http://schemas.openxmlformats.org/drawingml/2006/main">
              <a:ext uri="{FF2B5EF4-FFF2-40B4-BE49-F238E27FC236}">
                <a16:creationId xmlns:a16="http://schemas.microsoft.com/office/drawing/2014/main" id="{C3937174-E892-4BDA-AC07-0CF6F65F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6153912"/>
            <a:ext cx="64008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oc-n5">
            <a:extLst xmlns:a="http://schemas.openxmlformats.org/drawingml/2006/main">
              <a:ext uri="{FF2B5EF4-FFF2-40B4-BE49-F238E27FC236}">
                <a16:creationId xmlns:a16="http://schemas.microsoft.com/office/drawing/2014/main" id="{8C3AFCA4-A7A7-4D7F-A223-24E9F6D66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4480560"/>
            <a:ext cx="71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2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05</a:t>
            </a:r>
            <a:endParaRPr sz="2200"/>
          </a:p>
        </p:txBody>
      </p:sp>
      <p:sp>
        <p:nvSpPr>
          <p:cNvPr id="27" name="toc-t5">
            <a:extLst xmlns:a="http://schemas.openxmlformats.org/drawingml/2006/main">
              <a:ext uri="{FF2B5EF4-FFF2-40B4-BE49-F238E27FC236}">
                <a16:creationId xmlns:a16="http://schemas.microsoft.com/office/drawing/2014/main" id="{F77CC232-ACDC-4E12-A664-79B883A4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4480560"/>
            <a:ext cx="25400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8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团队分工</a:t>
            </a:r>
            <a:endParaRPr sz="1800"/>
          </a:p>
        </p:txBody>
      </p:sp>
      <p:sp>
        <p:nvSpPr>
          <p:cNvPr id="28" name="toc-d5">
            <a:extLst xmlns:a="http://schemas.openxmlformats.org/drawingml/2006/main">
              <a:ext uri="{FF2B5EF4-FFF2-40B4-BE49-F238E27FC236}">
                <a16:creationId xmlns:a16="http://schemas.microsoft.com/office/drawing/2014/main" id="{A7B4D76E-7F00-4FEF-81D7-3F2073BE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000" y="4864608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角色职责 · 核心实现 · 产出与验证</a:t>
            </a:r>
            <a:endParaRPr sz="1100"/>
          </a:p>
        </p:txBody>
      </p:sp>
      <p:sp>
        <p:nvSpPr>
          <p:cNvPr id="29" name="toc-l5">
            <a:extLst xmlns:a="http://schemas.openxmlformats.org/drawingml/2006/main">
              <a:ext uri="{FF2B5EF4-FFF2-40B4-BE49-F238E27FC236}">
                <a16:creationId xmlns:a16="http://schemas.microsoft.com/office/drawing/2014/main" id="{3ECA690E-13A0-401B-81B1-2E0EEFCE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5294376"/>
            <a:ext cx="64008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14533508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32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iv-num">
            <a:extLst xmlns:a="http://schemas.openxmlformats.org/drawingml/2006/main">
              <a:ext uri="{FF2B5EF4-FFF2-40B4-BE49-F238E27FC236}">
                <a16:creationId xmlns:a16="http://schemas.microsoft.com/office/drawing/2014/main" id="{3FFC90D9-DCA2-4A12-888A-9C485CB9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524000"/>
            <a:ext cx="4064000" cy="215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01</a:t>
            </a:r>
            <a:endParaRPr sz="14000"/>
          </a:p>
        </p:txBody>
      </p:sp>
      <p:sp>
        <p:nvSpPr>
          <p:cNvPr id="3" name="div-line">
            <a:extLst xmlns:a="http://schemas.openxmlformats.org/drawingml/2006/main">
              <a:ext uri="{FF2B5EF4-FFF2-40B4-BE49-F238E27FC236}">
                <a16:creationId xmlns:a16="http://schemas.microsoft.com/office/drawing/2014/main" id="{58E2C608-2995-479C-AAB5-33F5E2DF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32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iv-title">
            <a:extLst xmlns:a="http://schemas.openxmlformats.org/drawingml/2006/main">
              <a:ext uri="{FF2B5EF4-FFF2-40B4-BE49-F238E27FC236}">
                <a16:creationId xmlns:a16="http://schemas.microsoft.com/office/drawing/2014/main" id="{095E42DC-0021-43CE-BD81-040D934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318000"/>
            <a:ext cx="63500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40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项目概述</a:t>
            </a:r>
            <a:endParaRPr sz="4000"/>
          </a:p>
        </p:txBody>
      </p:sp>
      <p:sp>
        <p:nvSpPr>
          <p:cNvPr id="5" name="div-sub">
            <a:extLst xmlns:a="http://schemas.openxmlformats.org/drawingml/2006/main">
              <a:ext uri="{FF2B5EF4-FFF2-40B4-BE49-F238E27FC236}">
                <a16:creationId xmlns:a16="http://schemas.microsoft.com/office/drawing/2014/main" id="{C2960622-1685-48FB-9138-9A596EE9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156200"/>
            <a:ext cx="787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">
                <a:solidFill>
                  <a:srgbClr val="B9B2A6"/>
                </a:solidFill>
                <a:latin typeface="MiSans"/>
                <a:ea typeface="MiSans"/>
                <a:cs typeface="MiSans"/>
              </a:rPr>
              <a:t>背景与需求 · 系统定位 · 技术架构</a:t>
            </a:r>
            <a:endParaRPr sz="1400"/>
          </a:p>
        </p:txBody>
      </p:sp>
      <p:sp>
        <p:nvSpPr>
          <p:cNvPr id="6" name="div-progress">
            <a:extLst xmlns:a="http://schemas.openxmlformats.org/drawingml/2006/main">
              <a:ext uri="{FF2B5EF4-FFF2-40B4-BE49-F238E27FC236}">
                <a16:creationId xmlns:a16="http://schemas.microsoft.com/office/drawing/2014/main" id="{3C02D72F-EEC8-4036-8637-4606BAAC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7620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100" spc="200">
                <a:solidFill>
                  <a:srgbClr val="8A8478"/>
                </a:solidFill>
                <a:latin typeface="MiSans"/>
                <a:ea typeface="MiSans"/>
                <a:cs typeface="MiSans"/>
              </a:rPr>
              <a:t>SECTION 01 / 06</a:t>
            </a:r>
            <a:endParaRPr sz="1100"/>
          </a:p>
        </p:txBody>
      </p:sp>
      <p:sp>
        <p:nvSpPr>
          <p:cNvPr id="7" name="div-brand">
            <a:extLst xmlns:a="http://schemas.openxmlformats.org/drawingml/2006/main">
              <a:ext uri="{FF2B5EF4-FFF2-40B4-BE49-F238E27FC236}">
                <a16:creationId xmlns:a16="http://schemas.microsoft.com/office/drawing/2014/main" id="{A543C766-B756-4F46-B1B4-7877291E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62992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济跑跑 JIRUN · 数据库课程设计答辩</a:t>
            </a:r>
            <a:endParaRPr sz="1000"/>
          </a:p>
        </p:txBody>
      </p:sp>
      <p:sp>
        <p:nvSpPr>
          <p:cNvPr id="8" name="div-page">
            <a:extLst xmlns:a="http://schemas.openxmlformats.org/drawingml/2006/main">
              <a:ext uri="{FF2B5EF4-FFF2-40B4-BE49-F238E27FC236}">
                <a16:creationId xmlns:a16="http://schemas.microsoft.com/office/drawing/2014/main" id="{CCC46C47-0534-4D5D-8F80-1695D3A7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0" y="6299200"/>
            <a:ext cx="76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3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66100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8D2B7AB3-8213-4C87-A5FC-672F642B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BFADBA14-A1AA-449F-BFC6-D0C5BF67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项目背景：校园配送需求旺盛，"最后一公里"管理缺位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998DBBC9-DD44-46E7-89E1-DA591E7F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01 · 项目概述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CC831E4D-5902-4781-B8BE-05CE0FD4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bg-intro">
            <a:extLst xmlns:a="http://schemas.openxmlformats.org/drawingml/2006/main">
              <a:ext uri="{FF2B5EF4-FFF2-40B4-BE49-F238E27FC236}">
                <a16:creationId xmlns:a16="http://schemas.microsoft.com/office/drawing/2014/main" id="{0F626671-085E-4915-AC4A-659FDFF2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244600"/>
            <a:ext cx="53340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300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代取 / 代买 / 转交需求高频分散 · 驿站人工登记 · 信息不透明 · 缺少统一记录</a:t>
            </a:r>
            <a:endParaRPr sz="1300"/>
          </a:p>
        </p:txBody>
      </p:sp>
      <p:sp>
        <p:nvSpPr>
          <p:cNvPr id="9" name="pain1-n">
            <a:extLst xmlns:a="http://schemas.openxmlformats.org/drawingml/2006/main">
              <a:ext uri="{FF2B5EF4-FFF2-40B4-BE49-F238E27FC236}">
                <a16:creationId xmlns:a16="http://schemas.microsoft.com/office/drawing/2014/main" id="{9369AF1D-9D82-449B-9B1A-EA4C8466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184400"/>
            <a:ext cx="50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0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01</a:t>
            </a:r>
            <a:endParaRPr sz="2000"/>
          </a:p>
        </p:txBody>
      </p:sp>
      <p:sp>
        <p:nvSpPr>
          <p:cNvPr id="10" name="pain1">
            <a:extLst xmlns:a="http://schemas.openxmlformats.org/drawingml/2006/main">
              <a:ext uri="{FF2B5EF4-FFF2-40B4-BE49-F238E27FC236}">
                <a16:creationId xmlns:a16="http://schemas.microsoft.com/office/drawing/2014/main" id="{96824435-6B18-4B02-BECA-FECAA4EB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600" y="2133600"/>
            <a:ext cx="472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取件效率低</a:t>
            </a:r>
            <a:endParaRPr sz="12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高峰期露天排队，包裹堆积错拿、丢失时有发生，恶劣天气下体验更差</a:t>
            </a:r>
            <a:endParaRPr sz="1250"/>
          </a:p>
        </p:txBody>
      </p:sp>
      <p:sp>
        <p:nvSpPr>
          <p:cNvPr id="11" name="pain1-line">
            <a:extLst xmlns:a="http://schemas.openxmlformats.org/drawingml/2006/main">
              <a:ext uri="{FF2B5EF4-FFF2-40B4-BE49-F238E27FC236}">
                <a16:creationId xmlns:a16="http://schemas.microsoft.com/office/drawing/2014/main" id="{53046AFB-101B-418E-AC8B-5A196B89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048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pain2-n">
            <a:extLst xmlns:a="http://schemas.openxmlformats.org/drawingml/2006/main">
              <a:ext uri="{FF2B5EF4-FFF2-40B4-BE49-F238E27FC236}">
                <a16:creationId xmlns:a16="http://schemas.microsoft.com/office/drawing/2014/main" id="{FF0F0DD0-2D6A-44A5-8EFC-ACFCCC48B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276600"/>
            <a:ext cx="50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0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02</a:t>
            </a:r>
            <a:endParaRPr sz="2000"/>
          </a:p>
        </p:txBody>
      </p:sp>
      <p:sp>
        <p:nvSpPr>
          <p:cNvPr id="13" name="pain2">
            <a:extLst xmlns:a="http://schemas.openxmlformats.org/drawingml/2006/main">
              <a:ext uri="{FF2B5EF4-FFF2-40B4-BE49-F238E27FC236}">
                <a16:creationId xmlns:a16="http://schemas.microsoft.com/office/drawing/2014/main" id="{8CB2B8F7-DFFD-489F-B173-E69B0C55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600" y="3225800"/>
            <a:ext cx="472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中转环节无系统支撑</a:t>
            </a:r>
            <a:endParaRPr sz="12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出入库靠纸质登记与人工核对，包裹状态无法实时跟踪，异常难以定位</a:t>
            </a:r>
            <a:endParaRPr sz="1250"/>
          </a:p>
        </p:txBody>
      </p:sp>
      <p:sp>
        <p:nvSpPr>
          <p:cNvPr id="14" name="pain2-line">
            <a:extLst xmlns:a="http://schemas.openxmlformats.org/drawingml/2006/main">
              <a:ext uri="{FF2B5EF4-FFF2-40B4-BE49-F238E27FC236}">
                <a16:creationId xmlns:a16="http://schemas.microsoft.com/office/drawing/2014/main" id="{127AE516-1F01-4E0B-9B98-2FA0BB69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4140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pain3-n">
            <a:extLst xmlns:a="http://schemas.openxmlformats.org/drawingml/2006/main">
              <a:ext uri="{FF2B5EF4-FFF2-40B4-BE49-F238E27FC236}">
                <a16:creationId xmlns:a16="http://schemas.microsoft.com/office/drawing/2014/main" id="{7C9B037E-FAAE-4DAE-B3FF-0A2B90FA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4368800"/>
            <a:ext cx="50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0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03</a:t>
            </a:r>
            <a:endParaRPr sz="2000"/>
          </a:p>
        </p:txBody>
      </p:sp>
      <p:sp>
        <p:nvSpPr>
          <p:cNvPr id="16" name="pain3">
            <a:extLst xmlns:a="http://schemas.openxmlformats.org/drawingml/2006/main">
              <a:ext uri="{FF2B5EF4-FFF2-40B4-BE49-F238E27FC236}">
                <a16:creationId xmlns:a16="http://schemas.microsoft.com/office/drawing/2014/main" id="{3DE5E76C-FE19-4ADE-911A-CC1598AB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600" y="4318000"/>
            <a:ext cx="472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跑腿撮合分散无序</a:t>
            </a:r>
            <a:endParaRPr sz="12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代取代买依赖群聊与口头约定，缺乏身份认证、信用与资金保障</a:t>
            </a:r>
            <a:endParaRPr sz="1250"/>
          </a:p>
        </p:txBody>
      </p:sp>
      <p:sp>
        <p:nvSpPr>
          <p:cNvPr id="17" name="bg-concl-line">
            <a:extLst xmlns:a="http://schemas.openxmlformats.org/drawingml/2006/main">
              <a:ext uri="{FF2B5EF4-FFF2-40B4-BE49-F238E27FC236}">
                <a16:creationId xmlns:a16="http://schemas.microsoft.com/office/drawing/2014/main" id="{1110DF4D-2E47-4D33-910F-1387E255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5461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A9283F84-F907-4C98-8AA4-67A83888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CFBC2BF7-359B-4C39-8880-5D85E758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5620CF62-FC97-4B93-97E6-98558B51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4 / 44</a:t>
            </a:r>
            <a:endParaRPr sz="1000"/>
          </a:p>
        </p:txBody>
      </p:sp>
      <p:sp>
        <p:nvSpPr>
          <p:cNvPr id="7" name="ph2">
            <a:extLst xmlns:a="http://schemas.openxmlformats.org/drawingml/2006/main">
              <a:ext uri="{FF2B5EF4-FFF2-40B4-BE49-F238E27FC236}">
                <a16:creationId xmlns:a16="http://schemas.microsoft.com/office/drawing/2014/main" id="{77747224-D220-4B45-4005-3516B298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3" y="2006600"/>
            <a:ext cx="600999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7716A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ph2-icon">
            <a:extLst xmlns:a="http://schemas.openxmlformats.org/drawingml/2006/main">
              <a:ext uri="{FF2B5EF4-FFF2-40B4-BE49-F238E27FC236}">
                <a16:creationId xmlns:a16="http://schemas.microsoft.com/office/drawing/2014/main" id="{A0B2868D-141F-0A64-22ED-E861BDFF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005" y="3204317"/>
            <a:ext cx="406400" cy="406400"/>
          </a:xfrm>
          <a:custGeom xmlns:a="http://schemas.openxmlformats.org/drawingml/2006/main">
            <a:rect l="l" t="t" r="r" b="b"/>
            <a:pathLst>
              <a:path w="448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384" y="32"/>
                </a:lnTo>
                <a:cubicBezTo>
                  <a:pt x="419" y="32"/>
                  <a:pt x="448" y="61"/>
                  <a:pt x="448" y="96"/>
                </a:cubicBezTo>
                <a:lnTo>
                  <a:pt x="448" y="416"/>
                </a:lnTo>
                <a:cubicBezTo>
                  <a:pt x="448" y="451"/>
                  <a:pt x="419" y="480"/>
                  <a:pt x="384" y="480"/>
                </a:cubicBezTo>
                <a:lnTo>
                  <a:pt x="64" y="480"/>
                </a:lnTo>
                <a:cubicBezTo>
                  <a:pt x="29" y="480"/>
                  <a:pt x="0" y="451"/>
                  <a:pt x="0" y="416"/>
                </a:cubicBezTo>
                <a:lnTo>
                  <a:pt x="0" y="96"/>
                </a:lnTo>
                <a:close/>
                <a:moveTo>
                  <a:pt x="64" y="80"/>
                </a:moveTo>
                <a:cubicBezTo>
                  <a:pt x="55" y="80"/>
                  <a:pt x="48" y="87"/>
                  <a:pt x="48" y="96"/>
                </a:cubicBezTo>
                <a:lnTo>
                  <a:pt x="48" y="416"/>
                </a:lnTo>
                <a:cubicBezTo>
                  <a:pt x="48" y="425"/>
                  <a:pt x="55" y="432"/>
                  <a:pt x="64" y="432"/>
                </a:cubicBezTo>
                <a:lnTo>
                  <a:pt x="384" y="432"/>
                </a:lnTo>
                <a:cubicBezTo>
                  <a:pt x="393" y="432"/>
                  <a:pt x="400" y="425"/>
                  <a:pt x="400" y="416"/>
                </a:cubicBezTo>
                <a:lnTo>
                  <a:pt x="400" y="96"/>
                </a:lnTo>
                <a:cubicBezTo>
                  <a:pt x="400" y="87"/>
                  <a:pt x="393" y="80"/>
                  <a:pt x="384" y="80"/>
                </a:cubicBezTo>
                <a:lnTo>
                  <a:pt x="64" y="80"/>
                </a:lnTo>
                <a:close/>
              </a:path>
              <a:path w="448" h="512">
                <a:moveTo>
                  <a:pt x="128" y="128"/>
                </a:moveTo>
                <a:cubicBezTo>
                  <a:pt x="146" y="128"/>
                  <a:pt x="160" y="142"/>
                  <a:pt x="160" y="160"/>
                </a:cubicBezTo>
                <a:cubicBezTo>
                  <a:pt x="160" y="178"/>
                  <a:pt x="146" y="192"/>
                  <a:pt x="128" y="192"/>
                </a:cubicBezTo>
                <a:cubicBezTo>
                  <a:pt x="110" y="192"/>
                  <a:pt x="96" y="178"/>
                  <a:pt x="96" y="160"/>
                </a:cubicBezTo>
                <a:cubicBezTo>
                  <a:pt x="96" y="142"/>
                  <a:pt x="110" y="128"/>
                  <a:pt x="128" y="128"/>
                </a:cubicBezTo>
                <a:close/>
              </a:path>
              <a:path w="448" h="512">
                <a:moveTo>
                  <a:pt x="264" y="200"/>
                </a:moveTo>
                <a:cubicBezTo>
                  <a:pt x="273" y="200"/>
                  <a:pt x="280" y="205"/>
                  <a:pt x="285" y="212"/>
                </a:cubicBezTo>
                <a:lnTo>
                  <a:pt x="365" y="348"/>
                </a:lnTo>
                <a:cubicBezTo>
                  <a:pt x="369" y="355"/>
                  <a:pt x="369" y="364"/>
                  <a:pt x="365" y="372"/>
                </a:cubicBezTo>
                <a:cubicBezTo>
                  <a:pt x="361" y="379"/>
                  <a:pt x="353" y="384"/>
                  <a:pt x="344" y="384"/>
                </a:cubicBezTo>
                <a:lnTo>
                  <a:pt x="104" y="384"/>
                </a:lnTo>
                <a:cubicBezTo>
                  <a:pt x="95" y="384"/>
                  <a:pt x="87" y="379"/>
                  <a:pt x="83" y="371"/>
                </a:cubicBezTo>
                <a:cubicBezTo>
                  <a:pt x="79" y="363"/>
                  <a:pt x="79" y="354"/>
                  <a:pt x="84" y="346"/>
                </a:cubicBezTo>
                <a:lnTo>
                  <a:pt x="140" y="266"/>
                </a:lnTo>
                <a:cubicBezTo>
                  <a:pt x="145" y="260"/>
                  <a:pt x="152" y="256"/>
                  <a:pt x="160" y="256"/>
                </a:cubicBezTo>
                <a:cubicBezTo>
                  <a:pt x="168" y="256"/>
                  <a:pt x="175" y="260"/>
                  <a:pt x="180" y="266"/>
                </a:cubicBezTo>
                <a:lnTo>
                  <a:pt x="197" y="291"/>
                </a:lnTo>
                <a:lnTo>
                  <a:pt x="243" y="212"/>
                </a:lnTo>
                <a:cubicBezTo>
                  <a:pt x="248" y="205"/>
                  <a:pt x="256" y="200"/>
                  <a:pt x="264" y="200"/>
                </a:cubicBezTo>
                <a:close/>
              </a:path>
            </a:pathLst>
          </a:custGeom>
          <a:solidFill xmlns:a="http://schemas.openxmlformats.org/drawingml/2006/main">
            <a:srgbClr val="7771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ph2-t">
            <a:extLst xmlns:a="http://schemas.openxmlformats.org/drawingml/2006/main">
              <a:ext uri="{FF2B5EF4-FFF2-40B4-BE49-F238E27FC236}">
                <a16:creationId xmlns:a16="http://schemas.microsoft.com/office/drawing/2014/main" id="{66356F97-97EB-4468-5532-8C99B63F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05" y="3763117"/>
            <a:ext cx="4191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1300" b="1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此处替换为实际界面截图</a:t>
            </a:r>
            <a:endParaRPr sz="1600"/>
          </a:p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10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建议：工作台页</a:t>
            </a:r>
            <a:endParaRPr sz="1600"/>
          </a:p>
        </p:txBody>
      </p:sp>
      <p:pic>
        <p:nvPicPr>
          <p:cNvPr id="45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47430a70b543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6010" y="2029142"/>
            <a:ext cx="5900597" cy="325405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7255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E7EB3E28-8637-4DC4-9E49-057454DA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1B1C30F4-DCF9-47CD-9367-6D5DAB7F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系统定位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ADB21679-AE5E-4D33-992A-95AF7B75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01 · 项目概述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40E718CC-B376-406D-8939-1217C21F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role-label">
            <a:extLst xmlns:a="http://schemas.openxmlformats.org/drawingml/2006/main">
              <a:ext uri="{FF2B5EF4-FFF2-40B4-BE49-F238E27FC236}">
                <a16:creationId xmlns:a16="http://schemas.microsoft.com/office/drawing/2014/main" id="{FC122FD6-FD87-4EC2-9713-67A07AE5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平台四类角色</a:t>
            </a:r>
            <a:endParaRPr sz="1200"/>
          </a:p>
        </p:txBody>
      </p:sp>
      <p:sp>
        <p:nvSpPr>
          <p:cNvPr id="7" name="role1-icon">
            <a:extLst xmlns:a="http://schemas.openxmlformats.org/drawingml/2006/main">
              <a:ext uri="{FF2B5EF4-FFF2-40B4-BE49-F238E27FC236}">
                <a16:creationId xmlns:a16="http://schemas.microsoft.com/office/drawing/2014/main" id="{F1DAAF32-F578-46A3-B031-BC6C8BDE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330200" cy="330200"/>
          </a:xfrm>
          <a:custGeom xmlns:a="http://schemas.openxmlformats.org/drawingml/2006/main">
            <a:rect l="l" t="t" r="r" b="b"/>
            <a:pathLst>
              <a:path w="448" h="512">
                <a:moveTo>
                  <a:pt x="224" y="248"/>
                </a:moveTo>
                <a:cubicBezTo>
                  <a:pt x="290" y="248"/>
                  <a:pt x="344" y="194"/>
                  <a:pt x="344" y="128"/>
                </a:cubicBezTo>
                <a:cubicBezTo>
                  <a:pt x="344" y="62"/>
                  <a:pt x="290" y="8"/>
                  <a:pt x="224" y="8"/>
                </a:cubicBezTo>
                <a:cubicBezTo>
                  <a:pt x="158" y="8"/>
                  <a:pt x="104" y="62"/>
                  <a:pt x="104" y="128"/>
                </a:cubicBezTo>
                <a:cubicBezTo>
                  <a:pt x="104" y="194"/>
                  <a:pt x="158" y="248"/>
                  <a:pt x="224" y="248"/>
                </a:cubicBezTo>
                <a:close/>
                <a:moveTo>
                  <a:pt x="194" y="304"/>
                </a:moveTo>
                <a:cubicBezTo>
                  <a:pt x="96" y="304"/>
                  <a:pt x="16" y="384"/>
                  <a:pt x="16" y="482"/>
                </a:cubicBezTo>
                <a:cubicBezTo>
                  <a:pt x="16" y="499"/>
                  <a:pt x="29" y="512"/>
                  <a:pt x="46" y="512"/>
                </a:cubicBezTo>
                <a:lnTo>
                  <a:pt x="402" y="512"/>
                </a:lnTo>
                <a:cubicBezTo>
                  <a:pt x="419" y="512"/>
                  <a:pt x="432" y="499"/>
                  <a:pt x="432" y="482"/>
                </a:cubicBezTo>
                <a:cubicBezTo>
                  <a:pt x="432" y="384"/>
                  <a:pt x="352" y="304"/>
                  <a:pt x="254" y="304"/>
                </a:cubicBezTo>
                <a:lnTo>
                  <a:pt x="194" y="304"/>
                </a:lnTo>
                <a:close/>
              </a:path>
            </a:pathLst>
          </a:cu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role1">
            <a:extLst xmlns:a="http://schemas.openxmlformats.org/drawingml/2006/main">
              <a:ext uri="{FF2B5EF4-FFF2-40B4-BE49-F238E27FC236}">
                <a16:creationId xmlns:a16="http://schemas.microsoft.com/office/drawing/2014/main" id="{B3CB4E3A-1E4B-4B56-B320-87637681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082800"/>
            <a:ext cx="241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普通用户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发布代取、代买、转交需求，在线支付，跟踪订单并评价</a:t>
            </a:r>
            <a:endParaRPr sz="1200"/>
          </a:p>
        </p:txBody>
      </p:sp>
      <p:sp>
        <p:nvSpPr>
          <p:cNvPr id="9" name="role-div1">
            <a:extLst xmlns:a="http://schemas.openxmlformats.org/drawingml/2006/main">
              <a:ext uri="{FF2B5EF4-FFF2-40B4-BE49-F238E27FC236}">
                <a16:creationId xmlns:a16="http://schemas.microsoft.com/office/drawing/2014/main" id="{A4B2591F-D2CF-4141-A872-29D402EB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1625600"/>
            <a:ext cx="12700" cy="149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role2-icon">
            <a:extLst xmlns:a="http://schemas.openxmlformats.org/drawingml/2006/main">
              <a:ext uri="{FF2B5EF4-FFF2-40B4-BE49-F238E27FC236}">
                <a16:creationId xmlns:a16="http://schemas.microsoft.com/office/drawing/2014/main" id="{FBF0193C-AD73-45A1-863F-6C795711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25600"/>
            <a:ext cx="330200" cy="330200"/>
          </a:xfrm>
          <a:custGeom xmlns:a="http://schemas.openxmlformats.org/drawingml/2006/main">
            <a:rect l="l" t="t" r="r" b="b"/>
            <a:pathLst>
              <a:path w="448" h="512">
                <a:moveTo>
                  <a:pt x="257" y="-32"/>
                </a:moveTo>
                <a:cubicBezTo>
                  <a:pt x="287" y="-32"/>
                  <a:pt x="313" y="-7"/>
                  <a:pt x="313" y="24"/>
                </a:cubicBezTo>
                <a:cubicBezTo>
                  <a:pt x="313" y="55"/>
                  <a:pt x="287" y="80"/>
                  <a:pt x="257" y="80"/>
                </a:cubicBezTo>
                <a:cubicBezTo>
                  <a:pt x="226" y="80"/>
                  <a:pt x="201" y="55"/>
                  <a:pt x="201" y="24"/>
                </a:cubicBezTo>
                <a:cubicBezTo>
                  <a:pt x="201" y="-7"/>
                  <a:pt x="226" y="-32"/>
                  <a:pt x="257" y="-32"/>
                </a:cubicBezTo>
                <a:close/>
              </a:path>
              <a:path w="448" h="512">
                <a:moveTo>
                  <a:pt x="124" y="176"/>
                </a:moveTo>
                <a:cubicBezTo>
                  <a:pt x="120" y="176"/>
                  <a:pt x="117" y="178"/>
                  <a:pt x="116" y="181"/>
                </a:cubicBezTo>
                <a:lnTo>
                  <a:pt x="94" y="236"/>
                </a:lnTo>
                <a:cubicBezTo>
                  <a:pt x="88" y="252"/>
                  <a:pt x="69" y="260"/>
                  <a:pt x="53" y="254"/>
                </a:cubicBezTo>
                <a:cubicBezTo>
                  <a:pt x="36" y="247"/>
                  <a:pt x="28" y="229"/>
                  <a:pt x="35" y="212"/>
                </a:cubicBezTo>
                <a:lnTo>
                  <a:pt x="57" y="157"/>
                </a:lnTo>
                <a:cubicBezTo>
                  <a:pt x="68" y="130"/>
                  <a:pt x="94" y="112"/>
                  <a:pt x="124" y="112"/>
                </a:cubicBezTo>
                <a:lnTo>
                  <a:pt x="221" y="112"/>
                </a:lnTo>
                <a:cubicBezTo>
                  <a:pt x="249" y="112"/>
                  <a:pt x="276" y="127"/>
                  <a:pt x="290" y="152"/>
                </a:cubicBezTo>
                <a:lnTo>
                  <a:pt x="323" y="208"/>
                </a:lnTo>
                <a:lnTo>
                  <a:pt x="384" y="208"/>
                </a:lnTo>
                <a:cubicBezTo>
                  <a:pt x="402" y="208"/>
                  <a:pt x="416" y="222"/>
                  <a:pt x="416" y="240"/>
                </a:cubicBezTo>
                <a:cubicBezTo>
                  <a:pt x="416" y="258"/>
                  <a:pt x="402" y="272"/>
                  <a:pt x="384" y="272"/>
                </a:cubicBezTo>
                <a:lnTo>
                  <a:pt x="323" y="272"/>
                </a:lnTo>
                <a:cubicBezTo>
                  <a:pt x="300" y="272"/>
                  <a:pt x="279" y="260"/>
                  <a:pt x="268" y="240"/>
                </a:cubicBezTo>
                <a:lnTo>
                  <a:pt x="258" y="223"/>
                </a:lnTo>
                <a:lnTo>
                  <a:pt x="237" y="294"/>
                </a:lnTo>
                <a:lnTo>
                  <a:pt x="312" y="316"/>
                </a:lnTo>
                <a:cubicBezTo>
                  <a:pt x="340" y="324"/>
                  <a:pt x="354" y="355"/>
                  <a:pt x="342" y="382"/>
                </a:cubicBezTo>
                <a:lnTo>
                  <a:pt x="286" y="509"/>
                </a:lnTo>
                <a:cubicBezTo>
                  <a:pt x="279" y="525"/>
                  <a:pt x="260" y="532"/>
                  <a:pt x="244" y="525"/>
                </a:cubicBezTo>
                <a:cubicBezTo>
                  <a:pt x="227" y="518"/>
                  <a:pt x="220" y="499"/>
                  <a:pt x="227" y="483"/>
                </a:cubicBezTo>
                <a:lnTo>
                  <a:pt x="277" y="372"/>
                </a:lnTo>
                <a:lnTo>
                  <a:pt x="181" y="343"/>
                </a:lnTo>
                <a:cubicBezTo>
                  <a:pt x="148" y="334"/>
                  <a:pt x="129" y="300"/>
                  <a:pt x="137" y="267"/>
                </a:cubicBezTo>
                <a:lnTo>
                  <a:pt x="160" y="176"/>
                </a:lnTo>
                <a:lnTo>
                  <a:pt x="124" y="176"/>
                </a:lnTo>
                <a:close/>
              </a:path>
              <a:path w="448" h="512">
                <a:moveTo>
                  <a:pt x="116" y="357"/>
                </a:moveTo>
                <a:cubicBezTo>
                  <a:pt x="129" y="372"/>
                  <a:pt x="146" y="383"/>
                  <a:pt x="167" y="389"/>
                </a:cubicBezTo>
                <a:lnTo>
                  <a:pt x="172" y="391"/>
                </a:lnTo>
                <a:lnTo>
                  <a:pt x="165" y="410"/>
                </a:lnTo>
                <a:cubicBezTo>
                  <a:pt x="159" y="426"/>
                  <a:pt x="149" y="441"/>
                  <a:pt x="135" y="452"/>
                </a:cubicBezTo>
                <a:lnTo>
                  <a:pt x="53" y="520"/>
                </a:lnTo>
                <a:cubicBezTo>
                  <a:pt x="39" y="531"/>
                  <a:pt x="19" y="529"/>
                  <a:pt x="8" y="516"/>
                </a:cubicBezTo>
                <a:cubicBezTo>
                  <a:pt x="-3" y="502"/>
                  <a:pt x="-1" y="482"/>
                  <a:pt x="12" y="471"/>
                </a:cubicBezTo>
                <a:lnTo>
                  <a:pt x="95" y="403"/>
                </a:lnTo>
                <a:cubicBezTo>
                  <a:pt x="99" y="399"/>
                  <a:pt x="102" y="394"/>
                  <a:pt x="104" y="389"/>
                </a:cubicBezTo>
                <a:lnTo>
                  <a:pt x="116" y="357"/>
                </a:lnTo>
                <a:close/>
              </a:path>
            </a:pathLst>
          </a:cu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role2">
            <a:extLst xmlns:a="http://schemas.openxmlformats.org/drawingml/2006/main">
              <a:ext uri="{FF2B5EF4-FFF2-40B4-BE49-F238E27FC236}">
                <a16:creationId xmlns:a16="http://schemas.microsoft.com/office/drawing/2014/main" id="{9A719BEE-854E-439F-91C6-A80877DD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82800"/>
            <a:ext cx="241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跑腿员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实名认证后接单配送，可同时承接多单，扫码出入站，结算收益，接受信用考核</a:t>
            </a:r>
            <a:endParaRPr sz="1200"/>
          </a:p>
        </p:txBody>
      </p:sp>
      <p:sp>
        <p:nvSpPr>
          <p:cNvPr id="12" name="role-div2">
            <a:extLst xmlns:a="http://schemas.openxmlformats.org/drawingml/2006/main">
              <a:ext uri="{FF2B5EF4-FFF2-40B4-BE49-F238E27FC236}">
                <a16:creationId xmlns:a16="http://schemas.microsoft.com/office/drawing/2014/main" id="{039FA89D-1AB0-4571-9829-15B9EC91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600" y="1625600"/>
            <a:ext cx="12700" cy="149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role3-icon">
            <a:extLst xmlns:a="http://schemas.openxmlformats.org/drawingml/2006/main">
              <a:ext uri="{FF2B5EF4-FFF2-40B4-BE49-F238E27FC236}">
                <a16:creationId xmlns:a16="http://schemas.microsoft.com/office/drawing/2014/main" id="{04382827-C574-4BFC-940A-C40D2C7B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625600"/>
            <a:ext cx="330200" cy="330200"/>
          </a:xfrm>
          <a:custGeom xmlns:a="http://schemas.openxmlformats.org/drawingml/2006/main">
            <a:rect l="l" t="t" r="r" b="b"/>
            <a:pathLst>
              <a:path w="576" h="512">
                <a:moveTo>
                  <a:pt x="0" y="142"/>
                </a:moveTo>
                <a:lnTo>
                  <a:pt x="0" y="480"/>
                </a:lnTo>
                <a:cubicBezTo>
                  <a:pt x="0" y="498"/>
                  <a:pt x="14" y="512"/>
                  <a:pt x="32" y="512"/>
                </a:cubicBezTo>
                <a:cubicBezTo>
                  <a:pt x="50" y="512"/>
                  <a:pt x="64" y="498"/>
                  <a:pt x="64" y="480"/>
                </a:cubicBezTo>
                <a:lnTo>
                  <a:pt x="64" y="240"/>
                </a:lnTo>
                <a:cubicBezTo>
                  <a:pt x="64" y="222"/>
                  <a:pt x="78" y="208"/>
                  <a:pt x="96" y="208"/>
                </a:cubicBezTo>
                <a:lnTo>
                  <a:pt x="480" y="208"/>
                </a:lnTo>
                <a:cubicBezTo>
                  <a:pt x="498" y="208"/>
                  <a:pt x="512" y="222"/>
                  <a:pt x="512" y="240"/>
                </a:cubicBezTo>
                <a:lnTo>
                  <a:pt x="512" y="480"/>
                </a:lnTo>
                <a:cubicBezTo>
                  <a:pt x="512" y="498"/>
                  <a:pt x="526" y="512"/>
                  <a:pt x="544" y="512"/>
                </a:cubicBezTo>
                <a:cubicBezTo>
                  <a:pt x="562" y="512"/>
                  <a:pt x="576" y="498"/>
                  <a:pt x="576" y="480"/>
                </a:cubicBezTo>
                <a:lnTo>
                  <a:pt x="576" y="142"/>
                </a:lnTo>
                <a:cubicBezTo>
                  <a:pt x="576" y="115"/>
                  <a:pt x="558" y="90"/>
                  <a:pt x="532" y="81"/>
                </a:cubicBezTo>
                <a:lnTo>
                  <a:pt x="303" y="5"/>
                </a:lnTo>
                <a:cubicBezTo>
                  <a:pt x="293" y="2"/>
                  <a:pt x="283" y="2"/>
                  <a:pt x="273" y="5"/>
                </a:cubicBezTo>
                <a:lnTo>
                  <a:pt x="44" y="81"/>
                </a:lnTo>
                <a:cubicBezTo>
                  <a:pt x="18" y="90"/>
                  <a:pt x="0" y="115"/>
                  <a:pt x="0" y="142"/>
                </a:cubicBezTo>
                <a:close/>
              </a:path>
              <a:path w="576" h="512">
                <a:moveTo>
                  <a:pt x="464" y="256"/>
                </a:moveTo>
                <a:lnTo>
                  <a:pt x="112" y="256"/>
                </a:lnTo>
                <a:lnTo>
                  <a:pt x="112" y="320"/>
                </a:lnTo>
                <a:lnTo>
                  <a:pt x="464" y="320"/>
                </a:lnTo>
                <a:lnTo>
                  <a:pt x="464" y="256"/>
                </a:lnTo>
                <a:close/>
              </a:path>
              <a:path w="576" h="512">
                <a:moveTo>
                  <a:pt x="112" y="416"/>
                </a:moveTo>
                <a:lnTo>
                  <a:pt x="464" y="416"/>
                </a:lnTo>
                <a:lnTo>
                  <a:pt x="464" y="352"/>
                </a:lnTo>
                <a:lnTo>
                  <a:pt x="112" y="352"/>
                </a:lnTo>
                <a:lnTo>
                  <a:pt x="112" y="416"/>
                </a:lnTo>
                <a:close/>
              </a:path>
              <a:path w="576" h="512">
                <a:moveTo>
                  <a:pt x="464" y="448"/>
                </a:moveTo>
                <a:lnTo>
                  <a:pt x="112" y="448"/>
                </a:lnTo>
                <a:lnTo>
                  <a:pt x="112" y="512"/>
                </a:lnTo>
                <a:lnTo>
                  <a:pt x="464" y="512"/>
                </a:lnTo>
                <a:lnTo>
                  <a:pt x="464" y="448"/>
                </a:lnTo>
                <a:close/>
              </a:path>
            </a:pathLst>
          </a:cu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role3">
            <a:extLst xmlns:a="http://schemas.openxmlformats.org/drawingml/2006/main">
              <a:ext uri="{FF2B5EF4-FFF2-40B4-BE49-F238E27FC236}">
                <a16:creationId xmlns:a16="http://schemas.microsoft.com/office/drawing/2014/main" id="{740EFBFE-F69C-4317-9609-7CB49F37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082800"/>
            <a:ext cx="241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中转站管理员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管理站点包裹入库、上架、出库，核对异常件，维护货架库存</a:t>
            </a:r>
            <a:endParaRPr sz="1200"/>
          </a:p>
        </p:txBody>
      </p:sp>
      <p:sp>
        <p:nvSpPr>
          <p:cNvPr id="15" name="role-div3">
            <a:extLst xmlns:a="http://schemas.openxmlformats.org/drawingml/2006/main">
              <a:ext uri="{FF2B5EF4-FFF2-40B4-BE49-F238E27FC236}">
                <a16:creationId xmlns:a16="http://schemas.microsoft.com/office/drawing/2014/main" id="{E35F8D84-4CF6-4279-A382-FBAB1C25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25600"/>
            <a:ext cx="12700" cy="149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role4-icon">
            <a:extLst xmlns:a="http://schemas.openxmlformats.org/drawingml/2006/main">
              <a:ext uri="{FF2B5EF4-FFF2-40B4-BE49-F238E27FC236}">
                <a16:creationId xmlns:a16="http://schemas.microsoft.com/office/drawing/2014/main" id="{AC364E9C-1D9B-4876-BC07-5FCC7F29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1625600"/>
            <a:ext cx="330200" cy="330200"/>
          </a:xfrm>
          <a:custGeom xmlns:a="http://schemas.openxmlformats.org/drawingml/2006/main">
            <a:rect l="l" t="t" r="r" b="b"/>
            <a:pathLst>
              <a:path w="576" h="512">
                <a:moveTo>
                  <a:pt x="224" y="248"/>
                </a:moveTo>
                <a:cubicBezTo>
                  <a:pt x="290" y="248"/>
                  <a:pt x="344" y="194"/>
                  <a:pt x="344" y="128"/>
                </a:cubicBezTo>
                <a:cubicBezTo>
                  <a:pt x="344" y="62"/>
                  <a:pt x="290" y="8"/>
                  <a:pt x="224" y="8"/>
                </a:cubicBezTo>
                <a:cubicBezTo>
                  <a:pt x="158" y="8"/>
                  <a:pt x="104" y="62"/>
                  <a:pt x="104" y="128"/>
                </a:cubicBezTo>
                <a:cubicBezTo>
                  <a:pt x="104" y="194"/>
                  <a:pt x="158" y="248"/>
                  <a:pt x="224" y="248"/>
                </a:cubicBezTo>
                <a:close/>
              </a:path>
              <a:path w="576" h="512">
                <a:moveTo>
                  <a:pt x="194" y="304"/>
                </a:moveTo>
                <a:cubicBezTo>
                  <a:pt x="96" y="304"/>
                  <a:pt x="16" y="384"/>
                  <a:pt x="16" y="482"/>
                </a:cubicBezTo>
                <a:cubicBezTo>
                  <a:pt x="16" y="499"/>
                  <a:pt x="29" y="512"/>
                  <a:pt x="46" y="512"/>
                </a:cubicBezTo>
                <a:lnTo>
                  <a:pt x="297" y="512"/>
                </a:lnTo>
                <a:cubicBezTo>
                  <a:pt x="261" y="469"/>
                  <a:pt x="240" y="415"/>
                  <a:pt x="240" y="356"/>
                </a:cubicBezTo>
                <a:lnTo>
                  <a:pt x="240" y="325"/>
                </a:lnTo>
                <a:cubicBezTo>
                  <a:pt x="240" y="318"/>
                  <a:pt x="241" y="311"/>
                  <a:pt x="243" y="304"/>
                </a:cubicBezTo>
                <a:lnTo>
                  <a:pt x="194" y="304"/>
                </a:lnTo>
                <a:close/>
              </a:path>
              <a:path w="576" h="512">
                <a:moveTo>
                  <a:pt x="422" y="260"/>
                </a:moveTo>
                <a:lnTo>
                  <a:pt x="310" y="297"/>
                </a:lnTo>
                <a:cubicBezTo>
                  <a:pt x="297" y="301"/>
                  <a:pt x="288" y="313"/>
                  <a:pt x="288" y="327"/>
                </a:cubicBezTo>
                <a:lnTo>
                  <a:pt x="288" y="358"/>
                </a:lnTo>
                <a:cubicBezTo>
                  <a:pt x="288" y="433"/>
                  <a:pt x="331" y="500"/>
                  <a:pt x="398" y="532"/>
                </a:cubicBezTo>
                <a:lnTo>
                  <a:pt x="417" y="541"/>
                </a:lnTo>
                <a:cubicBezTo>
                  <a:pt x="422" y="543"/>
                  <a:pt x="427" y="544"/>
                  <a:pt x="432" y="544"/>
                </a:cubicBezTo>
                <a:cubicBezTo>
                  <a:pt x="437" y="544"/>
                  <a:pt x="442" y="543"/>
                  <a:pt x="447" y="541"/>
                </a:cubicBezTo>
                <a:lnTo>
                  <a:pt x="466" y="532"/>
                </a:lnTo>
                <a:cubicBezTo>
                  <a:pt x="533" y="500"/>
                  <a:pt x="576" y="433"/>
                  <a:pt x="576" y="358"/>
                </a:cubicBezTo>
                <a:lnTo>
                  <a:pt x="576" y="327"/>
                </a:lnTo>
                <a:cubicBezTo>
                  <a:pt x="576" y="313"/>
                  <a:pt x="567" y="301"/>
                  <a:pt x="554" y="297"/>
                </a:cubicBezTo>
                <a:lnTo>
                  <a:pt x="442" y="259"/>
                </a:lnTo>
                <a:cubicBezTo>
                  <a:pt x="436" y="257"/>
                  <a:pt x="428" y="257"/>
                  <a:pt x="422" y="259"/>
                </a:cubicBezTo>
                <a:close/>
                <a:moveTo>
                  <a:pt x="445" y="489"/>
                </a:moveTo>
                <a:lnTo>
                  <a:pt x="432" y="495"/>
                </a:lnTo>
                <a:lnTo>
                  <a:pt x="432" y="307"/>
                </a:lnTo>
                <a:lnTo>
                  <a:pt x="528" y="339"/>
                </a:lnTo>
                <a:lnTo>
                  <a:pt x="528" y="358"/>
                </a:lnTo>
                <a:cubicBezTo>
                  <a:pt x="528" y="414"/>
                  <a:pt x="496" y="465"/>
                  <a:pt x="445" y="489"/>
                </a:cubicBezTo>
                <a:close/>
              </a:path>
            </a:pathLst>
          </a:cu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role4">
            <a:extLst xmlns:a="http://schemas.openxmlformats.org/drawingml/2006/main">
              <a:ext uri="{FF2B5EF4-FFF2-40B4-BE49-F238E27FC236}">
                <a16:creationId xmlns:a16="http://schemas.microsoft.com/office/drawing/2014/main" id="{761C5768-096A-46C1-B68E-B66C2788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000" y="2082800"/>
            <a:ext cx="241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系统管理员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审核跑腿员资质，监控订单，管理角色权限与经营统计</a:t>
            </a:r>
            <a:endParaRPr sz="1200"/>
          </a:p>
        </p:txBody>
      </p:sp>
      <p:sp>
        <p:nvSpPr>
          <p:cNvPr id="18" name="flow-label">
            <a:extLst xmlns:a="http://schemas.openxmlformats.org/drawingml/2006/main">
              <a:ext uri="{FF2B5EF4-FFF2-40B4-BE49-F238E27FC236}">
                <a16:creationId xmlns:a16="http://schemas.microsoft.com/office/drawing/2014/main" id="{CD2B0BF5-2AF2-4E26-B0AA-E8DF6B71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084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业务流程</a:t>
            </a:r>
            <a:endParaRPr sz="1200"/>
          </a:p>
        </p:txBody>
      </p:sp>
      <p:sp>
        <p:nvSpPr>
          <p:cNvPr id="19" name="fn1">
            <a:extLst xmlns:a="http://schemas.openxmlformats.org/drawingml/2006/main">
              <a:ext uri="{FF2B5EF4-FFF2-40B4-BE49-F238E27FC236}">
                <a16:creationId xmlns:a16="http://schemas.microsoft.com/office/drawing/2014/main" id="{717908BD-C615-4F86-88C5-97A05C3F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089400"/>
            <a:ext cx="162560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855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n1-t">
            <a:extLst xmlns:a="http://schemas.openxmlformats.org/drawingml/2006/main">
              <a:ext uri="{FF2B5EF4-FFF2-40B4-BE49-F238E27FC236}">
                <a16:creationId xmlns:a16="http://schemas.microsoft.com/office/drawing/2014/main" id="{A8BBEC55-926C-4391-B568-38DED07A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089400"/>
            <a:ext cx="16256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3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用户发布需求</a:t>
            </a:r>
            <a:endParaRPr sz="1300"/>
          </a:p>
        </p:txBody>
      </p:sp>
      <p:sp>
        <p:nvSpPr>
          <p:cNvPr id="21" name="fa1">
            <a:extLst xmlns:a="http://schemas.openxmlformats.org/drawingml/2006/main">
              <a:ext uri="{FF2B5EF4-FFF2-40B4-BE49-F238E27FC236}">
                <a16:creationId xmlns:a16="http://schemas.microsoft.com/office/drawing/2014/main" id="{A187DA91-4189-427C-B4B1-1EB42F25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200" y="4368800"/>
            <a:ext cx="533400" cy="152400"/>
          </a:xfrm>
          <a:custGeom xmlns:a="http://schemas.openxmlformats.org/drawingml/2006/main">
            <a:rect l="l" t="t" r="r" b="b"/>
            <a:pathLst>
              <a:path w="42" h="12">
                <a:moveTo>
                  <a:pt x="0" y="6"/>
                </a:moveTo>
                <a:lnTo>
                  <a:pt x="42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E8551D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fn2">
            <a:extLst xmlns:a="http://schemas.openxmlformats.org/drawingml/2006/main">
              <a:ext uri="{FF2B5EF4-FFF2-40B4-BE49-F238E27FC236}">
                <a16:creationId xmlns:a16="http://schemas.microsoft.com/office/drawing/2014/main" id="{D82537BE-5B07-4F8D-84AF-5AC8F4BD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200" y="4089400"/>
            <a:ext cx="162560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855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fn2-t">
            <a:extLst xmlns:a="http://schemas.openxmlformats.org/drawingml/2006/main">
              <a:ext uri="{FF2B5EF4-FFF2-40B4-BE49-F238E27FC236}">
                <a16:creationId xmlns:a16="http://schemas.microsoft.com/office/drawing/2014/main" id="{2D3ED4BB-ADA2-4DBA-80FA-64AB1222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200" y="4089400"/>
            <a:ext cx="16256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3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跑腿员接单</a:t>
            </a:r>
            <a:endParaRPr sz="1300"/>
          </a:p>
        </p:txBody>
      </p:sp>
      <p:sp>
        <p:nvSpPr>
          <p:cNvPr id="24" name="fa2">
            <a:extLst xmlns:a="http://schemas.openxmlformats.org/drawingml/2006/main">
              <a:ext uri="{FF2B5EF4-FFF2-40B4-BE49-F238E27FC236}">
                <a16:creationId xmlns:a16="http://schemas.microsoft.com/office/drawing/2014/main" id="{E946D511-5082-4CC4-81C3-B1F1E0BB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0" y="4368800"/>
            <a:ext cx="533400" cy="152400"/>
          </a:xfrm>
          <a:custGeom xmlns:a="http://schemas.openxmlformats.org/drawingml/2006/main">
            <a:rect l="l" t="t" r="r" b="b"/>
            <a:pathLst>
              <a:path w="42" h="12">
                <a:moveTo>
                  <a:pt x="0" y="6"/>
                </a:moveTo>
                <a:lnTo>
                  <a:pt x="42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E8551D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fn3">
            <a:extLst xmlns:a="http://schemas.openxmlformats.org/drawingml/2006/main">
              <a:ext uri="{FF2B5EF4-FFF2-40B4-BE49-F238E27FC236}">
                <a16:creationId xmlns:a16="http://schemas.microsoft.com/office/drawing/2014/main" id="{D863338E-DEED-43B8-8F50-13C73EB1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400" y="4089400"/>
            <a:ext cx="162560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855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fn3-t">
            <a:extLst xmlns:a="http://schemas.openxmlformats.org/drawingml/2006/main">
              <a:ext uri="{FF2B5EF4-FFF2-40B4-BE49-F238E27FC236}">
                <a16:creationId xmlns:a16="http://schemas.microsoft.com/office/drawing/2014/main" id="{1C93BFD4-8A94-42D1-AEBB-909A9C0B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2400" y="4089400"/>
            <a:ext cx="16256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3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中转站入库</a:t>
            </a:r>
            <a:endParaRPr sz="1300"/>
          </a:p>
        </p:txBody>
      </p:sp>
      <p:sp>
        <p:nvSpPr>
          <p:cNvPr id="27" name="fa3">
            <a:extLst xmlns:a="http://schemas.openxmlformats.org/drawingml/2006/main">
              <a:ext uri="{FF2B5EF4-FFF2-40B4-BE49-F238E27FC236}">
                <a16:creationId xmlns:a16="http://schemas.microsoft.com/office/drawing/2014/main" id="{F983C663-D39F-484F-968B-9B25F562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600" y="4368800"/>
            <a:ext cx="533400" cy="152400"/>
          </a:xfrm>
          <a:custGeom xmlns:a="http://schemas.openxmlformats.org/drawingml/2006/main">
            <a:rect l="l" t="t" r="r" b="b"/>
            <a:pathLst>
              <a:path w="42" h="12">
                <a:moveTo>
                  <a:pt x="0" y="6"/>
                </a:moveTo>
                <a:lnTo>
                  <a:pt x="42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E8551D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fn4">
            <a:extLst xmlns:a="http://schemas.openxmlformats.org/drawingml/2006/main">
              <a:ext uri="{FF2B5EF4-FFF2-40B4-BE49-F238E27FC236}">
                <a16:creationId xmlns:a16="http://schemas.microsoft.com/office/drawing/2014/main" id="{B31EC3B9-756E-4C92-A6B0-B8736D8D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4600" y="4089400"/>
            <a:ext cx="162560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E8551D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fn4-t">
            <a:extLst xmlns:a="http://schemas.openxmlformats.org/drawingml/2006/main">
              <a:ext uri="{FF2B5EF4-FFF2-40B4-BE49-F238E27FC236}">
                <a16:creationId xmlns:a16="http://schemas.microsoft.com/office/drawing/2014/main" id="{9628AE11-9E08-4509-A634-B05CC5BC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4600" y="4089400"/>
            <a:ext cx="16256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3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出库配送</a:t>
            </a:r>
            <a:endParaRPr sz="1300"/>
          </a:p>
        </p:txBody>
      </p:sp>
      <p:sp>
        <p:nvSpPr>
          <p:cNvPr id="30" name="fa4">
            <a:extLst xmlns:a="http://schemas.openxmlformats.org/drawingml/2006/main">
              <a:ext uri="{FF2B5EF4-FFF2-40B4-BE49-F238E27FC236}">
                <a16:creationId xmlns:a16="http://schemas.microsoft.com/office/drawing/2014/main" id="{B7BB69C5-BDE7-4B30-AC99-523DA7E1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800" y="4368800"/>
            <a:ext cx="533400" cy="152400"/>
          </a:xfrm>
          <a:custGeom xmlns:a="http://schemas.openxmlformats.org/drawingml/2006/main">
            <a:rect l="l" t="t" r="r" b="b"/>
            <a:pathLst>
              <a:path w="42" h="12">
                <a:moveTo>
                  <a:pt x="0" y="6"/>
                </a:moveTo>
                <a:lnTo>
                  <a:pt x="42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E8551D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fn5">
            <a:extLst xmlns:a="http://schemas.openxmlformats.org/drawingml/2006/main">
              <a:ext uri="{FF2B5EF4-FFF2-40B4-BE49-F238E27FC236}">
                <a16:creationId xmlns:a16="http://schemas.microsoft.com/office/drawing/2014/main" id="{FC69CF33-F80A-41B9-BC43-FCC7C06D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6800" y="4089400"/>
            <a:ext cx="1727200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fn5-t">
            <a:extLst xmlns:a="http://schemas.openxmlformats.org/drawingml/2006/main">
              <a:ext uri="{FF2B5EF4-FFF2-40B4-BE49-F238E27FC236}">
                <a16:creationId xmlns:a16="http://schemas.microsoft.com/office/drawing/2014/main" id="{CBC4EB02-3658-4401-8B56-D14C1DEC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6800" y="4089400"/>
            <a:ext cx="17272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r>
              <a:rPr sz="13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签收支付评价</a:t>
            </a:r>
            <a:endParaRPr sz="1300"/>
          </a:p>
        </p:txBody>
      </p:sp>
      <p:sp>
        <p:nvSpPr>
          <p:cNvPr id="33" name="flow-note-icon">
            <a:extLst xmlns:a="http://schemas.openxmlformats.org/drawingml/2006/main">
              <a:ext uri="{FF2B5EF4-FFF2-40B4-BE49-F238E27FC236}">
                <a16:creationId xmlns:a16="http://schemas.microsoft.com/office/drawing/2014/main" id="{A16BFCA5-F919-4D6A-90FF-3E2BD228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5207000"/>
            <a:ext cx="203200" cy="203200"/>
          </a:xfrm>
          <a:custGeom xmlns:a="http://schemas.openxmlformats.org/drawingml/2006/main">
            <a:rect l="l" t="t" r="r" b="b"/>
            <a:pathLst>
              <a:path w="512" h="512">
                <a:moveTo>
                  <a:pt x="480" y="192"/>
                </a:moveTo>
                <a:lnTo>
                  <a:pt x="488" y="192"/>
                </a:lnTo>
                <a:cubicBezTo>
                  <a:pt x="501" y="192"/>
                  <a:pt x="512" y="181"/>
                  <a:pt x="512" y="168"/>
                </a:cubicBezTo>
                <a:lnTo>
                  <a:pt x="512" y="24"/>
                </a:lnTo>
                <a:cubicBezTo>
                  <a:pt x="512" y="14"/>
                  <a:pt x="506" y="6"/>
                  <a:pt x="497" y="2"/>
                </a:cubicBezTo>
                <a:cubicBezTo>
                  <a:pt x="488" y="-2"/>
                  <a:pt x="478" y="0"/>
                  <a:pt x="471" y="7"/>
                </a:cubicBezTo>
                <a:lnTo>
                  <a:pt x="419" y="59"/>
                </a:lnTo>
                <a:cubicBezTo>
                  <a:pt x="375" y="22"/>
                  <a:pt x="318" y="0"/>
                  <a:pt x="256" y="0"/>
                </a:cubicBezTo>
                <a:cubicBezTo>
                  <a:pt x="127" y="0"/>
                  <a:pt x="20" y="95"/>
                  <a:pt x="3" y="220"/>
                </a:cubicBezTo>
                <a:cubicBezTo>
                  <a:pt x="0" y="237"/>
                  <a:pt x="12" y="253"/>
                  <a:pt x="30" y="256"/>
                </a:cubicBezTo>
                <a:cubicBezTo>
                  <a:pt x="47" y="258"/>
                  <a:pt x="63" y="246"/>
                  <a:pt x="66" y="229"/>
                </a:cubicBezTo>
                <a:cubicBezTo>
                  <a:pt x="79" y="136"/>
                  <a:pt x="159" y="64"/>
                  <a:pt x="256" y="64"/>
                </a:cubicBezTo>
                <a:cubicBezTo>
                  <a:pt x="300" y="64"/>
                  <a:pt x="341" y="79"/>
                  <a:pt x="374" y="104"/>
                </a:cubicBezTo>
                <a:lnTo>
                  <a:pt x="327" y="151"/>
                </a:lnTo>
                <a:cubicBezTo>
                  <a:pt x="320" y="158"/>
                  <a:pt x="318" y="168"/>
                  <a:pt x="322" y="177"/>
                </a:cubicBezTo>
                <a:cubicBezTo>
                  <a:pt x="326" y="186"/>
                  <a:pt x="334" y="192"/>
                  <a:pt x="344" y="192"/>
                </a:cubicBezTo>
                <a:lnTo>
                  <a:pt x="480" y="192"/>
                </a:lnTo>
                <a:close/>
                <a:moveTo>
                  <a:pt x="510" y="293"/>
                </a:moveTo>
                <a:cubicBezTo>
                  <a:pt x="512" y="275"/>
                  <a:pt x="500" y="259"/>
                  <a:pt x="482" y="256"/>
                </a:cubicBezTo>
                <a:cubicBezTo>
                  <a:pt x="465" y="254"/>
                  <a:pt x="449" y="266"/>
                  <a:pt x="446" y="283"/>
                </a:cubicBezTo>
                <a:cubicBezTo>
                  <a:pt x="433" y="376"/>
                  <a:pt x="353" y="448"/>
                  <a:pt x="256" y="448"/>
                </a:cubicBezTo>
                <a:cubicBezTo>
                  <a:pt x="212" y="448"/>
                  <a:pt x="171" y="433"/>
                  <a:pt x="138" y="408"/>
                </a:cubicBezTo>
                <a:lnTo>
                  <a:pt x="185" y="361"/>
                </a:lnTo>
                <a:cubicBezTo>
                  <a:pt x="192" y="354"/>
                  <a:pt x="194" y="344"/>
                  <a:pt x="190" y="335"/>
                </a:cubicBezTo>
                <a:cubicBezTo>
                  <a:pt x="186" y="326"/>
                  <a:pt x="178" y="320"/>
                  <a:pt x="168" y="320"/>
                </a:cubicBezTo>
                <a:lnTo>
                  <a:pt x="24" y="320"/>
                </a:lnTo>
                <a:cubicBezTo>
                  <a:pt x="11" y="320"/>
                  <a:pt x="0" y="331"/>
                  <a:pt x="0" y="344"/>
                </a:cubicBezTo>
                <a:lnTo>
                  <a:pt x="0" y="488"/>
                </a:lnTo>
                <a:cubicBezTo>
                  <a:pt x="0" y="498"/>
                  <a:pt x="6" y="507"/>
                  <a:pt x="15" y="510"/>
                </a:cubicBezTo>
                <a:cubicBezTo>
                  <a:pt x="24" y="514"/>
                  <a:pt x="34" y="512"/>
                  <a:pt x="41" y="505"/>
                </a:cubicBezTo>
                <a:lnTo>
                  <a:pt x="93" y="453"/>
                </a:lnTo>
                <a:cubicBezTo>
                  <a:pt x="137" y="490"/>
                  <a:pt x="194" y="512"/>
                  <a:pt x="256" y="512"/>
                </a:cubicBezTo>
                <a:cubicBezTo>
                  <a:pt x="385" y="512"/>
                  <a:pt x="492" y="417"/>
                  <a:pt x="509" y="293"/>
                </a:cubicBezTo>
                <a:close/>
              </a:path>
            </a:pathLst>
          </a:custGeom>
          <a:solidFill xmlns:a="http://schemas.openxmlformats.org/drawingml/2006/main">
            <a:srgbClr val="7771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flow-note">
            <a:extLst xmlns:a="http://schemas.openxmlformats.org/drawingml/2006/main">
              <a:ext uri="{FF2B5EF4-FFF2-40B4-BE49-F238E27FC236}">
                <a16:creationId xmlns:a16="http://schemas.microsoft.com/office/drawing/2014/main" id="{084E5633-BF75-4A88-B4D7-795D8DC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5156200"/>
            <a:ext cx="108712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评价回写信用分 · 异常件管理员介入 · 状态 / 资金 / 信用一致性由数据库</a:t>
            </a: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后端</a:t>
            </a: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保障</a:t>
            </a:r>
            <a:endParaRPr sz="1200"/>
          </a:p>
        </p:txBody>
      </p:sp>
      <p:sp>
        <p:nvSpPr>
          <p:cNvPr id="35" name="ft-line">
            <a:extLst xmlns:a="http://schemas.openxmlformats.org/drawingml/2006/main">
              <a:ext uri="{FF2B5EF4-FFF2-40B4-BE49-F238E27FC236}">
                <a16:creationId xmlns:a16="http://schemas.microsoft.com/office/drawing/2014/main" id="{55392FB2-159D-4A18-B847-5D821D7B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ft-brand">
            <a:extLst xmlns:a="http://schemas.openxmlformats.org/drawingml/2006/main">
              <a:ext uri="{FF2B5EF4-FFF2-40B4-BE49-F238E27FC236}">
                <a16:creationId xmlns:a16="http://schemas.microsoft.com/office/drawing/2014/main" id="{D1D1BFAA-BCD3-4FC0-9BE9-8062C377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37" name="ft-page">
            <a:extLst xmlns:a="http://schemas.openxmlformats.org/drawingml/2006/main">
              <a:ext uri="{FF2B5EF4-FFF2-40B4-BE49-F238E27FC236}">
                <a16:creationId xmlns:a16="http://schemas.microsoft.com/office/drawing/2014/main" id="{C174C0B2-11B2-45D5-B66B-0C7F2ADE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5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318122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hd-title">
            <a:extLst xmlns:a="http://schemas.openxmlformats.org/drawingml/2006/main">
              <a:ext uri="{FF2B5EF4-FFF2-40B4-BE49-F238E27FC236}">
                <a16:creationId xmlns:a16="http://schemas.microsoft.com/office/drawing/2014/main" id="{6C897C76-4940-2B00-E4DC-D1A88BFE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技术架构</a:t>
            </a:r>
            <a:endParaRPr sz="2500"/>
          </a:p>
        </p:txBody>
      </p:sp>
      <p:sp>
        <p:nvSpPr>
          <p:cNvPr id="57" name="hd-sec">
            <a:extLst xmlns:a="http://schemas.openxmlformats.org/drawingml/2006/main">
              <a:ext uri="{FF2B5EF4-FFF2-40B4-BE49-F238E27FC236}">
                <a16:creationId xmlns:a16="http://schemas.microsoft.com/office/drawing/2014/main" id="{5B061668-EB2D-6BE3-3EBC-879F8D83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01 · 项目概述</a:t>
            </a:r>
            <a:endParaRPr sz="1100"/>
          </a:p>
        </p:txBody>
      </p:sp>
      <p:sp>
        <p:nvSpPr>
          <p:cNvPr id="58" name="hd-line">
            <a:extLst xmlns:a="http://schemas.openxmlformats.org/drawingml/2006/main">
              <a:ext uri="{FF2B5EF4-FFF2-40B4-BE49-F238E27FC236}">
                <a16:creationId xmlns:a16="http://schemas.microsoft.com/office/drawing/2014/main" id="{3CE0CEEB-A854-783F-F8C1-308EFD02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layer1">
            <a:extLst xmlns:a="http://schemas.openxmlformats.org/drawingml/2006/main">
              <a:ext uri="{FF2B5EF4-FFF2-40B4-BE49-F238E27FC236}">
                <a16:creationId xmlns:a16="http://schemas.microsoft.com/office/drawing/2014/main" id="{9A06A9C1-D8C6-86FB-6FEE-F9FFD88C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9690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0203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layer1-tag">
            <a:extLst xmlns:a="http://schemas.openxmlformats.org/drawingml/2006/main">
              <a:ext uri="{FF2B5EF4-FFF2-40B4-BE49-F238E27FC236}">
                <a16:creationId xmlns:a16="http://schemas.microsoft.com/office/drawing/2014/main" id="{DBB75117-7130-B210-84BA-4C9A8822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635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1" name="layer1-t">
            <a:extLst xmlns:a="http://schemas.openxmlformats.org/drawingml/2006/main">
              <a:ext uri="{FF2B5EF4-FFF2-40B4-BE49-F238E27FC236}">
                <a16:creationId xmlns:a16="http://schemas.microsoft.com/office/drawing/2014/main" id="{DE93E5B0-21E9-D9FE-7127-69651A81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20800"/>
            <a:ext cx="5537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30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表现层</a:t>
            </a: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　Presentation</a:t>
            </a:r>
            <a:endParaRPr sz="1600"/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0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Razor Views · ViewModels 表单 / 展示模型 · wwwroot 静态资源</a:t>
            </a:r>
            <a:endParaRPr sz="1600"/>
          </a:p>
        </p:txBody>
      </p:sp>
      <p:sp>
        <p:nvSpPr>
          <p:cNvPr id="62" name="ar1">
            <a:extLst xmlns:a="http://schemas.openxmlformats.org/drawingml/2006/main">
              <a:ext uri="{FF2B5EF4-FFF2-40B4-BE49-F238E27FC236}">
                <a16:creationId xmlns:a16="http://schemas.microsoft.com/office/drawing/2014/main" id="{0A094C04-B63A-4EA0-2C57-FDEB9A0C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2032000"/>
            <a:ext cx="177800" cy="152400"/>
          </a:xfrm>
          <a:custGeom xmlns:a="http://schemas.openxmlformats.org/drawingml/2006/main">
            <a:rect l="l" t="t" r="r" b="b"/>
            <a:pathLst>
              <a:path w="14" h="12">
                <a:moveTo>
                  <a:pt x="7" y="0"/>
                </a:moveTo>
                <a:lnTo>
                  <a:pt x="7" y="1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B4FB3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3" name="layer2">
            <a:extLst xmlns:a="http://schemas.openxmlformats.org/drawingml/2006/main">
              <a:ext uri="{FF2B5EF4-FFF2-40B4-BE49-F238E27FC236}">
                <a16:creationId xmlns:a16="http://schemas.microsoft.com/office/drawing/2014/main" id="{4FC18C00-89DF-5D9D-4102-EFCE9F0D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209800"/>
            <a:ext cx="59690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0203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layer2-tag">
            <a:extLst xmlns:a="http://schemas.openxmlformats.org/drawingml/2006/main">
              <a:ext uri="{FF2B5EF4-FFF2-40B4-BE49-F238E27FC236}">
                <a16:creationId xmlns:a16="http://schemas.microsoft.com/office/drawing/2014/main" id="{219BDBDC-3AE2-8334-D309-330247F6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209800"/>
            <a:ext cx="635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03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5" name="layer2-t">
            <a:extLst xmlns:a="http://schemas.openxmlformats.org/drawingml/2006/main">
              <a:ext uri="{FF2B5EF4-FFF2-40B4-BE49-F238E27FC236}">
                <a16:creationId xmlns:a16="http://schemas.microsoft.com/office/drawing/2014/main" id="{A4989901-270F-8FBC-2FD1-A47CDD3F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11400"/>
            <a:ext cx="5537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30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控制层</a:t>
            </a: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　Controllers</a:t>
            </a:r>
            <a:endParaRPr sz="1600"/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0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接收请求、绑定参数、调用 Service 接口、返回 View / Redirect</a:t>
            </a:r>
            <a:endParaRPr sz="1600"/>
          </a:p>
        </p:txBody>
      </p:sp>
      <p:sp>
        <p:nvSpPr>
          <p:cNvPr id="66" name="ar2">
            <a:extLst xmlns:a="http://schemas.openxmlformats.org/drawingml/2006/main">
              <a:ext uri="{FF2B5EF4-FFF2-40B4-BE49-F238E27FC236}">
                <a16:creationId xmlns:a16="http://schemas.microsoft.com/office/drawing/2014/main" id="{7A111BAC-095B-8091-4C7C-8D06CDD1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3022600"/>
            <a:ext cx="177800" cy="152400"/>
          </a:xfrm>
          <a:custGeom xmlns:a="http://schemas.openxmlformats.org/drawingml/2006/main">
            <a:rect l="l" t="t" r="r" b="b"/>
            <a:pathLst>
              <a:path w="14" h="12">
                <a:moveTo>
                  <a:pt x="7" y="0"/>
                </a:moveTo>
                <a:lnTo>
                  <a:pt x="7" y="1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B4FB3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7" name="layer3">
            <a:extLst xmlns:a="http://schemas.openxmlformats.org/drawingml/2006/main">
              <a:ext uri="{FF2B5EF4-FFF2-40B4-BE49-F238E27FC236}">
                <a16:creationId xmlns:a16="http://schemas.microsoft.com/office/drawing/2014/main" id="{BB1750DF-5B06-D7CC-EE94-E46AEDD5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200400"/>
            <a:ext cx="59690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B4FB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8" name="layer3-tag">
            <a:extLst xmlns:a="http://schemas.openxmlformats.org/drawingml/2006/main">
              <a:ext uri="{FF2B5EF4-FFF2-40B4-BE49-F238E27FC236}">
                <a16:creationId xmlns:a16="http://schemas.microsoft.com/office/drawing/2014/main" id="{CB824A45-FC11-C000-6B98-83D4C061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200400"/>
            <a:ext cx="635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FB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9" name="layer3-t">
            <a:extLst xmlns:a="http://schemas.openxmlformats.org/drawingml/2006/main">
              <a:ext uri="{FF2B5EF4-FFF2-40B4-BE49-F238E27FC236}">
                <a16:creationId xmlns:a16="http://schemas.microsoft.com/office/drawing/2014/main" id="{384D0156-1B53-93FF-6F1E-D6387B07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2000"/>
            <a:ext cx="5537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30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业务层</a:t>
            </a: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　Services / Interfaces</a:t>
            </a:r>
            <a:endParaRPr sz="1600"/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0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业务规则、状态判断、事务边界控制、中文显示名转换</a:t>
            </a:r>
            <a:endParaRPr sz="1600"/>
          </a:p>
        </p:txBody>
      </p:sp>
      <p:sp>
        <p:nvSpPr>
          <p:cNvPr id="70" name="ar3">
            <a:extLst xmlns:a="http://schemas.openxmlformats.org/drawingml/2006/main">
              <a:ext uri="{FF2B5EF4-FFF2-40B4-BE49-F238E27FC236}">
                <a16:creationId xmlns:a16="http://schemas.microsoft.com/office/drawing/2014/main" id="{8236195A-C44E-A81D-F666-D0E5A733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4013200"/>
            <a:ext cx="177800" cy="152400"/>
          </a:xfrm>
          <a:custGeom xmlns:a="http://schemas.openxmlformats.org/drawingml/2006/main">
            <a:rect l="l" t="t" r="r" b="b"/>
            <a:pathLst>
              <a:path w="14" h="12">
                <a:moveTo>
                  <a:pt x="7" y="0"/>
                </a:moveTo>
                <a:lnTo>
                  <a:pt x="7" y="1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B4FB3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1" name="layer4">
            <a:extLst xmlns:a="http://schemas.openxmlformats.org/drawingml/2006/main">
              <a:ext uri="{FF2B5EF4-FFF2-40B4-BE49-F238E27FC236}">
                <a16:creationId xmlns:a16="http://schemas.microsoft.com/office/drawing/2014/main" id="{FDE48483-3FD0-45AD-CD84-D9F7D3D5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91000"/>
            <a:ext cx="59690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10203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2" name="layer4-tag">
            <a:extLst xmlns:a="http://schemas.openxmlformats.org/drawingml/2006/main">
              <a:ext uri="{FF2B5EF4-FFF2-40B4-BE49-F238E27FC236}">
                <a16:creationId xmlns:a16="http://schemas.microsoft.com/office/drawing/2014/main" id="{AF3225E8-154B-BD7E-511F-F3C8E4C7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91000"/>
            <a:ext cx="635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3" name="layer4-t">
            <a:extLst xmlns:a="http://schemas.openxmlformats.org/drawingml/2006/main">
              <a:ext uri="{FF2B5EF4-FFF2-40B4-BE49-F238E27FC236}">
                <a16:creationId xmlns:a16="http://schemas.microsoft.com/office/drawing/2014/main" id="{84782742-4B4C-2037-FD23-12A79F2A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2600"/>
            <a:ext cx="5537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30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持久层</a:t>
            </a: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　Repositories / Persistence</a:t>
            </a:r>
            <a:endParaRPr sz="1600"/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0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仓储接口、参数化 SQL、FOR UPDATE 行锁、Oracle 连接工厂</a:t>
            </a:r>
            <a:endParaRPr sz="1600"/>
          </a:p>
        </p:txBody>
      </p:sp>
      <p:sp>
        <p:nvSpPr>
          <p:cNvPr id="74" name="ar4">
            <a:extLst xmlns:a="http://schemas.openxmlformats.org/drawingml/2006/main">
              <a:ext uri="{FF2B5EF4-FFF2-40B4-BE49-F238E27FC236}">
                <a16:creationId xmlns:a16="http://schemas.microsoft.com/office/drawing/2014/main" id="{EE182D49-3997-8967-C9E1-FD203704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5003800"/>
            <a:ext cx="177800" cy="152400"/>
          </a:xfrm>
          <a:custGeom xmlns:a="http://schemas.openxmlformats.org/drawingml/2006/main">
            <a:rect l="l" t="t" r="r" b="b"/>
            <a:pathLst>
              <a:path w="14" h="12">
                <a:moveTo>
                  <a:pt x="7" y="0"/>
                </a:moveTo>
                <a:lnTo>
                  <a:pt x="7" y="1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B4FB3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5" name="layer5">
            <a:extLst xmlns:a="http://schemas.openxmlformats.org/drawingml/2006/main">
              <a:ext uri="{FF2B5EF4-FFF2-40B4-BE49-F238E27FC236}">
                <a16:creationId xmlns:a16="http://schemas.microsoft.com/office/drawing/2014/main" id="{294F35F5-4331-2B54-B1AB-C7949CEB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5181600"/>
            <a:ext cx="59690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" name="layer5-t">
            <a:extLst xmlns:a="http://schemas.openxmlformats.org/drawingml/2006/main">
              <a:ext uri="{FF2B5EF4-FFF2-40B4-BE49-F238E27FC236}">
                <a16:creationId xmlns:a16="http://schemas.microsoft.com/office/drawing/2014/main" id="{111B7937-2C42-08DA-134C-5A91D30B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83200"/>
            <a:ext cx="5537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300" b="1">
                <a:solidFill>
                  <a:schemeClr val="bg1"/>
                </a:solidFill>
                <a:latin typeface="MiSans"/>
                <a:ea typeface="MiSans"/>
                <a:cs typeface="MiSans"/>
              </a:rPr>
              <a:t>数据库层</a:t>
            </a:r>
            <a:r>
              <a:rPr sz="1000">
                <a:solidFill>
                  <a:schemeClr val="bg1"/>
                </a:solidFill>
                <a:latin typeface="MiSans"/>
                <a:ea typeface="MiSans"/>
                <a:cs typeface="MiSans"/>
              </a:rPr>
              <a:t>　Oracle 19c</a:t>
            </a:r>
            <a:endParaRPr sz="1600">
              <a:solidFill>
                <a:schemeClr val="bg1"/>
              </a:solidFill>
            </a:endParaRPr>
          </a:p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050">
                <a:solidFill>
                  <a:schemeClr val="bg1"/>
                </a:solidFill>
                <a:latin typeface="MiSans"/>
                <a:ea typeface="MiSans"/>
                <a:cs typeface="MiSans"/>
              </a:rPr>
              <a:t>24 张关系表 · 主外键 / 唯一 / 检查约束 · 函数唯一索引</a:t>
            </a:r>
            <a:endParaRPr sz="1600">
              <a:solidFill>
                <a:schemeClr val="bg1"/>
              </a:solidFill>
            </a:endParaRPr>
          </a:p>
        </p:txBody>
      </p:sp>
      <p:sp>
        <p:nvSpPr>
          <p:cNvPr id="77" name="stack-label">
            <a:extLst xmlns:a="http://schemas.openxmlformats.org/drawingml/2006/main">
              <a:ext uri="{FF2B5EF4-FFF2-40B4-BE49-F238E27FC236}">
                <a16:creationId xmlns:a16="http://schemas.microsoft.com/office/drawing/2014/main" id="{EC5F103F-BF56-3A67-DE45-318FE3C2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1219200"/>
            <a:ext cx="469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调用方向与边界约束</a:t>
            </a:r>
            <a:endParaRPr sz="1200"/>
          </a:p>
        </p:txBody>
      </p:sp>
      <p:sp>
        <p:nvSpPr>
          <p:cNvPr id="78" name="stack-body">
            <a:extLst xmlns:a="http://schemas.openxmlformats.org/drawingml/2006/main">
              <a:ext uri="{FF2B5EF4-FFF2-40B4-BE49-F238E27FC236}">
                <a16:creationId xmlns:a16="http://schemas.microsoft.com/office/drawing/2014/main" id="{01422C9E-5164-96D4-9077-1E7B6208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1574800"/>
            <a:ext cx="4699000" cy="299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60000"/>
              </a:lnSpc>
              <a:buNone/>
            </a:pPr>
            <a:r>
              <a:rPr sz="1050">
                <a:solidFill>
                  <a:srgbClr val="102033"/>
                </a:solidFill>
                <a:latin typeface="JetBrains Mono"/>
                <a:ea typeface="JetBrains Mono"/>
                <a:cs typeface="JetBrains Mono"/>
              </a:rPr>
              <a:t>View → Controller → IService → Service</a:t>
            </a:r>
            <a:endParaRPr sz="1150"/>
          </a:p>
          <a:p xmlns:a="http://schemas.openxmlformats.org/drawingml/2006/main">
            <a:pPr>
              <a:lnSpc>
                <a:spcPct val="160000"/>
              </a:lnSpc>
              <a:buNone/>
            </a:pPr>
            <a:r>
              <a:rPr sz="1050">
                <a:solidFill>
                  <a:srgbClr val="102033"/>
                </a:solidFill>
                <a:latin typeface="JetBrains Mono"/>
                <a:ea typeface="JetBrains Mono"/>
                <a:cs typeface="JetBrains Mono"/>
              </a:rPr>
              <a:t>→ IRepository → Repository → Oracle</a:t>
            </a:r>
            <a:endParaRPr sz="1150"/>
          </a:p>
          <a:p xmlns:a="http://schemas.openxmlformats.org/drawingml/2006/main">
            <a:pPr>
              <a:lnSpc>
                <a:spcPct val="160000"/>
              </a:lnSpc>
              <a:spcBef>
                <a:spcPts val="1000"/>
              </a:spcBef>
              <a:buNone/>
            </a:pPr>
            <a:r>
              <a:rPr sz="11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各层接口解耦 · 实现可替换</a:t>
            </a:r>
            <a:endParaRPr sz="1150"/>
          </a:p>
          <a:p xmlns:a="http://schemas.openxmlformats.org/drawingml/2006/main">
            <a:pPr>
              <a:lnSpc>
                <a:spcPct val="160000"/>
              </a:lnSpc>
              <a:spcBef>
                <a:spcPts val="1000"/>
              </a:spcBef>
              <a:buNone/>
            </a:pPr>
            <a:r>
              <a:rPr sz="115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运行环境</a:t>
            </a:r>
            <a:r>
              <a:rPr sz="1150">
                <a:solidFill>
                  <a:srgbClr val="102033"/>
                </a:solidFill>
                <a:latin typeface="MiSans"/>
                <a:ea typeface="MiSans"/>
                <a:cs typeface="MiSans"/>
              </a:rPr>
              <a:t>　.NET SDK 9 · net9.0</a:t>
            </a:r>
            <a:endParaRPr sz="1150"/>
          </a:p>
          <a:p xmlns:a="http://schemas.openxmlformats.org/drawingml/2006/main">
            <a:pPr>
              <a:lnSpc>
                <a:spcPct val="160000"/>
              </a:lnSpc>
              <a:buNone/>
            </a:pPr>
            <a:r>
              <a:rPr sz="115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测试工程</a:t>
            </a:r>
            <a:r>
              <a:rPr sz="1150">
                <a:solidFill>
                  <a:srgbClr val="102033"/>
                </a:solidFill>
                <a:latin typeface="MiSans"/>
                <a:ea typeface="MiSans"/>
                <a:cs typeface="MiSans"/>
              </a:rPr>
              <a:t>　xUnit + 仓储接口测试替身</a:t>
            </a:r>
            <a:endParaRPr sz="1150"/>
          </a:p>
          <a:p xmlns:a="http://schemas.openxmlformats.org/drawingml/2006/main">
            <a:pPr>
              <a:lnSpc>
                <a:spcPct val="160000"/>
              </a:lnSpc>
              <a:buNone/>
            </a:pPr>
            <a:r>
              <a:rPr sz="115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数据口径</a:t>
            </a:r>
            <a:r>
              <a:rPr sz="1150">
                <a:solidFill>
                  <a:srgbClr val="102033"/>
                </a:solidFill>
                <a:latin typeface="MiSans"/>
                <a:ea typeface="MiSans"/>
                <a:cs typeface="MiSans"/>
              </a:rPr>
              <a:t>　英文代码入库，页面显示中文</a:t>
            </a:r>
            <a:endParaRPr sz="1150"/>
          </a:p>
        </p:txBody>
      </p:sp>
      <p:sp>
        <p:nvSpPr>
          <p:cNvPr id="79" name="stack-line">
            <a:extLst xmlns:a="http://schemas.openxmlformats.org/drawingml/2006/main">
              <a:ext uri="{FF2B5EF4-FFF2-40B4-BE49-F238E27FC236}">
                <a16:creationId xmlns:a16="http://schemas.microsoft.com/office/drawing/2014/main" id="{FA681106-DC8C-C39B-B175-2851D396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5537200"/>
            <a:ext cx="4699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0" name="stack-note">
            <a:extLst xmlns:a="http://schemas.openxmlformats.org/drawingml/2006/main">
              <a:ext uri="{FF2B5EF4-FFF2-40B4-BE49-F238E27FC236}">
                <a16:creationId xmlns:a16="http://schemas.microsoft.com/office/drawing/2014/main" id="{C971C912-0968-CB74-E360-B503AF20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5689600"/>
            <a:ext cx="469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81" name="ft-line">
            <a:extLst xmlns:a="http://schemas.openxmlformats.org/drawingml/2006/main">
              <a:ext uri="{FF2B5EF4-FFF2-40B4-BE49-F238E27FC236}">
                <a16:creationId xmlns:a16="http://schemas.microsoft.com/office/drawing/2014/main" id="{2EB400EB-5B13-0016-01F8-252A613F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2" name="ft-brand">
            <a:extLst xmlns:a="http://schemas.openxmlformats.org/drawingml/2006/main">
              <a:ext uri="{FF2B5EF4-FFF2-40B4-BE49-F238E27FC236}">
                <a16:creationId xmlns:a16="http://schemas.microsoft.com/office/drawing/2014/main" id="{DAB0864F-A885-3524-A84C-84F99C06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济跑跑 J</a:t>
            </a: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I</a:t>
            </a: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RUN · </a:t>
            </a: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83" name="ft-page">
            <a:extLst xmlns:a="http://schemas.openxmlformats.org/drawingml/2006/main">
              <a:ext uri="{FF2B5EF4-FFF2-40B4-BE49-F238E27FC236}">
                <a16:creationId xmlns:a16="http://schemas.microsoft.com/office/drawing/2014/main" id="{CDF46835-4D8B-A662-E6D9-978D9161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6 / 44</a:t>
            </a:r>
            <a:endParaRPr sz="1000"/>
          </a:p>
        </p:txBody>
      </p:sp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136B2D8F-D2F8-7B00-38F1-272029E4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  <p:extLst>
      <p:ext uri="{BB962C8B-B14F-4D97-AF65-F5344CB8AC3E}">
        <p14:creationId xmlns:p14="http://schemas.microsoft.com/office/powerpoint/2010/main" val="9030476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32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iv-num">
            <a:extLst xmlns:a="http://schemas.openxmlformats.org/drawingml/2006/main">
              <a:ext uri="{FF2B5EF4-FFF2-40B4-BE49-F238E27FC236}">
                <a16:creationId xmlns:a16="http://schemas.microsoft.com/office/drawing/2014/main" id="{87F46A7C-5929-4AAF-8218-5FC6520D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524000"/>
            <a:ext cx="4064000" cy="215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02</a:t>
            </a:r>
            <a:endParaRPr sz="14000"/>
          </a:p>
        </p:txBody>
      </p:sp>
      <p:sp>
        <p:nvSpPr>
          <p:cNvPr id="3" name="div-line">
            <a:extLst xmlns:a="http://schemas.openxmlformats.org/drawingml/2006/main">
              <a:ext uri="{FF2B5EF4-FFF2-40B4-BE49-F238E27FC236}">
                <a16:creationId xmlns:a16="http://schemas.microsoft.com/office/drawing/2014/main" id="{44D7C18A-0ED4-4572-A715-5707953E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32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iv-title">
            <a:extLst xmlns:a="http://schemas.openxmlformats.org/drawingml/2006/main">
              <a:ext uri="{FF2B5EF4-FFF2-40B4-BE49-F238E27FC236}">
                <a16:creationId xmlns:a16="http://schemas.microsoft.com/office/drawing/2014/main" id="{936F9D82-52B9-4045-A206-570E83A4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318000"/>
            <a:ext cx="63500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40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需求分析</a:t>
            </a:r>
            <a:endParaRPr sz="4000"/>
          </a:p>
        </p:txBody>
      </p:sp>
      <p:sp>
        <p:nvSpPr>
          <p:cNvPr id="5" name="div-sub">
            <a:extLst xmlns:a="http://schemas.openxmlformats.org/drawingml/2006/main">
              <a:ext uri="{FF2B5EF4-FFF2-40B4-BE49-F238E27FC236}">
                <a16:creationId xmlns:a16="http://schemas.microsoft.com/office/drawing/2014/main" id="{2AE34302-EB33-4A27-BCDA-73D5B781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156200"/>
            <a:ext cx="787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">
                <a:solidFill>
                  <a:srgbClr val="B9B2A6"/>
                </a:solidFill>
                <a:latin typeface="MiSans"/>
                <a:ea typeface="MiSans"/>
                <a:cs typeface="MiSans"/>
              </a:rPr>
              <a:t>功能架构 · 核心业务流程 · 数据与非功能需求</a:t>
            </a:r>
            <a:endParaRPr sz="1400"/>
          </a:p>
        </p:txBody>
      </p:sp>
      <p:sp>
        <p:nvSpPr>
          <p:cNvPr id="6" name="div-progress">
            <a:extLst xmlns:a="http://schemas.openxmlformats.org/drawingml/2006/main">
              <a:ext uri="{FF2B5EF4-FFF2-40B4-BE49-F238E27FC236}">
                <a16:creationId xmlns:a16="http://schemas.microsoft.com/office/drawing/2014/main" id="{CC25BDB9-647E-4139-89D6-60A272AF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7620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100" spc="200">
                <a:solidFill>
                  <a:srgbClr val="8A8478"/>
                </a:solidFill>
                <a:latin typeface="MiSans"/>
                <a:ea typeface="MiSans"/>
                <a:cs typeface="MiSans"/>
              </a:rPr>
              <a:t>SECTION 02 / 06</a:t>
            </a:r>
            <a:endParaRPr sz="1100"/>
          </a:p>
        </p:txBody>
      </p:sp>
      <p:sp>
        <p:nvSpPr>
          <p:cNvPr id="7" name="div-brand">
            <a:extLst xmlns:a="http://schemas.openxmlformats.org/drawingml/2006/main">
              <a:ext uri="{FF2B5EF4-FFF2-40B4-BE49-F238E27FC236}">
                <a16:creationId xmlns:a16="http://schemas.microsoft.com/office/drawing/2014/main" id="{9A97C313-5C80-41B8-855A-ADEC6095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62992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济跑跑 JIRUN · 数据库课程设计答辩</a:t>
            </a:r>
            <a:endParaRPr sz="1000"/>
          </a:p>
        </p:txBody>
      </p:sp>
      <p:sp>
        <p:nvSpPr>
          <p:cNvPr id="8" name="div-page">
            <a:extLst xmlns:a="http://schemas.openxmlformats.org/drawingml/2006/main">
              <a:ext uri="{FF2B5EF4-FFF2-40B4-BE49-F238E27FC236}">
                <a16:creationId xmlns:a16="http://schemas.microsoft.com/office/drawing/2014/main" id="{B67BE45A-07BA-45B7-9913-50DCA04B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0" y="6299200"/>
            <a:ext cx="76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7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534768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hd-tick">
            <a:extLst xmlns:a="http://schemas.openxmlformats.org/drawingml/2006/main">
              <a:ext uri="{FF2B5EF4-FFF2-40B4-BE49-F238E27FC236}">
                <a16:creationId xmlns:a16="http://schemas.microsoft.com/office/drawing/2014/main" id="{1D08A911-717B-B799-4359-0A50FCA0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FB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hd-title">
            <a:extLst xmlns:a="http://schemas.openxmlformats.org/drawingml/2006/main">
              <a:ext uri="{FF2B5EF4-FFF2-40B4-BE49-F238E27FC236}">
                <a16:creationId xmlns:a16="http://schemas.microsoft.com/office/drawing/2014/main" id="{42C88B4C-90FE-909B-D8C1-20DFD619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功能需求</a:t>
            </a:r>
            <a:endParaRPr sz="2500"/>
          </a:p>
        </p:txBody>
      </p:sp>
      <p:sp>
        <p:nvSpPr>
          <p:cNvPr id="61" name="hd-sec">
            <a:extLst xmlns:a="http://schemas.openxmlformats.org/drawingml/2006/main">
              <a:ext uri="{FF2B5EF4-FFF2-40B4-BE49-F238E27FC236}">
                <a16:creationId xmlns:a16="http://schemas.microsoft.com/office/drawing/2014/main" id="{B17147CB-4F6E-B452-66E2-3564401E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02 · 需求分析</a:t>
            </a:r>
            <a:endParaRPr sz="1100"/>
          </a:p>
        </p:txBody>
      </p:sp>
      <p:sp>
        <p:nvSpPr>
          <p:cNvPr id="62" name="hd-line">
            <a:extLst xmlns:a="http://schemas.openxmlformats.org/drawingml/2006/main">
              <a:ext uri="{FF2B5EF4-FFF2-40B4-BE49-F238E27FC236}">
                <a16:creationId xmlns:a16="http://schemas.microsoft.com/office/drawing/2014/main" id="{93880704-734E-1F64-39F1-FA24391D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3" name="root-box">
            <a:extLst xmlns:a="http://schemas.openxmlformats.org/drawingml/2006/main">
              <a:ext uri="{FF2B5EF4-FFF2-40B4-BE49-F238E27FC236}">
                <a16:creationId xmlns:a16="http://schemas.microsoft.com/office/drawing/2014/main" id="{B491C8D2-A498-61BD-2A75-25785C58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149600"/>
            <a:ext cx="1778000" cy="81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root-t">
            <a:extLst xmlns:a="http://schemas.openxmlformats.org/drawingml/2006/main">
              <a:ext uri="{FF2B5EF4-FFF2-40B4-BE49-F238E27FC236}">
                <a16:creationId xmlns:a16="http://schemas.microsoft.com/office/drawing/2014/main" id="{DDBE997D-65BB-3AF6-E95B-53EA01FC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149600"/>
            <a:ext cx="1778000" cy="8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5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济跑跑系统</a:t>
            </a:r>
            <a:endParaRPr sz="1600"/>
          </a:p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900">
                <a:solidFill>
                  <a:srgbClr val="93A8C4"/>
                </a:solidFill>
                <a:latin typeface="MiSans"/>
                <a:ea typeface="MiSans"/>
                <a:cs typeface="MiSans"/>
              </a:rPr>
              <a:t>JIRUN SYSTEM</a:t>
            </a:r>
            <a:endParaRPr sz="1600"/>
          </a:p>
        </p:txBody>
      </p:sp>
      <p:sp>
        <p:nvSpPr>
          <p:cNvPr id="65" name="stub-root">
            <a:extLst xmlns:a="http://schemas.openxmlformats.org/drawingml/2006/main">
              <a:ext uri="{FF2B5EF4-FFF2-40B4-BE49-F238E27FC236}">
                <a16:creationId xmlns:a16="http://schemas.microsoft.com/office/drawing/2014/main" id="{2C259351-C04F-517D-DA7D-80772A76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3543300"/>
            <a:ext cx="63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6" name="spine">
            <a:extLst xmlns:a="http://schemas.openxmlformats.org/drawingml/2006/main">
              <a:ext uri="{FF2B5EF4-FFF2-40B4-BE49-F238E27FC236}">
                <a16:creationId xmlns:a16="http://schemas.microsoft.com/office/drawing/2014/main" id="{70D4C992-C49D-95C9-DA26-2B9D75B2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651000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7" name="stub1">
            <a:extLst xmlns:a="http://schemas.openxmlformats.org/drawingml/2006/main">
              <a:ext uri="{FF2B5EF4-FFF2-40B4-BE49-F238E27FC236}">
                <a16:creationId xmlns:a16="http://schemas.microsoft.com/office/drawing/2014/main" id="{71D4D66D-FD7A-A0E9-D23F-8E313A1A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638300"/>
            <a:ext cx="63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8" name="stub2">
            <a:extLst xmlns:a="http://schemas.openxmlformats.org/drawingml/2006/main">
              <a:ext uri="{FF2B5EF4-FFF2-40B4-BE49-F238E27FC236}">
                <a16:creationId xmlns:a16="http://schemas.microsoft.com/office/drawing/2014/main" id="{F8A2B5D1-6EED-66C8-6D52-3E6ED861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90800"/>
            <a:ext cx="63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9" name="stub3">
            <a:extLst xmlns:a="http://schemas.openxmlformats.org/drawingml/2006/main">
              <a:ext uri="{FF2B5EF4-FFF2-40B4-BE49-F238E27FC236}">
                <a16:creationId xmlns:a16="http://schemas.microsoft.com/office/drawing/2014/main" id="{FFE69346-902B-566C-78D7-BE809853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543300"/>
            <a:ext cx="63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0" name="stub4">
            <a:extLst xmlns:a="http://schemas.openxmlformats.org/drawingml/2006/main">
              <a:ext uri="{FF2B5EF4-FFF2-40B4-BE49-F238E27FC236}">
                <a16:creationId xmlns:a16="http://schemas.microsoft.com/office/drawing/2014/main" id="{185F4D19-8192-3E78-75CA-216E131C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95800"/>
            <a:ext cx="63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1" name="stub5">
            <a:extLst xmlns:a="http://schemas.openxmlformats.org/drawingml/2006/main">
              <a:ext uri="{FF2B5EF4-FFF2-40B4-BE49-F238E27FC236}">
                <a16:creationId xmlns:a16="http://schemas.microsoft.com/office/drawing/2014/main" id="{FF67CB64-4AF9-C337-434B-6B03FAAF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448300"/>
            <a:ext cx="63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2" name="m1-title">
            <a:extLst xmlns:a="http://schemas.openxmlformats.org/drawingml/2006/main">
              <a:ext uri="{FF2B5EF4-FFF2-40B4-BE49-F238E27FC236}">
                <a16:creationId xmlns:a16="http://schemas.microsoft.com/office/drawing/2014/main" id="{586231B5-F2B1-F904-F33F-91375B1D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1295400"/>
            <a:ext cx="508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0B4FB3"/>
                </a:solidFill>
                <a:latin typeface="MiSans"/>
                <a:ea typeface="MiSans"/>
                <a:cs typeface="MiSans"/>
              </a:rPr>
              <a:t>账号与地址</a:t>
            </a:r>
            <a:endParaRPr sz="1500"/>
          </a:p>
        </p:txBody>
      </p:sp>
      <p:sp>
        <p:nvSpPr>
          <p:cNvPr id="73" name="m1-body">
            <a:extLst xmlns:a="http://schemas.openxmlformats.org/drawingml/2006/main">
              <a:ext uri="{FF2B5EF4-FFF2-40B4-BE49-F238E27FC236}">
                <a16:creationId xmlns:a16="http://schemas.microsoft.com/office/drawing/2014/main" id="{9669C09F-3E9A-6205-8DA2-80814E0E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1625600"/>
            <a:ext cx="7493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注册登录（带盐哈希）· 账号封禁 / 注销生命周期 · 地址增删改与默认地址唯一</a:t>
            </a:r>
            <a:endParaRPr sz="1150"/>
          </a:p>
        </p:txBody>
      </p:sp>
      <p:sp>
        <p:nvSpPr>
          <p:cNvPr id="74" name="m1-line">
            <a:extLst xmlns:a="http://schemas.openxmlformats.org/drawingml/2006/main">
              <a:ext uri="{FF2B5EF4-FFF2-40B4-BE49-F238E27FC236}">
                <a16:creationId xmlns:a16="http://schemas.microsoft.com/office/drawing/2014/main" id="{504F0EC1-815B-FD8C-967A-8AF4B8CE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2133600"/>
            <a:ext cx="7493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5" name="m2-title">
            <a:extLst xmlns:a="http://schemas.openxmlformats.org/drawingml/2006/main">
              <a:ext uri="{FF2B5EF4-FFF2-40B4-BE49-F238E27FC236}">
                <a16:creationId xmlns:a16="http://schemas.microsoft.com/office/drawing/2014/main" id="{61B902CA-465E-54A7-A29F-92A98029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2247900"/>
            <a:ext cx="508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0B4FB3"/>
                </a:solidFill>
                <a:latin typeface="MiSans"/>
                <a:ea typeface="MiSans"/>
                <a:cs typeface="MiSans"/>
              </a:rPr>
              <a:t>基础配置</a:t>
            </a:r>
            <a:endParaRPr sz="1500"/>
          </a:p>
        </p:txBody>
      </p:sp>
      <p:sp>
        <p:nvSpPr>
          <p:cNvPr id="76" name="m2-body">
            <a:extLst xmlns:a="http://schemas.openxmlformats.org/drawingml/2006/main">
              <a:ext uri="{FF2B5EF4-FFF2-40B4-BE49-F238E27FC236}">
                <a16:creationId xmlns:a16="http://schemas.microsoft.com/office/drawing/2014/main" id="{9D1CDACF-C330-4B42-8A61-951BD4DB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2578100"/>
            <a:ext cx="7493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节点（校门 / 驿站 / 分发点）启闭维护 · 服务类型与价格规则 · 服务—节点适用绑定</a:t>
            </a:r>
            <a:endParaRPr sz="1150"/>
          </a:p>
        </p:txBody>
      </p:sp>
      <p:sp>
        <p:nvSpPr>
          <p:cNvPr id="77" name="m2-line">
            <a:extLst xmlns:a="http://schemas.openxmlformats.org/drawingml/2006/main">
              <a:ext uri="{FF2B5EF4-FFF2-40B4-BE49-F238E27FC236}">
                <a16:creationId xmlns:a16="http://schemas.microsoft.com/office/drawing/2014/main" id="{9C776686-7147-9F13-6216-277E146D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3086100"/>
            <a:ext cx="7493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8" name="m3-title">
            <a:extLst xmlns:a="http://schemas.openxmlformats.org/drawingml/2006/main">
              <a:ext uri="{FF2B5EF4-FFF2-40B4-BE49-F238E27FC236}">
                <a16:creationId xmlns:a16="http://schemas.microsoft.com/office/drawing/2014/main" id="{BA9C3F16-8007-78C8-91C1-651E97CE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3200400"/>
            <a:ext cx="508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0B4FB3"/>
                </a:solidFill>
                <a:latin typeface="MiSans"/>
                <a:ea typeface="MiSans"/>
                <a:cs typeface="MiSans"/>
              </a:rPr>
              <a:t>任务与接派</a:t>
            </a:r>
            <a:endParaRPr sz="1500"/>
          </a:p>
        </p:txBody>
      </p:sp>
      <p:sp>
        <p:nvSpPr>
          <p:cNvPr id="79" name="m3-body">
            <a:extLst xmlns:a="http://schemas.openxmlformats.org/drawingml/2006/main">
              <a:ext uri="{FF2B5EF4-FFF2-40B4-BE49-F238E27FC236}">
                <a16:creationId xmlns:a16="http://schemas.microsoft.com/office/drawing/2014/main" id="{7F084453-BBAC-952C-24AE-D572AC0E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3530600"/>
            <a:ext cx="7493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三类任务发布与取消 · 任务大厅抢单 · 管理员派单 / 重派 · 配送状态流转 · 确认收货</a:t>
            </a:r>
            <a:endParaRPr sz="1150"/>
          </a:p>
        </p:txBody>
      </p:sp>
      <p:sp>
        <p:nvSpPr>
          <p:cNvPr id="80" name="m3-line">
            <a:extLst xmlns:a="http://schemas.openxmlformats.org/drawingml/2006/main">
              <a:ext uri="{FF2B5EF4-FFF2-40B4-BE49-F238E27FC236}">
                <a16:creationId xmlns:a16="http://schemas.microsoft.com/office/drawing/2014/main" id="{5542D8D9-3A48-EA43-B802-BE62F4BC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4038600"/>
            <a:ext cx="7493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1" name="m4-title">
            <a:extLst xmlns:a="http://schemas.openxmlformats.org/drawingml/2006/main">
              <a:ext uri="{FF2B5EF4-FFF2-40B4-BE49-F238E27FC236}">
                <a16:creationId xmlns:a16="http://schemas.microsoft.com/office/drawing/2014/main" id="{0A23ABFB-50D7-8051-A77A-957583B2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4152900"/>
            <a:ext cx="508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0B4FB3"/>
                </a:solidFill>
                <a:latin typeface="MiSans"/>
                <a:ea typeface="MiSans"/>
                <a:cs typeface="MiSans"/>
              </a:rPr>
              <a:t>资金与售后</a:t>
            </a:r>
            <a:endParaRPr sz="1500"/>
          </a:p>
        </p:txBody>
      </p:sp>
      <p:sp>
        <p:nvSpPr>
          <p:cNvPr id="82" name="m4-body">
            <a:extLst xmlns:a="http://schemas.openxmlformats.org/drawingml/2006/main">
              <a:ext uri="{FF2B5EF4-FFF2-40B4-BE49-F238E27FC236}">
                <a16:creationId xmlns:a16="http://schemas.microsoft.com/office/drawing/2014/main" id="{370348A8-B0B7-3182-7818-7B23AFF6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4483100"/>
            <a:ext cx="7493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收货后支付与稍后付款 · 退款申请与审核 · 一单一评与信誉分联动 · 投诉处理</a:t>
            </a:r>
            <a:endParaRPr sz="1150"/>
          </a:p>
        </p:txBody>
      </p:sp>
      <p:sp>
        <p:nvSpPr>
          <p:cNvPr id="83" name="m4-line">
            <a:extLst xmlns:a="http://schemas.openxmlformats.org/drawingml/2006/main">
              <a:ext uri="{FF2B5EF4-FFF2-40B4-BE49-F238E27FC236}">
                <a16:creationId xmlns:a16="http://schemas.microsoft.com/office/drawing/2014/main" id="{3FE9E4AD-24F8-1897-0D7B-3FB457A2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4991100"/>
            <a:ext cx="7493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4" name="m5-title">
            <a:extLst xmlns:a="http://schemas.openxmlformats.org/drawingml/2006/main">
              <a:ext uri="{FF2B5EF4-FFF2-40B4-BE49-F238E27FC236}">
                <a16:creationId xmlns:a16="http://schemas.microsoft.com/office/drawing/2014/main" id="{3803B649-E38F-3A60-1D97-E527232A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5105400"/>
            <a:ext cx="508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0B4FB3"/>
                </a:solidFill>
                <a:latin typeface="MiSans"/>
                <a:ea typeface="MiSans"/>
                <a:cs typeface="MiSans"/>
              </a:rPr>
              <a:t>结算、审计与报表</a:t>
            </a:r>
            <a:endParaRPr sz="1500"/>
          </a:p>
        </p:txBody>
      </p:sp>
      <p:sp>
        <p:nvSpPr>
          <p:cNvPr id="85" name="m5-body">
            <a:extLst xmlns:a="http://schemas.openxmlformats.org/drawingml/2006/main">
              <a:ext uri="{FF2B5EF4-FFF2-40B4-BE49-F238E27FC236}">
                <a16:creationId xmlns:a16="http://schemas.microsoft.com/office/drawing/2014/main" id="{EC5E519C-9EAE-2672-96BD-5B10D5B9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5435600"/>
            <a:ext cx="74930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跑腿员结算单生成 · 支付 / 退款 / 状态日志审计 · 按月统计报表与 CSV 导出</a:t>
            </a:r>
            <a:endParaRPr sz="1150"/>
          </a:p>
        </p:txBody>
      </p:sp>
      <p:sp>
        <p:nvSpPr>
          <p:cNvPr id="86" name="mod-note">
            <a:extLst xmlns:a="http://schemas.openxmlformats.org/drawingml/2006/main">
              <a:ext uri="{FF2B5EF4-FFF2-40B4-BE49-F238E27FC236}">
                <a16:creationId xmlns:a16="http://schemas.microsoft.com/office/drawing/2014/main" id="{062D63A5-1D34-D56A-505A-813157CA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0" y="6070600"/>
            <a:ext cx="7747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87" name="ft-line">
            <a:extLst xmlns:a="http://schemas.openxmlformats.org/drawingml/2006/main">
              <a:ext uri="{FF2B5EF4-FFF2-40B4-BE49-F238E27FC236}">
                <a16:creationId xmlns:a16="http://schemas.microsoft.com/office/drawing/2014/main" id="{9FD6A6A2-BDC8-F637-6B1B-B06CAA8E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9" name="ft-page">
            <a:extLst xmlns:a="http://schemas.openxmlformats.org/drawingml/2006/main">
              <a:ext uri="{FF2B5EF4-FFF2-40B4-BE49-F238E27FC236}">
                <a16:creationId xmlns:a16="http://schemas.microsoft.com/office/drawing/2014/main" id="{0464EFD3-2D15-A502-F977-0BA00B6A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8 / 44</a:t>
            </a:r>
            <a:endParaRPr sz="1000"/>
          </a:p>
        </p:txBody>
      </p:sp>
      <p:sp>
        <p:nvSpPr>
          <p:cNvPr id="90" name="ft-brand">
            <a:extLst xmlns:a="http://schemas.openxmlformats.org/drawingml/2006/main">
              <a:ext uri="{FF2B5EF4-FFF2-40B4-BE49-F238E27FC236}">
                <a16:creationId xmlns:a16="http://schemas.microsoft.com/office/drawing/2014/main" id="{80B64138-B861-4820-AC24-4D683717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922015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hd-tick">
            <a:extLst xmlns:a="http://schemas.openxmlformats.org/drawingml/2006/main">
              <a:ext uri="{FF2B5EF4-FFF2-40B4-BE49-F238E27FC236}">
                <a16:creationId xmlns:a16="http://schemas.microsoft.com/office/drawing/2014/main" id="{2EF9BFD5-282E-79F9-7D0B-E946A761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FB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hd-title">
            <a:extLst xmlns:a="http://schemas.openxmlformats.org/drawingml/2006/main">
              <a:ext uri="{FF2B5EF4-FFF2-40B4-BE49-F238E27FC236}">
                <a16:creationId xmlns:a16="http://schemas.microsoft.com/office/drawing/2014/main" id="{669631E7-48CE-A1AC-3502-8053308F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核心业务流</a:t>
            </a:r>
            <a:endParaRPr sz="2500"/>
          </a:p>
        </p:txBody>
      </p:sp>
      <p:sp>
        <p:nvSpPr>
          <p:cNvPr id="41" name="hd-sec">
            <a:extLst xmlns:a="http://schemas.openxmlformats.org/drawingml/2006/main">
              <a:ext uri="{FF2B5EF4-FFF2-40B4-BE49-F238E27FC236}">
                <a16:creationId xmlns:a16="http://schemas.microsoft.com/office/drawing/2014/main" id="{35BC5832-716E-7835-C1AE-35A9F2E8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02 · 需求分析</a:t>
            </a:r>
            <a:endParaRPr sz="1100"/>
          </a:p>
        </p:txBody>
      </p:sp>
      <p:sp>
        <p:nvSpPr>
          <p:cNvPr id="42" name="hd-line">
            <a:extLst xmlns:a="http://schemas.openxmlformats.org/drawingml/2006/main">
              <a:ext uri="{FF2B5EF4-FFF2-40B4-BE49-F238E27FC236}">
                <a16:creationId xmlns:a16="http://schemas.microsoft.com/office/drawing/2014/main" id="{CBB8944E-8AF3-D2C5-CCCB-1575EAD0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main-label">
            <a:extLst xmlns:a="http://schemas.openxmlformats.org/drawingml/2006/main">
              <a:ext uri="{FF2B5EF4-FFF2-40B4-BE49-F238E27FC236}">
                <a16:creationId xmlns:a16="http://schemas.microsoft.com/office/drawing/2014/main" id="{3CEE5975-4A3D-4AD5-2D8D-F5D3D980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168400"/>
            <a:ext cx="508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100" b="1" spc="1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正常路径</a:t>
            </a:r>
            <a:endParaRPr sz="1100"/>
          </a:p>
        </p:txBody>
      </p:sp>
      <p:sp>
        <p:nvSpPr>
          <p:cNvPr id="44" name="s1">
            <a:extLst xmlns:a="http://schemas.openxmlformats.org/drawingml/2006/main">
              <a:ext uri="{FF2B5EF4-FFF2-40B4-BE49-F238E27FC236}">
                <a16:creationId xmlns:a16="http://schemas.microsoft.com/office/drawing/2014/main" id="{08DF6599-B144-7445-713E-0152C584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498600"/>
            <a:ext cx="1625600" cy="66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B4FB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s1-t">
            <a:extLst xmlns:a="http://schemas.openxmlformats.org/drawingml/2006/main">
              <a:ext uri="{FF2B5EF4-FFF2-40B4-BE49-F238E27FC236}">
                <a16:creationId xmlns:a16="http://schemas.microsoft.com/office/drawing/2014/main" id="{0F11A72B-2B2E-D72D-60B5-CE7C831E3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498600"/>
            <a:ext cx="1625600" cy="66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25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待接单</a:t>
            </a:r>
            <a:endParaRPr sz="1600"/>
          </a:p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90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WAITING</a:t>
            </a:r>
            <a:endParaRPr sz="1600"/>
          </a:p>
        </p:txBody>
      </p:sp>
      <p:sp>
        <p:nvSpPr>
          <p:cNvPr id="46" name="a1">
            <a:extLst xmlns:a="http://schemas.openxmlformats.org/drawingml/2006/main">
              <a:ext uri="{FF2B5EF4-FFF2-40B4-BE49-F238E27FC236}">
                <a16:creationId xmlns:a16="http://schemas.microsoft.com/office/drawing/2014/main" id="{80EE1074-B130-FAF9-DA05-1D2A033B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4400" y="1752600"/>
            <a:ext cx="254000" cy="152400"/>
          </a:xfrm>
          <a:custGeom xmlns:a="http://schemas.openxmlformats.org/drawingml/2006/main">
            <a:rect l="l" t="t" r="r" b="b"/>
            <a:pathLst>
              <a:path w="20" h="12">
                <a:moveTo>
                  <a:pt x="0" y="6"/>
                </a:moveTo>
                <a:lnTo>
                  <a:pt x="20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B4FB3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s2">
            <a:extLst xmlns:a="http://schemas.openxmlformats.org/drawingml/2006/main">
              <a:ext uri="{FF2B5EF4-FFF2-40B4-BE49-F238E27FC236}">
                <a16:creationId xmlns:a16="http://schemas.microsoft.com/office/drawing/2014/main" id="{F8DFF56F-AC98-4C8E-7BD6-284C0419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1498600"/>
            <a:ext cx="1625600" cy="66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B4FB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s2-t">
            <a:extLst xmlns:a="http://schemas.openxmlformats.org/drawingml/2006/main">
              <a:ext uri="{FF2B5EF4-FFF2-40B4-BE49-F238E27FC236}">
                <a16:creationId xmlns:a16="http://schemas.microsoft.com/office/drawing/2014/main" id="{3623A747-1F0B-C962-414C-F8992D41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9200" y="1498600"/>
            <a:ext cx="1625600" cy="66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25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已接单 / 派单</a:t>
            </a:r>
            <a:endParaRPr sz="1600"/>
          </a:p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90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ASSIGNED</a:t>
            </a:r>
            <a:endParaRPr sz="1600"/>
          </a:p>
        </p:txBody>
      </p:sp>
      <p:sp>
        <p:nvSpPr>
          <p:cNvPr id="49" name="a2">
            <a:extLst xmlns:a="http://schemas.openxmlformats.org/drawingml/2006/main">
              <a:ext uri="{FF2B5EF4-FFF2-40B4-BE49-F238E27FC236}">
                <a16:creationId xmlns:a16="http://schemas.microsoft.com/office/drawing/2014/main" id="{C00D4AA3-E45C-BC24-9727-D49A50AA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5600" y="1752600"/>
            <a:ext cx="254000" cy="152400"/>
          </a:xfrm>
          <a:custGeom xmlns:a="http://schemas.openxmlformats.org/drawingml/2006/main">
            <a:rect l="l" t="t" r="r" b="b"/>
            <a:pathLst>
              <a:path w="20" h="12">
                <a:moveTo>
                  <a:pt x="0" y="6"/>
                </a:moveTo>
                <a:lnTo>
                  <a:pt x="20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B4FB3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s3">
            <a:extLst xmlns:a="http://schemas.openxmlformats.org/drawingml/2006/main">
              <a:ext uri="{FF2B5EF4-FFF2-40B4-BE49-F238E27FC236}">
                <a16:creationId xmlns:a16="http://schemas.microsoft.com/office/drawing/2014/main" id="{84E2A03B-263C-CCCE-3FFC-E2D0F400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0400" y="1498600"/>
            <a:ext cx="1625600" cy="66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B4FB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s3-t">
            <a:extLst xmlns:a="http://schemas.openxmlformats.org/drawingml/2006/main">
              <a:ext uri="{FF2B5EF4-FFF2-40B4-BE49-F238E27FC236}">
                <a16:creationId xmlns:a16="http://schemas.microsoft.com/office/drawing/2014/main" id="{00F87D1C-6979-596D-9C58-A23DF9C0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0400" y="1498600"/>
            <a:ext cx="1625600" cy="66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25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已取货</a:t>
            </a:r>
            <a:endParaRPr sz="1600"/>
          </a:p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90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PICKED_UP</a:t>
            </a:r>
            <a:endParaRPr sz="1600"/>
          </a:p>
        </p:txBody>
      </p:sp>
      <p:sp>
        <p:nvSpPr>
          <p:cNvPr id="52" name="a3">
            <a:extLst xmlns:a="http://schemas.openxmlformats.org/drawingml/2006/main">
              <a:ext uri="{FF2B5EF4-FFF2-40B4-BE49-F238E27FC236}">
                <a16:creationId xmlns:a16="http://schemas.microsoft.com/office/drawing/2014/main" id="{877777BB-0278-CCCC-B63F-1BE19821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6800" y="1752600"/>
            <a:ext cx="254000" cy="152400"/>
          </a:xfrm>
          <a:custGeom xmlns:a="http://schemas.openxmlformats.org/drawingml/2006/main">
            <a:rect l="l" t="t" r="r" b="b"/>
            <a:pathLst>
              <a:path w="20" h="12">
                <a:moveTo>
                  <a:pt x="0" y="6"/>
                </a:moveTo>
                <a:lnTo>
                  <a:pt x="20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B4FB3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s4">
            <a:extLst xmlns:a="http://schemas.openxmlformats.org/drawingml/2006/main">
              <a:ext uri="{FF2B5EF4-FFF2-40B4-BE49-F238E27FC236}">
                <a16:creationId xmlns:a16="http://schemas.microsoft.com/office/drawing/2014/main" id="{1F2FD6A0-8CD5-F87C-B45A-A6C3B232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1498600"/>
            <a:ext cx="1625600" cy="66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B4FB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s4-t">
            <a:extLst xmlns:a="http://schemas.openxmlformats.org/drawingml/2006/main">
              <a:ext uri="{FF2B5EF4-FFF2-40B4-BE49-F238E27FC236}">
                <a16:creationId xmlns:a16="http://schemas.microsoft.com/office/drawing/2014/main" id="{BA9E1B45-D20F-B3D2-9A59-C36EBB43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1498600"/>
            <a:ext cx="1625600" cy="66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25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配送中</a:t>
            </a:r>
            <a:endParaRPr sz="1600"/>
          </a:p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90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DELIVERING</a:t>
            </a:r>
            <a:endParaRPr sz="1600"/>
          </a:p>
        </p:txBody>
      </p:sp>
      <p:sp>
        <p:nvSpPr>
          <p:cNvPr id="55" name="a4">
            <a:extLst xmlns:a="http://schemas.openxmlformats.org/drawingml/2006/main">
              <a:ext uri="{FF2B5EF4-FFF2-40B4-BE49-F238E27FC236}">
                <a16:creationId xmlns:a16="http://schemas.microsoft.com/office/drawing/2014/main" id="{05128A43-EBB7-74FB-FCDE-7DB41173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1752600"/>
            <a:ext cx="254000" cy="152400"/>
          </a:xfrm>
          <a:custGeom xmlns:a="http://schemas.openxmlformats.org/drawingml/2006/main">
            <a:rect l="l" t="t" r="r" b="b"/>
            <a:pathLst>
              <a:path w="20" h="12">
                <a:moveTo>
                  <a:pt x="0" y="6"/>
                </a:moveTo>
                <a:lnTo>
                  <a:pt x="20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B4FB3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s5">
            <a:extLst xmlns:a="http://schemas.openxmlformats.org/drawingml/2006/main">
              <a:ext uri="{FF2B5EF4-FFF2-40B4-BE49-F238E27FC236}">
                <a16:creationId xmlns:a16="http://schemas.microsoft.com/office/drawing/2014/main" id="{815CC9E2-28FF-EDBD-E47A-BA2E2C0E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1498600"/>
            <a:ext cx="1625600" cy="66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B4FB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7" name="s5-t">
            <a:extLst xmlns:a="http://schemas.openxmlformats.org/drawingml/2006/main">
              <a:ext uri="{FF2B5EF4-FFF2-40B4-BE49-F238E27FC236}">
                <a16:creationId xmlns:a16="http://schemas.microsoft.com/office/drawing/2014/main" id="{F1B0D024-22CE-8070-29D0-52F9069D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800" y="1498600"/>
            <a:ext cx="1625600" cy="66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250" b="1">
                <a:solidFill>
                  <a:srgbClr val="102033"/>
                </a:solidFill>
                <a:latin typeface="MiSans"/>
                <a:ea typeface="MiSans"/>
                <a:cs typeface="MiSans"/>
              </a:rPr>
              <a:t>待确认付款</a:t>
            </a:r>
            <a:endParaRPr sz="1600"/>
          </a:p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90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WAIT_CONFIRM</a:t>
            </a:r>
            <a:endParaRPr sz="1600"/>
          </a:p>
        </p:txBody>
      </p:sp>
      <p:sp>
        <p:nvSpPr>
          <p:cNvPr id="58" name="a5">
            <a:extLst xmlns:a="http://schemas.openxmlformats.org/drawingml/2006/main">
              <a:ext uri="{FF2B5EF4-FFF2-40B4-BE49-F238E27FC236}">
                <a16:creationId xmlns:a16="http://schemas.microsoft.com/office/drawing/2014/main" id="{5CE7E70D-940A-A884-224B-43EB3A31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9200" y="1752600"/>
            <a:ext cx="203200" cy="152400"/>
          </a:xfrm>
          <a:custGeom xmlns:a="http://schemas.openxmlformats.org/drawingml/2006/main">
            <a:rect l="l" t="t" r="r" b="b"/>
            <a:pathLst>
              <a:path w="16" h="12">
                <a:moveTo>
                  <a:pt x="0" y="6"/>
                </a:moveTo>
                <a:lnTo>
                  <a:pt x="16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B4FB3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6">
            <a:extLst xmlns:a="http://schemas.openxmlformats.org/drawingml/2006/main">
              <a:ext uri="{FF2B5EF4-FFF2-40B4-BE49-F238E27FC236}">
                <a16:creationId xmlns:a16="http://schemas.microsoft.com/office/drawing/2014/main" id="{364C348E-478C-1E01-5454-F608415E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98600"/>
            <a:ext cx="1320800" cy="66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4FB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s6-t">
            <a:extLst xmlns:a="http://schemas.openxmlformats.org/drawingml/2006/main">
              <a:ext uri="{FF2B5EF4-FFF2-40B4-BE49-F238E27FC236}">
                <a16:creationId xmlns:a16="http://schemas.microsoft.com/office/drawing/2014/main" id="{67F9A409-26D0-9DC7-896E-6EA0E9EC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498600"/>
            <a:ext cx="1320800" cy="66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25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已完成</a:t>
            </a:r>
            <a:endParaRPr sz="1600"/>
          </a:p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900">
                <a:solidFill>
                  <a:srgbClr val="C9DCF5"/>
                </a:solidFill>
                <a:latin typeface="JetBrains Mono"/>
                <a:ea typeface="JetBrains Mono"/>
                <a:cs typeface="JetBrains Mono"/>
              </a:rPr>
              <a:t>FINISHED</a:t>
            </a:r>
            <a:endParaRPr sz="1600"/>
          </a:p>
        </p:txBody>
      </p:sp>
      <p:sp>
        <p:nvSpPr>
          <p:cNvPr id="61" name="trig">
            <a:extLst xmlns:a="http://schemas.openxmlformats.org/drawingml/2006/main">
              <a:ext uri="{FF2B5EF4-FFF2-40B4-BE49-F238E27FC236}">
                <a16:creationId xmlns:a16="http://schemas.microsoft.com/office/drawing/2014/main" id="{413E141A-4FB3-3894-E2D4-A7CFDD5E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286000"/>
            <a:ext cx="11176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触发操作：发布任务 → 跑腿员抢单 / 管理员派单 → 取货 → 配送 → 送达待确认 → 用户确认收货并付款；进入 FINISHED 前支付状态必须为 PAID</a:t>
            </a:r>
            <a:endParaRPr sz="1050"/>
          </a:p>
        </p:txBody>
      </p:sp>
      <p:sp>
        <p:nvSpPr>
          <p:cNvPr id="62" name="exc-label">
            <a:extLst xmlns:a="http://schemas.openxmlformats.org/drawingml/2006/main">
              <a:ext uri="{FF2B5EF4-FFF2-40B4-BE49-F238E27FC236}">
                <a16:creationId xmlns:a16="http://schemas.microsoft.com/office/drawing/2014/main" id="{9E32709F-BCD6-4E71-922C-5C93683E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8194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100" b="1" spc="1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异常与售后路径</a:t>
            </a:r>
            <a:endParaRPr sz="1100"/>
          </a:p>
        </p:txBody>
      </p:sp>
      <p:sp>
        <p:nvSpPr>
          <p:cNvPr id="63" name="e1">
            <a:extLst xmlns:a="http://schemas.openxmlformats.org/drawingml/2006/main">
              <a:ext uri="{FF2B5EF4-FFF2-40B4-BE49-F238E27FC236}">
                <a16:creationId xmlns:a16="http://schemas.microsoft.com/office/drawing/2014/main" id="{31CC0D58-85FE-8E61-C873-E7787CC6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149600"/>
            <a:ext cx="1905000" cy="55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5240">
            <a:solidFill>
              <a:srgbClr val="64748B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e1-t">
            <a:extLst xmlns:a="http://schemas.openxmlformats.org/drawingml/2006/main">
              <a:ext uri="{FF2B5EF4-FFF2-40B4-BE49-F238E27FC236}">
                <a16:creationId xmlns:a16="http://schemas.microsoft.com/office/drawing/2014/main" id="{0677F639-9A97-73F4-E627-77CDDA32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149600"/>
            <a:ext cx="190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200" b="1">
                <a:solidFill>
                  <a:srgbClr val="64748B"/>
                </a:solidFill>
                <a:latin typeface="MiSans"/>
                <a:ea typeface="MiSans"/>
                <a:cs typeface="MiSans"/>
              </a:rPr>
              <a:t>已取消</a:t>
            </a:r>
            <a:endParaRPr sz="1600"/>
          </a:p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90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CANCELLED</a:t>
            </a:r>
            <a:endParaRPr sz="1600"/>
          </a:p>
        </p:txBody>
      </p:sp>
      <p:sp>
        <p:nvSpPr>
          <p:cNvPr id="65" name="e1-d">
            <a:extLst xmlns:a="http://schemas.openxmlformats.org/drawingml/2006/main">
              <a:ext uri="{FF2B5EF4-FFF2-40B4-BE49-F238E27FC236}">
                <a16:creationId xmlns:a16="http://schemas.microsoft.com/office/drawing/2014/main" id="{6819929A-0E43-013B-4999-E19A25A5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3200400"/>
            <a:ext cx="279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0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仅 WAITING 可自助取消；已接单取消须绑定当前接派记录并写状态日志</a:t>
            </a:r>
            <a:endParaRPr sz="1050"/>
          </a:p>
        </p:txBody>
      </p:sp>
      <p:sp>
        <p:nvSpPr>
          <p:cNvPr id="66" name="e2">
            <a:extLst xmlns:a="http://schemas.openxmlformats.org/drawingml/2006/main">
              <a:ext uri="{FF2B5EF4-FFF2-40B4-BE49-F238E27FC236}">
                <a16:creationId xmlns:a16="http://schemas.microsoft.com/office/drawing/2014/main" id="{165635BC-55B6-BF17-CC35-3BCAF920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49600"/>
            <a:ext cx="1905000" cy="55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5240">
            <a:solidFill>
              <a:srgbClr val="64748B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7" name="e2-t">
            <a:extLst xmlns:a="http://schemas.openxmlformats.org/drawingml/2006/main">
              <a:ext uri="{FF2B5EF4-FFF2-40B4-BE49-F238E27FC236}">
                <a16:creationId xmlns:a16="http://schemas.microsoft.com/office/drawing/2014/main" id="{31A16F9B-F284-8D94-6924-8640AD50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149600"/>
            <a:ext cx="19050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1200" b="1">
                <a:solidFill>
                  <a:srgbClr val="64748B"/>
                </a:solidFill>
                <a:latin typeface="MiSans"/>
                <a:ea typeface="MiSans"/>
                <a:cs typeface="MiSans"/>
              </a:rPr>
              <a:t>退款售后中</a:t>
            </a:r>
            <a:endParaRPr sz="1600"/>
          </a:p>
          <a:p xmlns:a="http://schemas.openxmlformats.org/drawingml/2006/main">
            <a:pPr algn="ctr">
              <a:lnSpc>
                <a:spcPct val="130000"/>
              </a:lnSpc>
              <a:buNone/>
            </a:pPr>
            <a:r>
              <a:rPr sz="900">
                <a:solidFill>
                  <a:srgbClr val="64748B"/>
                </a:solidFill>
                <a:latin typeface="JetBrains Mono"/>
                <a:ea typeface="JetBrains Mono"/>
                <a:cs typeface="JetBrains Mono"/>
              </a:rPr>
              <a:t>REFUNDING</a:t>
            </a:r>
            <a:endParaRPr sz="1600"/>
          </a:p>
        </p:txBody>
      </p:sp>
      <p:sp>
        <p:nvSpPr>
          <p:cNvPr id="68" name="e2-d">
            <a:extLst xmlns:a="http://schemas.openxmlformats.org/drawingml/2006/main">
              <a:ext uri="{FF2B5EF4-FFF2-40B4-BE49-F238E27FC236}">
                <a16:creationId xmlns:a16="http://schemas.microsoft.com/office/drawing/2014/main" id="{7C85EDD8-2BE9-75E1-C2D1-0075E9B8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0400"/>
            <a:ext cx="391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05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已付款任务的售后经退款申请—管理员审核处理；跑腿员无法履约时管理员新增 REASSIGN 记录重派，流程已优化</a:t>
            </a:r>
            <a:endParaRPr sz="1050"/>
          </a:p>
        </p:txBody>
      </p:sp>
      <p:sp>
        <p:nvSpPr>
          <p:cNvPr id="69" name="impl-line">
            <a:extLst xmlns:a="http://schemas.openxmlformats.org/drawingml/2006/main">
              <a:ext uri="{FF2B5EF4-FFF2-40B4-BE49-F238E27FC236}">
                <a16:creationId xmlns:a16="http://schemas.microsoft.com/office/drawing/2014/main" id="{4567C189-CF68-B7B7-594A-7A8684BB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148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graphicFrame>
        <p:nvGraphicFramePr>
          <p:cNvPr id="109" name="st-table"/>
          <p:cNvGraphicFramePr/>
          <p:nvPr/>
        </p:nvGraphicFramePr>
        <p:xfrm>
          <a:off xmlns:a="http://schemas.openxmlformats.org/drawingml/2006/main" x="512064" y="4318000"/>
          <a:ext xmlns:a="http://schemas.openxmlformats.org/drawingml/2006/main" cx="11173968" cy="203511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45920"/>
                <a:gridCol w="2743200"/>
                <a:gridCol w="6784848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102033"/>
                      </a:solidFill>
                    </a:lnT>
                    <a:lnB w="19050">
                      <a:solidFill>
                        <a:srgbClr val="102033"/>
                      </a:solidFill>
                    </a:lnB>
                    <a:solidFill>
                      <a:srgbClr val="E4EE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102033"/>
                      </a:solidFill>
                    </a:lnT>
                    <a:lnB w="19050">
                      <a:solidFill>
                        <a:srgbClr val="102033"/>
                      </a:solidFill>
                    </a:lnB>
                    <a:solidFill>
                      <a:srgbClr val="E4EE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允许流转至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102033"/>
                      </a:solidFill>
                    </a:lnT>
                    <a:lnB w="19050">
                      <a:solidFill>
                        <a:srgbClr val="102033"/>
                      </a:solidFill>
                    </a:lnB>
                    <a:solidFill>
                      <a:srgbClr val="E4EE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000">
                          <a:solidFill>
                            <a:srgbClr val="102033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WAITING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102033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待接单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102033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ASSIGNED / CANCELLED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102033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000">
                          <a:solidFill>
                            <a:srgbClr val="102033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ASSIGNED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已接派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PICKED_UP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000">
                          <a:solidFill>
                            <a:srgbClr val="102033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PICKED_UP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已取货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DELIVERING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000">
                          <a:solidFill>
                            <a:srgbClr val="102033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DELIVERING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配送中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WAIT_CONFIRM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000">
                          <a:solidFill>
                            <a:srgbClr val="102033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WAIT_CONFIRM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待确认付款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FINISHED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000">
                          <a:solidFill>
                            <a:srgbClr val="102033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FINISHED 等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终态 / 售后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102033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FINISHED 不可再流转；REFUNDING 由管理员处理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E7F5"/>
                      </a:solidFill>
                      <a:prstDash val="solid"/>
                    </a:lnT>
                    <a:lnB w="12700">
                      <a:solidFill>
                        <a:srgbClr val="DCE7F5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3" name="ft-line">
            <a:extLst xmlns:a="http://schemas.openxmlformats.org/drawingml/2006/main">
              <a:ext uri="{FF2B5EF4-FFF2-40B4-BE49-F238E27FC236}">
                <a16:creationId xmlns:a16="http://schemas.microsoft.com/office/drawing/2014/main" id="{BFF6B245-4A29-526A-5359-B121740DE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F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5" name="ft-page">
            <a:extLst xmlns:a="http://schemas.openxmlformats.org/drawingml/2006/main">
              <a:ext uri="{FF2B5EF4-FFF2-40B4-BE49-F238E27FC236}">
                <a16:creationId xmlns:a16="http://schemas.microsoft.com/office/drawing/2014/main" id="{1AB1C120-AB3F-A0A4-A5F4-500AD0CB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64748B"/>
                </a:solidFill>
                <a:latin typeface="MiSans"/>
                <a:ea typeface="MiSans"/>
                <a:cs typeface="MiSans"/>
              </a:rPr>
              <a:t>9 / 44</a:t>
            </a:r>
            <a:endParaRPr sz="1000"/>
          </a:p>
        </p:txBody>
      </p:sp>
      <p:sp>
        <p:nvSpPr>
          <p:cNvPr id="76" name="ft-brand">
            <a:extLst xmlns:a="http://schemas.openxmlformats.org/drawingml/2006/main">
              <a:ext uri="{FF2B5EF4-FFF2-40B4-BE49-F238E27FC236}">
                <a16:creationId xmlns:a16="http://schemas.microsoft.com/office/drawing/2014/main" id="{22054281-C218-48B1-BD0F-E4EA0864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586309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49506431-5901-475C-A41E-E71BD4F5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079D695F-C760-495F-AE7B-57BE4C00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数据需求与非功能需求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5C086A22-E10E-4AC4-B8FB-7B9E641C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02 · 需求分析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3330A774-F0BA-4B41-83C6-F3A44818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11FD51D5-E3F9-4055-B9C7-D55A1A32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数据需求（四组核心数据）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07451FD7-57F4-4FEF-89FC-9411C634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用户类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用户账号与角色、实名信息、跑腿员认证资料、信用分与信誉变动记录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C8F67988-D0E5-4302-B9EC-58D8E06B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10B1B976-9515-4B5D-B21E-841A404B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订单类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代取 / 代买 / 转交订单、状态流转日志、投诉与处理记录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544FB6E7-50F8-402A-A598-C20C2885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617DE491-16E4-4090-929A-DE7D5FF4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站点类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中转节点及其状态、服务—节点适用规则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335D83D6-BAD4-42DD-A415-0339D7F6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1A5F975B-22F6-4AA2-B736-A2CD85C0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资金类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支付流水、退款记录、跑腿员收益结算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AEC5F8C8-C50D-45DB-90E9-066637E7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5ED72640-C661-4FAC-BCD2-F563EF2C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非功能需求（团队设计指标）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913CE2E6-8F6A-46B8-A469-43FD685B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并发能力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热点行采用 FOR UPDATE 行锁，避免抢单冲突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数据一致性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下单、支付、状态推进在同一事务内提交，失败整体回滚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安全性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密码加盐哈希存储；按角色最小授权；参数化 SQL 防注入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可扩展性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站点、楼宇、订单类型均可横向扩展，新校区接入不改表结构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75134DB3-F410-4483-918C-2F9A8A9C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39F64F1A-0136-4402-B80A-2B91EA96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95625B1D-07EC-4F0C-A866-BE437829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3B1C08E9-AA1A-4EB9-9FBE-435587A2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5BAF70FC-50D2-451B-9058-F842B276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10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82993765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232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iv-num">
            <a:extLst xmlns:a="http://schemas.openxmlformats.org/drawingml/2006/main">
              <a:ext uri="{FF2B5EF4-FFF2-40B4-BE49-F238E27FC236}">
                <a16:creationId xmlns:a16="http://schemas.microsoft.com/office/drawing/2014/main" id="{5984B324-2A5F-4550-809D-EA951ACD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524000"/>
            <a:ext cx="4064000" cy="215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03</a:t>
            </a:r>
            <a:endParaRPr sz="14000"/>
          </a:p>
        </p:txBody>
      </p:sp>
      <p:sp>
        <p:nvSpPr>
          <p:cNvPr id="3" name="div-line">
            <a:extLst xmlns:a="http://schemas.openxmlformats.org/drawingml/2006/main">
              <a:ext uri="{FF2B5EF4-FFF2-40B4-BE49-F238E27FC236}">
                <a16:creationId xmlns:a16="http://schemas.microsoft.com/office/drawing/2014/main" id="{D3935218-F463-42EA-81F9-13CD5DF3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32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iv-title">
            <a:extLst xmlns:a="http://schemas.openxmlformats.org/drawingml/2006/main">
              <a:ext uri="{FF2B5EF4-FFF2-40B4-BE49-F238E27FC236}">
                <a16:creationId xmlns:a16="http://schemas.microsoft.com/office/drawing/2014/main" id="{F621C30D-7EDB-4676-93C2-9D3D8739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318000"/>
            <a:ext cx="63500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40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数据库设计</a:t>
            </a:r>
            <a:endParaRPr sz="4000"/>
          </a:p>
        </p:txBody>
      </p:sp>
      <p:sp>
        <p:nvSpPr>
          <p:cNvPr id="5" name="div-sub">
            <a:extLst xmlns:a="http://schemas.openxmlformats.org/drawingml/2006/main">
              <a:ext uri="{FF2B5EF4-FFF2-40B4-BE49-F238E27FC236}">
                <a16:creationId xmlns:a16="http://schemas.microsoft.com/office/drawing/2014/main" id="{08B3D1E7-A8AB-4706-A520-ADAE9F6A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156200"/>
            <a:ext cx="812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">
                <a:solidFill>
                  <a:srgbClr val="B9B2A6"/>
                </a:solidFill>
                <a:latin typeface="MiSans"/>
                <a:ea typeface="MiSans"/>
                <a:cs typeface="MiSans"/>
              </a:rPr>
              <a:t>概念模型 · 关系模式 · 规范化 · 索引与约束</a:t>
            </a:r>
            <a:endParaRPr sz="1400"/>
          </a:p>
        </p:txBody>
      </p:sp>
      <p:sp>
        <p:nvSpPr>
          <p:cNvPr id="6" name="div-progress">
            <a:extLst xmlns:a="http://schemas.openxmlformats.org/drawingml/2006/main">
              <a:ext uri="{FF2B5EF4-FFF2-40B4-BE49-F238E27FC236}">
                <a16:creationId xmlns:a16="http://schemas.microsoft.com/office/drawing/2014/main" id="{8CCCE5F1-EF54-40F2-8085-CAE37936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7620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100" spc="200">
                <a:solidFill>
                  <a:srgbClr val="8A8478"/>
                </a:solidFill>
                <a:latin typeface="MiSans"/>
                <a:ea typeface="MiSans"/>
                <a:cs typeface="MiSans"/>
              </a:rPr>
              <a:t>SECTION 03 / 06</a:t>
            </a:r>
            <a:endParaRPr sz="1100"/>
          </a:p>
        </p:txBody>
      </p:sp>
      <p:sp>
        <p:nvSpPr>
          <p:cNvPr id="7" name="div-brand">
            <a:extLst xmlns:a="http://schemas.openxmlformats.org/drawingml/2006/main">
              <a:ext uri="{FF2B5EF4-FFF2-40B4-BE49-F238E27FC236}">
                <a16:creationId xmlns:a16="http://schemas.microsoft.com/office/drawing/2014/main" id="{544AB948-5314-4ED5-A255-EF689779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62992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济跑跑 JIRUN · 数据库课程设计答辩</a:t>
            </a:r>
            <a:endParaRPr sz="1000"/>
          </a:p>
        </p:txBody>
      </p:sp>
      <p:sp>
        <p:nvSpPr>
          <p:cNvPr id="8" name="div-page">
            <a:extLst xmlns:a="http://schemas.openxmlformats.org/drawingml/2006/main">
              <a:ext uri="{FF2B5EF4-FFF2-40B4-BE49-F238E27FC236}">
                <a16:creationId xmlns:a16="http://schemas.microsoft.com/office/drawing/2014/main" id="{7E7ABCF7-7BAF-43FE-B935-81A7416D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0" y="6299200"/>
            <a:ext cx="76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11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610378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DF48E97D-C09B-416D-85DB-21C7D3DA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7CD08864-9ACC-4151-9517-0C1F2413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总体 E-R 图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0B66C76F-98DD-4D03-AD63-635E37B3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03 · 数据库设计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0EF03369-2168-4601-A2F5-01782E3F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er-caption">
            <a:extLst xmlns:a="http://schemas.openxmlformats.org/drawingml/2006/main">
              <a:ext uri="{FF2B5EF4-FFF2-40B4-BE49-F238E27FC236}">
                <a16:creationId xmlns:a16="http://schemas.microsoft.com/office/drawing/2014/main" id="{3AFF22B4-64A0-4860-AA57-BC16E72B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5943600"/>
            <a:ext cx="1117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图 2　总体 E-R 图</a:t>
            </a:r>
            <a:endParaRPr sz="1000"/>
          </a:p>
        </p:txBody>
      </p:sp>
      <p:sp>
        <p:nvSpPr>
          <p:cNvPr id="50" name="ft-line">
            <a:extLst xmlns:a="http://schemas.openxmlformats.org/drawingml/2006/main">
              <a:ext uri="{FF2B5EF4-FFF2-40B4-BE49-F238E27FC236}">
                <a16:creationId xmlns:a16="http://schemas.microsoft.com/office/drawing/2014/main" id="{08C08B05-8498-409D-88AF-981515B7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ft-brand">
            <a:extLst xmlns:a="http://schemas.openxmlformats.org/drawingml/2006/main">
              <a:ext uri="{FF2B5EF4-FFF2-40B4-BE49-F238E27FC236}">
                <a16:creationId xmlns:a16="http://schemas.microsoft.com/office/drawing/2014/main" id="{BA636467-350A-4205-AF85-816D63B1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52" name="ft-page">
            <a:extLst xmlns:a="http://schemas.openxmlformats.org/drawingml/2006/main">
              <a:ext uri="{FF2B5EF4-FFF2-40B4-BE49-F238E27FC236}">
                <a16:creationId xmlns:a16="http://schemas.microsoft.com/office/drawing/2014/main" id="{84E516E0-FF83-45C3-AD35-D279F2FA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12 / 44</a:t>
            </a:r>
            <a:endParaRPr sz="1000"/>
          </a:p>
        </p:txBody>
      </p:sp>
      <p:sp>
        <p:nvSpPr>
          <p:cNvPr id="53" name="ent-user">
            <a:extLst xmlns:a="http://schemas.openxmlformats.org/drawingml/2006/main">
              <a:ext uri="{FF2B5EF4-FFF2-40B4-BE49-F238E27FC236}">
                <a16:creationId xmlns:a16="http://schemas.microsoft.com/office/drawing/2014/main" id="{C4A95776-27D9-4DE4-AE65-A78DF6AC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73736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3272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rIns="54864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用户</a:t>
            </a:r>
            <a:r>
              <a:rPr sz="80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 USER</a:t>
            </a:r>
          </a:p>
          <a:p xmlns:a="http://schemas.openxmlformats.org/drawingml/2006/main">
            <a:pPr algn="ctr">
              <a:buNone/>
            </a:pPr>
            <a:r>
              <a:rPr sz="9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user_id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账号 · 手机号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角色 · 账号状态</a:t>
            </a:r>
          </a:p>
        </p:txBody>
      </p:sp>
      <p:sp>
        <p:nvSpPr>
          <p:cNvPr id="54" name="ent-task">
            <a:extLst xmlns:a="http://schemas.openxmlformats.org/drawingml/2006/main">
              <a:ext uri="{FF2B5EF4-FFF2-40B4-BE49-F238E27FC236}">
                <a16:creationId xmlns:a16="http://schemas.microsoft.com/office/drawing/2014/main" id="{7CB8D1A3-3B81-4D53-9F1E-9509A4D0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1234440"/>
            <a:ext cx="20574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8551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rIns="54864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任务</a:t>
            </a:r>
            <a:r>
              <a:rPr sz="80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 TASKS</a:t>
            </a:r>
          </a:p>
          <a:p xmlns:a="http://schemas.openxmlformats.org/drawingml/2006/main">
            <a:pPr algn="ctr">
              <a:buNone/>
            </a:pPr>
            <a:r>
              <a:rPr sz="9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task_id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类型 · 价格 · 状态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交接节点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发布 / 完成时间</a:t>
            </a:r>
          </a:p>
        </p:txBody>
      </p:sp>
      <p:sp>
        <p:nvSpPr>
          <p:cNvPr id="55" name="ent-node">
            <a:extLst xmlns:a="http://schemas.openxmlformats.org/drawingml/2006/main">
              <a:ext uri="{FF2B5EF4-FFF2-40B4-BE49-F238E27FC236}">
                <a16:creationId xmlns:a16="http://schemas.microsoft.com/office/drawing/2014/main" id="{E841FFBF-10C8-4C49-80A2-01C37CC7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417320"/>
            <a:ext cx="173736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3272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rIns="54864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节点</a:t>
            </a:r>
            <a:r>
              <a:rPr sz="80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 NODE</a:t>
            </a:r>
          </a:p>
          <a:p xmlns:a="http://schemas.openxmlformats.org/drawingml/2006/main">
            <a:pPr algn="ctr">
              <a:buNone/>
            </a:pPr>
            <a:r>
              <a:rPr sz="9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node_id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类型 · 名称 · 位置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状态</a:t>
            </a:r>
          </a:p>
        </p:txBody>
      </p:sp>
      <p:sp>
        <p:nvSpPr>
          <p:cNvPr id="56" name="ent-review">
            <a:extLst xmlns:a="http://schemas.openxmlformats.org/drawingml/2006/main">
              <a:ext uri="{FF2B5EF4-FFF2-40B4-BE49-F238E27FC236}">
                <a16:creationId xmlns:a16="http://schemas.microsoft.com/office/drawing/2014/main" id="{723D8BF7-554C-4B33-B9A7-D003224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43200"/>
            <a:ext cx="18288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3272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rIns="54864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评价</a:t>
            </a:r>
            <a:r>
              <a:rPr sz="80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 REVIEW</a:t>
            </a:r>
          </a:p>
          <a:p xmlns:a="http://schemas.openxmlformats.org/drawingml/2006/main">
            <a:pPr algn="ctr">
              <a:buNone/>
            </a:pPr>
            <a:r>
              <a:rPr sz="9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review_id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星级 · 内容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信誉变动值</a:t>
            </a:r>
          </a:p>
        </p:txBody>
      </p:sp>
      <p:sp>
        <p:nvSpPr>
          <p:cNvPr id="57" name="ent-runner">
            <a:extLst xmlns:a="http://schemas.openxmlformats.org/drawingml/2006/main">
              <a:ext uri="{FF2B5EF4-FFF2-40B4-BE49-F238E27FC236}">
                <a16:creationId xmlns:a16="http://schemas.microsoft.com/office/drawing/2014/main" id="{41EDA5A6-DAD2-43CB-AD0B-27DBF7E0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069080"/>
            <a:ext cx="173736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3272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rIns="54864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跑腿员</a:t>
            </a:r>
            <a:r>
              <a:rPr sz="80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 RUNNERS</a:t>
            </a:r>
          </a:p>
          <a:p xmlns:a="http://schemas.openxmlformats.org/drawingml/2006/main">
            <a:pPr algn="ctr">
              <a:buNone/>
            </a:pPr>
            <a:r>
              <a:rPr sz="9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runner_id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认证状态 · 工作状态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信用分</a:t>
            </a:r>
          </a:p>
        </p:txBody>
      </p:sp>
      <p:sp>
        <p:nvSpPr>
          <p:cNvPr id="58" name="ent-assign">
            <a:extLst xmlns:a="http://schemas.openxmlformats.org/drawingml/2006/main">
              <a:ext uri="{FF2B5EF4-FFF2-40B4-BE49-F238E27FC236}">
                <a16:creationId xmlns:a16="http://schemas.microsoft.com/office/drawing/2014/main" id="{5E2C9246-572E-46AC-B08E-9B43EAA1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4023360"/>
            <a:ext cx="2057400" cy="1463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3272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rIns="54864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接派记录</a:t>
            </a:r>
            <a:r>
              <a:rPr sz="80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 ASSIGN_RECORD</a:t>
            </a:r>
          </a:p>
          <a:p xmlns:a="http://schemas.openxmlformats.org/drawingml/2006/main">
            <a:pPr algn="ctr">
              <a:buNone/>
            </a:pPr>
            <a:r>
              <a:rPr sz="9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record_id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操作类型 · 接派时间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重派原因</a:t>
            </a:r>
          </a:p>
        </p:txBody>
      </p:sp>
      <p:sp>
        <p:nvSpPr>
          <p:cNvPr id="59" name="ent-payment">
            <a:extLst xmlns:a="http://schemas.openxmlformats.org/drawingml/2006/main">
              <a:ext uri="{FF2B5EF4-FFF2-40B4-BE49-F238E27FC236}">
                <a16:creationId xmlns:a16="http://schemas.microsoft.com/office/drawing/2014/main" id="{E828A9BA-72D4-4D73-A2BB-13DDCF54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4069080"/>
            <a:ext cx="173736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3272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rIns="54864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支付单</a:t>
            </a:r>
            <a:r>
              <a:rPr sz="80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 PAYMENT</a:t>
            </a:r>
          </a:p>
          <a:p xmlns:a="http://schemas.openxmlformats.org/drawingml/2006/main">
            <a:pPr algn="ctr">
              <a:buNone/>
            </a:pPr>
            <a:r>
              <a:rPr sz="9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payment_id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订单金额 · 实付金额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渠道 · 状态</a:t>
            </a:r>
          </a:p>
        </p:txBody>
      </p:sp>
      <p:sp>
        <p:nvSpPr>
          <p:cNvPr id="60" name="ent-settle">
            <a:extLst xmlns:a="http://schemas.openxmlformats.org/drawingml/2006/main">
              <a:ext uri="{FF2B5EF4-FFF2-40B4-BE49-F238E27FC236}">
                <a16:creationId xmlns:a16="http://schemas.microsoft.com/office/drawing/2014/main" id="{E61E5EF7-30FF-4FB6-A640-E9E4F205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4069080"/>
            <a:ext cx="146304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3272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4864" rIns="54864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结算单</a:t>
            </a:r>
            <a:r>
              <a:rPr sz="80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 SETTLEMENT</a:t>
            </a:r>
          </a:p>
          <a:p xmlns:a="http://schemas.openxmlformats.org/drawingml/2006/main">
            <a:pPr algn="ctr">
              <a:buNone/>
            </a:pPr>
            <a:r>
              <a:rPr sz="9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settlement_id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总额 · 抽成</a:t>
            </a:r>
          </a:p>
          <a:p xmlns:a="http://schemas.openxmlformats.org/drawingml/2006/main">
            <a:pPr algn="ctr">
              <a:buNone/>
            </a:pPr>
            <a:r>
              <a:rPr sz="950" b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净收入 · 状态</a:t>
            </a:r>
          </a:p>
        </p:txBody>
      </p:sp>
      <p:sp>
        <p:nvSpPr>
          <p:cNvPr id="61" name="rel-pub">
            <a:extLst xmlns:a="http://schemas.openxmlformats.org/drawingml/2006/main">
              <a:ext uri="{FF2B5EF4-FFF2-40B4-BE49-F238E27FC236}">
                <a16:creationId xmlns:a16="http://schemas.microsoft.com/office/drawing/2014/main" id="{4F87FA17-8FC0-4F84-8075-B38B778E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1828800"/>
            <a:ext cx="868680" cy="54864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DCCB"/>
          </a:solidFill>
          <a:ln xmlns:a="http://schemas.openxmlformats.org/drawingml/2006/main" w="15240">
            <a:solidFill>
              <a:srgbClr val="E8551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发布</a:t>
            </a:r>
          </a:p>
        </p:txBody>
      </p:sp>
      <p:sp>
        <p:nvSpPr>
          <p:cNvPr id="62" name="rel-node">
            <a:extLst xmlns:a="http://schemas.openxmlformats.org/drawingml/2006/main">
              <a:ext uri="{FF2B5EF4-FFF2-40B4-BE49-F238E27FC236}">
                <a16:creationId xmlns:a16="http://schemas.microsoft.com/office/drawing/2014/main" id="{554E0626-2250-413D-BC60-64DA62F8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28800"/>
            <a:ext cx="868680" cy="54864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DCCB"/>
          </a:solidFill>
          <a:ln xmlns:a="http://schemas.openxmlformats.org/drawingml/2006/main" w="15240">
            <a:solidFill>
              <a:srgbClr val="E8551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交接</a:t>
            </a:r>
          </a:p>
        </p:txBody>
      </p:sp>
      <p:sp>
        <p:nvSpPr>
          <p:cNvPr id="63" name="rel-review">
            <a:extLst xmlns:a="http://schemas.openxmlformats.org/drawingml/2006/main">
              <a:ext uri="{FF2B5EF4-FFF2-40B4-BE49-F238E27FC236}">
                <a16:creationId xmlns:a16="http://schemas.microsoft.com/office/drawing/2014/main" id="{8E1966B1-65A0-450A-A1CE-59895529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1176"/>
            <a:ext cx="822960" cy="384048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DCCB"/>
          </a:solidFill>
          <a:ln xmlns:a="http://schemas.openxmlformats.org/drawingml/2006/main" w="15240">
            <a:solidFill>
              <a:srgbClr val="E8551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获得</a:t>
            </a:r>
          </a:p>
        </p:txBody>
      </p:sp>
      <p:sp>
        <p:nvSpPr>
          <p:cNvPr id="64" name="rel-gen">
            <a:extLst xmlns:a="http://schemas.openxmlformats.org/drawingml/2006/main">
              <a:ext uri="{FF2B5EF4-FFF2-40B4-BE49-F238E27FC236}">
                <a16:creationId xmlns:a16="http://schemas.microsoft.com/office/drawing/2014/main" id="{19246E8E-4028-4B88-92BE-6A6B34A7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580" y="3291840"/>
            <a:ext cx="822960" cy="50292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DCCB"/>
          </a:solidFill>
          <a:ln xmlns:a="http://schemas.openxmlformats.org/drawingml/2006/main" w="15240">
            <a:solidFill>
              <a:srgbClr val="E8551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生成</a:t>
            </a:r>
          </a:p>
        </p:txBody>
      </p:sp>
      <p:sp>
        <p:nvSpPr>
          <p:cNvPr id="65" name="rel-take">
            <a:extLst xmlns:a="http://schemas.openxmlformats.org/drawingml/2006/main">
              <a:ext uri="{FF2B5EF4-FFF2-40B4-BE49-F238E27FC236}">
                <a16:creationId xmlns:a16="http://schemas.microsoft.com/office/drawing/2014/main" id="{E59C8B44-C994-4D39-A6BC-233BF48C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480560"/>
            <a:ext cx="868680" cy="54864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DCCB"/>
          </a:solidFill>
          <a:ln xmlns:a="http://schemas.openxmlformats.org/drawingml/2006/main" w="15240">
            <a:solidFill>
              <a:srgbClr val="E8551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承接</a:t>
            </a:r>
          </a:p>
        </p:txBody>
      </p:sp>
      <p:sp>
        <p:nvSpPr>
          <p:cNvPr id="66" name="rel-pay">
            <a:extLst xmlns:a="http://schemas.openxmlformats.org/drawingml/2006/main">
              <a:ext uri="{FF2B5EF4-FFF2-40B4-BE49-F238E27FC236}">
                <a16:creationId xmlns:a16="http://schemas.microsoft.com/office/drawing/2014/main" id="{A5CBA0D1-D053-4C34-9C5D-F25B841C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80560"/>
            <a:ext cx="868680" cy="54864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DCCB"/>
          </a:solidFill>
          <a:ln xmlns:a="http://schemas.openxmlformats.org/drawingml/2006/main" w="15240">
            <a:solidFill>
              <a:srgbClr val="E8551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对应</a:t>
            </a:r>
          </a:p>
        </p:txBody>
      </p:sp>
      <p:sp>
        <p:nvSpPr>
          <p:cNvPr id="67" name="rel-into">
            <a:extLst xmlns:a="http://schemas.openxmlformats.org/drawingml/2006/main">
              <a:ext uri="{FF2B5EF4-FFF2-40B4-BE49-F238E27FC236}">
                <a16:creationId xmlns:a16="http://schemas.microsoft.com/office/drawing/2014/main" id="{CC2F6951-6669-4E19-9990-3C9740E7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480560"/>
            <a:ext cx="731520" cy="54864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DCCB"/>
          </a:solidFill>
          <a:ln xmlns:a="http://schemas.openxmlformats.org/drawingml/2006/main" w="15240">
            <a:solidFill>
              <a:srgbClr val="E8551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汇入</a:t>
            </a:r>
          </a:p>
        </p:txBody>
      </p:sp>
      <p:sp>
        <p:nvSpPr>
          <p:cNvPr id="68" name="rel-own">
            <a:extLst xmlns:a="http://schemas.openxmlformats.org/drawingml/2006/main">
              <a:ext uri="{FF2B5EF4-FFF2-40B4-BE49-F238E27FC236}">
                <a16:creationId xmlns:a16="http://schemas.microsoft.com/office/drawing/2014/main" id="{0EBFEA60-3613-4C90-9A79-56A93082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5541264"/>
            <a:ext cx="822960" cy="36576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4DCCB"/>
          </a:solidFill>
          <a:ln xmlns:a="http://schemas.openxmlformats.org/drawingml/2006/main" w="15240">
            <a:solidFill>
              <a:srgbClr val="E8551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归属</a:t>
            </a:r>
          </a:p>
        </p:txBody>
      </p:sp>
      <p:sp>
        <p:nvSpPr>
          <p:cNvPr id="69" name="l-pub-1">
            <a:extLst xmlns:a="http://schemas.openxmlformats.org/drawingml/2006/main">
              <a:ext uri="{FF2B5EF4-FFF2-40B4-BE49-F238E27FC236}">
                <a16:creationId xmlns:a16="http://schemas.microsoft.com/office/drawing/2014/main" id="{ACD18E1A-0E83-480F-BF88-1943C0FA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093976"/>
            <a:ext cx="32004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0" name="l-pub-2">
            <a:extLst xmlns:a="http://schemas.openxmlformats.org/drawingml/2006/main">
              <a:ext uri="{FF2B5EF4-FFF2-40B4-BE49-F238E27FC236}">
                <a16:creationId xmlns:a16="http://schemas.microsoft.com/office/drawing/2014/main" id="{CF868453-3321-4876-9C12-0AB6B98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093976"/>
            <a:ext cx="45720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1" name="l-node-1">
            <a:extLst xmlns:a="http://schemas.openxmlformats.org/drawingml/2006/main">
              <a:ext uri="{FF2B5EF4-FFF2-40B4-BE49-F238E27FC236}">
                <a16:creationId xmlns:a16="http://schemas.microsoft.com/office/drawing/2014/main" id="{CAB779AF-6141-4117-95F8-667BD293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093976"/>
            <a:ext cx="45720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2" name="l-node-2">
            <a:extLst xmlns:a="http://schemas.openxmlformats.org/drawingml/2006/main">
              <a:ext uri="{FF2B5EF4-FFF2-40B4-BE49-F238E27FC236}">
                <a16:creationId xmlns:a16="http://schemas.microsoft.com/office/drawing/2014/main" id="{1FE1C349-5613-40BD-A99B-C8405837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093976"/>
            <a:ext cx="45720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3" name="l-rev-1">
            <a:extLst xmlns:a="http://schemas.openxmlformats.org/drawingml/2006/main">
              <a:ext uri="{FF2B5EF4-FFF2-40B4-BE49-F238E27FC236}">
                <a16:creationId xmlns:a16="http://schemas.microsoft.com/office/drawing/2014/main" id="{A46628D1-C483-4083-81A0-6676C91A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734056"/>
            <a:ext cx="32004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4" name="l-rev-2">
            <a:extLst xmlns:a="http://schemas.openxmlformats.org/drawingml/2006/main">
              <a:ext uri="{FF2B5EF4-FFF2-40B4-BE49-F238E27FC236}">
                <a16:creationId xmlns:a16="http://schemas.microsoft.com/office/drawing/2014/main" id="{BBAFBE72-EDCB-4EA0-8876-D6402A92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734056"/>
            <a:ext cx="260604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5" name="l-gen-1">
            <a:extLst xmlns:a="http://schemas.openxmlformats.org/drawingml/2006/main">
              <a:ext uri="{FF2B5EF4-FFF2-40B4-BE49-F238E27FC236}">
                <a16:creationId xmlns:a16="http://schemas.microsoft.com/office/drawing/2014/main" id="{ABA3A7BA-4F14-44DC-9F77-B89DAE73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2916" y="2971800"/>
            <a:ext cx="18288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6" name="l-gen-2">
            <a:extLst xmlns:a="http://schemas.openxmlformats.org/drawingml/2006/main">
              <a:ext uri="{FF2B5EF4-FFF2-40B4-BE49-F238E27FC236}">
                <a16:creationId xmlns:a16="http://schemas.microsoft.com/office/drawing/2014/main" id="{4A1548B4-6C3A-4D70-8A8E-08A59DF5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2916" y="3794760"/>
            <a:ext cx="18288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7" name="l-take-1">
            <a:extLst xmlns:a="http://schemas.openxmlformats.org/drawingml/2006/main">
              <a:ext uri="{FF2B5EF4-FFF2-40B4-BE49-F238E27FC236}">
                <a16:creationId xmlns:a16="http://schemas.microsoft.com/office/drawing/2014/main" id="{AFB019B9-3E5C-4F49-B5C4-6159E08C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745736"/>
            <a:ext cx="32004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8" name="l-take-2">
            <a:extLst xmlns:a="http://schemas.openxmlformats.org/drawingml/2006/main">
              <a:ext uri="{FF2B5EF4-FFF2-40B4-BE49-F238E27FC236}">
                <a16:creationId xmlns:a16="http://schemas.microsoft.com/office/drawing/2014/main" id="{E63CD364-C968-4C80-A685-2BFA5FBB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45736"/>
            <a:ext cx="45720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9" name="l-pay-1">
            <a:extLst xmlns:a="http://schemas.openxmlformats.org/drawingml/2006/main">
              <a:ext uri="{FF2B5EF4-FFF2-40B4-BE49-F238E27FC236}">
                <a16:creationId xmlns:a16="http://schemas.microsoft.com/office/drawing/2014/main" id="{8967B16C-1D65-4D07-829F-76D4EE73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4745736"/>
            <a:ext cx="32004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0" name="l-pay-2">
            <a:extLst xmlns:a="http://schemas.openxmlformats.org/drawingml/2006/main">
              <a:ext uri="{FF2B5EF4-FFF2-40B4-BE49-F238E27FC236}">
                <a16:creationId xmlns:a16="http://schemas.microsoft.com/office/drawing/2014/main" id="{EA7052CD-C82C-4F53-AEA8-B2B90B04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45736"/>
            <a:ext cx="9144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1" name="l-into-1">
            <a:extLst xmlns:a="http://schemas.openxmlformats.org/drawingml/2006/main">
              <a:ext uri="{FF2B5EF4-FFF2-40B4-BE49-F238E27FC236}">
                <a16:creationId xmlns:a16="http://schemas.microsoft.com/office/drawing/2014/main" id="{E9AB33DA-B1D6-4CB1-84BF-F9FC8CB6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745736"/>
            <a:ext cx="1371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2" name="l-into-2">
            <a:extLst xmlns:a="http://schemas.openxmlformats.org/drawingml/2006/main">
              <a:ext uri="{FF2B5EF4-FFF2-40B4-BE49-F238E27FC236}">
                <a16:creationId xmlns:a16="http://schemas.microsoft.com/office/drawing/2014/main" id="{E3B87D2A-1F87-40B0-8C35-C75FBED8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4745736"/>
            <a:ext cx="22860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3" name="l-own-1">
            <a:extLst xmlns:a="http://schemas.openxmlformats.org/drawingml/2006/main">
              <a:ext uri="{FF2B5EF4-FFF2-40B4-BE49-F238E27FC236}">
                <a16:creationId xmlns:a16="http://schemas.microsoft.com/office/drawing/2014/main" id="{21A4B2EA-D9FC-48A7-8CDF-08561688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40680"/>
            <a:ext cx="18288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4" name="l-own-2">
            <a:extLst xmlns:a="http://schemas.openxmlformats.org/drawingml/2006/main">
              <a:ext uri="{FF2B5EF4-FFF2-40B4-BE49-F238E27FC236}">
                <a16:creationId xmlns:a16="http://schemas.microsoft.com/office/drawing/2014/main" id="{FF26087A-D0BB-46BD-8074-B03276AE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715000"/>
            <a:ext cx="9427464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5" name="l-own-3">
            <a:extLst xmlns:a="http://schemas.openxmlformats.org/drawingml/2006/main">
              <a:ext uri="{FF2B5EF4-FFF2-40B4-BE49-F238E27FC236}">
                <a16:creationId xmlns:a16="http://schemas.microsoft.com/office/drawing/2014/main" id="{3DF07E07-16C8-4B04-9CBE-BC31C146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7936" y="5440680"/>
            <a:ext cx="18288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6" name="card-1-2.66">
            <a:extLst xmlns:a="http://schemas.openxmlformats.org/drawingml/2006/main">
              <a:ext uri="{FF2B5EF4-FFF2-40B4-BE49-F238E27FC236}">
                <a16:creationId xmlns:a16="http://schemas.microsoft.com/office/drawing/2014/main" id="{17B24F72-645E-4A8D-9A1D-08C17F2E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1828800"/>
            <a:ext cx="274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1</a:t>
            </a:r>
          </a:p>
        </p:txBody>
      </p:sp>
      <p:sp>
        <p:nvSpPr>
          <p:cNvPr id="87" name="card-N-4.02">
            <a:extLst xmlns:a="http://schemas.openxmlformats.org/drawingml/2006/main">
              <a:ext uri="{FF2B5EF4-FFF2-40B4-BE49-F238E27FC236}">
                <a16:creationId xmlns:a16="http://schemas.microsoft.com/office/drawing/2014/main" id="{29CF8BA0-2B41-4461-B7B8-E59D81A1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7" y="1828800"/>
            <a:ext cx="274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N</a:t>
            </a:r>
          </a:p>
        </p:txBody>
      </p:sp>
      <p:sp>
        <p:nvSpPr>
          <p:cNvPr id="88" name="card-N-6.72">
            <a:extLst xmlns:a="http://schemas.openxmlformats.org/drawingml/2006/main">
              <a:ext uri="{FF2B5EF4-FFF2-40B4-BE49-F238E27FC236}">
                <a16:creationId xmlns:a16="http://schemas.microsoft.com/office/drawing/2014/main" id="{D858B75D-5032-42B5-9BCD-C98C4017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828800"/>
            <a:ext cx="274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N</a:t>
            </a:r>
          </a:p>
        </p:txBody>
      </p:sp>
      <p:sp>
        <p:nvSpPr>
          <p:cNvPr id="89" name="card-1-8.2">
            <a:extLst xmlns:a="http://schemas.openxmlformats.org/drawingml/2006/main">
              <a:ext uri="{FF2B5EF4-FFF2-40B4-BE49-F238E27FC236}">
                <a16:creationId xmlns:a16="http://schemas.microsoft.com/office/drawing/2014/main" id="{F0336A19-20A5-4A02-8A6F-B1E8C0CA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79" y="1828800"/>
            <a:ext cx="274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1</a:t>
            </a:r>
          </a:p>
        </p:txBody>
      </p:sp>
      <p:sp>
        <p:nvSpPr>
          <p:cNvPr id="90" name="card-1 : 1-7.0">
            <a:extLst xmlns:a="http://schemas.openxmlformats.org/drawingml/2006/main">
              <a:ext uri="{FF2B5EF4-FFF2-40B4-BE49-F238E27FC236}">
                <a16:creationId xmlns:a16="http://schemas.microsoft.com/office/drawing/2014/main" id="{1C8D372F-FBA6-416F-B82D-31C63565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62656"/>
            <a:ext cx="822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1 : 1</a:t>
            </a:r>
          </a:p>
        </p:txBody>
      </p:sp>
      <p:sp>
        <p:nvSpPr>
          <p:cNvPr id="91" name="card-1-5.62">
            <a:extLst xmlns:a="http://schemas.openxmlformats.org/drawingml/2006/main">
              <a:ext uri="{FF2B5EF4-FFF2-40B4-BE49-F238E27FC236}">
                <a16:creationId xmlns:a16="http://schemas.microsoft.com/office/drawing/2014/main" id="{065A5F4F-0572-49DD-B0EB-BBE42EFF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3017520"/>
            <a:ext cx="274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1</a:t>
            </a:r>
          </a:p>
        </p:txBody>
      </p:sp>
      <p:sp>
        <p:nvSpPr>
          <p:cNvPr id="92" name="card-N-5.62">
            <a:extLst xmlns:a="http://schemas.openxmlformats.org/drawingml/2006/main">
              <a:ext uri="{FF2B5EF4-FFF2-40B4-BE49-F238E27FC236}">
                <a16:creationId xmlns:a16="http://schemas.microsoft.com/office/drawing/2014/main" id="{0630539F-A229-480F-854F-E4382CBA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3822191"/>
            <a:ext cx="274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N</a:t>
            </a:r>
          </a:p>
        </p:txBody>
      </p:sp>
      <p:sp>
        <p:nvSpPr>
          <p:cNvPr id="93" name="card-1-2.66">
            <a:extLst xmlns:a="http://schemas.openxmlformats.org/drawingml/2006/main">
              <a:ext uri="{FF2B5EF4-FFF2-40B4-BE49-F238E27FC236}">
                <a16:creationId xmlns:a16="http://schemas.microsoft.com/office/drawing/2014/main" id="{FC0BA705-A9BE-44E2-9C05-C70E5A20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4480560"/>
            <a:ext cx="274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1</a:t>
            </a:r>
          </a:p>
        </p:txBody>
      </p:sp>
      <p:sp>
        <p:nvSpPr>
          <p:cNvPr id="94" name="card-N-4.02">
            <a:extLst xmlns:a="http://schemas.openxmlformats.org/drawingml/2006/main">
              <a:ext uri="{FF2B5EF4-FFF2-40B4-BE49-F238E27FC236}">
                <a16:creationId xmlns:a16="http://schemas.microsoft.com/office/drawing/2014/main" id="{48A3EE47-8ECE-450B-80A1-4D716114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7" y="4480560"/>
            <a:ext cx="274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N</a:t>
            </a:r>
          </a:p>
        </p:txBody>
      </p:sp>
      <p:sp>
        <p:nvSpPr>
          <p:cNvPr id="95" name="card-1 : 1-6.98">
            <a:extLst xmlns:a="http://schemas.openxmlformats.org/drawingml/2006/main">
              <a:ext uri="{FF2B5EF4-FFF2-40B4-BE49-F238E27FC236}">
                <a16:creationId xmlns:a16="http://schemas.microsoft.com/office/drawing/2014/main" id="{E1D887F9-519D-4C1F-9E1D-853E46E3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206240"/>
            <a:ext cx="90525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1 : 1</a:t>
            </a:r>
          </a:p>
        </p:txBody>
      </p:sp>
      <p:sp>
        <p:nvSpPr>
          <p:cNvPr id="96" name="card-N : 1-10.0">
            <a:extLst xmlns:a="http://schemas.openxmlformats.org/drawingml/2006/main">
              <a:ext uri="{FF2B5EF4-FFF2-40B4-BE49-F238E27FC236}">
                <a16:creationId xmlns:a16="http://schemas.microsoft.com/office/drawing/2014/main" id="{0131402A-0C8E-4BE5-9376-67E20883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87952"/>
            <a:ext cx="914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N : 1</a:t>
            </a:r>
          </a:p>
        </p:txBody>
      </p:sp>
      <p:sp>
        <p:nvSpPr>
          <p:cNvPr id="97" name="card-1-1.74">
            <a:extLst xmlns:a="http://schemas.openxmlformats.org/drawingml/2006/main">
              <a:ext uri="{FF2B5EF4-FFF2-40B4-BE49-F238E27FC236}">
                <a16:creationId xmlns:a16="http://schemas.microsoft.com/office/drawing/2014/main" id="{7B8FA881-924F-453E-ABCB-3D524A01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5458968"/>
            <a:ext cx="274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1</a:t>
            </a:r>
          </a:p>
        </p:txBody>
      </p:sp>
      <p:sp>
        <p:nvSpPr>
          <p:cNvPr id="98" name="card-N-11.56">
            <a:extLst xmlns:a="http://schemas.openxmlformats.org/drawingml/2006/main">
              <a:ext uri="{FF2B5EF4-FFF2-40B4-BE49-F238E27FC236}">
                <a16:creationId xmlns:a16="http://schemas.microsoft.com/office/drawing/2014/main" id="{D5789770-9FDF-459B-A630-45E9AAD0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0464" y="5458968"/>
            <a:ext cx="274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4906390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B435ECC0-B872-41B9-819F-FD2A4286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E98DB2F1-3EFB-4FE2-B2F2-9D1C223A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逻辑结构设计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FD0F6316-CFF1-44B4-B4EA-58BAAF8E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03 · 数据库设计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197DDA21-B164-48B0-AD83-D81A12A9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graphicFrame>
        <p:nvGraphicFramePr>
          <p:cNvPr id="17" name="schema-table"/>
          <p:cNvGraphicFramePr/>
          <p:nvPr/>
        </p:nvGraphicFramePr>
        <p:xfrm>
          <a:off xmlns:a="http://schemas.openxmlformats.org/drawingml/2006/main" x="508000" y="1219200"/>
          <a:ext xmlns:a="http://schemas.openxmlformats.org/drawingml/2006/main" cx="11176000" cy="452120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88160"/>
                <a:gridCol w="5811520"/>
                <a:gridCol w="1229360"/>
                <a:gridCol w="2346960"/>
              </a:tblGrid>
              <a:tr h="397866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表名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主要属性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主码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外码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</a:tr>
              <a:tr h="515417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users 用户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username, phone, password_hash, user_role, account_status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user_id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15417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runners 跑腿员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user_id, real_name, identity_info, audit_status, work_status, credit_score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runner_id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user_id → users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15417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tasks 任务主单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publisher_user_id, service_type_id, address_no, node_id, task_title, task_price, urgent_flag, task_status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task_id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组合外键引用 users、user_addresses、service_node_rules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15417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任务明细（外卖 / 代取 / 转交）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food_delivery_details, express_pickup_details, private_task_details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(task_id, detail_no)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task_id → tasks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15417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assign_records 接派记录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task_id, runner_id, operation_type, assigned_at, reassign_reason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record_id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task_id → tasks, runner_id → runners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15417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task_status_logs 状态日志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record_id, status_before, status_after, operator_user_id, operated_at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log_id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record_id → assign_records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15417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payments 支付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record_id, order_amount, pay_amount, pay_method, pay_status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payment_id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record_id → assign_records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15417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reviews 评价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task_id, record_id, rating, comment_text, credit_delta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review_id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(record_id, task_id) → assign_records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schema-note-icon">
            <a:extLst xmlns:a="http://schemas.openxmlformats.org/drawingml/2006/main">
              <a:ext uri="{FF2B5EF4-FFF2-40B4-BE49-F238E27FC236}">
                <a16:creationId xmlns:a16="http://schemas.microsoft.com/office/drawing/2014/main" id="{B7A3D645-C712-4181-A4FF-39CF2C7A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5918200"/>
            <a:ext cx="177800" cy="177800"/>
          </a:xfrm>
          <a:custGeom xmlns:a="http://schemas.openxmlformats.org/drawingml/2006/main">
            <a:rect l="l" t="t" r="r" b="b"/>
            <a:pathLst>
              <a:path w="448" h="512">
                <a:moveTo>
                  <a:pt x="384" y="32"/>
                </a:moveTo>
                <a:cubicBezTo>
                  <a:pt x="419" y="32"/>
                  <a:pt x="448" y="61"/>
                  <a:pt x="448" y="96"/>
                </a:cubicBezTo>
                <a:lnTo>
                  <a:pt x="448" y="416"/>
                </a:lnTo>
                <a:cubicBezTo>
                  <a:pt x="448" y="451"/>
                  <a:pt x="419" y="480"/>
                  <a:pt x="384" y="480"/>
                </a:cubicBezTo>
                <a:lnTo>
                  <a:pt x="64" y="480"/>
                </a:lnTo>
                <a:lnTo>
                  <a:pt x="58" y="480"/>
                </a:lnTo>
                <a:cubicBezTo>
                  <a:pt x="25" y="476"/>
                  <a:pt x="0" y="449"/>
                  <a:pt x="0" y="416"/>
                </a:cubicBezTo>
                <a:lnTo>
                  <a:pt x="0" y="96"/>
                </a:lnTo>
                <a:cubicBezTo>
                  <a:pt x="0" y="61"/>
                  <a:pt x="29" y="32"/>
                  <a:pt x="64" y="32"/>
                </a:cubicBezTo>
                <a:lnTo>
                  <a:pt x="384" y="32"/>
                </a:lnTo>
                <a:close/>
                <a:moveTo>
                  <a:pt x="64" y="320"/>
                </a:moveTo>
                <a:lnTo>
                  <a:pt x="64" y="416"/>
                </a:lnTo>
                <a:lnTo>
                  <a:pt x="192" y="416"/>
                </a:lnTo>
                <a:lnTo>
                  <a:pt x="192" y="320"/>
                </a:lnTo>
                <a:lnTo>
                  <a:pt x="64" y="320"/>
                </a:lnTo>
                <a:close/>
                <a:moveTo>
                  <a:pt x="256" y="320"/>
                </a:moveTo>
                <a:lnTo>
                  <a:pt x="256" y="416"/>
                </a:lnTo>
                <a:lnTo>
                  <a:pt x="384" y="416"/>
                </a:lnTo>
                <a:lnTo>
                  <a:pt x="384" y="320"/>
                </a:lnTo>
                <a:lnTo>
                  <a:pt x="256" y="320"/>
                </a:lnTo>
                <a:close/>
                <a:moveTo>
                  <a:pt x="64" y="256"/>
                </a:moveTo>
                <a:lnTo>
                  <a:pt x="192" y="256"/>
                </a:lnTo>
                <a:lnTo>
                  <a:pt x="192" y="160"/>
                </a:lnTo>
                <a:lnTo>
                  <a:pt x="64" y="160"/>
                </a:lnTo>
                <a:lnTo>
                  <a:pt x="64" y="256"/>
                </a:lnTo>
                <a:close/>
                <a:moveTo>
                  <a:pt x="256" y="256"/>
                </a:moveTo>
                <a:lnTo>
                  <a:pt x="384" y="256"/>
                </a:lnTo>
                <a:lnTo>
                  <a:pt x="384" y="160"/>
                </a:lnTo>
                <a:lnTo>
                  <a:pt x="256" y="160"/>
                </a:lnTo>
                <a:lnTo>
                  <a:pt x="256" y="256"/>
                </a:lnTo>
                <a:close/>
              </a:path>
            </a:pathLst>
          </a:custGeom>
          <a:solidFill xmlns:a="http://schemas.openxmlformats.org/drawingml/2006/main">
            <a:srgbClr val="7771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chema-note">
            <a:extLst xmlns:a="http://schemas.openxmlformats.org/drawingml/2006/main">
              <a:ext uri="{FF2B5EF4-FFF2-40B4-BE49-F238E27FC236}">
                <a16:creationId xmlns:a16="http://schemas.microsoft.com/office/drawing/2014/main" id="{D214C32B-37EB-485D-85DC-1BC8F38A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5867400"/>
            <a:ext cx="108966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转换规则：实体 → 表 · 弱实体复合主键关联主单 · 1:N 并入 N 端外码 · N:M 独立成表（service_node_rules）· 完整 DDL 见报告附录</a:t>
            </a:r>
            <a:endParaRPr sz="1100"/>
          </a:p>
        </p:txBody>
      </p:sp>
      <p:sp>
        <p:nvSpPr>
          <p:cNvPr id="9" name="ft-line">
            <a:extLst xmlns:a="http://schemas.openxmlformats.org/drawingml/2006/main">
              <a:ext uri="{FF2B5EF4-FFF2-40B4-BE49-F238E27FC236}">
                <a16:creationId xmlns:a16="http://schemas.microsoft.com/office/drawing/2014/main" id="{2FDBD97F-7E21-4517-960D-2E6F0F37C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ft-brand">
            <a:extLst xmlns:a="http://schemas.openxmlformats.org/drawingml/2006/main">
              <a:ext uri="{FF2B5EF4-FFF2-40B4-BE49-F238E27FC236}">
                <a16:creationId xmlns:a16="http://schemas.microsoft.com/office/drawing/2014/main" id="{41AE531B-D243-4DE8-8FF6-FB37C534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1" name="ft-page">
            <a:extLst xmlns:a="http://schemas.openxmlformats.org/drawingml/2006/main">
              <a:ext uri="{FF2B5EF4-FFF2-40B4-BE49-F238E27FC236}">
                <a16:creationId xmlns:a16="http://schemas.microsoft.com/office/drawing/2014/main" id="{BA4D2B35-5A61-46EA-A1D3-DB8C9010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13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401657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E23E0608-6A1C-4F2B-A243-77B3B11E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78F333F2-69A4-46D9-B944-FB8C2EBB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tasks 任务主表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499BD6C5-5965-40DC-AA6A-CF93AD8C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03 · 数据库设计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DE1D3CE8-2078-4050-891E-3B6932C3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graphicFrame>
        <p:nvGraphicFramePr>
          <p:cNvPr id="23" name="orders-table"/>
          <p:cNvGraphicFramePr/>
          <p:nvPr/>
        </p:nvGraphicFramePr>
        <p:xfrm>
          <a:off xmlns:a="http://schemas.openxmlformats.org/drawingml/2006/main" x="508000" y="1219200"/>
          <a:ext xmlns:a="http://schemas.openxmlformats.org/drawingml/2006/main" cx="7112000" cy="5373434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06880"/>
                <a:gridCol w="1422400"/>
                <a:gridCol w="1849120"/>
                <a:gridCol w="2133600"/>
              </a:tblGrid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字段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类型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约束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说明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task_id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NUMBER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PK，身份列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任务内部标识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publisher_user_id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NUMBER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FK NOT NULL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发布用户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address_no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NUMBER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联合外键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与发布用户组合引用 user_addresses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service_type_id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NUMBER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联合外键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与 node_id 组合引用服务—节点规则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node_id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NUMBER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FK NOT NULL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交接节点（校门/驿站/分发点）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task_title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VARCHAR2(100 CHAR)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NOT NULL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任务标题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task_price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NUMBER(10,2)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CHECK ≥ 0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任务价格，避免浮点误差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urgent_flag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CHAR(1)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CHECK Y/N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加急标志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task_status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VARCHAR2(30 CHAR)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DEFAULT 'CREATED'，CHECK 限定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状态机 10 个合法状态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created_at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DATE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DEFAULT SYSDATE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发布时间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completed_at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DATE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CHECK ≥ created_at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完成时间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note-label">
            <a:extLst xmlns:a="http://schemas.openxmlformats.org/drawingml/2006/main">
              <a:ext uri="{FF2B5EF4-FFF2-40B4-BE49-F238E27FC236}">
                <a16:creationId xmlns:a16="http://schemas.microsoft.com/office/drawing/2014/main" id="{E252E515-B1DD-4F6D-BEFF-B6979344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1219200"/>
            <a:ext cx="355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设计要点</a:t>
            </a:r>
            <a:endParaRPr sz="1200"/>
          </a:p>
        </p:txBody>
      </p:sp>
      <p:sp>
        <p:nvSpPr>
          <p:cNvPr id="8" name="note1">
            <a:extLst xmlns:a="http://schemas.openxmlformats.org/drawingml/2006/main">
              <a:ext uri="{FF2B5EF4-FFF2-40B4-BE49-F238E27FC236}">
                <a16:creationId xmlns:a16="http://schemas.microsoft.com/office/drawing/2014/main" id="{92C144D8-58DE-4BC4-9428-8E525B32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1600200"/>
            <a:ext cx="3556000" cy="111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主单与明细分离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任务公共字段入 tasks，外卖 / 代取 / 转交专有字段分设明细弱实体表</a:t>
            </a:r>
            <a:endParaRPr sz="1150"/>
          </a:p>
        </p:txBody>
      </p:sp>
      <p:sp>
        <p:nvSpPr>
          <p:cNvPr id="9" name="note1-line">
            <a:extLst xmlns:a="http://schemas.openxmlformats.org/drawingml/2006/main">
              <a:ext uri="{FF2B5EF4-FFF2-40B4-BE49-F238E27FC236}">
                <a16:creationId xmlns:a16="http://schemas.microsoft.com/office/drawing/2014/main" id="{295C4940-F983-4FDC-A6D0-B0C72AA5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2819400"/>
            <a:ext cx="355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note2">
            <a:extLst xmlns:a="http://schemas.openxmlformats.org/drawingml/2006/main">
              <a:ext uri="{FF2B5EF4-FFF2-40B4-BE49-F238E27FC236}">
                <a16:creationId xmlns:a16="http://schemas.microsoft.com/office/drawing/2014/main" id="{42A03569-A90B-4590-968B-A4EADBF1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2997200"/>
            <a:ext cx="3556000" cy="111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状态由约束限定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task_status 取值由 CHECK 约束限定，非法状态无法入库</a:t>
            </a:r>
            <a:endParaRPr sz="1150"/>
          </a:p>
        </p:txBody>
      </p:sp>
      <p:sp>
        <p:nvSpPr>
          <p:cNvPr id="11" name="note2-line">
            <a:extLst xmlns:a="http://schemas.openxmlformats.org/drawingml/2006/main">
              <a:ext uri="{FF2B5EF4-FFF2-40B4-BE49-F238E27FC236}">
                <a16:creationId xmlns:a16="http://schemas.microsoft.com/office/drawing/2014/main" id="{35ABEE08-8A77-4FA0-AE18-D2782F7D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4216400"/>
            <a:ext cx="355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note3">
            <a:extLst xmlns:a="http://schemas.openxmlformats.org/drawingml/2006/main">
              <a:ext uri="{FF2B5EF4-FFF2-40B4-BE49-F238E27FC236}">
                <a16:creationId xmlns:a16="http://schemas.microsoft.com/office/drawing/2014/main" id="{85F27AAB-7210-48E7-BFA2-CE3C1150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4394200"/>
            <a:ext cx="3556000" cy="111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行锁防并发抢单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SELECT … FOR UPDATE 锁定任务行后校验状态，防止重复接单</a:t>
            </a:r>
            <a:endParaRPr sz="1150"/>
          </a:p>
        </p:txBody>
      </p:sp>
      <p:sp>
        <p:nvSpPr>
          <p:cNvPr id="13" name="note3-line">
            <a:extLst xmlns:a="http://schemas.openxmlformats.org/drawingml/2006/main">
              <a:ext uri="{FF2B5EF4-FFF2-40B4-BE49-F238E27FC236}">
                <a16:creationId xmlns:a16="http://schemas.microsoft.com/office/drawing/2014/main" id="{BF8DB0E9-597B-4BC3-A5DB-B586C107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5613400"/>
            <a:ext cx="355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note4">
            <a:extLst xmlns:a="http://schemas.openxmlformats.org/drawingml/2006/main">
              <a:ext uri="{FF2B5EF4-FFF2-40B4-BE49-F238E27FC236}">
                <a16:creationId xmlns:a16="http://schemas.microsoft.com/office/drawing/2014/main" id="{0291E4AD-D07E-4907-927A-12F6EEFA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5791200"/>
            <a:ext cx="355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组合外键：服务类型与交接节点绑定规则强制匹配</a:t>
            </a:r>
            <a:endParaRPr sz="1000"/>
          </a:p>
        </p:txBody>
      </p:sp>
      <p:sp>
        <p:nvSpPr>
          <p:cNvPr id="15" name="ft-line">
            <a:extLst xmlns:a="http://schemas.openxmlformats.org/drawingml/2006/main">
              <a:ext uri="{FF2B5EF4-FFF2-40B4-BE49-F238E27FC236}">
                <a16:creationId xmlns:a16="http://schemas.microsoft.com/office/drawing/2014/main" id="{E9AA9853-96B2-4B0D-BA14-D19D590B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ft-brand">
            <a:extLst xmlns:a="http://schemas.openxmlformats.org/drawingml/2006/main">
              <a:ext uri="{FF2B5EF4-FFF2-40B4-BE49-F238E27FC236}">
                <a16:creationId xmlns:a16="http://schemas.microsoft.com/office/drawing/2014/main" id="{DC213733-DF07-4DEE-88CA-A5D07828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7" name="ft-page">
            <a:extLst xmlns:a="http://schemas.openxmlformats.org/drawingml/2006/main">
              <a:ext uri="{FF2B5EF4-FFF2-40B4-BE49-F238E27FC236}">
                <a16:creationId xmlns:a16="http://schemas.microsoft.com/office/drawing/2014/main" id="{EB8CEE7D-ADB8-4112-8127-9C3F5F83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14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5571868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5C3C35C5-496A-48F3-A4A1-F4E2932B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05685295-72F0-4FD1-A270-6B88DA74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规范化设计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835075F3-D73C-4107-B246-79DFBB73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03 · 数据库设计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CF5A958A-D5FC-42BF-A782-21888D3F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nf1-box">
            <a:extLst xmlns:a="http://schemas.openxmlformats.org/drawingml/2006/main">
              <a:ext uri="{FF2B5EF4-FFF2-40B4-BE49-F238E27FC236}">
                <a16:creationId xmlns:a16="http://schemas.microsoft.com/office/drawing/2014/main" id="{84898E67-258F-4A98-B23D-2313FEF8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70000"/>
            <a:ext cx="3429000" cy="93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3272E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nf1-t">
            <a:extLst xmlns:a="http://schemas.openxmlformats.org/drawingml/2006/main">
              <a:ext uri="{FF2B5EF4-FFF2-40B4-BE49-F238E27FC236}">
                <a16:creationId xmlns:a16="http://schemas.microsoft.com/office/drawing/2014/main" id="{A9F79287-9FA0-4E55-BEE4-F77325FC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397000"/>
            <a:ext cx="304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4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1NF</a:t>
            </a:r>
            <a:r>
              <a:rPr sz="1400">
                <a:solidFill>
                  <a:srgbClr val="23272E"/>
                </a:solidFill>
                <a:latin typeface="MiSans"/>
                <a:ea typeface="MiSans"/>
                <a:cs typeface="MiSans"/>
              </a:rPr>
              <a:t> 属性原子化</a:t>
            </a:r>
            <a:endParaRPr sz="1600"/>
          </a:p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地址拆为校区、楼栋房间等独立列，联系人姓名与电话分列存储</a:t>
            </a:r>
            <a:endParaRPr sz="1600"/>
          </a:p>
        </p:txBody>
      </p:sp>
      <p:sp>
        <p:nvSpPr>
          <p:cNvPr id="8" name="nf-a1">
            <a:extLst xmlns:a="http://schemas.openxmlformats.org/drawingml/2006/main">
              <a:ext uri="{FF2B5EF4-FFF2-40B4-BE49-F238E27FC236}">
                <a16:creationId xmlns:a16="http://schemas.microsoft.com/office/drawing/2014/main" id="{C8E3CFE7-05FD-4976-BF0F-6E7CB9D1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651000"/>
            <a:ext cx="558800" cy="152400"/>
          </a:xfrm>
          <a:custGeom xmlns:a="http://schemas.openxmlformats.org/drawingml/2006/main">
            <a:rect l="l" t="t" r="r" b="b"/>
            <a:pathLst>
              <a:path w="44" h="12">
                <a:moveTo>
                  <a:pt x="0" y="6"/>
                </a:moveTo>
                <a:lnTo>
                  <a:pt x="44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E8551D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nf2-box">
            <a:extLst xmlns:a="http://schemas.openxmlformats.org/drawingml/2006/main">
              <a:ext uri="{FF2B5EF4-FFF2-40B4-BE49-F238E27FC236}">
                <a16:creationId xmlns:a16="http://schemas.microsoft.com/office/drawing/2014/main" id="{BF1B571C-4C04-4A9F-8728-D9336859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000" y="1270000"/>
            <a:ext cx="3429000" cy="93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3272E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nf2-t">
            <a:extLst xmlns:a="http://schemas.openxmlformats.org/drawingml/2006/main">
              <a:ext uri="{FF2B5EF4-FFF2-40B4-BE49-F238E27FC236}">
                <a16:creationId xmlns:a16="http://schemas.microsoft.com/office/drawing/2014/main" id="{CB51080B-5E7C-4C9E-9694-EC3D7C07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2200" y="1397000"/>
            <a:ext cx="304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4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2NF</a:t>
            </a:r>
            <a:r>
              <a:rPr sz="1400">
                <a:solidFill>
                  <a:srgbClr val="23272E"/>
                </a:solidFill>
                <a:latin typeface="MiSans"/>
                <a:ea typeface="MiSans"/>
                <a:cs typeface="MiSans"/>
              </a:rPr>
              <a:t> 消除部分依赖</a:t>
            </a:r>
            <a:endParaRPr sz="1600"/>
          </a:p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user_addresses 与任务明细的非主属性完整依赖联合主键</a:t>
            </a:r>
            <a:endParaRPr sz="1600"/>
          </a:p>
        </p:txBody>
      </p:sp>
      <p:sp>
        <p:nvSpPr>
          <p:cNvPr id="11" name="nf-a2">
            <a:extLst xmlns:a="http://schemas.openxmlformats.org/drawingml/2006/main">
              <a:ext uri="{FF2B5EF4-FFF2-40B4-BE49-F238E27FC236}">
                <a16:creationId xmlns:a16="http://schemas.microsoft.com/office/drawing/2014/main" id="{A01EBA62-A88E-4A79-8D5B-344B4507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1000"/>
            <a:ext cx="558800" cy="152400"/>
          </a:xfrm>
          <a:custGeom xmlns:a="http://schemas.openxmlformats.org/drawingml/2006/main">
            <a:rect l="l" t="t" r="r" b="b"/>
            <a:pathLst>
              <a:path w="44" h="12">
                <a:moveTo>
                  <a:pt x="0" y="6"/>
                </a:moveTo>
                <a:lnTo>
                  <a:pt x="44" y="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E8551D"/>
            </a:solidFill>
            <a:tailEnd type="stealt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nf3-box">
            <a:extLst xmlns:a="http://schemas.openxmlformats.org/drawingml/2006/main">
              <a:ext uri="{FF2B5EF4-FFF2-40B4-BE49-F238E27FC236}">
                <a16:creationId xmlns:a16="http://schemas.microsoft.com/office/drawing/2014/main" id="{CA941C0A-652C-4B6A-8036-BF849D9C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1270000"/>
            <a:ext cx="2794000" cy="93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nf3-t">
            <a:extLst xmlns:a="http://schemas.openxmlformats.org/drawingml/2006/main">
              <a:ext uri="{FF2B5EF4-FFF2-40B4-BE49-F238E27FC236}">
                <a16:creationId xmlns:a16="http://schemas.microsoft.com/office/drawing/2014/main" id="{9419826F-EB4C-48DC-A95A-C1009018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3200" y="1397000"/>
            <a:ext cx="241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4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3NF</a:t>
            </a:r>
            <a:r>
              <a:rPr sz="1400">
                <a:solidFill>
                  <a:srgbClr val="FFFFFF"/>
                </a:solidFill>
                <a:latin typeface="MiSans"/>
                <a:ea typeface="MiSans"/>
                <a:cs typeface="MiSans"/>
              </a:rPr>
              <a:t> 消除传递依赖</a:t>
            </a:r>
            <a:endParaRPr sz="1600"/>
          </a:p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B9B2A6"/>
                </a:solidFill>
                <a:latin typeface="MiSans"/>
                <a:ea typeface="MiSans"/>
                <a:cs typeface="MiSans"/>
              </a:rPr>
              <a:t>全部 24 张表均达到 3NF</a:t>
            </a:r>
            <a:endParaRPr sz="1600"/>
          </a:p>
        </p:txBody>
      </p:sp>
      <p:sp>
        <p:nvSpPr>
          <p:cNvPr id="14" name="ex-label">
            <a:extLst xmlns:a="http://schemas.openxmlformats.org/drawingml/2006/main">
              <a:ext uri="{FF2B5EF4-FFF2-40B4-BE49-F238E27FC236}">
                <a16:creationId xmlns:a16="http://schemas.microsoft.com/office/drawing/2014/main" id="{ABBAAE11-5606-45CD-BABD-B92D8298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616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典型问题的分解实例</a:t>
            </a:r>
            <a:endParaRPr sz="1200"/>
          </a:p>
        </p:txBody>
      </p:sp>
      <p:sp>
        <p:nvSpPr>
          <p:cNvPr id="15" name="ex1-title">
            <a:extLst xmlns:a="http://schemas.openxmlformats.org/drawingml/2006/main">
              <a:ext uri="{FF2B5EF4-FFF2-40B4-BE49-F238E27FC236}">
                <a16:creationId xmlns:a16="http://schemas.microsoft.com/office/drawing/2014/main" id="{2E70A64B-41DC-4DC0-9415-B9ACC0AF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997200"/>
            <a:ext cx="5334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3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实例 1：任务宽表 → tasks + 类型明细表</a:t>
            </a:r>
            <a:endParaRPr sz="1300"/>
          </a:p>
        </p:txBody>
      </p:sp>
      <p:sp>
        <p:nvSpPr>
          <p:cNvPr id="16" name="ex1-body">
            <a:extLst xmlns:a="http://schemas.openxmlformats.org/drawingml/2006/main">
              <a:ext uri="{FF2B5EF4-FFF2-40B4-BE49-F238E27FC236}">
                <a16:creationId xmlns:a16="http://schemas.microsoft.com/office/drawing/2014/main" id="{8F2BE45C-0D98-476B-A0DB-73B1B61E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327400"/>
            <a:ext cx="533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任务专有字段混入主表 → 空值多、扩展需改主表 → 拆分后 tasks 存公共字段，明细按类型独立</a:t>
            </a:r>
            <a:endParaRPr sz="1150"/>
          </a:p>
        </p:txBody>
      </p:sp>
      <p:sp>
        <p:nvSpPr>
          <p:cNvPr id="17" name="ex2-title">
            <a:extLst xmlns:a="http://schemas.openxmlformats.org/drawingml/2006/main">
              <a:ext uri="{FF2B5EF4-FFF2-40B4-BE49-F238E27FC236}">
                <a16:creationId xmlns:a16="http://schemas.microsoft.com/office/drawing/2014/main" id="{A23A7523-4F1C-4F88-AEA5-15799B8E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597400"/>
            <a:ext cx="5334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3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实例 2：多对多 → service_node_rules 独立成表</a:t>
            </a:r>
            <a:endParaRPr sz="1300"/>
          </a:p>
        </p:txBody>
      </p:sp>
      <p:sp>
        <p:nvSpPr>
          <p:cNvPr id="18" name="ex2-body">
            <a:extLst xmlns:a="http://schemas.openxmlformats.org/drawingml/2006/main">
              <a:ext uri="{FF2B5EF4-FFF2-40B4-BE49-F238E27FC236}">
                <a16:creationId xmlns:a16="http://schemas.microsoft.com/office/drawing/2014/main" id="{E476BE86-0C7F-4C69-BA9B-DC4275B0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27600"/>
            <a:ext cx="533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服务与节点绑定混登记 → 冗余且难维护 → 独立为 service_node_rules，联合主键约束</a:t>
            </a:r>
            <a:endParaRPr sz="1150"/>
          </a:p>
        </p:txBody>
      </p:sp>
      <p:sp>
        <p:nvSpPr>
          <p:cNvPr id="19" name="vdiv">
            <a:extLst xmlns:a="http://schemas.openxmlformats.org/drawingml/2006/main">
              <a:ext uri="{FF2B5EF4-FFF2-40B4-BE49-F238E27FC236}">
                <a16:creationId xmlns:a16="http://schemas.microsoft.com/office/drawing/2014/main" id="{358A6AB0-DCDC-424D-B43B-D1ABC5B7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9200" y="2743200"/>
            <a:ext cx="12700" cy="340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rade-label">
            <a:extLst xmlns:a="http://schemas.openxmlformats.org/drawingml/2006/main">
              <a:ext uri="{FF2B5EF4-FFF2-40B4-BE49-F238E27FC236}">
                <a16:creationId xmlns:a16="http://schemas.microsoft.com/office/drawing/2014/main" id="{48C8A2BC-CCBF-4D95-92E7-B4387536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2616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有意的反规范化（权衡说明）</a:t>
            </a:r>
            <a:endParaRPr sz="1200"/>
          </a:p>
        </p:txBody>
      </p:sp>
      <p:sp>
        <p:nvSpPr>
          <p:cNvPr id="21" name="trade-body">
            <a:extLst xmlns:a="http://schemas.openxmlformats.org/drawingml/2006/main">
              <a:ext uri="{FF2B5EF4-FFF2-40B4-BE49-F238E27FC236}">
                <a16:creationId xmlns:a16="http://schemas.microsoft.com/office/drawing/2014/main" id="{0EA26FE9-E89C-4D10-BCEF-5AB5BA8C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2997200"/>
            <a:ext cx="5029200" cy="2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6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地址引用　任务保存发布时的 (user_id, address_no) 组合外键，地址明细由 user_addresses 统一维护</a:t>
            </a:r>
            <a:endParaRPr sz="1150"/>
          </a:p>
          <a:p xmlns:a="http://schemas.openxmlformats.org/drawingml/2006/main">
            <a:pPr>
              <a:lnSpc>
                <a:spcPct val="160000"/>
              </a:lnSpc>
              <a:spcBef>
                <a:spcPts val="1000"/>
              </a:spcBef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结算统计　结算汇总不设冗余统计列，统计结果写入 settlements 结算单与结算明细，可审计、可重算</a:t>
            </a:r>
            <a:endParaRPr sz="1150"/>
          </a:p>
          <a:p xmlns:a="http://schemas.openxmlformats.org/drawingml/2006/main">
            <a:pPr>
              <a:lnSpc>
                <a:spcPct val="160000"/>
              </a:lnSpc>
              <a:spcBef>
                <a:spcPts val="1000"/>
              </a:spcBef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判断标准　是否引入冗余以写路径一致性保障与读路径频度为依据，未满足条件一律保持规范化</a:t>
            </a:r>
            <a:endParaRPr sz="1150"/>
          </a:p>
        </p:txBody>
      </p:sp>
      <p:sp>
        <p:nvSpPr>
          <p:cNvPr id="22" name="trade-line">
            <a:extLst xmlns:a="http://schemas.openxmlformats.org/drawingml/2006/main">
              <a:ext uri="{FF2B5EF4-FFF2-40B4-BE49-F238E27FC236}">
                <a16:creationId xmlns:a16="http://schemas.microsoft.com/office/drawing/2014/main" id="{86FA2CF1-E1C4-4B7B-95CF-0EC98999C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5740400"/>
            <a:ext cx="50292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rade-concl">
            <a:extLst xmlns:a="http://schemas.openxmlformats.org/drawingml/2006/main">
              <a:ext uri="{FF2B5EF4-FFF2-40B4-BE49-F238E27FC236}">
                <a16:creationId xmlns:a16="http://schemas.microsoft.com/office/drawing/2014/main" id="{E861C796-E3C9-4FF5-8D3D-B9DFA260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5867400"/>
            <a:ext cx="50292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规范化保一致性 · 统计落结算单与报表记录</a:t>
            </a:r>
            <a:endParaRPr sz="1200"/>
          </a:p>
        </p:txBody>
      </p:sp>
      <p:sp>
        <p:nvSpPr>
          <p:cNvPr id="24" name="ft-line">
            <a:extLst xmlns:a="http://schemas.openxmlformats.org/drawingml/2006/main">
              <a:ext uri="{FF2B5EF4-FFF2-40B4-BE49-F238E27FC236}">
                <a16:creationId xmlns:a16="http://schemas.microsoft.com/office/drawing/2014/main" id="{6BF197F8-AB0D-47E5-BD93-87C24E98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ft-brand">
            <a:extLst xmlns:a="http://schemas.openxmlformats.org/drawingml/2006/main">
              <a:ext uri="{FF2B5EF4-FFF2-40B4-BE49-F238E27FC236}">
                <a16:creationId xmlns:a16="http://schemas.microsoft.com/office/drawing/2014/main" id="{CE16C576-C8C0-4F73-9B64-BC3B85A1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6" name="ft-page">
            <a:extLst xmlns:a="http://schemas.openxmlformats.org/drawingml/2006/main">
              <a:ext uri="{FF2B5EF4-FFF2-40B4-BE49-F238E27FC236}">
                <a16:creationId xmlns:a16="http://schemas.microsoft.com/office/drawing/2014/main" id="{4106D958-13D1-4618-98E2-4A53A5D8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15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846617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17C07AE7-B243-4157-A46A-14F302DA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F45F34F9-E0E7-42B3-9952-A208D0D6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数据库对象设计：索引、完整性约束与事务控制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17C36359-4614-4FB7-9EDD-D5520F06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03 · 数据库设计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33D52C71-F311-43C5-A9C0-74F179215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C5AF50DF-4482-4761-AD95-77183A3C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索引 INDEX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BEBC19CB-F747-4E6F-A0DC-C464F101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uk_user_addresses_one_default　单默认地址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uk_service_types_name_ci　名称归一化唯一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idx_tasks_publisher / service / node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idx_tasks_status / created · idx_assign_task / runner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覆盖任务大厅检索、我的任务、接派查询等高频访问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76F8F4A8-B2CC-416A-BD7F-964B7043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完整性约束 CONSTRAINT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E015429A-67D8-4961-A2A1-5CF5154E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主外键与组合外键　任务—服务—节点匹配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CHECK 约束　状态机取值、金额非负、枚举取值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唯一约束　一任务一评价、支付流水号唯一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业务唯一性同时落实到 Service 层与数据库层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B99DCDDE-EFCE-43CF-A9D7-7D466BD3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事务与行锁 TRANSACTION / LOCK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9800C88F-DDF6-4331-B9EC-643805A2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状态更新与日志写入在同一事务内提交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支付、退款、结算跨表写入，失败整体回滚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SELECT … FOR UPDATE 行锁保护抢单等热点行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自动化测试与 Oracle 端到端用例验证事务边界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BC3CD3F5-8D1F-456F-B0B3-D4430F0F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触发器与存储过程说明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762F3DE5-5BFA-4AE3-8EB3-38972247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当前实现未使用触发器与存储过程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状态留痕、结算汇总等逻辑集中于持久层参数化 SQL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事务边界显式可控，便于自动化测试与问题定位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列表类查询由服务层封装，敏感字段在展示层脱敏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81480BD0-3836-40DB-A35A-1FD2C6EB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8531EE6D-DE0E-43BC-82B0-5351831D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EF6A2CDC-C3A6-4682-927C-CB1EBEB1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索引提速、约束保准、行锁防冲突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4DB75DCC-B8AC-4436-A4F0-4AADA870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516408B9-5502-48F8-9A82-7AF2E412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DCDBEF02-776F-45D7-AC11-8575FBD6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16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122498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232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iv-num">
            <a:extLst xmlns:a="http://schemas.openxmlformats.org/drawingml/2006/main">
              <a:ext uri="{FF2B5EF4-FFF2-40B4-BE49-F238E27FC236}">
                <a16:creationId xmlns:a16="http://schemas.microsoft.com/office/drawing/2014/main" id="{BB519441-177B-4443-B9DF-3A8AE2D5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524000"/>
            <a:ext cx="4064000" cy="215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04</a:t>
            </a:r>
            <a:endParaRPr sz="14000"/>
          </a:p>
        </p:txBody>
      </p:sp>
      <p:sp>
        <p:nvSpPr>
          <p:cNvPr id="3" name="div-line">
            <a:extLst xmlns:a="http://schemas.openxmlformats.org/drawingml/2006/main">
              <a:ext uri="{FF2B5EF4-FFF2-40B4-BE49-F238E27FC236}">
                <a16:creationId xmlns:a16="http://schemas.microsoft.com/office/drawing/2014/main" id="{D3D80672-A418-4BB3-A562-961670FC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32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iv-title">
            <a:extLst xmlns:a="http://schemas.openxmlformats.org/drawingml/2006/main">
              <a:ext uri="{FF2B5EF4-FFF2-40B4-BE49-F238E27FC236}">
                <a16:creationId xmlns:a16="http://schemas.microsoft.com/office/drawing/2014/main" id="{69B51E36-774C-458D-BAE3-FCBF6AF3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318000"/>
            <a:ext cx="63500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40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系统实现</a:t>
            </a:r>
            <a:endParaRPr sz="4000"/>
          </a:p>
        </p:txBody>
      </p:sp>
      <p:sp>
        <p:nvSpPr>
          <p:cNvPr id="5" name="div-sub">
            <a:extLst xmlns:a="http://schemas.openxmlformats.org/drawingml/2006/main">
              <a:ext uri="{FF2B5EF4-FFF2-40B4-BE49-F238E27FC236}">
                <a16:creationId xmlns:a16="http://schemas.microsoft.com/office/drawing/2014/main" id="{29749FCF-50D5-44A1-A8F5-89A2D87D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156200"/>
            <a:ext cx="787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">
                <a:solidFill>
                  <a:srgbClr val="B9B2A6"/>
                </a:solidFill>
                <a:latin typeface="MiSans"/>
                <a:ea typeface="MiSans"/>
                <a:cs typeface="MiSans"/>
              </a:rPr>
              <a:t>功能界面 · 核心业务 SQL · 事务控制</a:t>
            </a:r>
            <a:endParaRPr sz="1400"/>
          </a:p>
        </p:txBody>
      </p:sp>
      <p:sp>
        <p:nvSpPr>
          <p:cNvPr id="6" name="div-progress">
            <a:extLst xmlns:a="http://schemas.openxmlformats.org/drawingml/2006/main">
              <a:ext uri="{FF2B5EF4-FFF2-40B4-BE49-F238E27FC236}">
                <a16:creationId xmlns:a16="http://schemas.microsoft.com/office/drawing/2014/main" id="{86FFE3CE-2049-4247-B24B-8D4CA28A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7620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100" spc="200">
                <a:solidFill>
                  <a:srgbClr val="8A8478"/>
                </a:solidFill>
                <a:latin typeface="MiSans"/>
                <a:ea typeface="MiSans"/>
                <a:cs typeface="MiSans"/>
              </a:rPr>
              <a:t>SECTION 04 / 06</a:t>
            </a:r>
            <a:endParaRPr sz="1100"/>
          </a:p>
        </p:txBody>
      </p:sp>
      <p:sp>
        <p:nvSpPr>
          <p:cNvPr id="7" name="div-brand">
            <a:extLst xmlns:a="http://schemas.openxmlformats.org/drawingml/2006/main">
              <a:ext uri="{FF2B5EF4-FFF2-40B4-BE49-F238E27FC236}">
                <a16:creationId xmlns:a16="http://schemas.microsoft.com/office/drawing/2014/main" id="{A6616F3C-8FAB-43E0-8B7E-01DEEE01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62992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济跑跑 JIRUN · 数据库课程设计答辩</a:t>
            </a:r>
            <a:endParaRPr sz="1000"/>
          </a:p>
        </p:txBody>
      </p:sp>
      <p:sp>
        <p:nvSpPr>
          <p:cNvPr id="8" name="div-page">
            <a:extLst xmlns:a="http://schemas.openxmlformats.org/drawingml/2006/main">
              <a:ext uri="{FF2B5EF4-FFF2-40B4-BE49-F238E27FC236}">
                <a16:creationId xmlns:a16="http://schemas.microsoft.com/office/drawing/2014/main" id="{2F8AB4B3-BA0E-4A1A-A411-B0ADF5FE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0" y="6299200"/>
            <a:ext cx="76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17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0524150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27BF266F-CF73-4C5B-A308-144C96F2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D75BCF9F-F014-43E3-B116-FD0F901D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系统功能界面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463208D7-8ADE-43FD-A785-3A312052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04 · 系统实现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C2EB4CB1-F213-4B7D-827D-5521AB7C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ph1">
            <a:extLst xmlns:a="http://schemas.openxmlformats.org/drawingml/2006/main">
              <a:ext uri="{FF2B5EF4-FFF2-40B4-BE49-F238E27FC236}">
                <a16:creationId xmlns:a16="http://schemas.microsoft.com/office/drawing/2014/main" id="{23DAB5AD-2B1A-46CC-83CB-A39D5C88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70000"/>
            <a:ext cx="5461000" cy="406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7716A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ph1-cap">
            <a:extLst xmlns:a="http://schemas.openxmlformats.org/drawingml/2006/main">
              <a:ext uri="{FF2B5EF4-FFF2-40B4-BE49-F238E27FC236}">
                <a16:creationId xmlns:a16="http://schemas.microsoft.com/office/drawing/2014/main" id="{622E5A7D-DDDE-4D8D-B32B-04533B76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5461000"/>
            <a:ext cx="546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 b="1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用户端</a:t>
            </a: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　发布代取需求、查看订单状态流转、确认送达并评价</a:t>
            </a:r>
            <a:endParaRPr sz="1100"/>
          </a:p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对应数据表：tasks · payments · reviews</a:t>
            </a:r>
            <a:endParaRPr sz="1100"/>
          </a:p>
        </p:txBody>
      </p:sp>
      <p:sp>
        <p:nvSpPr>
          <p:cNvPr id="10" name="ph2">
            <a:extLst xmlns:a="http://schemas.openxmlformats.org/drawingml/2006/main">
              <a:ext uri="{FF2B5EF4-FFF2-40B4-BE49-F238E27FC236}">
                <a16:creationId xmlns:a16="http://schemas.microsoft.com/office/drawing/2014/main" id="{8FDBF941-CE7E-4B83-A73F-4A1AF3E6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3000" y="1270000"/>
            <a:ext cx="5461000" cy="406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7716A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ph2-cap">
            <a:extLst xmlns:a="http://schemas.openxmlformats.org/drawingml/2006/main">
              <a:ext uri="{FF2B5EF4-FFF2-40B4-BE49-F238E27FC236}">
                <a16:creationId xmlns:a16="http://schemas.microsoft.com/office/drawing/2014/main" id="{233DA1E3-A9A3-4BAE-861D-CB43B2C2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3000" y="5461000"/>
            <a:ext cx="546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 b="1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跑腿端 / 中转站端</a:t>
            </a: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　抢单、扫码出入站、收益结算</a:t>
            </a:r>
            <a:endParaRPr sz="1100"/>
          </a:p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对应数据表：tasks · assign_records · settlements</a:t>
            </a:r>
            <a:endParaRPr sz="1100"/>
          </a:p>
        </p:txBody>
      </p:sp>
      <p:sp>
        <p:nvSpPr>
          <p:cNvPr id="14" name="ui-note">
            <a:extLst xmlns:a="http://schemas.openxmlformats.org/drawingml/2006/main">
              <a:ext uri="{FF2B5EF4-FFF2-40B4-BE49-F238E27FC236}">
                <a16:creationId xmlns:a16="http://schemas.microsoft.com/office/drawing/2014/main" id="{B79CDC89-56AC-4AE9-907E-64492593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121400"/>
            <a:ext cx="11176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5" name="ft-line">
            <a:extLst xmlns:a="http://schemas.openxmlformats.org/drawingml/2006/main">
              <a:ext uri="{FF2B5EF4-FFF2-40B4-BE49-F238E27FC236}">
                <a16:creationId xmlns:a16="http://schemas.microsoft.com/office/drawing/2014/main" id="{0839E60D-3A01-4702-944C-AD40F711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ft-brand">
            <a:extLst xmlns:a="http://schemas.openxmlformats.org/drawingml/2006/main">
              <a:ext uri="{FF2B5EF4-FFF2-40B4-BE49-F238E27FC236}">
                <a16:creationId xmlns:a16="http://schemas.microsoft.com/office/drawing/2014/main" id="{1608B97C-1FFA-4BD0-B6B3-CD1A668F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7" name="ft-page">
            <a:extLst xmlns:a="http://schemas.openxmlformats.org/drawingml/2006/main">
              <a:ext uri="{FF2B5EF4-FFF2-40B4-BE49-F238E27FC236}">
                <a16:creationId xmlns:a16="http://schemas.microsoft.com/office/drawing/2014/main" id="{6DA7CD12-E5AD-4599-B380-154723EE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18 / 44</a:t>
            </a:r>
            <a:endParaRPr sz="1000"/>
          </a:p>
        </p:txBody>
      </p:sp>
      <p:pic>
        <p:nvPicPr>
          <p:cNvPr id="35" name="图片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ab59b513214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8000" y="1524000"/>
            <a:ext cx="11176000" cy="3623209"/>
          </a:xfrm>
          <a:prstGeom xmlns:a="http://schemas.openxmlformats.org/drawingml/2006/main" prst="rect">
            <a:avLst/>
          </a:prstGeom>
        </p:spPr>
      </p:pic>
      <p:pic>
        <p:nvPicPr>
          <p:cNvPr id="36" name="图片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88b035b3cb4e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1200" y="1689688"/>
            <a:ext cx="8426450" cy="4733546"/>
          </a:xfrm>
          <a:prstGeom xmlns:a="http://schemas.openxmlformats.org/drawingml/2006/main" prst="rect">
            <a:avLst/>
          </a:prstGeom>
        </p:spPr>
      </p:pic>
      <p:pic>
        <p:nvPicPr>
          <p:cNvPr id="37" name="图片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262af4ede645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3617" y="1862618"/>
            <a:ext cx="5170201" cy="4612552"/>
          </a:xfrm>
          <a:prstGeom xmlns:a="http://schemas.openxmlformats.org/drawingml/2006/main" prst="rect">
            <a:avLst/>
          </a:prstGeom>
        </p:spPr>
      </p:pic>
      <p:pic>
        <p:nvPicPr>
          <p:cNvPr id="38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51baade04d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3518" y="2106968"/>
            <a:ext cx="9124432" cy="4233138"/>
          </a:xfrm>
          <a:prstGeom xmlns:a="http://schemas.openxmlformats.org/drawingml/2006/main" prst="rect">
            <a:avLst/>
          </a:prstGeom>
        </p:spPr>
      </p:pic>
      <p:pic>
        <p:nvPicPr>
          <p:cNvPr id="39" name="图片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b5072853c49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19033" y="2324688"/>
            <a:ext cx="10254804" cy="373207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99954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67CC72B0-82FA-4F68-8E0C-D60FDA93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F9418D14-994B-43D3-A132-AB9F834C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业务 SQL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4E065283-4CAD-4E29-B420-701DB25A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04 · 系统实现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FAFE64F2-CB8B-4483-89E9-42CC7676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code-panel">
            <a:extLst xmlns:a="http://schemas.openxmlformats.org/drawingml/2006/main">
              <a:ext uri="{FF2B5EF4-FFF2-40B4-BE49-F238E27FC236}">
                <a16:creationId xmlns:a16="http://schemas.microsoft.com/office/drawing/2014/main" id="{A054FD7C-E0A1-42E7-93DD-1C81A6A5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6604000" cy="497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code-tag">
            <a:extLst xmlns:a="http://schemas.openxmlformats.org/drawingml/2006/main">
              <a:ext uri="{FF2B5EF4-FFF2-40B4-BE49-F238E27FC236}">
                <a16:creationId xmlns:a16="http://schemas.microsoft.com/office/drawing/2014/main" id="{5E030D2A-F223-45DE-B176-0B4403DE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63500" cy="497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code-text">
            <a:extLst xmlns:a="http://schemas.openxmlformats.org/drawingml/2006/main">
              <a:ext uri="{FF2B5EF4-FFF2-40B4-BE49-F238E27FC236}">
                <a16:creationId xmlns:a16="http://schemas.microsoft.com/office/drawing/2014/main" id="{483CE3CF-D607-4C1C-B36C-444F44BB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1422400"/>
            <a:ext cx="6096000" cy="462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8A8478"/>
                </a:solidFill>
                <a:latin typeface="JetBrains Mono"/>
                <a:ea typeface="JetBrains Mono"/>
                <a:cs typeface="JetBrains Mono"/>
              </a:rPr>
              <a:t>-- ① 下单：事务内建单并写入任务明细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INSERT INTO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tasks (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   publisher_user_id, service_type_id,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   address_no, node_id, task_title,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   task_price, urgent_flag, task_status)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VALUES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(:pubId, :serviceTypeId, :addrNo,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       :nodeId, </a:t>
            </a:r>
            <a:r>
              <a:rPr sz="1000">
                <a:solidFill>
                  <a:srgbClr val="9DC88D"/>
                </a:solidFill>
                <a:latin typeface="JetBrains Mono"/>
                <a:ea typeface="JetBrains Mono"/>
                <a:cs typeface="JetBrains Mono"/>
              </a:rPr>
              <a:t>'代取快递 · 驿站A区至学三楼502'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,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       3.50, </a:t>
            </a:r>
            <a:r>
              <a:rPr sz="1000">
                <a:solidFill>
                  <a:srgbClr val="9DC88D"/>
                </a:solidFill>
                <a:latin typeface="JetBrains Mono"/>
                <a:ea typeface="JetBrains Mono"/>
                <a:cs typeface="JetBrains Mono"/>
              </a:rPr>
              <a:t>'N'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000">
                <a:solidFill>
                  <a:srgbClr val="9DC88D"/>
                </a:solidFill>
                <a:latin typeface="JetBrains Mono"/>
                <a:ea typeface="JetBrains Mono"/>
                <a:cs typeface="JetBrains Mono"/>
              </a:rPr>
              <a:t>'WAITING'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)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RETURNING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task_id </a:t>
            </a: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INTO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:taskId;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8A8478"/>
                </a:solidFill>
                <a:latin typeface="JetBrains Mono"/>
                <a:ea typeface="JetBrains Mono"/>
                <a:cs typeface="JetBrains Mono"/>
              </a:rPr>
              <a:t>-- 同一事务内继续写入明细表，最后 COMMIT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8A8478"/>
                </a:solidFill>
                <a:latin typeface="JetBrains Mono"/>
                <a:ea typeface="JetBrains Mono"/>
                <a:cs typeface="JetBrains Mono"/>
              </a:rPr>
              <a:t>-- ② 抢单：FOR UPDATE 行锁防止并发冲突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SELECT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task_status </a:t>
            </a: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FROM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tasks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WHERE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task_id = 10240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 </a:t>
            </a: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FOR UPDATE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;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8A8478"/>
                </a:solidFill>
                <a:latin typeface="JetBrains Mono"/>
                <a:ea typeface="JetBrains Mono"/>
                <a:cs typeface="JetBrains Mono"/>
              </a:rPr>
              <a:t>-- 行锁内校验状态，仅 WAITING 可接单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UPDATE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tasks </a:t>
            </a: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SET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task_status = </a:t>
            </a:r>
            <a:r>
              <a:rPr sz="1000">
                <a:solidFill>
                  <a:srgbClr val="9DC88D"/>
                </a:solidFill>
                <a:latin typeface="JetBrains Mono"/>
                <a:ea typeface="JetBrains Mono"/>
                <a:cs typeface="JetBrains Mono"/>
              </a:rPr>
              <a:t>'ASSIGNED'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WHERE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task_id = 10240;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INSERT INTO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assign_records (task_id, runner_id,</a:t>
            </a:r>
            <a:endParaRPr sz="1000"/>
          </a:p>
          <a:p xmlns:a="http://schemas.openxmlformats.org/drawingml/2006/main">
            <a:pPr>
              <a:lnSpc>
                <a:spcPct val="142000"/>
              </a:lnSpc>
              <a:buNone/>
            </a:pP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   operation_type, assigned_at) </a:t>
            </a:r>
            <a:r>
              <a:rPr sz="1000">
                <a:solidFill>
                  <a:srgbClr val="EFA04F"/>
                </a:solidFill>
                <a:latin typeface="JetBrains Mono"/>
                <a:ea typeface="JetBrains Mono"/>
                <a:cs typeface="JetBrains Mono"/>
              </a:rPr>
              <a:t>VALUES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 (10240, 2077, </a:t>
            </a:r>
            <a:r>
              <a:rPr sz="1000">
                <a:solidFill>
                  <a:srgbClr val="9DC88D"/>
                </a:solidFill>
                <a:latin typeface="JetBrains Mono"/>
                <a:ea typeface="JetBrains Mono"/>
                <a:cs typeface="JetBrains Mono"/>
              </a:rPr>
              <a:t>'SELF'</a:t>
            </a:r>
            <a:r>
              <a:rPr sz="1000">
                <a:solidFill>
                  <a:srgbClr val="E8E2D6"/>
                </a:solidFill>
                <a:latin typeface="JetBrains Mono"/>
                <a:ea typeface="JetBrains Mono"/>
                <a:cs typeface="JetBrains Mono"/>
              </a:rPr>
              <a:t>, SYSDATE);</a:t>
            </a:r>
            <a:endParaRPr sz="1000"/>
          </a:p>
        </p:txBody>
      </p:sp>
      <p:sp>
        <p:nvSpPr>
          <p:cNvPr id="10" name="anno1-n">
            <a:extLst xmlns:a="http://schemas.openxmlformats.org/drawingml/2006/main">
              <a:ext uri="{FF2B5EF4-FFF2-40B4-BE49-F238E27FC236}">
                <a16:creationId xmlns:a16="http://schemas.microsoft.com/office/drawing/2014/main" id="{5E7B3E30-8866-4A88-8ED9-52B946F3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00200"/>
            <a:ext cx="4064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6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①</a:t>
            </a:r>
            <a:endParaRPr sz="1600"/>
          </a:p>
        </p:txBody>
      </p:sp>
      <p:sp>
        <p:nvSpPr>
          <p:cNvPr id="11" name="anno1">
            <a:extLst xmlns:a="http://schemas.openxmlformats.org/drawingml/2006/main">
              <a:ext uri="{FF2B5EF4-FFF2-40B4-BE49-F238E27FC236}">
                <a16:creationId xmlns:a16="http://schemas.microsoft.com/office/drawing/2014/main" id="{0015CDAA-FD01-4AFD-8929-6F5645AD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74800"/>
            <a:ext cx="3606800" cy="96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事务保证原子性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建单、明细写入、状态变更与日志写入要么同时提交，要么整体回滚</a:t>
            </a:r>
            <a:endParaRPr sz="1150"/>
          </a:p>
        </p:txBody>
      </p:sp>
      <p:sp>
        <p:nvSpPr>
          <p:cNvPr id="12" name="anno1-line">
            <a:extLst xmlns:a="http://schemas.openxmlformats.org/drawingml/2006/main">
              <a:ext uri="{FF2B5EF4-FFF2-40B4-BE49-F238E27FC236}">
                <a16:creationId xmlns:a16="http://schemas.microsoft.com/office/drawing/2014/main" id="{2BFF10F9-80E6-48C4-A704-5F3A0E5B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41600"/>
            <a:ext cx="406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anno2-n">
            <a:extLst xmlns:a="http://schemas.openxmlformats.org/drawingml/2006/main">
              <a:ext uri="{FF2B5EF4-FFF2-40B4-BE49-F238E27FC236}">
                <a16:creationId xmlns:a16="http://schemas.microsoft.com/office/drawing/2014/main" id="{F6C6B28E-D125-417C-8AA6-C3113A08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70200"/>
            <a:ext cx="4064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6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②</a:t>
            </a:r>
            <a:endParaRPr sz="1600"/>
          </a:p>
        </p:txBody>
      </p:sp>
      <p:sp>
        <p:nvSpPr>
          <p:cNvPr id="14" name="anno2">
            <a:extLst xmlns:a="http://schemas.openxmlformats.org/drawingml/2006/main">
              <a:ext uri="{FF2B5EF4-FFF2-40B4-BE49-F238E27FC236}">
                <a16:creationId xmlns:a16="http://schemas.microsoft.com/office/drawing/2014/main" id="{C95A9167-29AD-4E8A-A6C0-2ADC0079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44800"/>
            <a:ext cx="3606800" cy="96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行锁防并发抢单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FOR UPDATE 锁定任务行，后到事务读到最新状态校验失败，杜绝重复接单</a:t>
            </a:r>
            <a:endParaRPr sz="1150"/>
          </a:p>
        </p:txBody>
      </p:sp>
      <p:sp>
        <p:nvSpPr>
          <p:cNvPr id="15" name="anno2-line">
            <a:extLst xmlns:a="http://schemas.openxmlformats.org/drawingml/2006/main">
              <a:ext uri="{FF2B5EF4-FFF2-40B4-BE49-F238E27FC236}">
                <a16:creationId xmlns:a16="http://schemas.microsoft.com/office/drawing/2014/main" id="{B464EAFE-286E-42AF-9130-1FD20972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11600"/>
            <a:ext cx="406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anno3-n">
            <a:extLst xmlns:a="http://schemas.openxmlformats.org/drawingml/2006/main">
              <a:ext uri="{FF2B5EF4-FFF2-40B4-BE49-F238E27FC236}">
                <a16:creationId xmlns:a16="http://schemas.microsoft.com/office/drawing/2014/main" id="{CD93AD87-4993-4EBE-83EC-3B3D602D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40200"/>
            <a:ext cx="4064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6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③</a:t>
            </a:r>
            <a:endParaRPr sz="1600"/>
          </a:p>
        </p:txBody>
      </p:sp>
      <p:sp>
        <p:nvSpPr>
          <p:cNvPr id="17" name="anno3">
            <a:extLst xmlns:a="http://schemas.openxmlformats.org/drawingml/2006/main">
              <a:ext uri="{FF2B5EF4-FFF2-40B4-BE49-F238E27FC236}">
                <a16:creationId xmlns:a16="http://schemas.microsoft.com/office/drawing/2014/main" id="{AEC507A1-CE8E-40D6-B699-96E5BEAE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14800"/>
            <a:ext cx="3606800" cy="96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状态变更同事务留痕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状态更新与 task_status_logs 写入在同一事务内提交</a:t>
            </a:r>
            <a:endParaRPr sz="1150"/>
          </a:p>
        </p:txBody>
      </p:sp>
      <p:sp>
        <p:nvSpPr>
          <p:cNvPr id="18" name="anno3-line">
            <a:extLst xmlns:a="http://schemas.openxmlformats.org/drawingml/2006/main">
              <a:ext uri="{FF2B5EF4-FFF2-40B4-BE49-F238E27FC236}">
                <a16:creationId xmlns:a16="http://schemas.microsoft.com/office/drawing/2014/main" id="{C2D470E7-55D9-4057-81BE-73E20A7B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81600"/>
            <a:ext cx="406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anno-note">
            <a:extLst xmlns:a="http://schemas.openxmlformats.org/drawingml/2006/main">
              <a:ext uri="{FF2B5EF4-FFF2-40B4-BE49-F238E27FC236}">
                <a16:creationId xmlns:a16="http://schemas.microsoft.com/office/drawing/2014/main" id="{A3D5D867-D043-4959-882E-2F16336C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359400"/>
            <a:ext cx="406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 i="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缺陷修复：重复接单 → 引入行锁</a:t>
            </a:r>
            <a:endParaRPr sz="1000"/>
          </a:p>
        </p:txBody>
      </p:sp>
      <p:sp>
        <p:nvSpPr>
          <p:cNvPr id="20" name="ft-line">
            <a:extLst xmlns:a="http://schemas.openxmlformats.org/drawingml/2006/main">
              <a:ext uri="{FF2B5EF4-FFF2-40B4-BE49-F238E27FC236}">
                <a16:creationId xmlns:a16="http://schemas.microsoft.com/office/drawing/2014/main" id="{5C6DBFEC-D0AE-44D4-8891-91504DBB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ft-brand">
            <a:extLst xmlns:a="http://schemas.openxmlformats.org/drawingml/2006/main">
              <a:ext uri="{FF2B5EF4-FFF2-40B4-BE49-F238E27FC236}">
                <a16:creationId xmlns:a16="http://schemas.microsoft.com/office/drawing/2014/main" id="{E08E9A55-78C3-4BF3-B8CF-0193A7A9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2" name="ft-page">
            <a:extLst xmlns:a="http://schemas.openxmlformats.org/drawingml/2006/main">
              <a:ext uri="{FF2B5EF4-FFF2-40B4-BE49-F238E27FC236}">
                <a16:creationId xmlns:a16="http://schemas.microsoft.com/office/drawing/2014/main" id="{944A1D45-D71F-4C23-A461-C2A058CD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19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310847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232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iv-num">
            <a:extLst xmlns:a="http://schemas.openxmlformats.org/drawingml/2006/main">
              <a:ext uri="{FF2B5EF4-FFF2-40B4-BE49-F238E27FC236}">
                <a16:creationId xmlns:a16="http://schemas.microsoft.com/office/drawing/2014/main" id="{60CB0CAF-4F49-4F8D-BE68-183A2DBE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524000"/>
            <a:ext cx="4064000" cy="215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05</a:t>
            </a:r>
            <a:endParaRPr sz="14000"/>
          </a:p>
        </p:txBody>
      </p:sp>
      <p:sp>
        <p:nvSpPr>
          <p:cNvPr id="3" name="div-line">
            <a:extLst xmlns:a="http://schemas.openxmlformats.org/drawingml/2006/main">
              <a:ext uri="{FF2B5EF4-FFF2-40B4-BE49-F238E27FC236}">
                <a16:creationId xmlns:a16="http://schemas.microsoft.com/office/drawing/2014/main" id="{4C713D36-0E03-4E36-9906-CB2F35EB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32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iv-title">
            <a:extLst xmlns:a="http://schemas.openxmlformats.org/drawingml/2006/main">
              <a:ext uri="{FF2B5EF4-FFF2-40B4-BE49-F238E27FC236}">
                <a16:creationId xmlns:a16="http://schemas.microsoft.com/office/drawing/2014/main" id="{1E0CEA60-4CFD-40E7-B503-50E78359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318000"/>
            <a:ext cx="63500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40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团队分工</a:t>
            </a:r>
            <a:endParaRPr sz="4000"/>
          </a:p>
        </p:txBody>
      </p:sp>
      <p:sp>
        <p:nvSpPr>
          <p:cNvPr id="5" name="div-sub">
            <a:extLst xmlns:a="http://schemas.openxmlformats.org/drawingml/2006/main">
              <a:ext uri="{FF2B5EF4-FFF2-40B4-BE49-F238E27FC236}">
                <a16:creationId xmlns:a16="http://schemas.microsoft.com/office/drawing/2014/main" id="{1F7BCBB2-E1F5-4EF4-AA51-568C962B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156200"/>
            <a:ext cx="787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">
                <a:solidFill>
                  <a:srgbClr val="B9B2A6"/>
                </a:solidFill>
                <a:latin typeface="MiSans"/>
                <a:ea typeface="MiSans"/>
                <a:cs typeface="MiSans"/>
              </a:rPr>
              <a:t>角色职责 · 核心实现 · 产出与验证</a:t>
            </a:r>
            <a:endParaRPr sz="1400"/>
          </a:p>
        </p:txBody>
      </p:sp>
      <p:sp>
        <p:nvSpPr>
          <p:cNvPr id="6" name="div-progress">
            <a:extLst xmlns:a="http://schemas.openxmlformats.org/drawingml/2006/main">
              <a:ext uri="{FF2B5EF4-FFF2-40B4-BE49-F238E27FC236}">
                <a16:creationId xmlns:a16="http://schemas.microsoft.com/office/drawing/2014/main" id="{F98CD6DE-EDEC-484E-B047-B29D1E05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7620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100" spc="200">
                <a:solidFill>
                  <a:srgbClr val="8A8478"/>
                </a:solidFill>
                <a:latin typeface="MiSans"/>
                <a:ea typeface="MiSans"/>
                <a:cs typeface="MiSans"/>
              </a:rPr>
              <a:t>SECTION 05 / 06</a:t>
            </a:r>
            <a:endParaRPr sz="1100"/>
          </a:p>
        </p:txBody>
      </p:sp>
      <p:sp>
        <p:nvSpPr>
          <p:cNvPr id="7" name="div-brand">
            <a:extLst xmlns:a="http://schemas.openxmlformats.org/drawingml/2006/main">
              <a:ext uri="{FF2B5EF4-FFF2-40B4-BE49-F238E27FC236}">
                <a16:creationId xmlns:a16="http://schemas.microsoft.com/office/drawing/2014/main" id="{DF410DFF-D351-485C-BCAF-8D30182E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62992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济跑跑 JIRUN · 数据库课程设计答辩</a:t>
            </a:r>
            <a:endParaRPr sz="1000"/>
          </a:p>
        </p:txBody>
      </p:sp>
      <p:sp>
        <p:nvSpPr>
          <p:cNvPr id="8" name="div-page">
            <a:extLst xmlns:a="http://schemas.openxmlformats.org/drawingml/2006/main">
              <a:ext uri="{FF2B5EF4-FFF2-40B4-BE49-F238E27FC236}">
                <a16:creationId xmlns:a16="http://schemas.microsoft.com/office/drawing/2014/main" id="{F54B1CEB-A31A-411E-8E48-DAD90411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0" y="6299200"/>
            <a:ext cx="76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20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80979100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3D3B6404-E4E2-4FAC-96A1-01E2F9FD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50885BCB-796B-4205-8638-AF10C5BD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1　总集成与架构模块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88EBAB3A-1323-4EDD-8357-2E6A8566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337665FF-9318-42CF-8680-A32E271B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31F5F7F0-DEE6-4FF6-85A8-3D5A2DCE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职责与主导数据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BDB8A975-EA31-49BE-8244-9884539F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角色定位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总集成与架构负责人，统一项目骨架与集成口径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1E10D64D-8B40-4879-8395-B6A8700F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1FB6091E-8A47-4C8C-B89B-12C2B693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负责模块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项目搭建 · Oracle 连接 · 公共 Layout 与菜单 · 权限过滤 · 代码合并联调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0E488A10-D8F4-4DC7-BF93-614774B7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11339B29-EB35-4FCA-B732-AE23E221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主导数据表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全库 24 张表接入 · users（角色与权限过滤）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29998122-1830-44BF-BE72-97799893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800278AD-17B3-4B04-B0FC-1AF16E77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核心产出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可运行项目骨架 · 公共工具类 · 最终整合版本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AAA97E0D-459A-47D2-BB2D-8299270C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948A21AD-6772-4338-A759-BC960AD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模块衔接（输入 / 输出）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D485D7FB-5693-45FD-9985-C5CA55D2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上游输入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各模块 Controller / Service / Repository 代码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本模块输出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统一 Layout、菜单与权限过滤的集成版本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衔接约束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五层边界门禁 · Oracle 连接统一配置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995C550C-87F4-483A-9EAB-49211CC3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04B99FD2-9A9E-4F2F-84E4-F375A16B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02DFE0F9-9365-4DD0-8D6A-9B825E2D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FDB69A39-287C-4EC3-95D6-56E96298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446A0362-CBF0-4B38-B041-0E505DD33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21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2087481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9CC5E438-A6BF-4C9A-A31C-5F1DDD3F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57353A37-4901-4C1F-AF71-9F566F33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1　核心实现与验证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AE09147A-A067-424B-BD19-14022AFE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3FA9B363-A491-4615-81E3-D958A973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7CFFE55A-1817-4D08-B163-9B95E0EC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集成门禁 GATE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F30D8A29-06D7-4A37-9C94-46B1F15E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View → Controller → IService → Service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→ IRepository → Repository → Oracle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越层引用由静态门禁检查拦截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分层边界构成集成质量门禁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505D3EB0-1B89-4745-9501-D37BCD3C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联调验证 INTEGRATION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3890E20F-D452-4743-A2B2-1F0797E9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公网 HTTPS 部署 · 四类角色导航 31 路由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Release 构建 0 警告 0 错误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POST 防伪 47/47 · 自动化测试 52/52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集成版本以自动化门禁与路由抽查为准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88194EE1-AF75-45E8-A1D8-72E837EF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核心产出 DELIVERABLES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EB0BCC34-DD13-447E-867A-4ADD9947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可运行项目骨架 · 公共工具类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最终整合版本（test 分支）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公共连接配置外置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骨架与工具类供各模块复用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77D0A9AC-6865-42B4-B3D1-C85B4679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测试验证 EVIDENCE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BEEAC944-AA5A-4D81-A28B-7BEBEC2D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TC-INT-01 ～ 05 全部通过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docs/test-evidence/manual/组员1-总集成与架构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记录、截图与门禁证据已归档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结论以归档记录为准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13336E02-AAEC-453F-AB97-4EAC0F40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AB800862-81B8-4E81-B5DC-74BE0CA5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F13ACEFD-4246-41DD-9804-041C0F55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统一骨架 · 边界门禁 · 集成联调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E2B8F86D-5749-45EB-A552-0AF93336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1E9F72FD-EB17-4ED4-8694-5AE77E84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2B4AD091-E811-4585-AE02-BCFBC7ED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22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4756803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60F23F7B-A090-4B57-966D-38E801E7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B228AE0C-1D2C-4BFD-A6C4-6CDFC25E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2　数据库与基础数据模块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431A6D1B-CEC3-4C35-B252-244EEBFA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75CF6E6E-9A07-4006-A987-FD24B6FB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5EF4CA3A-3BBA-410D-9ABC-B5E01378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职责与主导数据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E674747E-EAD9-42A0-ADF0-932FA8D6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角色定位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数据库与基础数据负责人，维护全库结构与初始数据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19ADF493-967D-4A2A-B60D-2EDCFFBE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5A2CE26C-D15D-45A2-9E4E-268166E2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负责模块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24 张表建表脚本 · 中文枚举核对 · 测试数据 · 基础资料初始化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5550C04B-58E2-4764-9315-9ABB544A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49BD1D2B-B6A1-4370-8FC6-C4939FCC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主导数据表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全库关系表 · nodes · service_types · service_node_rules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B6AA13F7-88C1-44F7-999C-AAF6BEB2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1030FA09-F555-40B7-980E-4E47A6E6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核心产出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建表 SQL · 初始化 SQL · 测试数据 SQL · 数据库字典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474116AD-A622-4DB2-85CD-070F0E35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839BFB6F-9EFD-4E15-B48D-31313776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模块衔接（输入 / 输出）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2FB3034D-275D-4ACC-B498-ADFD1CDC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上游输入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E-R 模型与关系模式设计结论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本模块输出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可初始化的库结构与受控枚举口径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衔接约束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英文代码入库 · 页面显示中文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256BAD8B-AB40-4534-B244-4D5360A3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DBB75340-722F-4284-B2A1-2EDBAD5C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17128C8B-AF66-4561-A64E-1E4A409A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4731FF5A-A168-46E1-85CA-E83ACC46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C96ED58B-8422-403C-AC0E-C14DE5B3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23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9527882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5C745485-3E21-4E64-A454-FFA53E65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14B08C27-E6F7-44F4-BAF7-E7D5E2FE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2　核心实现与验证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755DED23-637D-485A-B8C5-6CD53CDF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8C11619C-CE80-4AD5-BE0D-3C793A08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CC42E3E1-CD43-4D4E-9232-9AFC7292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建表脚本 SCHEMA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D2D66FA0-0ECC-4845-AD66-ED641D2A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主外键 · 唯一 · CHECK 约束全量声明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函数唯一索引 · 全表与字段 COMMENT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脚本 002–007 按序可复跑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结构、约束与注释对应设计文档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9FCCF0DA-0D2C-4DCA-BB9E-71264920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枚举与数据 DATA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550A0F0A-C6BF-46D9-8C26-DE0DC7FB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中文枚举与英文代码一一核对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基础资料初始化 · 测试数据脚本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数据库字典受控更新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枚举口径与页面显示一致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151E5902-06C5-4A7F-9B9B-5EC0910F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核心产出 DELIVERABLES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6ADC7CFF-CB3E-4138-8B3D-2FCA9D45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campus_runner_oracle_schema.sql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002–007 增量脚本 · 数据库字典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脚本与字典纳入仓库版本控制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口径变更经字典同步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A21139AE-E4F3-41E3-B76B-273E8994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测试验证 EVIDENCE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E2AFCC24-6E3C-4B11-B881-E8916365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TC-DB-01 ～ 06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证据归档 docs/test-evidence（待提交）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答辩前完成归档与复核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用例设计见 docs/test-plan.md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DF3982CC-70A9-4518-90D1-249DDD12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BF5BAF62-E0E3-4353-A971-77DF6804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73149742-E0F7-436C-84E4-DA56515E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约束定口径 · 枚举对齐 · 脚本可复跑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F8AB802F-CD65-499D-A298-759AD50E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7789F85C-3FEE-47E0-BA7E-0B8275F0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6BB25A3C-D77B-4E29-9AE6-982EEBB0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24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370702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128615DD-0FAE-4416-88A7-22C518DB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A147FD3B-9BA0-4D39-90F5-857847C3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3　账户与权限模块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A4E8F7E5-43A1-4BB7-A19C-D94BBC242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820A1252-B00A-4933-8995-9ECEA7BE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29647F66-94FC-4494-A59C-346618D9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职责与主导数据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E28850C1-AA9F-4D07-BD26-99910752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角色定位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账户与权限模块负责人，支撑全系统身份与授权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D5C6D6CA-94D8-4565-8C85-8B9456B1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11E0ADE3-EBD7-4985-B671-B5AB8637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负责模块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注册登录 · 角色权限 · 用户信息 · 地址管理 · 账号状态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85F633A7-E330-45E7-B014-A69C00F5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0FB66338-90C4-400C-93CC-7A88BCF7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主导数据表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users · user_addresses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DAFE152D-2071-4F13-9CEF-BF66EA35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40175D74-36AE-4064-9ED1-58A4D236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核心产出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注册 / 登录 / 地址功能 · 账号生命周期处理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1343B83B-1B60-4575-AA41-3114AE08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ADCD511C-1D52-407D-AAE0-995FFC1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模块衔接（输入 / 输出）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3A63931B-5161-4B98-A755-D33A3B8C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上游输入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注册信息与登录凭据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本模块输出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各模块会话身份、角色与地址数据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衔接约束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密码仅存带盐哈希 · 角色最小授权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822F079D-89A6-4521-B133-6F7332A8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FC52B872-A416-4E4A-BAA5-0DF1E71B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4D42F5EC-2BB1-4C46-BAA4-E1C344FA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C36394B0-92F9-4E0B-BF54-FA3EBE92D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B19F2AF0-51ED-4D78-9526-24079315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25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7639961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2C977BFA-CABE-41C7-B6E0-1270C044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932CC3F5-69CA-4ACB-9D2C-57DEEF16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3　核心实现与验证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4F5F58F2-B43C-4C63-9B31-38EF21CD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945DF940-1DDE-43CF-A260-4739849A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A0FBEC22-CB3A-4E26-8D5A-84269154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账号安全 SECURITY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E848AFA4-D7D7-430F-93BF-EE473C63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PasswordHasher 带盐哈希存储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username / phone 唯一约束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注销账号手机号复用缺陷已修复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敏感字段仅存哈希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7786EF66-446A-43EC-A497-69495124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地址规则 ADDRESS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CBF24236-BAB6-440D-883E-8554BD0E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(user_id, address_no) 组合主键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单默认地址函数唯一索引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跨用户地址访问拦截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至多一个默认地址由唯一索引保证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878CCB46-8439-41A4-A7A4-525FAEF1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核心产出 DELIVERABLES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B887FB31-38F3-4D36-9FBB-76707E0B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注册 / 登录 / 账号状态功能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地址增删改与默认地址管理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模块功能与 SQL 证据对应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账号生命周期覆盖封禁与注销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BFC45875-2E61-4812-A57E-5F705684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测试验证 EVIDENCE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781A6112-6BF2-472D-91C9-F0DC5167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TC-ACC-01 ～ 12（8 份记录 · 3 份 SQL）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截图 9 张 · docs/test-evidence/manual/组员3-账户与权限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结论均为通过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含跨用户越权用例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12B4F8F2-908C-49F7-AD79-A4CF9A3B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C679E0EB-B1B3-4254-8A12-2678292A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9060B90D-6F6D-4157-9C30-00C2AA54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哈希存储 · 唯一约束 · 越权拦截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F64F87CF-7B03-4F4C-8D26-BBBEED34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A94FC7B0-C91C-45A3-A000-F1FA6406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FF675E74-4D87-4843-9B3E-E6FDC411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26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590245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1A7D601C-7668-44E2-AF6D-AAA4091D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08E6D5C2-C83F-4E11-A23C-48373417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4　基础资料与跑腿员模块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92B135F5-F50E-45A1-A81D-6656AF31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1817B623-ECA9-4C0C-B34F-1EF15208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111EBA58-E3A6-4628-8F0B-088A675C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职责与主导数据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83BE06AA-9460-4AD7-A2A3-601C7F7A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角色定位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基础资料与跑腿员模块负责人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2A66F88D-4E0E-4E79-B4DA-B2135C7A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895D79AC-3F95-4C0F-B7F8-15DD78F2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负责模块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节点管理 · 服务类型 · 服务—节点规则 · 跑腿员申请与审核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9A4426B9-2F20-4153-AE7C-DAD30371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39F9A317-3E28-4C26-AAAA-B7202314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主导数据表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nodes · service_types · service_node_rules · runners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FC30D186-952A-4E52-8EC3-F804397E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44F4C61F-1C3B-47B4-B66C-0689C2F2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核心产出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基础资料维护功能 · 跑腿员审核流程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63656F3E-5144-4EE4-8B35-8AD1E0D6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EC55BB05-0684-4B49-A6A4-EA113ADE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模块衔接（输入 / 输出）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759C6788-BD4D-4200-A050-0A0172DF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上游输入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跑腿员申请资料与站点配置需求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本模块输出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审核通过的跑腿员与可用服务—节点规则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衔接约束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任务发布依赖 service_node_rules 匹配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B8B777DC-A604-46CE-B747-EA8473B9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8DFF3695-D2FF-4431-B8FC-38FE6C78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32D1A93B-0FCB-44B7-A653-89D6D70E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39D2E5B5-64D3-4170-B6C6-1DA970CA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C0AC2486-3349-4F2D-ADED-720FBB96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27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557209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A266450C-B18B-4DE6-880D-53358690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F46BE2DD-8DF6-4694-9581-9C1E63D7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4　核心实现与验证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2E7DE7C0-38CD-45DC-A346-847E1E0C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0BABE78D-FB7E-41CA-8977-C98C3D28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D0016500-C48B-4174-B1F6-6F8C3E95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规则绑定 BINDING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9F08E10C-2027-4467-8621-DAFEA0B1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service_types × nodes 多对多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→ service_node_rules 联合主键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下单组合外键强制匹配规则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规则缺失的组合无法下单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DC6202CB-E257-4DD5-A2BB-EA0CF4E7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跑腿员审核 AUDIT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6BC275CF-F4D2-43AD-B755-38227BAA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audit_status 审核状态流转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实名认证资料 · work_status 工作状态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credit_score 信用分基线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个人中心显示真实姓名（补充验证）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2B58F9B8-8BB0-4E1C-85D5-D61849A8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核心产出 DELIVERABLES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E9438530-BDB9-4B7C-90D7-0427329B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节点 / 服务类型 / 规则维护功能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跑腿员申请与审核功能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基础数据初始化配套脚本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基础数据全量受控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8D60C8D0-B877-4B4C-BCB7-68CA6699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测试验证 EVIDENCE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5D2A6C33-A621-435A-8FA0-4FED1D65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TC-BASE-01 ～ 08（22 张截图）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docs/test-evidence/manual/组员4-基础资料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含 SQL 查询结果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含姓名显示补充验证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35FA6229-74C1-4D80-817E-8A4498B0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FA5FAE0C-465D-41D3-B799-8A6D8184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2778E4A9-AD95-4D07-8CD3-E46CE043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规则绑定 · 审核流转 · 基础数据受控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87664465-2AE6-4F7E-8116-BFE6EE19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C0DBF46A-4036-482E-A275-114985AF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BDC556F8-328C-41DB-8CFA-39B235CA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28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6954002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0D12F34C-4EA5-4192-9BCE-93D2F7F6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E9FAE4F2-A002-4765-989A-3A495534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5　任务发布模块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3EE7B8D2-8F1B-46AE-A96C-6640A09D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9DC291A1-BCC0-4109-938A-C8959ACD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DDB0F172-77C7-4B5F-A55F-15F2B5BF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职责与主导数据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D586A6D0-31D8-45BB-A26F-6FC0D9EA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角色定位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任务发布模块负责人，承载三类任务入口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EB7563E0-1A01-4ED8-ABE0-DF9C09B6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97CB4DED-149E-45AE-9CF2-2B9E5405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负责模块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任务主单 · 三类任务明细 · 我的任务 · 任务详情 · 任务取消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69188968-52F0-4B60-A461-B0E49729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C4FDC27A-A0BA-4869-8E94-2EAFB15F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主导数据表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tasks · food_delivery_details · express_pickup_details · private_task_details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6066E41D-AB3E-42EB-9093-7F8DB8D7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45CEAF14-2EFF-4C66-8490-C3C49818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核心产出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三类任务发布与取消功能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7C808B42-DD41-4C5F-A9D7-8DAAE5C5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BC7FE7F3-67EB-40AD-90BA-2CCC64B6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模块衔接（输入 / 输出）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A4F1D89D-0F43-4091-956C-57009C11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上游输入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用户需求、地址与服务—节点规则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本模块输出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WAITING 状态任务进入任务大厅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衔接约束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组合外键校验 · 价格非负约束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F2344C78-BE8B-4499-99D4-E50A2E9F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917A3F6C-3B6C-4D78-84FF-BDE0B4CA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D8765288-E225-478C-B8A4-491C0D52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F66DDA83-2982-442C-9C33-BBC58F58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01682D1F-6C12-4DC4-B19A-7DBB6BD9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29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37076800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98077418-B9B2-4E81-AB5D-BFED0D4A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393B9057-7F74-41A3-88DB-A3A42C4B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5　核心实现与验证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DE35672D-1BA6-4562-ABEA-FF71D840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C9182049-4456-49D9-8B0F-E2EB4FBB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C79E8104-136F-4558-8C06-8D75E51A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主单明细分离 MASTER–DETAIL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17261CAB-BD01-4678-8083-12CBD871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tasks 存公共字段与状态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三类明细弱实体 (task_id, detail_no)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复合主键关联主单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结构差异大的字段不混入主单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0155746A-1DD0-4695-AC9D-FBCFF7D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有效性约束 VALIDITY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723F05CF-8815-4783-A491-80CF3382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(publisher_user_id, address_no) 外键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(service_type_id, node_id) 外键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task_price CHECK ≥ 0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非法组合在数据库层被拒绝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D96F18FC-B2E6-4455-9C74-AF0A6673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核心产出 DELIVERABLES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6513B7E3-FFF7-466C-A749-711AA883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三类任务发布 / 详情 / 取消功能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我的任务列表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与任务大厅以 WAITING 状态衔接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取消仅限 WAITING 自助操作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FC1D668A-3F4C-4614-8660-B25AAE40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测试验证 EVIDENCE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6486E46A-C32A-47B5-ABF8-8E40255D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TC-TASK-01 ～ 08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用例见 docs/test-plan.md · 证据待归档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含三类明细表单写校验 SQL 证据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答辩前完成归档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61C35E6A-DA75-4205-9D52-3C8A63F5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EE062AE1-B412-4FC4-B8C4-6818CC80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1DA0404D-43D1-4DC8-95E0-F7A57ADA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主单明细分离 · 组合外键 · 弱实体建模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AE7CD6A6-F43C-45AB-B4A2-B0B11052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B1B45DFA-3457-40C0-9E6F-8FBE08D8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D12C7970-85CA-451B-8BF7-EADCE6D02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30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5319428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FF58ABFF-4D22-4025-8720-7BCBB9C6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68A7625A-ADF1-4262-B993-2E416D3F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6　接单派单与状态流转模块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468B67B2-B0BB-4A8E-ACDB-51ABB925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8216A216-1A03-4EEE-9CBF-B99ED793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FDE9C7D2-EABB-4866-9185-5FB014CD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职责与主导数据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3CCD5455-583F-42C6-914B-ACBC2A5B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角色定位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接单派单与状态流转负责人，覆盖抢单到送达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47FD84C2-96D8-495C-9909-4B892F53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CC6E8E5D-CA07-49B3-BCA3-8DCFA374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负责模块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任务大厅 · 抢单 · 管理员派单 / 重派 · 状态更新 · 状态日志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BCCF1BCC-02B6-4536-B659-279335195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085CB574-3B8F-4E95-8FF8-BEAEAE35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主导数据表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assign_records · task_status_logs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A28F5ABC-FC00-4197-88CE-8FD56054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A22C1FCF-FCC9-4192-8A9B-B223205C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核心产出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抢单派单与状态流转功能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A9CEBF4C-C4A3-4CB0-A400-70733423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6CBC661B-EFC2-4A06-8D03-40FA0F33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模块衔接（输入 / 输出）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26837154-ABFF-47C1-BC4E-59397170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上游输入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WAITING 任务与跑腿员接单请求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本模块输出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接派记录与状态日志，推进至 WAIT_CONFIRM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衔接约束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行锁互斥 · 状态变更同事务留痕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1414D1F1-7DAA-4562-8A75-59CCBFF2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2A1576BF-F2D6-461F-BAAA-CCF4E054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306708BC-5478-47D5-9F36-D65C0E4D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34D30BD4-7990-4FB1-8A2F-D6DAB026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0FEF2965-2B3B-4636-90FB-60C3F392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31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8395770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7B35855D-0211-400C-BAA0-C00B6E9A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9B4AB392-5B18-4502-A613-FF17DEE6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6　核心实现与验证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D398CD51-C15E-40DE-B176-ABA08B2B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CD382984-C730-4CED-A043-D2E3DE51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636BC859-DA4F-42DD-B0A5-572D8879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并发抢单 CLAIM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EBBD1292-EA53-4C86-BCCD-A0C53CB7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idx_tasks_status 检索任务大厅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→ SELECT … FOR UPDATE 行锁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→ 状态校验 → 同事务写记录与日志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后到事务校验失败，重复接单消除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BE4CF09D-9E60-4B31-9A46-687CC628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派单与重派 DISPATCH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BA4AF35C-5728-4666-8F18-83B1C5D4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operation_type：SELF / ADMIN / REASSIGN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重派绑定原记录并写重派原因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状态流转全程绑定接派记录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多单承接与重派流程已优化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61BE1A8B-D0FE-4D93-A0B2-1C89EA55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核心产出 DELIVERABLES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AE0E54F5-A3F8-4300-8B92-10E5BB95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任务大厅 / 抢单 / 派单 / 重派功能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状态更新与状态日志功能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与支付模块以 WAIT_CONFIRM 衔接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已接派任务不再进入任务大厅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576DF999-1847-41F6-BACF-9023DDC5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测试验证 EVIDENCE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307C1487-3A04-4E56-8144-4C1CFD5C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TC-ASSIGN-01 ～ 09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用例见 docs/test-plan.md · 证据待归档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并发抢单用例需双会话截图与 SQL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答辩前完成归档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853050EC-DBE3-4AD1-B6E8-4E3DE0FD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BE62CB95-B789-4E5A-A39C-5698C5C3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874BC567-6256-43A2-9BAD-5858A055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行锁互斥 · 同事务留痕 · 状态机驱动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7EAF2064-FCF9-40EC-AA55-335C5B91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EF10F396-B0C4-4CC2-825F-90D110C9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F59598B6-2E72-434A-9A20-BB907C50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32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41303635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89944081-57F4-4800-99BE-AC603720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5E4C23DE-B6E6-41B0-A378-CB64058A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7　收货后支付与退款模块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DD03FFE0-E789-4855-A431-9DA8CD77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E7B9B33A-915F-46F4-B399-956D851E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D3808D7A-ED8E-439C-8720-8763E710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职责与主导数据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A3A5571E-5E6B-41E3-9B88-33ADCEA4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角色定位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收货后支付与退款模块负责人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69561E61-8FAE-45C3-AFDB-A4CE7442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0188BEFD-AB9E-45FC-A4EB-DECB8976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负责模块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收货确认支付 · 支付记录 · 退款登记 · 退款审核 · 状态联动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8A523576-0A4B-4067-BE00-104A939F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86360E59-D6D8-4F03-A703-0949D2C2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主导数据表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payments · refunds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79360C2C-A080-4E96-B87A-D871973B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A3C23108-FB74-47B6-AC19-6B3CB031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核心产出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支付与退款全流程功能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9243052E-56FE-4AE9-A17C-A1616267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ECF432A2-42F8-46CD-A0A6-A52D9C70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模块衔接（输入 / 输出）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888CEF5E-F458-4305-9B76-2E22A56C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上游输入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WAIT_CONFIRM 任务的确认收货操作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本模块输出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PAID 支付单与退款流水，触发结算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衔接约束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支付流水号唯一 · 已结算订单限制退款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0D123CDB-F634-411D-9B06-153AD519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7556F54C-8BB8-497B-AD58-B3275C97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2EAF9351-ACD4-465D-AD7F-21E94120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EAAACD80-DA90-4AC2-A2F3-ED999BDC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3EA3F79B-156E-4C17-A6EC-0619D89B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33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6230413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491DAC64-7161-4CBD-8916-C169B1F0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B7242EAA-F3D7-4DE6-AF44-DC035C1C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7　核心实现与验证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E8DB54EF-2800-4304-8E5A-40F21F20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9BE8F031-04AD-444F-851F-8F49B03D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A71169C5-0666-413F-8D1E-0CDF088E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支付联动 PAYMENT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9D28BDF6-565E-49A0-829C-11121793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确认收货生成支付单 → PAID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pay_status 状态机流转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uk_payments_trade_no 流水号唯一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支付与任务状态同事务推进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7C3B1C39-0EBA-485F-9C89-0461FCB8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退款审核 REFUND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F3FC0A7D-1037-4E72-B33C-61E2E74D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退款登记 → 管理员审核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退款状态与订单状态联动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已结算订单禁止普通退款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资金操作失败整体回滚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B8955236-E746-4C50-A2FC-1F1D53AF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核心产出 DELIVERABLES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C31E5713-E129-4FA4-AA27-2FCEB440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收货确认与支付功能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退款登记 / 审核功能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与结算模块以支付状态衔接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支付时点后置到确认收货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E4D1DFF8-FDF3-431A-923E-752098E1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测试验证 EVIDENCE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205B873B-D307-46EC-AB22-AEBB3845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TC-PAY-01 ～ 09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用例见 docs/test-plan.md · 证据待归档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退款 DONE 与结算排除需 SQL 证据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答辩前完成归档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62E39711-BBAD-4315-9ED1-CB31B1EC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9B6A2364-CB2C-41E3-A2AB-D20DAE77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6D132C34-5D21-49B8-AF7B-9D4EBBB7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收货后支付 · 流水唯一 · 退款受控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0542A469-78E5-4D2D-913B-C7698DEE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F8193E6D-89FE-41E6-8E05-96BCB21BF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DE6CB786-F43E-4A45-A370-F7BFC5CD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34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6770269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97800B84-8ECD-4C1F-A7AB-9EB6A8AA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D82A58DC-36D3-423F-B0A4-748A5252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8　评价投诉与信誉模块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9FA53FC2-8579-4DA8-9D55-CD46A007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2A609B35-5E40-4BFE-AA93-6D547F0D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18FC237E-6D6B-4708-A30D-CA888B5E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职责与主导数据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D110622D-9C88-47EC-98E8-7997C07A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角色定位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评价投诉与信誉模块负责人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A622E414-7F6C-49A5-B1FB-3621C348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1FE6CBAB-9754-4331-831F-112FC371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负责模块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用户评价 · 用户投诉 · 管理员处理 · 信誉分变化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AC7E26C1-91CD-4763-AC9D-36B75ABB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CB46946F-777E-4185-A06A-B34D3E0C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主导数据表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reviews · complaints · runners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4CE80DC4-0413-4C96-A994-737D83DB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783ABABB-4E4F-4EC9-8255-6A39E5D65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核心产出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评价 / 投诉 / 信誉联动功能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475B6B9B-644F-4B83-A6BF-B6FD7039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97DF562A-C9CA-4D4E-BD6A-875B7AE1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模块衔接（输入 / 输出）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1CF9B876-C518-4719-820D-DAE9FB09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上游输入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FINISHED 任务与支付完成状态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本模块输出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评分与信誉变动值 · 投诉处理结论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衔接约束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一任务一评价 · 处理结果联动信誉分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CC7629DD-B120-44A5-98C2-DCBE4DB9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AD1C33A0-C14A-4603-A609-36CAF8CF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180DB013-09E9-4621-A334-30C572C1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2B152ED0-EE7C-41E0-88CA-9BE98275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23EB5B3A-9EB0-4A2B-A901-4692E9DB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35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897973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2D321F07-C173-44F4-B2D5-501F7B0B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2FC604A5-8307-496B-AFB6-93194B78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8　核心实现与验证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04B17626-FBEF-4495-9D55-29CB467A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D1C804E5-FB65-4B25-AA06-87E2491E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28CAB68E-789E-49CD-9023-D1547599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评价约束 REVIEW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7F8A53EA-930B-4708-9FF7-3A894A5B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uk_reviews_task 一任务一评价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rating → credit_delta 按评分计算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回写 runners.credit_score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信誉变动值随评价记录留痕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66ECF22E-2A33-4B68-A8DB-C717DBF7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投诉处理 COMPLAINT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F5729602-180A-40CC-BF35-32DB8152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投诉登记 → 管理员处理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process_status 状态流转可查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处理结果联动信誉分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投诉与处理记录全量留痕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46C5A2E9-B974-484D-85C9-41B4D52D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核心产出 DELIVERABLES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F8200C18-8CC6-416C-BF3F-339DB0EC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评价 / 投诉 / 信誉功能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信誉分计算与回写逻辑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依赖任务 FINISHED 状态触发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一单一评由数据库约束强制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CDF1C7E6-8DA9-4570-A3F1-8301A09E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测试验证 EVIDENCE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D40286B9-F77A-4342-8FA4-00712272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TC-REVIEW-01 ～ 09（9 份记录 · 5 份 SQL）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截图 21 张 · docs/test-evidence/manual/组员8-评价、投诉与信誉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结论均为通过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含重复评价拦截用例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C5100966-B6F7-4E95-86A7-DBFAC9F8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F530D14D-C901-451C-B4AD-410275D7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F358992A-39A4-43E9-BE7E-23C925FD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一单一评 · 分值联动 · 处理留痕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CECFDB04-751F-485D-836C-BB25373A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0169DA19-825C-4E3B-B8BB-391676A7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28EF79BC-A23C-40F9-9DD9-CB6684D9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36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8302410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9D40C8C1-D0E3-4DE3-9868-BEC5868F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54877958-9FEE-418E-BBDF-A9E1BF68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9　结算审计报表模块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BCF82560-0D6C-474A-8311-59F06A6A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87D1E33E-2D6A-4B32-A1AF-28C15BCF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0681F9E4-8281-423C-BD12-827726C4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职责与主导数据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ECCE0FE5-2267-4C14-9515-4D060720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角色定位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结算审计报表模块负责人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4496F75D-E698-4C05-974F-DE63AFA9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032B9B4B-16E8-4128-B677-AC0823AF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负责模块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跑腿员结算 · 结算明细 · 审计日志 · 统计报表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102FCD0E-D596-4CE0-9060-8CD8C99F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5F35689E-D00E-410F-9EBB-C1A87AF1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主导数据表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settlements · settlement_payment_items · audit_logs · reports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F387F319-E9A1-4D6B-A497-3870D672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07DD2EFE-4727-431C-ADCA-BD662B78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核心产出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结算 / 审计 / 报表功能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BFD5AE8D-2553-4A8D-A192-5C30164A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58F6FF41-6848-4366-BB73-53441CD6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模块衔接（输入 / 输出）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ED89C7FA-ED30-4DD7-A6DA-7ADBFBD1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上游输入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PAID 支付单与退款、投诉状态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本模块输出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结算单与净收入 · 审计日志 · 报表导出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衔接约束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退款 / 投诉中支付不结算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6F472D34-F24B-4083-8425-BD11391E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2B0F9EB9-9B00-42A9-980F-8A6E47B8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7C7B30A7-86D0-4B2B-BBFF-31CCC04A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9B3AA132-DA82-43F0-8167-4A307325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B0F73607-7488-492A-B5C9-AF648446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37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89760177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C8A80211-78F4-4FA5-9669-3826B626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95796253-A5B3-4433-AA09-EBF124FF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9　核心实现与验证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12107615-9A2A-4660-9847-FD6B510E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FC62E6F4-A0EB-47AA-8444-6F618511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F18B4255-DA6E-45C0-82F3-9082FA67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结算规则 SETTLEMENT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43DDDD5F-526D-406E-9038-E9F71D68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生成结算单与结算明细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重复结算限制 · 跑腿员归属校验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退款 / 投诉中支付排除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已结算订单同步禁止普通退款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C7375275-C470-4175-A67E-8EACA300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审计与报表 AUDIT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681135F2-464B-4547-9BCE-88041085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支付 / 退款 / 状态日志三类审计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按月统计报表与 CSV 导出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删除报表保留审计日志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结算结果可重算、可核对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21446176-39BF-49C1-BE3F-8A265D46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核心产出 DELIVERABLES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60655D6D-AEE7-42F1-8764-1190B8F2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结算 / 审计 / 报表功能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审计与报表功能入门说明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报表删除不影响审计留痕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审计覆盖三类业务对象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9A07494F-4CFF-420C-BE59-AFA4192A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测试验证 EVIDENCE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40A6BCBE-E417-4947-8292-B9B38F32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TC-SETTLE-01 ～ 10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docs/test-evidence/manual/组员9-结算审计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含审计、报表与跑腿员视角用例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结论以测试记录为准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CA933CA8-2531-4831-AB4D-5412FE9F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A53740EA-74FA-444A-8DDF-2E11E03D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D858FA89-83A2-442E-8AC6-A721B1B0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结算受控 · 操作留痕 · 结果可复算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7E39C461-5C9C-4986-8754-DD5E70D7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5DEEDCDD-661D-49C7-B536-FA330407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D445F9B2-59C9-44D8-94A7-5B92FEC0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38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05237921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3C33093B-E14E-40DD-A9CC-7AAD2A9C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2161C1B1-B79E-4340-A5F0-04414C65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10　测试文档与答辩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503187A9-3023-4CD8-8FD3-B30BCE79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398863D7-8880-4F52-B0E7-54B507FB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l-label">
            <a:extLst xmlns:a="http://schemas.openxmlformats.org/drawingml/2006/main">
              <a:ext uri="{FF2B5EF4-FFF2-40B4-BE49-F238E27FC236}">
                <a16:creationId xmlns:a16="http://schemas.microsoft.com/office/drawing/2014/main" id="{D9A66DD7-04D3-40E4-8DE2-BB0CB972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职责与主导数据</a:t>
            </a:r>
            <a:endParaRPr sz="1200"/>
          </a:p>
        </p:txBody>
      </p:sp>
      <p:sp>
        <p:nvSpPr>
          <p:cNvPr id="7" name="dg1">
            <a:extLst xmlns:a="http://schemas.openxmlformats.org/drawingml/2006/main">
              <a:ext uri="{FF2B5EF4-FFF2-40B4-BE49-F238E27FC236}">
                <a16:creationId xmlns:a16="http://schemas.microsoft.com/office/drawing/2014/main" id="{35695C78-A2EF-4049-8ECF-3C0070F0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角色定位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测试文档与答辩负责人，统筹验证与材料</a:t>
            </a:r>
            <a:endParaRPr sz="1200"/>
          </a:p>
        </p:txBody>
      </p:sp>
      <p:sp>
        <p:nvSpPr>
          <p:cNvPr id="8" name="dg1-line">
            <a:extLst xmlns:a="http://schemas.openxmlformats.org/drawingml/2006/main">
              <a:ext uri="{FF2B5EF4-FFF2-40B4-BE49-F238E27FC236}">
                <a16:creationId xmlns:a16="http://schemas.microsoft.com/office/drawing/2014/main" id="{9F361FC7-F63D-4608-9266-2EA7AE74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540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dg2">
            <a:extLst xmlns:a="http://schemas.openxmlformats.org/drawingml/2006/main">
              <a:ext uri="{FF2B5EF4-FFF2-40B4-BE49-F238E27FC236}">
                <a16:creationId xmlns:a16="http://schemas.microsoft.com/office/drawing/2014/main" id="{AE5A6B44-B089-4DD4-99AB-3E25A523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7178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负责模块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功能测试 · Bug 记录 · 截图整理 · 系统文档 · 答辩材料</a:t>
            </a:r>
            <a:endParaRPr sz="1200"/>
          </a:p>
        </p:txBody>
      </p:sp>
      <p:sp>
        <p:nvSpPr>
          <p:cNvPr id="10" name="dg2-line">
            <a:extLst xmlns:a="http://schemas.openxmlformats.org/drawingml/2006/main">
              <a:ext uri="{FF2B5EF4-FFF2-40B4-BE49-F238E27FC236}">
                <a16:creationId xmlns:a16="http://schemas.microsoft.com/office/drawing/2014/main" id="{26E8DA01-F636-430A-8217-411BD41F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576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dg3">
            <a:extLst xmlns:a="http://schemas.openxmlformats.org/drawingml/2006/main">
              <a:ext uri="{FF2B5EF4-FFF2-40B4-BE49-F238E27FC236}">
                <a16:creationId xmlns:a16="http://schemas.microsoft.com/office/drawing/2014/main" id="{514E49C8-2608-4423-9090-41BA9FE6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8354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主导数据表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跨模块链路 tasks → assign_records → payments → settlements</a:t>
            </a:r>
            <a:endParaRPr sz="1200"/>
          </a:p>
        </p:txBody>
      </p:sp>
      <p:sp>
        <p:nvSpPr>
          <p:cNvPr id="12" name="dg3-line">
            <a:extLst xmlns:a="http://schemas.openxmlformats.org/drawingml/2006/main">
              <a:ext uri="{FF2B5EF4-FFF2-40B4-BE49-F238E27FC236}">
                <a16:creationId xmlns:a16="http://schemas.microsoft.com/office/drawing/2014/main" id="{27F808D2-7E6E-48C1-963B-CCD8E6CF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7752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g4">
            <a:extLst xmlns:a="http://schemas.openxmlformats.org/drawingml/2006/main">
              <a:ext uri="{FF2B5EF4-FFF2-40B4-BE49-F238E27FC236}">
                <a16:creationId xmlns:a16="http://schemas.microsoft.com/office/drawing/2014/main" id="{4BE2D32B-87A0-45F5-950E-D6EECD2F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953000"/>
            <a:ext cx="5334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核心产出</a:t>
            </a:r>
            <a:endParaRPr sz="120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测试报告 · 演示截图 · 答辩材料 · 证据索引</a:t>
            </a:r>
            <a:endParaRPr sz="1200"/>
          </a:p>
        </p:txBody>
      </p:sp>
      <p:sp>
        <p:nvSpPr>
          <p:cNvPr id="14" name="vdiv">
            <a:extLst xmlns:a="http://schemas.openxmlformats.org/drawingml/2006/main">
              <a:ext uri="{FF2B5EF4-FFF2-40B4-BE49-F238E27FC236}">
                <a16:creationId xmlns:a16="http://schemas.microsoft.com/office/drawing/2014/main" id="{4D2D0575-531D-4B8F-80AD-C22683D4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nf-label">
            <a:extLst xmlns:a="http://schemas.openxmlformats.org/drawingml/2006/main">
              <a:ext uri="{FF2B5EF4-FFF2-40B4-BE49-F238E27FC236}">
                <a16:creationId xmlns:a16="http://schemas.microsoft.com/office/drawing/2014/main" id="{84712632-5D6C-4232-8DBD-DF78FE08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模块衔接（输入 / 输出）</a:t>
            </a:r>
            <a:endParaRPr sz="1200"/>
          </a:p>
        </p:txBody>
      </p:sp>
      <p:sp>
        <p:nvSpPr>
          <p:cNvPr id="16" name="nf-body">
            <a:extLst xmlns:a="http://schemas.openxmlformats.org/drawingml/2006/main">
              <a:ext uri="{FF2B5EF4-FFF2-40B4-BE49-F238E27FC236}">
                <a16:creationId xmlns:a16="http://schemas.microsoft.com/office/drawing/2014/main" id="{D496ED15-738A-42F6-B4C2-1943E428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00200"/>
            <a:ext cx="50800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上游输入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各模块测试记录与截图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本模块输出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测试报告与 test-evidence 归档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spcBef>
                <a:spcPts val="1000"/>
              </a:spcBef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衔接约束</a:t>
            </a:r>
            <a:endParaRPr sz="12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结论以执行记录为准</a:t>
            </a:r>
            <a:endParaRPr sz="1200"/>
          </a:p>
        </p:txBody>
      </p:sp>
      <p:sp>
        <p:nvSpPr>
          <p:cNvPr id="17" name="nf-line">
            <a:extLst xmlns:a="http://schemas.openxmlformats.org/drawingml/2006/main">
              <a:ext uri="{FF2B5EF4-FFF2-40B4-BE49-F238E27FC236}">
                <a16:creationId xmlns:a16="http://schemas.microsoft.com/office/drawing/2014/main" id="{1327F9B3-E330-49A2-AC34-0635AE0F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588000"/>
            <a:ext cx="5080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nf-note">
            <a:extLst xmlns:a="http://schemas.openxmlformats.org/drawingml/2006/main">
              <a:ext uri="{FF2B5EF4-FFF2-40B4-BE49-F238E27FC236}">
                <a16:creationId xmlns:a16="http://schemas.microsoft.com/office/drawing/2014/main" id="{D4BF2BD3-3E05-4195-88FC-3268AD80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5740400"/>
            <a:ext cx="508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9" name="ft-line">
            <a:extLst xmlns:a="http://schemas.openxmlformats.org/drawingml/2006/main">
              <a:ext uri="{FF2B5EF4-FFF2-40B4-BE49-F238E27FC236}">
                <a16:creationId xmlns:a16="http://schemas.microsoft.com/office/drawing/2014/main" id="{FB90225C-FDD7-4D42-892D-13447218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ft-brand">
            <a:extLst xmlns:a="http://schemas.openxmlformats.org/drawingml/2006/main">
              <a:ext uri="{FF2B5EF4-FFF2-40B4-BE49-F238E27FC236}">
                <a16:creationId xmlns:a16="http://schemas.microsoft.com/office/drawing/2014/main" id="{B0A0B175-A6CF-468B-8D2B-DDFCBF12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1" name="ft-page">
            <a:extLst xmlns:a="http://schemas.openxmlformats.org/drawingml/2006/main">
              <a:ext uri="{FF2B5EF4-FFF2-40B4-BE49-F238E27FC236}">
                <a16:creationId xmlns:a16="http://schemas.microsoft.com/office/drawing/2014/main" id="{918C697B-FBB1-481F-B839-71021946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39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8165491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501831B7-1216-45E2-A8B8-9C6967BF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C43BDC9D-FF61-4BE6-98E8-A187D757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组员 10　核心实现与验证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823DF9C0-5A4E-40DB-B696-477C2C58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05 · 团队分工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30F9F3C4-7B2F-4529-8E9B-AF846E9A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q1-title">
            <a:extLst xmlns:a="http://schemas.openxmlformats.org/drawingml/2006/main">
              <a:ext uri="{FF2B5EF4-FFF2-40B4-BE49-F238E27FC236}">
                <a16:creationId xmlns:a16="http://schemas.microsoft.com/office/drawing/2014/main" id="{EA3708D2-C7AE-4493-803A-FAE832DA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端到端验收 END-TO-END</a:t>
            </a:r>
            <a:endParaRPr sz="1500"/>
          </a:p>
        </p:txBody>
      </p:sp>
      <p:sp>
        <p:nvSpPr>
          <p:cNvPr id="7" name="q1-body">
            <a:extLst xmlns:a="http://schemas.openxmlformats.org/drawingml/2006/main">
              <a:ext uri="{FF2B5EF4-FFF2-40B4-BE49-F238E27FC236}">
                <a16:creationId xmlns:a16="http://schemas.microsoft.com/office/drawing/2014/main" id="{DD9E76C0-9721-4A7D-91D9-04DC7317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共享 Oracle 写入型 E2E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主链路 / 并发抢单 / 退款 / 投诉 / 结算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TC-E2E-01 ～ 07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关键场景在真实库验证</a:t>
            </a:r>
            <a:endParaRPr sz="1100"/>
          </a:p>
        </p:txBody>
      </p:sp>
      <p:sp>
        <p:nvSpPr>
          <p:cNvPr id="8" name="q2-title">
            <a:extLst xmlns:a="http://schemas.openxmlformats.org/drawingml/2006/main">
              <a:ext uri="{FF2B5EF4-FFF2-40B4-BE49-F238E27FC236}">
                <a16:creationId xmlns:a16="http://schemas.microsoft.com/office/drawing/2014/main" id="{9FB76946-923A-46AD-A109-263D3A53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446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质量门禁 QUALITY GATE</a:t>
            </a:r>
            <a:endParaRPr sz="1500"/>
          </a:p>
        </p:txBody>
      </p:sp>
      <p:sp>
        <p:nvSpPr>
          <p:cNvPr id="9" name="q2-body">
            <a:extLst xmlns:a="http://schemas.openxmlformats.org/drawingml/2006/main">
              <a:ext uri="{FF2B5EF4-FFF2-40B4-BE49-F238E27FC236}">
                <a16:creationId xmlns:a16="http://schemas.microsoft.com/office/drawing/2014/main" id="{58611811-96F5-4A15-A89B-E18091A3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256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自动化测试 52/52 通过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Bug 登记 → 修复 → 回归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证据目录索引维护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报告 9.4 节记录门禁结果</a:t>
            </a:r>
            <a:endParaRPr sz="1100"/>
          </a:p>
        </p:txBody>
      </p:sp>
      <p:sp>
        <p:nvSpPr>
          <p:cNvPr id="10" name="q3-title">
            <a:extLst xmlns:a="http://schemas.openxmlformats.org/drawingml/2006/main">
              <a:ext uri="{FF2B5EF4-FFF2-40B4-BE49-F238E27FC236}">
                <a16:creationId xmlns:a16="http://schemas.microsoft.com/office/drawing/2014/main" id="{ECA1E2D3-B147-4DC0-8AC2-1D7130EE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核心产出 DELIVERABLES</a:t>
            </a:r>
            <a:endParaRPr sz="1500"/>
          </a:p>
        </p:txBody>
      </p:sp>
      <p:sp>
        <p:nvSpPr>
          <p:cNvPr id="11" name="q3-body">
            <a:extLst xmlns:a="http://schemas.openxmlformats.org/drawingml/2006/main">
              <a:ext uri="{FF2B5EF4-FFF2-40B4-BE49-F238E27FC236}">
                <a16:creationId xmlns:a16="http://schemas.microsoft.com/office/drawing/2014/main" id="{FC15630B-1D4D-47E6-B337-0A8DE68D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docs/system-test-report.md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演示截图 · 答辩 PPT · 演示脚本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test-evidence 证据索引持续更新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答辩材料与证据互为对照</a:t>
            </a:r>
            <a:endParaRPr sz="1100"/>
          </a:p>
        </p:txBody>
      </p:sp>
      <p:sp>
        <p:nvSpPr>
          <p:cNvPr id="12" name="q4-title">
            <a:extLst xmlns:a="http://schemas.openxmlformats.org/drawingml/2006/main">
              <a:ext uri="{FF2B5EF4-FFF2-40B4-BE49-F238E27FC236}">
                <a16:creationId xmlns:a16="http://schemas.microsoft.com/office/drawing/2014/main" id="{88FEB19E-37A4-4FBD-AC93-325E590E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9200"/>
            <a:ext cx="5080000" cy="2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5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测试验证 EVIDENCE</a:t>
            </a:r>
            <a:endParaRPr sz="1500"/>
          </a:p>
        </p:txBody>
      </p:sp>
      <p:sp>
        <p:nvSpPr>
          <p:cNvPr id="13" name="q4-body">
            <a:extLst xmlns:a="http://schemas.openxmlformats.org/drawingml/2006/main">
              <a:ext uri="{FF2B5EF4-FFF2-40B4-BE49-F238E27FC236}">
                <a16:creationId xmlns:a16="http://schemas.microsoft.com/office/drawing/2014/main" id="{02214FFD-2DBD-47F8-B7C0-B38BC16C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40200"/>
            <a:ext cx="5207000" cy="177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2026-08-16 / 2026-08-22-shared-e2e.md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docs/test-evidence/manual/ 组员1/3/4/8/9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spcBef>
                <a:spcPts val="600"/>
              </a:spcBef>
              <a:buNone/>
            </a:pPr>
            <a:r>
              <a:rPr sz="1050">
                <a:solidFill>
                  <a:srgbClr val="23272E"/>
                </a:solidFill>
                <a:latin typeface="JetBrains Mono"/>
                <a:ea typeface="JetBrains Mono"/>
                <a:cs typeface="JetBrains Mono"/>
              </a:rPr>
              <a:t>四模块证据归档推进中</a:t>
            </a:r>
            <a:endParaRPr sz="1100"/>
          </a:p>
          <a:p xmlns:a="http://schemas.openxmlformats.org/drawingml/2006/main">
            <a:pPr>
              <a:lnSpc>
                <a:spcPct val="155000"/>
              </a:lnSpc>
              <a:buNone/>
            </a:pPr>
            <a:r>
              <a:rPr sz="1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归档完成后更新索引表</a:t>
            </a:r>
            <a:endParaRPr sz="1100"/>
          </a:p>
        </p:txBody>
      </p:sp>
      <p:sp>
        <p:nvSpPr>
          <p:cNvPr id="14" name="h-div">
            <a:extLst xmlns:a="http://schemas.openxmlformats.org/drawingml/2006/main">
              <a:ext uri="{FF2B5EF4-FFF2-40B4-BE49-F238E27FC236}">
                <a16:creationId xmlns:a16="http://schemas.microsoft.com/office/drawing/2014/main" id="{16FBAC4F-7B1E-417F-8E8F-8A147AD9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581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v-div">
            <a:extLst xmlns:a="http://schemas.openxmlformats.org/drawingml/2006/main">
              <a:ext uri="{FF2B5EF4-FFF2-40B4-BE49-F238E27FC236}">
                <a16:creationId xmlns:a16="http://schemas.microsoft.com/office/drawing/2014/main" id="{FE342658-43DA-4B10-B86E-8BCBC15F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44600"/>
            <a:ext cx="12700" cy="467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-concl">
            <a:extLst xmlns:a="http://schemas.openxmlformats.org/drawingml/2006/main">
              <a:ext uri="{FF2B5EF4-FFF2-40B4-BE49-F238E27FC236}">
                <a16:creationId xmlns:a16="http://schemas.microsoft.com/office/drawing/2014/main" id="{24D3540A-78EA-4241-ACED-131946AE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070600"/>
            <a:ext cx="11176000" cy="25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场景覆盖 · 证据归档 · 结论可核</a:t>
            </a:r>
            <a:endParaRPr sz="1200"/>
          </a:p>
        </p:txBody>
      </p:sp>
      <p:sp>
        <p:nvSpPr>
          <p:cNvPr id="17" name="ft-line">
            <a:extLst xmlns:a="http://schemas.openxmlformats.org/drawingml/2006/main">
              <a:ext uri="{FF2B5EF4-FFF2-40B4-BE49-F238E27FC236}">
                <a16:creationId xmlns:a16="http://schemas.microsoft.com/office/drawing/2014/main" id="{873B957D-442F-4E93-800A-980F355B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ft-brand">
            <a:extLst xmlns:a="http://schemas.openxmlformats.org/drawingml/2006/main">
              <a:ext uri="{FF2B5EF4-FFF2-40B4-BE49-F238E27FC236}">
                <a16:creationId xmlns:a16="http://schemas.microsoft.com/office/drawing/2014/main" id="{2ACB7837-EDF6-4308-8F64-D90DAD17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9" name="ft-page">
            <a:extLst xmlns:a="http://schemas.openxmlformats.org/drawingml/2006/main">
              <a:ext uri="{FF2B5EF4-FFF2-40B4-BE49-F238E27FC236}">
                <a16:creationId xmlns:a16="http://schemas.microsoft.com/office/drawing/2014/main" id="{077552FC-7C07-49BA-8BC5-89E97D32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40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8066799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232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iv-num">
            <a:extLst xmlns:a="http://schemas.openxmlformats.org/drawingml/2006/main">
              <a:ext uri="{FF2B5EF4-FFF2-40B4-BE49-F238E27FC236}">
                <a16:creationId xmlns:a16="http://schemas.microsoft.com/office/drawing/2014/main" id="{DB4185AA-A863-4CEC-8207-9660C7D7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524000"/>
            <a:ext cx="4064000" cy="215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06</a:t>
            </a:r>
            <a:endParaRPr sz="14000"/>
          </a:p>
        </p:txBody>
      </p:sp>
      <p:sp>
        <p:nvSpPr>
          <p:cNvPr id="3" name="div-line">
            <a:extLst xmlns:a="http://schemas.openxmlformats.org/drawingml/2006/main">
              <a:ext uri="{FF2B5EF4-FFF2-40B4-BE49-F238E27FC236}">
                <a16:creationId xmlns:a16="http://schemas.microsoft.com/office/drawing/2014/main" id="{03AC3E0C-2860-4713-881B-F5481308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32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iv-title">
            <a:extLst xmlns:a="http://schemas.openxmlformats.org/drawingml/2006/main">
              <a:ext uri="{FF2B5EF4-FFF2-40B4-BE49-F238E27FC236}">
                <a16:creationId xmlns:a16="http://schemas.microsoft.com/office/drawing/2014/main" id="{2FF73F47-5894-4DAA-AE27-26D3740A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4318000"/>
            <a:ext cx="63500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40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测试与总结</a:t>
            </a:r>
            <a:endParaRPr sz="4000"/>
          </a:p>
        </p:txBody>
      </p:sp>
      <p:sp>
        <p:nvSpPr>
          <p:cNvPr id="5" name="div-sub">
            <a:extLst xmlns:a="http://schemas.openxmlformats.org/drawingml/2006/main">
              <a:ext uri="{FF2B5EF4-FFF2-40B4-BE49-F238E27FC236}">
                <a16:creationId xmlns:a16="http://schemas.microsoft.com/office/drawing/2014/main" id="{BBD694C0-CE24-477B-990A-FEBE77D6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5156200"/>
            <a:ext cx="787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400">
                <a:solidFill>
                  <a:srgbClr val="B9B2A6"/>
                </a:solidFill>
                <a:latin typeface="MiSans"/>
                <a:ea typeface="MiSans"/>
                <a:cs typeface="MiSans"/>
              </a:rPr>
              <a:t>测试验证 · 成果总结 · 改进方向</a:t>
            </a:r>
            <a:endParaRPr sz="1400"/>
          </a:p>
        </p:txBody>
      </p:sp>
      <p:sp>
        <p:nvSpPr>
          <p:cNvPr id="6" name="div-progress">
            <a:extLst xmlns:a="http://schemas.openxmlformats.org/drawingml/2006/main">
              <a:ext uri="{FF2B5EF4-FFF2-40B4-BE49-F238E27FC236}">
                <a16:creationId xmlns:a16="http://schemas.microsoft.com/office/drawing/2014/main" id="{2214698C-6BB2-4C73-9D14-23709F99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76200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100" spc="200">
                <a:solidFill>
                  <a:srgbClr val="8A8478"/>
                </a:solidFill>
                <a:latin typeface="MiSans"/>
                <a:ea typeface="MiSans"/>
                <a:cs typeface="MiSans"/>
              </a:rPr>
              <a:t>SECTION 06 / 06</a:t>
            </a:r>
            <a:endParaRPr sz="1100"/>
          </a:p>
        </p:txBody>
      </p:sp>
      <p:sp>
        <p:nvSpPr>
          <p:cNvPr id="7" name="div-brand">
            <a:extLst xmlns:a="http://schemas.openxmlformats.org/drawingml/2006/main">
              <a:ext uri="{FF2B5EF4-FFF2-40B4-BE49-F238E27FC236}">
                <a16:creationId xmlns:a16="http://schemas.microsoft.com/office/drawing/2014/main" id="{723F01A3-36D7-43CE-A32E-CC6D8DAE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6299200"/>
            <a:ext cx="3810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济跑跑 JIRUN · 数据库课程设计答辩</a:t>
            </a:r>
            <a:endParaRPr sz="1000"/>
          </a:p>
        </p:txBody>
      </p:sp>
      <p:sp>
        <p:nvSpPr>
          <p:cNvPr id="8" name="div-page">
            <a:extLst xmlns:a="http://schemas.openxmlformats.org/drawingml/2006/main">
              <a:ext uri="{FF2B5EF4-FFF2-40B4-BE49-F238E27FC236}">
                <a16:creationId xmlns:a16="http://schemas.microsoft.com/office/drawing/2014/main" id="{9EFFEAA4-E170-43F0-A044-28F25FA2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0" y="6299200"/>
            <a:ext cx="76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41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14010718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34EA25CE-CD3F-451D-8611-98830C56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0437FDC5-AE74-422D-A8F8-9A44EB02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系统测试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2DCB5582-4BE1-4E26-8507-230F2045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06 · 测试与总结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80867035-A046-4700-8D1A-DB0A09E8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graphicFrame>
        <p:nvGraphicFramePr>
          <p:cNvPr id="20" name="test-table"/>
          <p:cNvGraphicFramePr/>
          <p:nvPr/>
        </p:nvGraphicFramePr>
        <p:xfrm>
          <a:off xmlns:a="http://schemas.openxmlformats.org/drawingml/2006/main" x="508000" y="1219200"/>
          <a:ext xmlns:a="http://schemas.openxmlformats.org/drawingml/2006/main" cx="11176000" cy="393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94080"/>
                <a:gridCol w="3352800"/>
                <a:gridCol w="4693920"/>
                <a:gridCol w="2235200"/>
              </a:tblGrid>
              <a:tr h="472440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编号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测试场景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预期结果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验证机制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23272E"/>
                      </a:solidFill>
                    </a:lnT>
                    <a:lnB w="19050">
                      <a:solidFill>
                        <a:srgbClr val="23272E"/>
                      </a:solidFill>
                    </a:lnB>
                    <a:solidFill>
                      <a:srgbClr val="F4DCCB"/>
                    </a:solidFill>
                  </a:tcPr>
                </a:tc>
              </a:tr>
              <a:tr h="578739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T01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用户下单并支付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事务提交，tasks 与 payments 写入一致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3E6257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事务原子性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9050" cmpd="sng">
                      <a:solidFill>
                        <a:srgbClr val="23272E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78739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T02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两名跑腿员同时抢同一单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仅一人接单成功，另一人状态校验失败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3E6257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行锁互斥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78739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T03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取消已支付订单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生成退款流水，订单状态按状态机回退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3E6257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退款与状态回退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78739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T04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中转站扫码入库 / 出库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生成接派与状态日志记录，状态按状态机推进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3E6257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接派留痕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74802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T05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用户提交评价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评分写入 reviews 并联动信誉分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3E6257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信誉分联动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  <a:tr h="574802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T06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投诉与管理员处理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>
                          <a:solidFill>
                            <a:srgbClr val="2327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投诉状态流转可查，处理结果联动信誉分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  <a:buNone/>
                      </a:pPr>
                      <a:r>
                        <a:rPr sz="1100" b="1">
                          <a:solidFill>
                            <a:srgbClr val="3E6257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投诉处理流程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 w="12700" cmpd="sng">
                      <a:solidFill>
                        <a:srgbClr val="DCD5C6"/>
                      </a:solidFill>
                      <a:prstDash val="solid"/>
                    </a:lnT>
                    <a:lnB w="12700">
                      <a:solidFill>
                        <a:srgbClr val="DCD5C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st-env-icon">
            <a:extLst xmlns:a="http://schemas.openxmlformats.org/drawingml/2006/main">
              <a:ext uri="{FF2B5EF4-FFF2-40B4-BE49-F238E27FC236}">
                <a16:creationId xmlns:a16="http://schemas.microsoft.com/office/drawing/2014/main" id="{F9A08A4E-E68B-4D1F-9BDA-8C22F036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5384800"/>
            <a:ext cx="177800" cy="177800"/>
          </a:xfrm>
          <a:custGeom xmlns:a="http://schemas.openxmlformats.org/drawingml/2006/main">
            <a:rect l="l" t="t" r="r" b="b"/>
            <a:pathLst>
              <a:path w="448" h="512">
                <a:moveTo>
                  <a:pt x="288" y="0"/>
                </a:moveTo>
                <a:lnTo>
                  <a:pt x="128" y="0"/>
                </a:lnTo>
                <a:cubicBezTo>
                  <a:pt x="110" y="0"/>
                  <a:pt x="96" y="14"/>
                  <a:pt x="96" y="32"/>
                </a:cubicBezTo>
                <a:cubicBezTo>
                  <a:pt x="96" y="50"/>
                  <a:pt x="110" y="64"/>
                  <a:pt x="128" y="64"/>
                </a:cubicBezTo>
                <a:lnTo>
                  <a:pt x="128" y="216"/>
                </a:lnTo>
                <a:lnTo>
                  <a:pt x="8" y="426"/>
                </a:lnTo>
                <a:cubicBezTo>
                  <a:pt x="3" y="435"/>
                  <a:pt x="0" y="445"/>
                  <a:pt x="0" y="455"/>
                </a:cubicBezTo>
                <a:cubicBezTo>
                  <a:pt x="0" y="486"/>
                  <a:pt x="26" y="512"/>
                  <a:pt x="57" y="512"/>
                </a:cubicBezTo>
                <a:lnTo>
                  <a:pt x="391" y="512"/>
                </a:lnTo>
                <a:cubicBezTo>
                  <a:pt x="422" y="512"/>
                  <a:pt x="448" y="486"/>
                  <a:pt x="448" y="455"/>
                </a:cubicBezTo>
                <a:cubicBezTo>
                  <a:pt x="448" y="445"/>
                  <a:pt x="445" y="435"/>
                  <a:pt x="441" y="426"/>
                </a:cubicBezTo>
                <a:lnTo>
                  <a:pt x="320" y="216"/>
                </a:lnTo>
                <a:lnTo>
                  <a:pt x="320" y="64"/>
                </a:lnTo>
                <a:cubicBezTo>
                  <a:pt x="338" y="64"/>
                  <a:pt x="352" y="50"/>
                  <a:pt x="352" y="32"/>
                </a:cubicBezTo>
                <a:cubicBezTo>
                  <a:pt x="352" y="14"/>
                  <a:pt x="338" y="0"/>
                  <a:pt x="320" y="0"/>
                </a:cubicBezTo>
                <a:lnTo>
                  <a:pt x="288" y="0"/>
                </a:lnTo>
                <a:close/>
                <a:moveTo>
                  <a:pt x="192" y="216"/>
                </a:moveTo>
                <a:lnTo>
                  <a:pt x="192" y="64"/>
                </a:lnTo>
                <a:lnTo>
                  <a:pt x="256" y="64"/>
                </a:lnTo>
                <a:lnTo>
                  <a:pt x="256" y="216"/>
                </a:lnTo>
                <a:cubicBezTo>
                  <a:pt x="256" y="227"/>
                  <a:pt x="259" y="238"/>
                  <a:pt x="264" y="247"/>
                </a:cubicBezTo>
                <a:lnTo>
                  <a:pt x="306" y="320"/>
                </a:lnTo>
                <a:lnTo>
                  <a:pt x="142" y="320"/>
                </a:lnTo>
                <a:lnTo>
                  <a:pt x="184" y="247"/>
                </a:lnTo>
                <a:cubicBezTo>
                  <a:pt x="189" y="238"/>
                  <a:pt x="192" y="227"/>
                  <a:pt x="192" y="216"/>
                </a:cubicBezTo>
                <a:close/>
              </a:path>
            </a:pathLst>
          </a:custGeom>
          <a:solidFill xmlns:a="http://schemas.openxmlformats.org/drawingml/2006/main">
            <a:srgbClr val="77716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st-env">
            <a:extLst xmlns:a="http://schemas.openxmlformats.org/drawingml/2006/main">
              <a:ext uri="{FF2B5EF4-FFF2-40B4-BE49-F238E27FC236}">
                <a16:creationId xmlns:a16="http://schemas.microsoft.com/office/drawing/2014/main" id="{E17E8A4A-2ECE-4BE5-AD65-DD56E6D7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00" y="5334000"/>
            <a:ext cx="1089660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150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测试环境：Oracle 19c · 覆盖下单、抢单、结算等核心场景的自动化测试与端到端用例</a:t>
            </a:r>
            <a:endParaRPr sz="1150"/>
          </a:p>
        </p:txBody>
      </p:sp>
      <p:sp>
        <p:nvSpPr>
          <p:cNvPr id="9" name="test-line">
            <a:extLst xmlns:a="http://schemas.openxmlformats.org/drawingml/2006/main">
              <a:ext uri="{FF2B5EF4-FFF2-40B4-BE49-F238E27FC236}">
                <a16:creationId xmlns:a16="http://schemas.microsoft.com/office/drawing/2014/main" id="{3DB2CE04-38BA-40EC-93CA-2ACE1533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5740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st-concl">
            <a:extLst xmlns:a="http://schemas.openxmlformats.org/drawingml/2006/main">
              <a:ext uri="{FF2B5EF4-FFF2-40B4-BE49-F238E27FC236}">
                <a16:creationId xmlns:a16="http://schemas.microsoft.com/office/drawing/2014/main" id="{D9D82CBD-F684-4C22-BED9-57BE3256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5892800"/>
            <a:ext cx="889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3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第五阶段模块测试：总集成 · 账户权限 · 基础资料 · 评价投诉 · 结算审计报表，记录与截图存档</a:t>
            </a:r>
            <a:endParaRPr sz="1300"/>
          </a:p>
        </p:txBody>
      </p:sp>
      <p:sp>
        <p:nvSpPr>
          <p:cNvPr id="11" name="test-note">
            <a:extLst xmlns:a="http://schemas.openxmlformats.org/drawingml/2006/main">
              <a:ext uri="{FF2B5EF4-FFF2-40B4-BE49-F238E27FC236}">
                <a16:creationId xmlns:a16="http://schemas.microsoft.com/office/drawing/2014/main" id="{A53EA699-6BE4-4D63-A2F6-CBEB6F5F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273800"/>
            <a:ext cx="889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endParaRPr sz="1000"/>
          </a:p>
        </p:txBody>
      </p:sp>
      <p:sp>
        <p:nvSpPr>
          <p:cNvPr id="12" name="ft-line">
            <a:extLst xmlns:a="http://schemas.openxmlformats.org/drawingml/2006/main">
              <a:ext uri="{FF2B5EF4-FFF2-40B4-BE49-F238E27FC236}">
                <a16:creationId xmlns:a16="http://schemas.microsoft.com/office/drawing/2014/main" id="{550BADF9-034F-4B33-B43D-C3A55D0A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ft-brand">
            <a:extLst xmlns:a="http://schemas.openxmlformats.org/drawingml/2006/main">
              <a:ext uri="{FF2B5EF4-FFF2-40B4-BE49-F238E27FC236}">
                <a16:creationId xmlns:a16="http://schemas.microsoft.com/office/drawing/2014/main" id="{19244351-98B4-4780-AC25-3B39D85C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14" name="ft-page">
            <a:extLst xmlns:a="http://schemas.openxmlformats.org/drawingml/2006/main">
              <a:ext uri="{FF2B5EF4-FFF2-40B4-BE49-F238E27FC236}">
                <a16:creationId xmlns:a16="http://schemas.microsoft.com/office/drawing/2014/main" id="{E9B14523-0FF1-4957-8F4F-DDC41A1C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42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4516210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8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d-tick">
            <a:extLst xmlns:a="http://schemas.openxmlformats.org/drawingml/2006/main">
              <a:ext uri="{FF2B5EF4-FFF2-40B4-BE49-F238E27FC236}">
                <a16:creationId xmlns:a16="http://schemas.microsoft.com/office/drawing/2014/main" id="{61B5F67C-EA8F-453D-8766-94E10B07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31800"/>
            <a:ext cx="6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hd-title">
            <a:extLst xmlns:a="http://schemas.openxmlformats.org/drawingml/2006/main">
              <a:ext uri="{FF2B5EF4-FFF2-40B4-BE49-F238E27FC236}">
                <a16:creationId xmlns:a16="http://schemas.microsoft.com/office/drawing/2014/main" id="{F7372EE9-8922-4786-8E2D-D2B1B9E5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81000"/>
            <a:ext cx="8382000" cy="43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5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总结与展望</a:t>
            </a:r>
            <a:endParaRPr sz="2500"/>
          </a:p>
        </p:txBody>
      </p:sp>
      <p:sp>
        <p:nvSpPr>
          <p:cNvPr id="4" name="hd-sec">
            <a:extLst xmlns:a="http://schemas.openxmlformats.org/drawingml/2006/main">
              <a:ext uri="{FF2B5EF4-FFF2-40B4-BE49-F238E27FC236}">
                <a16:creationId xmlns:a16="http://schemas.microsoft.com/office/drawing/2014/main" id="{FE5DEB1A-CDD0-4079-9E1A-EB0DB4A3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0000" y="533400"/>
            <a:ext cx="2794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100" spc="2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06 · 测试与总结</a:t>
            </a:r>
            <a:endParaRPr sz="1100"/>
          </a:p>
        </p:txBody>
      </p:sp>
      <p:sp>
        <p:nvSpPr>
          <p:cNvPr id="5" name="hd-line">
            <a:extLst xmlns:a="http://schemas.openxmlformats.org/drawingml/2006/main">
              <a:ext uri="{FF2B5EF4-FFF2-40B4-BE49-F238E27FC236}">
                <a16:creationId xmlns:a16="http://schemas.microsoft.com/office/drawing/2014/main" id="{7CC18C1D-FC3B-42F4-8257-5E8FD459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9652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done-label">
            <a:extLst xmlns:a="http://schemas.openxmlformats.org/drawingml/2006/main">
              <a:ext uri="{FF2B5EF4-FFF2-40B4-BE49-F238E27FC236}">
                <a16:creationId xmlns:a16="http://schemas.microsoft.com/office/drawing/2014/main" id="{B9596B6F-1F9C-4948-819E-DF2F3566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完成情况</a:t>
            </a:r>
            <a:endParaRPr sz="1200"/>
          </a:p>
        </p:txBody>
      </p:sp>
      <p:sp>
        <p:nvSpPr>
          <p:cNvPr id="7" name="done1-n">
            <a:extLst xmlns:a="http://schemas.openxmlformats.org/drawingml/2006/main">
              <a:ext uri="{FF2B5EF4-FFF2-40B4-BE49-F238E27FC236}">
                <a16:creationId xmlns:a16="http://schemas.microsoft.com/office/drawing/2014/main" id="{11AD3DFE-A931-4263-9078-BC8DB0A4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1600200"/>
            <a:ext cx="508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8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01</a:t>
            </a:r>
            <a:endParaRPr sz="1800"/>
          </a:p>
        </p:txBody>
      </p:sp>
      <p:sp>
        <p:nvSpPr>
          <p:cNvPr id="8" name="done1">
            <a:extLst xmlns:a="http://schemas.openxmlformats.org/drawingml/2006/main">
              <a:ext uri="{FF2B5EF4-FFF2-40B4-BE49-F238E27FC236}">
                <a16:creationId xmlns:a16="http://schemas.microsoft.com/office/drawing/2014/main" id="{429B5FBE-21C2-436C-9D7F-31D71122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" y="1574800"/>
            <a:ext cx="47498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完整走完数据库设计全流程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需求分析 → E-R 建模 → 关系模式 → 规范化论证 → 物理实现</a:t>
            </a:r>
            <a:endParaRPr sz="1150"/>
          </a:p>
        </p:txBody>
      </p:sp>
      <p:sp>
        <p:nvSpPr>
          <p:cNvPr id="9" name="done1-line">
            <a:extLst xmlns:a="http://schemas.openxmlformats.org/drawingml/2006/main">
              <a:ext uri="{FF2B5EF4-FFF2-40B4-BE49-F238E27FC236}">
                <a16:creationId xmlns:a16="http://schemas.microsoft.com/office/drawing/2014/main" id="{88F3C873-363B-4E97-A7D4-8A640C7F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413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done2-n">
            <a:extLst xmlns:a="http://schemas.openxmlformats.org/drawingml/2006/main">
              <a:ext uri="{FF2B5EF4-FFF2-40B4-BE49-F238E27FC236}">
                <a16:creationId xmlns:a16="http://schemas.microsoft.com/office/drawing/2014/main" id="{BD05188B-F4DD-4F59-BA66-53E411C4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2616200"/>
            <a:ext cx="508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8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02</a:t>
            </a:r>
            <a:endParaRPr sz="1800"/>
          </a:p>
        </p:txBody>
      </p:sp>
      <p:sp>
        <p:nvSpPr>
          <p:cNvPr id="11" name="done2">
            <a:extLst xmlns:a="http://schemas.openxmlformats.org/drawingml/2006/main">
              <a:ext uri="{FF2B5EF4-FFF2-40B4-BE49-F238E27FC236}">
                <a16:creationId xmlns:a16="http://schemas.microsoft.com/office/drawing/2014/main" id="{49B01178-AF48-4DE2-9529-3F0EECCA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" y="2590800"/>
            <a:ext cx="47498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实现 24 张关系表与索引、约束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状态机取值、金额与业务唯一性由数据库约束强制执行</a:t>
            </a:r>
            <a:endParaRPr sz="1150"/>
          </a:p>
        </p:txBody>
      </p:sp>
      <p:sp>
        <p:nvSpPr>
          <p:cNvPr id="12" name="done2-line">
            <a:extLst xmlns:a="http://schemas.openxmlformats.org/drawingml/2006/main">
              <a:ext uri="{FF2B5EF4-FFF2-40B4-BE49-F238E27FC236}">
                <a16:creationId xmlns:a16="http://schemas.microsoft.com/office/drawing/2014/main" id="{6885C2D2-4249-4155-B47D-94A12A4B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429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done3-n">
            <a:extLst xmlns:a="http://schemas.openxmlformats.org/drawingml/2006/main">
              <a:ext uri="{FF2B5EF4-FFF2-40B4-BE49-F238E27FC236}">
                <a16:creationId xmlns:a16="http://schemas.microsoft.com/office/drawing/2014/main" id="{9EC79EE3-A062-4ADC-8901-D3164354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3632200"/>
            <a:ext cx="508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8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03</a:t>
            </a:r>
            <a:endParaRPr sz="1800"/>
          </a:p>
        </p:txBody>
      </p:sp>
      <p:sp>
        <p:nvSpPr>
          <p:cNvPr id="14" name="done3">
            <a:extLst xmlns:a="http://schemas.openxmlformats.org/drawingml/2006/main">
              <a:ext uri="{FF2B5EF4-FFF2-40B4-BE49-F238E27FC236}">
                <a16:creationId xmlns:a16="http://schemas.microsoft.com/office/drawing/2014/main" id="{21B7602E-8B5F-401F-BF1C-E800D746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" y="3606800"/>
            <a:ext cx="47498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订单状态机贯穿前后端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状态流转受数据库约束，跨表写入同事务提交，热点操作行锁</a:t>
            </a:r>
            <a:endParaRPr sz="1150"/>
          </a:p>
        </p:txBody>
      </p:sp>
      <p:sp>
        <p:nvSpPr>
          <p:cNvPr id="15" name="done3-line">
            <a:extLst xmlns:a="http://schemas.openxmlformats.org/drawingml/2006/main">
              <a:ext uri="{FF2B5EF4-FFF2-40B4-BE49-F238E27FC236}">
                <a16:creationId xmlns:a16="http://schemas.microsoft.com/office/drawing/2014/main" id="{3276654B-A799-4899-87A8-2B106A6B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445000"/>
            <a:ext cx="5334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done4-n">
            <a:extLst xmlns:a="http://schemas.openxmlformats.org/drawingml/2006/main">
              <a:ext uri="{FF2B5EF4-FFF2-40B4-BE49-F238E27FC236}">
                <a16:creationId xmlns:a16="http://schemas.microsoft.com/office/drawing/2014/main" id="{2A5D008B-B750-4031-B108-FE76C6BE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4648200"/>
            <a:ext cx="508000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800" b="1">
                <a:solidFill>
                  <a:srgbClr val="E8551D"/>
                </a:solidFill>
                <a:latin typeface="MiSans"/>
                <a:ea typeface="MiSans"/>
                <a:cs typeface="MiSans"/>
              </a:rPr>
              <a:t>04</a:t>
            </a:r>
            <a:endParaRPr sz="1800"/>
          </a:p>
        </p:txBody>
      </p:sp>
      <p:sp>
        <p:nvSpPr>
          <p:cNvPr id="17" name="done4">
            <a:extLst xmlns:a="http://schemas.openxmlformats.org/drawingml/2006/main">
              <a:ext uri="{FF2B5EF4-FFF2-40B4-BE49-F238E27FC236}">
                <a16:creationId xmlns:a16="http://schemas.microsoft.com/office/drawing/2014/main" id="{CB51B533-803C-45FB-AAB9-326F0863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" y="4622800"/>
            <a:ext cx="4749800" cy="71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补齐模块并推进第五阶段测试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投诉、结算、审计、报表模块补齐，支持多单承接与重派优化，消除重复接单、注销手机号复用等缺陷</a:t>
            </a:r>
            <a:endParaRPr sz="1150"/>
          </a:p>
        </p:txBody>
      </p:sp>
      <p:sp>
        <p:nvSpPr>
          <p:cNvPr id="18" name="vdiv">
            <a:extLst xmlns:a="http://schemas.openxmlformats.org/drawingml/2006/main">
              <a:ext uri="{FF2B5EF4-FFF2-40B4-BE49-F238E27FC236}">
                <a16:creationId xmlns:a16="http://schemas.microsoft.com/office/drawing/2014/main" id="{8D084DE3-F319-4D21-9EA2-9E4A94B6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9200" y="1219200"/>
            <a:ext cx="127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future-label">
            <a:extLst xmlns:a="http://schemas.openxmlformats.org/drawingml/2006/main">
              <a:ext uri="{FF2B5EF4-FFF2-40B4-BE49-F238E27FC236}">
                <a16:creationId xmlns:a16="http://schemas.microsoft.com/office/drawing/2014/main" id="{7D4E4824-54D9-4C3A-AAE6-5D8F4CE8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1219200"/>
            <a:ext cx="508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1200" b="1" spc="1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不足与展望</a:t>
            </a:r>
            <a:endParaRPr sz="1200"/>
          </a:p>
        </p:txBody>
      </p:sp>
      <p:sp>
        <p:nvSpPr>
          <p:cNvPr id="20" name="future-body">
            <a:extLst xmlns:a="http://schemas.openxmlformats.org/drawingml/2006/main">
              <a:ext uri="{FF2B5EF4-FFF2-40B4-BE49-F238E27FC236}">
                <a16:creationId xmlns:a16="http://schemas.microsoft.com/office/drawing/2014/main" id="{923C966E-349A-48A1-BC0E-E96EB9C3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1600200"/>
            <a:ext cx="5029200" cy="317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50000"/>
              </a:lnSpc>
              <a:spcAft>
                <a:spcPts val="100"/>
              </a:spcAft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引入缓存与消息队列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spcAft>
                <a:spcPts val="900"/>
              </a:spcAft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任务大厅抢单查询当前直接读取数据库，存在响应延迟；拟引入 Redis 缓存与消息队列优化。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spcAft>
                <a:spcPts val="100"/>
              </a:spcAft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读写分离与分表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spcAft>
                <a:spcPts val="900"/>
              </a:spcAft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针对订单规模持续增长场景，拟采用基于用户哈希的分表策略，并对历史订单实施归档存储。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spcAft>
                <a:spcPts val="100"/>
              </a:spcAft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信用模型细化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spcAft>
                <a:spcPts val="900"/>
              </a:spcAft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当前信用分仅依据订单评分计算；拟将履约率与投诉率纳入信用评价模型。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spcAft>
                <a:spcPts val="100"/>
              </a:spcAft>
              <a:buNone/>
            </a:pPr>
            <a:r>
              <a:rPr sz="115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数据分析能力</a:t>
            </a:r>
            <a:endParaRPr sz="1150"/>
          </a:p>
          <a:p xmlns:a="http://schemas.openxmlformats.org/drawingml/2006/main">
            <a:pPr>
              <a:lnSpc>
                <a:spcPct val="150000"/>
              </a:lnSpc>
              <a:spcAft>
                <a:spcPts val="900"/>
              </a:spcAft>
              <a:buNone/>
            </a:pPr>
            <a:r>
              <a:rPr sz="115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拟基于订单流水数据开展高峰预测与站点容量规划，当前尚未实施。</a:t>
            </a:r>
            <a:endParaRPr sz="1150"/>
          </a:p>
        </p:txBody>
      </p:sp>
      <p:sp>
        <p:nvSpPr>
          <p:cNvPr id="21" name="future-line">
            <a:extLst xmlns:a="http://schemas.openxmlformats.org/drawingml/2006/main">
              <a:ext uri="{FF2B5EF4-FFF2-40B4-BE49-F238E27FC236}">
                <a16:creationId xmlns:a16="http://schemas.microsoft.com/office/drawing/2014/main" id="{C6C8C454-993C-454B-88DB-6BF41D42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5588000"/>
            <a:ext cx="50292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72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future-concl">
            <a:extLst xmlns:a="http://schemas.openxmlformats.org/drawingml/2006/main">
              <a:ext uri="{FF2B5EF4-FFF2-40B4-BE49-F238E27FC236}">
                <a16:creationId xmlns:a16="http://schemas.microsoft.com/office/drawing/2014/main" id="{FA86681F-A1B0-443F-ADEB-488EBA31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4800" y="5740400"/>
            <a:ext cx="5029200" cy="5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45000"/>
              </a:lnSpc>
              <a:buNone/>
            </a:pPr>
            <a:r>
              <a:rPr sz="1200" b="1">
                <a:solidFill>
                  <a:srgbClr val="23272E"/>
                </a:solidFill>
                <a:latin typeface="MiSans"/>
                <a:ea typeface="MiSans"/>
                <a:cs typeface="MiSans"/>
              </a:rPr>
              <a:t>实现阶段保留 24 张表主体结构 · 调整集中于状态流转与并发控制</a:t>
            </a:r>
            <a:endParaRPr sz="1200"/>
          </a:p>
        </p:txBody>
      </p:sp>
      <p:sp>
        <p:nvSpPr>
          <p:cNvPr id="23" name="ft-line">
            <a:extLst xmlns:a="http://schemas.openxmlformats.org/drawingml/2006/main">
              <a:ext uri="{FF2B5EF4-FFF2-40B4-BE49-F238E27FC236}">
                <a16:creationId xmlns:a16="http://schemas.microsoft.com/office/drawing/2014/main" id="{F357F4BA-43ED-48A9-86F9-6139961A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502400"/>
            <a:ext cx="11176000" cy="1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5C6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ft-brand">
            <a:extLst xmlns:a="http://schemas.openxmlformats.org/drawingml/2006/main">
              <a:ext uri="{FF2B5EF4-FFF2-40B4-BE49-F238E27FC236}">
                <a16:creationId xmlns:a16="http://schemas.microsoft.com/office/drawing/2014/main" id="{0C12712F-13E9-489C-A841-341E6448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" y="6604000"/>
            <a:ext cx="508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济跑跑 JIRUN · </a:t>
            </a: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校园综合跑腿与代取服务管理系统</a:t>
            </a:r>
            <a:endParaRPr sz="1000"/>
          </a:p>
        </p:txBody>
      </p:sp>
      <p:sp>
        <p:nvSpPr>
          <p:cNvPr id="25" name="ft-page">
            <a:extLst xmlns:a="http://schemas.openxmlformats.org/drawingml/2006/main">
              <a:ext uri="{FF2B5EF4-FFF2-40B4-BE49-F238E27FC236}">
                <a16:creationId xmlns:a16="http://schemas.microsoft.com/office/drawing/2014/main" id="{219E19CC-5E7A-4698-AF6A-4F4BB5F1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000" y="6604000"/>
            <a:ext cx="1270000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</a:pPr>
            <a:r>
              <a:rPr sz="1000">
                <a:solidFill>
                  <a:srgbClr val="77716A"/>
                </a:solidFill>
                <a:latin typeface="MiSans"/>
                <a:ea typeface="MiSans"/>
                <a:cs typeface="MiSans"/>
              </a:rPr>
              <a:t>43 / 44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96222594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232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h-logo-box">
            <a:extLst xmlns:a="http://schemas.openxmlformats.org/drawingml/2006/main">
              <a:ext uri="{FF2B5EF4-FFF2-40B4-BE49-F238E27FC236}">
                <a16:creationId xmlns:a16="http://schemas.microsoft.com/office/drawing/2014/main" id="{A623E966-0C5D-4331-B687-4458B3A3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219200"/>
            <a:ext cx="558800" cy="55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h-logo">
            <a:extLst xmlns:a="http://schemas.openxmlformats.org/drawingml/2006/main">
              <a:ext uri="{FF2B5EF4-FFF2-40B4-BE49-F238E27FC236}">
                <a16:creationId xmlns:a16="http://schemas.microsoft.com/office/drawing/2014/main" id="{05B20125-E3A7-4657-8D23-AA00F714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1219200"/>
            <a:ext cx="558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</a:pPr>
            <a:endParaRPr sz="2200"/>
          </a:p>
        </p:txBody>
      </p:sp>
      <p:sp>
        <p:nvSpPr>
          <p:cNvPr id="4" name="th-brand">
            <a:extLst xmlns:a="http://schemas.openxmlformats.org/drawingml/2006/main">
              <a:ext uri="{FF2B5EF4-FFF2-40B4-BE49-F238E27FC236}">
                <a16:creationId xmlns:a16="http://schemas.microsoft.com/office/drawing/2014/main" id="{6EF2BAD6-FB38-4B18-B88E-C08E4137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2400" y="1219200"/>
            <a:ext cx="30480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16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济跑跑 JIRUN</a:t>
            </a:r>
            <a:endParaRPr sz="1600"/>
          </a:p>
          <a:p xmlns:a="http://schemas.openxmlformats.org/drawingml/2006/main">
            <a:pPr algn="l">
              <a:lnSpc>
                <a:spcPct val="130000"/>
              </a:lnSpc>
              <a:buNone/>
            </a:pPr>
            <a:r>
              <a:rPr sz="900">
                <a:solidFill>
                  <a:srgbClr val="8A8478"/>
                </a:solidFill>
                <a:latin typeface="MiSans"/>
                <a:ea typeface="MiSans"/>
                <a:cs typeface="MiSans"/>
              </a:rPr>
              <a:t>CAMPUS RUNNER</a:t>
            </a:r>
            <a:endParaRPr sz="1600"/>
          </a:p>
        </p:txBody>
      </p:sp>
      <p:sp>
        <p:nvSpPr>
          <p:cNvPr id="5" name="th-main">
            <a:extLst xmlns:a="http://schemas.openxmlformats.org/drawingml/2006/main">
              <a:ext uri="{FF2B5EF4-FFF2-40B4-BE49-F238E27FC236}">
                <a16:creationId xmlns:a16="http://schemas.microsoft.com/office/drawing/2014/main" id="{F7343A0B-1751-4034-AACE-0CDD138B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2667000"/>
            <a:ext cx="8890000" cy="88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4400" b="1">
                <a:solidFill>
                  <a:srgbClr val="FFFFFF"/>
                </a:solidFill>
                <a:latin typeface="MiSans"/>
                <a:ea typeface="MiSans"/>
                <a:cs typeface="MiSans"/>
              </a:rPr>
              <a:t>恳请各位老师批评指正</a:t>
            </a:r>
            <a:endParaRPr sz="4400"/>
          </a:p>
        </p:txBody>
      </p:sp>
      <p:sp>
        <p:nvSpPr>
          <p:cNvPr id="6" name="th-qa">
            <a:extLst xmlns:a="http://schemas.openxmlformats.org/drawingml/2006/main">
              <a:ext uri="{FF2B5EF4-FFF2-40B4-BE49-F238E27FC236}">
                <a16:creationId xmlns:a16="http://schemas.microsoft.com/office/drawing/2014/main" id="{4FF020A2-D6C3-442F-8A7D-5CE340DB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" y="3759200"/>
            <a:ext cx="508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</a:pPr>
            <a:r>
              <a:rPr sz="2600" b="1" spc="4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Q&amp;</a:t>
            </a:r>
            <a:r>
              <a:rPr sz="2600" b="1" spc="4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A</a:t>
            </a:r>
            <a:endParaRPr sz="2600"/>
          </a:p>
        </p:txBody>
      </p:sp>
      <p:sp>
        <p:nvSpPr>
          <p:cNvPr id="7" name="th-line">
            <a:extLst xmlns:a="http://schemas.openxmlformats.org/drawingml/2006/main">
              <a:ext uri="{FF2B5EF4-FFF2-40B4-BE49-F238E27FC236}">
                <a16:creationId xmlns:a16="http://schemas.microsoft.com/office/drawing/2014/main" id="{609B41F1-BC17-4806-82C1-4941337F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76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51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h-page">
            <a:extLst xmlns:a="http://schemas.openxmlformats.org/drawingml/2006/main">
              <a:ext uri="{FF2B5EF4-FFF2-40B4-BE49-F238E27FC236}">
                <a16:creationId xmlns:a16="http://schemas.microsoft.com/office/drawing/2014/main" id="{C2D4B84D-5AE0-4B64-96AD-17D292F7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2000" y="6299200"/>
            <a:ext cx="76200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</a:pPr>
            <a:r>
              <a:rPr sz="1000">
                <a:solidFill>
                  <a:srgbClr val="6E695F"/>
                </a:solidFill>
                <a:latin typeface="MiSans"/>
                <a:ea typeface="MiSans"/>
                <a:cs typeface="MiSans"/>
              </a:rPr>
              <a:t>44 / 44</a:t>
            </a:r>
            <a:endParaRPr sz="1000"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B1319F7-F65E-43E2-8BC3-635A5DA9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102352"/>
            <a:ext cx="6588342" cy="1846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小组成员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：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刘相成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 / 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薛毓哲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 / 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唐独彪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 / 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李柏言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 / 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韩昊苏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 / 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桑治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 / 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崔少坤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 / 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谢智行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 / 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蒋昊沄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 / </a:t>
            </a:r>
            <a:r>
              <a:rPr sz="1200">
                <a:solidFill>
                  <a:srgbClr val="E8551D"/>
                </a:solidFill>
                <a:latin typeface="MiSans"/>
                <a:ea typeface="MiSans"/>
                <a:cs typeface="MiSans"/>
              </a:rPr>
              <a:t>赵崇治</a:t>
            </a:r>
            <a:endParaRPr sz="1200">
              <a:solidFill>
                <a:srgbClr val="E8551D"/>
              </a:solidFill>
              <a:latin typeface="MiSans"/>
              <a:ea typeface="MiSans"/>
              <a:cs typeface="MiSans"/>
            </a:endParaRPr>
          </a:p>
        </p:txBody>
      </p:sp>
      <p:pic>
        <p:nvPicPr>
          <p:cNvPr id="20" name="logo-im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ab3e0eaeb4d8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155700"/>
            <a:ext cx="711200" cy="711200"/>
          </a:xfrm>
          <a:prstGeom xmlns:a="http://schemas.openxmlformats.org/drawingml/2006/main" prst="roundRect">
            <a:avLst>
              <a:gd name="adj" fmla="val 16667"/>
            </a:avLst>
          </a:prstGeom>
          <a:ln xmlns:a="http://schemas.openxmlformats.org/drawingml/2006/main">
            <a:noFill/>
          </a:ln>
          <a:effectLst xmlns:a="http://schemas.openxmlformats.org/drawingml/2006/main"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06534678"/>
      </p:ext>
    </p:extLst>
  </p:cSld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>
          <a:solidFill>
            <a:schemeClr val="accent1"/>
          </a:solidFill>
          <a:prstDash val="solid"/>
        </a:ln>
        <a:ln w="12700">
          <a:solidFill>
            <a:schemeClr val="accent1"/>
          </a:solidFill>
          <a:prstDash val="solid"/>
        </a:ln>
        <a:ln w="19050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2026-09-10T07:54:08.8980000Z</dcterms:created>
  <dcterms:modified xsi:type="dcterms:W3CDTF">2026-09-10T07:54:08.8980000Z</dcterms:modified>
</coreProperties>
</file>