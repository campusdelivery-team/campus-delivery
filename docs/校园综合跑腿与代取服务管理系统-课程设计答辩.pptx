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embeddedFontLst>
    <p:embeddedFont>
      <p:font typeface="MiSans" charset="-122"/>
      <p:regular r:id="rId23"/>
    </p:embeddedFont>
    <p:embeddedFont>
      <p:font typeface="JetBrains Mono" panose="0200000900000000000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分层细节（口头说明）：Controller 只注入 Service 接口，Service 只注入 Repository 接口；越层引用由静态门禁检查拦截。该约束保证了 Oracle 类型与 SQL 不会泄漏到业务层与表现层，也使仓储可以用测试替身替换。</a:t>
            </a:r>
          </a:p>
          <a:p>
            <a:r>
              <a:t>数据口径示例（口头说明）：nodes.node_type 存 GATE / STATION / DISTRIBUTION，Service 转换为「校门 / 驿站 / 分发点」后交 View 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功能点与业务规则统计明细见课程设计报告；汇报时按五个功能域口头展开，不必逐条点数。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状态机在数据库中的实现（口头说明）：task_status 保存英文状态代码，页面显示中文名称；接单起每次状态变更写入 task_status_logs 并绑定接派记录；状态更新与日志写入在同一事务内提交；已接派任务不再出现在任务大厅，避免重复接单。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备问（组合外键）：(publisher_user_id, address_no) 引用 user_addresses，(service_type_id, node_id) 引用 service_node_rules，保证任务的服务类型与交接节点必须存在适用规则；task_status 默认 CREATED，由 CHECK 约束限定 10 个合法取值。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备问（约束与索引）：一任务一评价由 uk_reviews_task 唯一约束强制；支付流水号唯一由 uk_payments_trade_no 约束强制；单默认地址由函数唯一索引 uk_user_addresses_one_default（CASE WHEN is_default = 'Y' THEN user_id END）实现；服务类型名称唯一索引为 UPPER(TRIM(service_name)) 函数索引，_ci 表示大小写不敏感。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界面截图提示（答辩前操作</a:t>
            </a:r>
            <a:r>
              <a:t>）：</a:t>
            </a:r>
            <a:r>
              <a:t>济跑跑品牌标识与前端页面展示已完成改版，请将改版后的真实系统截图插入两个占位框，两张截图同比例、同基线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口头补充：完整建库脚本见课程设计报告附录。最初方案用 version 乐观锁做冲突检测，迁移 Oracle 后统一改为 SELECT … FOR UPDATE 行锁，语义更直接，也便于在端到端用例中验证互斥效果。</a:t>
            </a:r>
          </a:p>
          <a:p>
            <a:r>
              <a:t>行锁修复经过（口头说明）：初期实现未启用行锁，并发测试暴露两名跑腿员重复接单问题；引入 SELECT … FOR UPDATE 行锁后消除。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测试分布（口头说明）：总集成 TC-INT-01～05、账户与权限、基础资料 TC-BASE-01～08、评价投诉与信誉 TC-REVIEW-01～09、结算审计报表 TC-SETTLE-01～10，记录与截图存档于 docs/test-evidence；数据库基础数据、任务发布、接单派单、支付退款四模块证据待提交，被问及时如实说明。自动化测试 52/52 通过、共享 Oracle 端到端用例通过（报告 9.4 节），测试代码见 backend/tests。</a:t>
            </a:r>
          </a:p>
          <a:p>
            <a:r>
              <a:t>原子性验证话术（备问）：在事务中手动抛出异常，观察 payments 与 tasks 是否均未写入。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" name="cover-img"/>
          <p:cNvPicPr>
            <a:picLocks noChangeAspect="1"/>
          </p:cNvPicPr>
          <p:nvPr/>
        </p:nvPicPr>
        <p:blipFill>
          <a:blip r:embed="rId1"/>
          <a:srcRect l="18000" r="14000"/>
          <a:stretch>
            <a:fillRect/>
          </a:stretch>
        </p:blipFill>
        <p:spPr>
          <a:xfrm>
            <a:off x="5080000" y="0"/>
            <a:ext cx="7112000" cy="6858000"/>
          </a:xfrm>
          <a:prstGeom prst="rect">
            <a:avLst/>
          </a:prstGeom>
          <a:ln>
            <a:noFill/>
          </a:ln>
        </p:spPr>
      </p:pic>
      <p:sp>
        <p:nvSpPr>
          <p:cNvPr id="3" name="img-mask"/>
          <p:cNvSpPr>
            <a:spLocks noGrp="1"/>
          </p:cNvSpPr>
          <p:nvPr/>
        </p:nvSpPr>
        <p:spPr>
          <a:xfrm>
            <a:off x="5080000" y="0"/>
            <a:ext cx="50800" cy="68580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logo-box"/>
          <p:cNvSpPr>
            <a:spLocks noGrp="1"/>
          </p:cNvSpPr>
          <p:nvPr/>
        </p:nvSpPr>
        <p:spPr>
          <a:xfrm>
            <a:off x="711200" y="762000"/>
            <a:ext cx="685800" cy="685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ogo-text"/>
          <p:cNvSpPr>
            <a:spLocks noGrp="1"/>
          </p:cNvSpPr>
          <p:nvPr/>
        </p:nvSpPr>
        <p:spPr>
          <a:xfrm>
            <a:off x="711200" y="7620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endParaRPr sz="2700"/>
          </a:p>
        </p:txBody>
      </p:sp>
      <p:sp>
        <p:nvSpPr>
          <p:cNvPr id="6" name="brand"/>
          <p:cNvSpPr>
            <a:spLocks noGrp="1"/>
          </p:cNvSpPr>
          <p:nvPr/>
        </p:nvSpPr>
        <p:spPr>
          <a:xfrm>
            <a:off x="1574800" y="762000"/>
            <a:ext cx="317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  <a:buNone/>
            </a:pPr>
            <a:r>
              <a:rPr sz="22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济跑跑</a:t>
            </a:r>
            <a:endParaRPr sz="1600"/>
          </a:p>
          <a:p>
            <a:pPr algn="l">
              <a:lnSpc>
                <a:spcPct val="12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JIRUN CAMPUS RUNNER</a:t>
            </a:r>
            <a:endParaRPr sz="1600"/>
          </a:p>
        </p:txBody>
      </p:sp>
      <p:sp>
        <p:nvSpPr>
          <p:cNvPr id="7" name="cover-line1"/>
          <p:cNvSpPr>
            <a:spLocks noGrp="1"/>
          </p:cNvSpPr>
          <p:nvPr/>
        </p:nvSpPr>
        <p:spPr>
          <a:xfrm>
            <a:off x="711200" y="1854200"/>
            <a:ext cx="3657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cover-label"/>
          <p:cNvSpPr>
            <a:spLocks noGrp="1"/>
          </p:cNvSpPr>
          <p:nvPr/>
        </p:nvSpPr>
        <p:spPr>
          <a:xfrm>
            <a:off x="711200" y="2082800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300" b="1" spc="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数据库课程设计 · 答辩汇报</a:t>
            </a:r>
            <a:endParaRPr sz="1300"/>
          </a:p>
        </p:txBody>
      </p:sp>
      <p:sp>
        <p:nvSpPr>
          <p:cNvPr id="9" name="cover-title"/>
          <p:cNvSpPr>
            <a:spLocks noGrp="1"/>
          </p:cNvSpPr>
          <p:nvPr/>
        </p:nvSpPr>
        <p:spPr>
          <a:xfrm>
            <a:off x="711200" y="2540000"/>
            <a:ext cx="40132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</a:pPr>
            <a:r>
              <a:rPr sz="33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校园综合跑腿与代取服务管理系统</a:t>
            </a:r>
            <a:endParaRPr sz="3300"/>
          </a:p>
        </p:txBody>
      </p:sp>
      <p:sp>
        <p:nvSpPr>
          <p:cNvPr id="10" name="cover-subtitle"/>
          <p:cNvSpPr>
            <a:spLocks noGrp="1"/>
          </p:cNvSpPr>
          <p:nvPr/>
        </p:nvSpPr>
        <p:spPr>
          <a:xfrm>
            <a:off x="711200" y="4165600"/>
            <a:ext cx="401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Campus Comprehensive Errand and Pickup Service Management System</a:t>
            </a:r>
            <a:endParaRPr sz="1100"/>
          </a:p>
        </p:txBody>
      </p:sp>
      <p:sp>
        <p:nvSpPr>
          <p:cNvPr id="11" name="cover-meta"/>
          <p:cNvSpPr>
            <a:spLocks noGrp="1"/>
          </p:cNvSpPr>
          <p:nvPr/>
        </p:nvSpPr>
        <p:spPr>
          <a:xfrm>
            <a:off x="711200" y="4919472"/>
            <a:ext cx="4013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指导教师：袁时金</a:t>
            </a:r>
            <a:endParaRPr sz="1200"/>
          </a:p>
          <a:p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小组成员：</a:t>
            </a:r>
            <a:r>
              <a:rPr sz="1200">
                <a:solidFill>
                  <a:srgbClr val="77716A"/>
                </a:solidFill>
              </a:rPr>
              <a:t>刘相成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薛毓哲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唐独彪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李柏言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韩昊苏 </a:t>
            </a:r>
            <a:endParaRPr sz="1200">
              <a:solidFill>
                <a:srgbClr val="77716A"/>
              </a:solidFill>
            </a:endParaRPr>
          </a:p>
          <a:p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</a:rPr>
              <a:t>                     </a:t>
            </a:r>
            <a:r>
              <a:rPr sz="1200">
                <a:solidFill>
                  <a:srgbClr val="77716A"/>
                </a:solidFill>
              </a:rPr>
              <a:t>桑治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崔少坤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谢智行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蒋昊沄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赵崇治</a:t>
            </a:r>
            <a:endParaRPr sz="1200"/>
          </a:p>
          <a:p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计算机科学与技术学院 · 2026 年 9 月 12 日</a:t>
            </a:r>
            <a:endParaRPr sz="1200"/>
          </a:p>
        </p:txBody>
      </p:sp>
      <p:sp>
        <p:nvSpPr>
          <p:cNvPr id="12" name="cover-line2"/>
          <p:cNvSpPr>
            <a:spLocks noGrp="1"/>
          </p:cNvSpPr>
          <p:nvPr/>
        </p:nvSpPr>
        <p:spPr>
          <a:xfrm>
            <a:off x="711200" y="6248400"/>
            <a:ext cx="3657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over-note"/>
          <p:cNvSpPr>
            <a:spLocks noGrp="1"/>
          </p:cNvSpPr>
          <p:nvPr/>
        </p:nvSpPr>
        <p:spPr>
          <a:xfrm>
            <a:off x="711200" y="6350000"/>
            <a:ext cx="4013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endParaRPr sz="1000"/>
          </a:p>
        </p:txBody>
      </p:sp>
      <p:pic>
        <p:nvPicPr>
          <p:cNvPr id="28" name="logo-im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4076" y="749300"/>
            <a:ext cx="7112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c-bar"/>
          <p:cNvSpPr>
            <a:spLocks noGrp="1"/>
          </p:cNvSpPr>
          <p:nvPr/>
        </p:nvSpPr>
        <p:spPr>
          <a:xfrm>
            <a:off x="711200" y="1066800"/>
            <a:ext cx="63500" cy="12192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c-title"/>
          <p:cNvSpPr>
            <a:spLocks noGrp="1"/>
          </p:cNvSpPr>
          <p:nvPr/>
        </p:nvSpPr>
        <p:spPr>
          <a:xfrm>
            <a:off x="1016000" y="10668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44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目录</a:t>
            </a:r>
            <a:endParaRPr sz="4400"/>
          </a:p>
        </p:txBody>
      </p:sp>
      <p:sp>
        <p:nvSpPr>
          <p:cNvPr id="4" name="toc-en"/>
          <p:cNvSpPr>
            <a:spLocks noGrp="1"/>
          </p:cNvSpPr>
          <p:nvPr/>
        </p:nvSpPr>
        <p:spPr>
          <a:xfrm>
            <a:off x="1016000" y="19050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200" spc="4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CONTENTS</a:t>
            </a:r>
            <a:endParaRPr sz="1200"/>
          </a:p>
        </p:txBody>
      </p:sp>
      <p:sp>
        <p:nvSpPr>
          <p:cNvPr id="5" name="toc-brand"/>
          <p:cNvSpPr>
            <a:spLocks noGrp="1"/>
          </p:cNvSpPr>
          <p:nvPr/>
        </p:nvSpPr>
        <p:spPr>
          <a:xfrm>
            <a:off x="1016000" y="5969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济跑跑 JIRUN · 数据库课程设计答辩</a:t>
            </a:r>
            <a:endParaRPr sz="1000"/>
          </a:p>
        </p:txBody>
      </p:sp>
      <p:sp>
        <p:nvSpPr>
          <p:cNvPr id="6" name="toc-n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080000" y="1042415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endParaRPr sz="2200"/>
          </a:p>
        </p:txBody>
      </p:sp>
      <p:sp>
        <p:nvSpPr>
          <p:cNvPr id="7" name="toc-t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69000" y="1042415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项目概述</a:t>
            </a:r>
            <a:endParaRPr sz="1800"/>
          </a:p>
        </p:txBody>
      </p:sp>
      <p:sp>
        <p:nvSpPr>
          <p:cNvPr id="8" name="toc-d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969000" y="1426463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业务背景 · 技术架构 · 数据库驱动分层</a:t>
            </a:r>
            <a:endParaRPr sz="1100"/>
          </a:p>
        </p:txBody>
      </p:sp>
      <p:sp>
        <p:nvSpPr>
          <p:cNvPr id="9" name="toc-l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080000" y="1856231"/>
            <a:ext cx="64008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oc-n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080000" y="1901952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endParaRPr sz="2200"/>
          </a:p>
        </p:txBody>
      </p:sp>
      <p:sp>
        <p:nvSpPr>
          <p:cNvPr id="11" name="toc-t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969000" y="1901952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需求分析</a:t>
            </a:r>
            <a:endParaRPr sz="1800"/>
          </a:p>
        </p:txBody>
      </p:sp>
      <p:sp>
        <p:nvSpPr>
          <p:cNvPr id="12" name="toc-d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969000" y="22860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五类功能模块 · 核心业务状态机 · 权限与售后</a:t>
            </a:r>
            <a:endParaRPr sz="1100"/>
          </a:p>
        </p:txBody>
      </p:sp>
      <p:sp>
        <p:nvSpPr>
          <p:cNvPr id="13" name="toc-l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080000" y="2715768"/>
            <a:ext cx="64008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oc-n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080000" y="2761488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endParaRPr sz="2200"/>
          </a:p>
        </p:txBody>
      </p:sp>
      <p:sp>
        <p:nvSpPr>
          <p:cNvPr id="15" name="toc-t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969000" y="2761488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数据库设计</a:t>
            </a:r>
            <a:endParaRPr sz="1800"/>
          </a:p>
        </p:txBody>
      </p:sp>
      <p:sp>
        <p:nvSpPr>
          <p:cNvPr id="16" name="toc-d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969000" y="3145536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真实物理模型 · 24 表关系 · 索引与完整性约束</a:t>
            </a:r>
            <a:endParaRPr sz="1100"/>
          </a:p>
        </p:txBody>
      </p:sp>
      <p:sp>
        <p:nvSpPr>
          <p:cNvPr id="17" name="toc-l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080000" y="3575304"/>
            <a:ext cx="64008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oc-n4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080000" y="3621024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04</a:t>
            </a:r>
            <a:endParaRPr sz="2200"/>
          </a:p>
        </p:txBody>
      </p:sp>
      <p:sp>
        <p:nvSpPr>
          <p:cNvPr id="19" name="toc-t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969000" y="3621024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系统实现</a:t>
            </a:r>
            <a:endParaRPr sz="1800"/>
          </a:p>
        </p:txBody>
      </p:sp>
      <p:sp>
        <p:nvSpPr>
          <p:cNvPr id="20" name="toc-d4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969000" y="4005072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真实界面 · 参数化 SQL · 事务与行锁</a:t>
            </a:r>
            <a:endParaRPr sz="1100"/>
          </a:p>
        </p:txBody>
      </p:sp>
      <p:sp>
        <p:nvSpPr>
          <p:cNvPr id="21" name="toc-l4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5080000" y="4434205"/>
            <a:ext cx="64008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oc-n5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5080000" y="5340096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endParaRPr sz="2200"/>
          </a:p>
        </p:txBody>
      </p:sp>
      <p:sp>
        <p:nvSpPr>
          <p:cNvPr id="26" name="toc-n5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5080000" y="4480560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d-tick"/>
          <p:cNvSpPr>
            <a:spLocks noGrp="1"/>
          </p:cNvSpPr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d-title"/>
          <p:cNvSpPr>
            <a:spLocks noGrp="1"/>
          </p:cNvSpPr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项目背景：校园跑腿需要统一履约与数据管理</a:t>
            </a:r>
            <a:endParaRPr sz="2500"/>
          </a:p>
        </p:txBody>
      </p:sp>
      <p:sp>
        <p:nvSpPr>
          <p:cNvPr id="4" name="hd-sec"/>
          <p:cNvSpPr>
            <a:spLocks noGrp="1"/>
          </p:cNvSpPr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01 · 项目概述</a:t>
            </a:r>
            <a:endParaRPr sz="11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g-intro"/>
          <p:cNvSpPr>
            <a:spLocks noGrp="1"/>
          </p:cNvSpPr>
          <p:nvPr/>
        </p:nvSpPr>
        <p:spPr>
          <a:xfrm>
            <a:off x="6350000" y="1244600"/>
            <a:ext cx="5334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5000"/>
              </a:lnSpc>
              <a:buNone/>
            </a:pPr>
            <a:r>
              <a:rPr sz="1300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外卖分发 / 快递代取 / 私人跑腿集中管理 · 状态可追踪 · 资金与售后可审计</a:t>
            </a:r>
            <a:endParaRPr sz="1300"/>
          </a:p>
        </p:txBody>
      </p:sp>
      <p:sp>
        <p:nvSpPr>
          <p:cNvPr id="9" name="pain1-n"/>
          <p:cNvSpPr>
            <a:spLocks noGrp="1"/>
          </p:cNvSpPr>
          <p:nvPr/>
        </p:nvSpPr>
        <p:spPr>
          <a:xfrm>
            <a:off x="6350000" y="21844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endParaRPr sz="2000"/>
          </a:p>
        </p:txBody>
      </p:sp>
      <p:sp>
        <p:nvSpPr>
          <p:cNvPr id="10" name="pain1"/>
          <p:cNvSpPr>
            <a:spLocks noGrp="1"/>
          </p:cNvSpPr>
          <p:nvPr/>
        </p:nvSpPr>
        <p:spPr>
          <a:xfrm>
            <a:off x="6959600" y="21336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5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发布入口分散</a:t>
            </a:r>
            <a:endParaRPr sz="1250"/>
          </a:p>
          <a:p>
            <a:pPr>
              <a:lnSpc>
                <a:spcPct val="150000"/>
              </a:lnSpc>
              <a:buNone/>
            </a:pPr>
            <a:r>
              <a:rPr sz="125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群聊与口头约定难以沉淀任务、价格、地址和履约状态</a:t>
            </a:r>
            <a:endParaRPr sz="1250"/>
          </a:p>
        </p:txBody>
      </p:sp>
      <p:sp>
        <p:nvSpPr>
          <p:cNvPr id="11" name="pain1-line"/>
          <p:cNvSpPr>
            <a:spLocks noGrp="1"/>
          </p:cNvSpPr>
          <p:nvPr/>
        </p:nvSpPr>
        <p:spPr>
          <a:xfrm>
            <a:off x="6350000" y="3048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ain2-n"/>
          <p:cNvSpPr>
            <a:spLocks noGrp="1"/>
          </p:cNvSpPr>
          <p:nvPr/>
        </p:nvSpPr>
        <p:spPr>
          <a:xfrm>
            <a:off x="6350000" y="32766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endParaRPr sz="2000"/>
          </a:p>
        </p:txBody>
      </p:sp>
      <p:sp>
        <p:nvSpPr>
          <p:cNvPr id="13" name="pain2"/>
          <p:cNvSpPr>
            <a:spLocks noGrp="1"/>
          </p:cNvSpPr>
          <p:nvPr/>
        </p:nvSpPr>
        <p:spPr>
          <a:xfrm>
            <a:off x="6959600" y="32258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5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履约过程难追踪</a:t>
            </a:r>
            <a:endParaRPr sz="1250"/>
          </a:p>
          <a:p>
            <a:pPr>
              <a:lnSpc>
                <a:spcPct val="150000"/>
              </a:lnSpc>
              <a:buNone/>
            </a:pPr>
            <a:r>
              <a:rPr sz="125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接单、取货、配送、确认收货缺少统一状态与日志</a:t>
            </a:r>
            <a:endParaRPr sz="1250"/>
          </a:p>
        </p:txBody>
      </p:sp>
      <p:sp>
        <p:nvSpPr>
          <p:cNvPr id="14" name="pain2-line"/>
          <p:cNvSpPr>
            <a:spLocks noGrp="1"/>
          </p:cNvSpPr>
          <p:nvPr/>
        </p:nvSpPr>
        <p:spPr>
          <a:xfrm>
            <a:off x="6350000" y="4140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in3-n"/>
          <p:cNvSpPr>
            <a:spLocks noGrp="1"/>
          </p:cNvSpPr>
          <p:nvPr/>
        </p:nvSpPr>
        <p:spPr>
          <a:xfrm>
            <a:off x="6350000" y="43688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endParaRPr sz="2000"/>
          </a:p>
        </p:txBody>
      </p:sp>
      <p:sp>
        <p:nvSpPr>
          <p:cNvPr id="16" name="pain3"/>
          <p:cNvSpPr>
            <a:spLocks noGrp="1"/>
          </p:cNvSpPr>
          <p:nvPr/>
        </p:nvSpPr>
        <p:spPr>
          <a:xfrm>
            <a:off x="6959600" y="43180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5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资金与责任难核验</a:t>
            </a:r>
            <a:endParaRPr sz="1250"/>
          </a:p>
          <a:p>
            <a:pPr>
              <a:lnSpc>
                <a:spcPct val="150000"/>
              </a:lnSpc>
              <a:buNone/>
            </a:pPr>
            <a:r>
              <a:rPr sz="125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支付、退款、评价、投诉和结算缺少一致的数据依据</a:t>
            </a:r>
            <a:endParaRPr sz="1250"/>
          </a:p>
        </p:txBody>
      </p:sp>
      <p:sp>
        <p:nvSpPr>
          <p:cNvPr id="17" name="bg-concl-line"/>
          <p:cNvSpPr>
            <a:spLocks noGrp="1"/>
          </p:cNvSpPr>
          <p:nvPr/>
        </p:nvSpPr>
        <p:spPr>
          <a:xfrm>
            <a:off x="6350000" y="5461000"/>
            <a:ext cx="5334000" cy="12700"/>
          </a:xfrm>
          <a:prstGeom prst="rect">
            <a:avLst/>
          </a:prstGeom>
          <a:solidFill>
            <a:srgbClr val="232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ft-line"/>
          <p:cNvSpPr>
            <a:spLocks noGrp="1"/>
          </p:cNvSpPr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ft-brand"/>
          <p:cNvSpPr>
            <a:spLocks noGrp="1"/>
          </p:cNvSpPr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校园综合跑腿与代取服务管理系统</a:t>
            </a:r>
            <a:endParaRPr sz="1000"/>
          </a:p>
        </p:txBody>
      </p:sp>
      <p:sp>
        <p:nvSpPr>
          <p:cNvPr id="21" name="ft-page"/>
          <p:cNvSpPr>
            <a:spLocks noGrp="1"/>
          </p:cNvSpPr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3 / 17</a:t>
            </a:r>
            <a:endParaRPr sz="1000"/>
          </a:p>
        </p:txBody>
      </p:sp>
      <p:sp>
        <p:nvSpPr>
          <p:cNvPr id="7" name="ph2"/>
          <p:cNvSpPr>
            <a:spLocks noGrp="1"/>
          </p:cNvSpPr>
          <p:nvPr/>
        </p:nvSpPr>
        <p:spPr>
          <a:xfrm>
            <a:off x="87693" y="2006600"/>
            <a:ext cx="6009995" cy="327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7716A"/>
            </a:solidFill>
            <a:prstDash val="dash"/>
          </a:ln>
        </p:spPr>
        <p:txBody>
          <a:bodyPr/>
          <a:lstStyle/>
          <a:p/>
        </p:txBody>
      </p:sp>
      <p:sp>
        <p:nvSpPr>
          <p:cNvPr id="22" name="ph2-icon"/>
          <p:cNvSpPr>
            <a:spLocks noGrp="1"/>
          </p:cNvSpPr>
          <p:nvPr/>
        </p:nvSpPr>
        <p:spPr>
          <a:xfrm>
            <a:off x="3007005" y="320431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7771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h2-t"/>
          <p:cNvSpPr>
            <a:spLocks noGrp="1"/>
          </p:cNvSpPr>
          <p:nvPr/>
        </p:nvSpPr>
        <p:spPr>
          <a:xfrm>
            <a:off x="1102005" y="3763117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50000"/>
              </a:lnSpc>
              <a:buNone/>
            </a:pPr>
            <a:r>
              <a:rPr sz="1300" b="1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此处替换为实际界面截图</a:t>
            </a:r>
            <a:endParaRPr sz="1600"/>
          </a:p>
          <a:p>
            <a:pPr algn="ctr">
              <a:lnSpc>
                <a:spcPct val="150000"/>
              </a:lnSpc>
              <a:buNone/>
            </a:pPr>
            <a:r>
              <a:rPr sz="105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建议：工作台页</a:t>
            </a:r>
            <a:endParaRPr sz="1600"/>
          </a:p>
        </p:txBody>
      </p:sp>
      <p:pic>
        <p:nvPicPr>
          <p:cNvPr id="45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10" y="2029142"/>
            <a:ext cx="5900597" cy="32540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6" name="hd-title"/>
          <p:cNvSpPr>
            <a:spLocks noGrp="1"/>
          </p:cNvSpPr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50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技术架构</a:t>
            </a:r>
            <a:endParaRPr sz="2500"/>
          </a:p>
        </p:txBody>
      </p:sp>
      <p:sp>
        <p:nvSpPr>
          <p:cNvPr id="57" name="hd-sec"/>
          <p:cNvSpPr>
            <a:spLocks noGrp="1"/>
          </p:cNvSpPr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01 · 项目概述</a:t>
            </a:r>
            <a:endParaRPr sz="1100"/>
          </a:p>
        </p:txBody>
      </p:sp>
      <p:sp>
        <p:nvSpPr>
          <p:cNvPr id="58" name="hd-line"/>
          <p:cNvSpPr>
            <a:spLocks noGrp="1"/>
          </p:cNvSpPr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layer1"/>
          <p:cNvSpPr>
            <a:spLocks noGrp="1"/>
          </p:cNvSpPr>
          <p:nvPr/>
        </p:nvSpPr>
        <p:spPr>
          <a:xfrm>
            <a:off x="508000" y="1219200"/>
            <a:ext cx="59690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2033"/>
            </a:solidFill>
          </a:ln>
        </p:spPr>
        <p:txBody>
          <a:bodyPr/>
          <a:lstStyle/>
          <a:p/>
        </p:txBody>
      </p:sp>
      <p:sp>
        <p:nvSpPr>
          <p:cNvPr id="60" name="layer1-tag"/>
          <p:cNvSpPr>
            <a:spLocks noGrp="1"/>
          </p:cNvSpPr>
          <p:nvPr/>
        </p:nvSpPr>
        <p:spPr>
          <a:xfrm>
            <a:off x="508000" y="1219200"/>
            <a:ext cx="63500" cy="78740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layer1-t"/>
          <p:cNvSpPr>
            <a:spLocks noGrp="1"/>
          </p:cNvSpPr>
          <p:nvPr/>
        </p:nvSpPr>
        <p:spPr>
          <a:xfrm>
            <a:off x="762000" y="13208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表现层</a:t>
            </a:r>
            <a:r>
              <a:rPr sz="10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　Presentation</a:t>
            </a:r>
            <a:endParaRPr sz="1600"/>
          </a:p>
          <a:p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Razor Views · ViewModels 表单 / 展示模型 · wwwroot 静态资源</a:t>
            </a:r>
            <a:endParaRPr sz="1600"/>
          </a:p>
        </p:txBody>
      </p:sp>
      <p:sp>
        <p:nvSpPr>
          <p:cNvPr id="62" name="ar1"/>
          <p:cNvSpPr>
            <a:spLocks noGrp="1"/>
          </p:cNvSpPr>
          <p:nvPr/>
        </p:nvSpPr>
        <p:spPr>
          <a:xfrm>
            <a:off x="3403600" y="2032000"/>
            <a:ext cx="177800" cy="152400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/>
          <a:ln w="19050">
            <a:solidFill>
              <a:srgbClr val="0B4FB3"/>
            </a:solidFill>
            <a:tailEnd type="stealth"/>
          </a:ln>
        </p:spPr>
        <p:txBody>
          <a:bodyPr/>
          <a:lstStyle/>
          <a:p/>
        </p:txBody>
      </p:sp>
      <p:sp>
        <p:nvSpPr>
          <p:cNvPr id="63" name="layer2"/>
          <p:cNvSpPr>
            <a:spLocks noGrp="1"/>
          </p:cNvSpPr>
          <p:nvPr/>
        </p:nvSpPr>
        <p:spPr>
          <a:xfrm>
            <a:off x="508000" y="2209800"/>
            <a:ext cx="59690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2033"/>
            </a:solidFill>
          </a:ln>
        </p:spPr>
        <p:txBody>
          <a:bodyPr/>
          <a:lstStyle/>
          <a:p/>
        </p:txBody>
      </p:sp>
      <p:sp>
        <p:nvSpPr>
          <p:cNvPr id="64" name="layer2-tag"/>
          <p:cNvSpPr>
            <a:spLocks noGrp="1"/>
          </p:cNvSpPr>
          <p:nvPr/>
        </p:nvSpPr>
        <p:spPr>
          <a:xfrm>
            <a:off x="508000" y="2209800"/>
            <a:ext cx="63500" cy="78740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layer2-t"/>
          <p:cNvSpPr>
            <a:spLocks noGrp="1"/>
          </p:cNvSpPr>
          <p:nvPr/>
        </p:nvSpPr>
        <p:spPr>
          <a:xfrm>
            <a:off x="762000" y="23114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控制层</a:t>
            </a:r>
            <a:r>
              <a:rPr sz="10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　Controllers</a:t>
            </a:r>
            <a:endParaRPr sz="1600"/>
          </a:p>
          <a:p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接收请求、绑定参数、调用 Service 接口、返回 View / Redirect</a:t>
            </a:r>
            <a:endParaRPr sz="1600"/>
          </a:p>
        </p:txBody>
      </p:sp>
      <p:sp>
        <p:nvSpPr>
          <p:cNvPr id="66" name="ar2"/>
          <p:cNvSpPr>
            <a:spLocks noGrp="1"/>
          </p:cNvSpPr>
          <p:nvPr/>
        </p:nvSpPr>
        <p:spPr>
          <a:xfrm>
            <a:off x="3403600" y="3022600"/>
            <a:ext cx="177800" cy="152400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/>
          <a:ln w="19050">
            <a:solidFill>
              <a:srgbClr val="0B4FB3"/>
            </a:solidFill>
            <a:tailEnd type="stealth"/>
          </a:ln>
        </p:spPr>
        <p:txBody>
          <a:bodyPr/>
          <a:lstStyle/>
          <a:p/>
        </p:txBody>
      </p:sp>
      <p:sp>
        <p:nvSpPr>
          <p:cNvPr id="67" name="layer3"/>
          <p:cNvSpPr>
            <a:spLocks noGrp="1"/>
          </p:cNvSpPr>
          <p:nvPr/>
        </p:nvSpPr>
        <p:spPr>
          <a:xfrm>
            <a:off x="508000" y="3200400"/>
            <a:ext cx="59690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/>
        </p:txBody>
      </p:sp>
      <p:sp>
        <p:nvSpPr>
          <p:cNvPr id="68" name="layer3-tag"/>
          <p:cNvSpPr>
            <a:spLocks noGrp="1"/>
          </p:cNvSpPr>
          <p:nvPr/>
        </p:nvSpPr>
        <p:spPr>
          <a:xfrm>
            <a:off x="508000" y="3200400"/>
            <a:ext cx="63500" cy="7874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layer3-t"/>
          <p:cNvSpPr>
            <a:spLocks noGrp="1"/>
          </p:cNvSpPr>
          <p:nvPr/>
        </p:nvSpPr>
        <p:spPr>
          <a:xfrm>
            <a:off x="762000" y="33020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业务层</a:t>
            </a:r>
            <a:r>
              <a:rPr sz="10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　Services / Interfaces</a:t>
            </a:r>
            <a:endParaRPr sz="1600"/>
          </a:p>
          <a:p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业务规则、状态判断、事务边界控制、中文显示名转换</a:t>
            </a:r>
            <a:endParaRPr sz="1600"/>
          </a:p>
        </p:txBody>
      </p:sp>
      <p:sp>
        <p:nvSpPr>
          <p:cNvPr id="70" name="ar3"/>
          <p:cNvSpPr>
            <a:spLocks noGrp="1"/>
          </p:cNvSpPr>
          <p:nvPr/>
        </p:nvSpPr>
        <p:spPr>
          <a:xfrm>
            <a:off x="3403600" y="4013200"/>
            <a:ext cx="177800" cy="152400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/>
          <a:ln w="19050">
            <a:solidFill>
              <a:srgbClr val="0B4FB3"/>
            </a:solidFill>
            <a:tailEnd type="stealth"/>
          </a:ln>
        </p:spPr>
        <p:txBody>
          <a:bodyPr/>
          <a:lstStyle/>
          <a:p/>
        </p:txBody>
      </p:sp>
      <p:sp>
        <p:nvSpPr>
          <p:cNvPr id="71" name="layer4"/>
          <p:cNvSpPr>
            <a:spLocks noGrp="1"/>
          </p:cNvSpPr>
          <p:nvPr/>
        </p:nvSpPr>
        <p:spPr>
          <a:xfrm>
            <a:off x="508000" y="4191000"/>
            <a:ext cx="59690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2033"/>
            </a:solidFill>
          </a:ln>
        </p:spPr>
        <p:txBody>
          <a:bodyPr/>
          <a:lstStyle/>
          <a:p/>
        </p:txBody>
      </p:sp>
      <p:sp>
        <p:nvSpPr>
          <p:cNvPr id="72" name="layer4-tag"/>
          <p:cNvSpPr>
            <a:spLocks noGrp="1"/>
          </p:cNvSpPr>
          <p:nvPr/>
        </p:nvSpPr>
        <p:spPr>
          <a:xfrm>
            <a:off x="508000" y="4191000"/>
            <a:ext cx="63500" cy="7874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layer4-t"/>
          <p:cNvSpPr>
            <a:spLocks noGrp="1"/>
          </p:cNvSpPr>
          <p:nvPr/>
        </p:nvSpPr>
        <p:spPr>
          <a:xfrm>
            <a:off x="762000" y="42926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持久层</a:t>
            </a:r>
            <a:r>
              <a:rPr sz="10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　Repositories / Persistence</a:t>
            </a:r>
            <a:endParaRPr sz="1600"/>
          </a:p>
          <a:p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仓储接口、参数化 SQL、FOR UPDATE 行锁、Oracle 连接工厂</a:t>
            </a:r>
            <a:endParaRPr sz="1600"/>
          </a:p>
        </p:txBody>
      </p:sp>
      <p:sp>
        <p:nvSpPr>
          <p:cNvPr id="74" name="ar4"/>
          <p:cNvSpPr>
            <a:spLocks noGrp="1"/>
          </p:cNvSpPr>
          <p:nvPr/>
        </p:nvSpPr>
        <p:spPr>
          <a:xfrm>
            <a:off x="3403600" y="5003800"/>
            <a:ext cx="177800" cy="152400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/>
          <a:ln w="19050">
            <a:solidFill>
              <a:srgbClr val="0B4FB3"/>
            </a:solidFill>
            <a:tailEnd type="stealth"/>
          </a:ln>
        </p:spPr>
        <p:txBody>
          <a:bodyPr/>
          <a:lstStyle/>
          <a:p/>
        </p:txBody>
      </p:sp>
      <p:sp>
        <p:nvSpPr>
          <p:cNvPr id="75" name="layer5"/>
          <p:cNvSpPr>
            <a:spLocks noGrp="1"/>
          </p:cNvSpPr>
          <p:nvPr/>
        </p:nvSpPr>
        <p:spPr>
          <a:xfrm>
            <a:off x="508000" y="5181600"/>
            <a:ext cx="5969000" cy="7874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layer5-t"/>
          <p:cNvSpPr>
            <a:spLocks noGrp="1"/>
          </p:cNvSpPr>
          <p:nvPr/>
        </p:nvSpPr>
        <p:spPr>
          <a:xfrm>
            <a:off x="762000" y="52832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300" b="1">
                <a:solidFill>
                  <a:schemeClr val="bg1"/>
                </a:solidFill>
                <a:latin typeface="MiSans" charset="-122"/>
                <a:ea typeface="MiSans" charset="-122"/>
                <a:cs typeface="MiSans" charset="-122"/>
              </a:rPr>
              <a:t>数据库层　Oracle 19c</a:t>
            </a:r>
            <a:endParaRPr sz="160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  <a:buNone/>
            </a:pPr>
            <a:r>
              <a:rPr sz="1050">
                <a:solidFill>
                  <a:schemeClr val="bg1"/>
                </a:solidFill>
                <a:latin typeface="MiSans" charset="-122"/>
                <a:ea typeface="MiSans" charset="-122"/>
                <a:cs typeface="MiSans" charset="-122"/>
              </a:rPr>
              <a:t>24 张业务表 · 23 个显式索引 · 31 个外键 · 30 个 CHECK 约束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77" name="stack-label"/>
          <p:cNvSpPr>
            <a:spLocks noGrp="1"/>
          </p:cNvSpPr>
          <p:nvPr/>
        </p:nvSpPr>
        <p:spPr>
          <a:xfrm>
            <a:off x="6985000" y="12192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调用方向与边界约束</a:t>
            </a:r>
            <a:endParaRPr sz="1200"/>
          </a:p>
        </p:txBody>
      </p:sp>
      <p:sp>
        <p:nvSpPr>
          <p:cNvPr id="78" name="stack-body"/>
          <p:cNvSpPr>
            <a:spLocks noGrp="1"/>
          </p:cNvSpPr>
          <p:nvPr/>
        </p:nvSpPr>
        <p:spPr>
          <a:xfrm>
            <a:off x="6985000" y="1574800"/>
            <a:ext cx="4699000" cy="299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60000"/>
              </a:lnSpc>
              <a:buNone/>
            </a:pPr>
            <a:r>
              <a:rPr sz="1050">
                <a:solidFill>
                  <a:srgbClr val="102033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View → Controller → IService → Service</a:t>
            </a:r>
            <a:endParaRPr sz="1150"/>
          </a:p>
          <a:p>
            <a:pPr>
              <a:lnSpc>
                <a:spcPct val="160000"/>
              </a:lnSpc>
              <a:buNone/>
            </a:pPr>
            <a:r>
              <a:rPr sz="1050">
                <a:solidFill>
                  <a:srgbClr val="102033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→ IRepository → Repository → Oracle</a:t>
            </a:r>
            <a:endParaRPr sz="1150"/>
          </a:p>
          <a:p>
            <a:pPr>
              <a:lnSpc>
                <a:spcPct val="160000"/>
              </a:lnSpc>
              <a:spcBef>
                <a:spcPts val="1000"/>
              </a:spcBef>
              <a:buNone/>
            </a:pPr>
            <a:r>
              <a:rPr sz="11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各层接口解耦 · 实现可替换</a:t>
            </a:r>
            <a:endParaRPr sz="1150"/>
          </a:p>
          <a:p>
            <a:pPr>
              <a:lnSpc>
                <a:spcPct val="160000"/>
              </a:lnSpc>
              <a:spcBef>
                <a:spcPts val="1000"/>
              </a:spcBef>
              <a:buNone/>
            </a:pPr>
            <a:r>
              <a:rPr sz="115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运行环境</a:t>
            </a:r>
            <a:r>
              <a:rPr sz="1150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　.NET SDK 9 · net9.0</a:t>
            </a:r>
            <a:endParaRPr sz="1150"/>
          </a:p>
          <a:p>
            <a:pPr>
              <a:lnSpc>
                <a:spcPct val="160000"/>
              </a:lnSpc>
              <a:buNone/>
            </a:pPr>
            <a:r>
              <a:rPr sz="115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测试工程</a:t>
            </a:r>
            <a:r>
              <a:rPr sz="1150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　xUnit + 仓储接口测试替身</a:t>
            </a:r>
            <a:endParaRPr sz="1150"/>
          </a:p>
          <a:p>
            <a:pPr>
              <a:lnSpc>
                <a:spcPct val="160000"/>
              </a:lnSpc>
              <a:buNone/>
            </a:pPr>
            <a:r>
              <a:rPr sz="115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数据口径</a:t>
            </a:r>
            <a:r>
              <a:rPr sz="1150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　英文代码入库，页面显示中文</a:t>
            </a:r>
            <a:endParaRPr sz="1150"/>
          </a:p>
        </p:txBody>
      </p:sp>
      <p:sp>
        <p:nvSpPr>
          <p:cNvPr id="79" name="stack-line"/>
          <p:cNvSpPr>
            <a:spLocks noGrp="1"/>
          </p:cNvSpPr>
          <p:nvPr/>
        </p:nvSpPr>
        <p:spPr>
          <a:xfrm>
            <a:off x="6985000" y="5537200"/>
            <a:ext cx="4699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stack-note"/>
          <p:cNvSpPr>
            <a:spLocks noGrp="1"/>
          </p:cNvSpPr>
          <p:nvPr/>
        </p:nvSpPr>
        <p:spPr>
          <a:xfrm>
            <a:off x="6985000" y="56896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81" name="ft-line"/>
          <p:cNvSpPr>
            <a:spLocks noGrp="1"/>
          </p:cNvSpPr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ft-brand"/>
          <p:cNvSpPr>
            <a:spLocks noGrp="1"/>
          </p:cNvSpPr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济跑跑 J</a:t>
            </a:r>
            <a:r>
              <a:rPr sz="10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I</a:t>
            </a:r>
            <a:r>
              <a:rPr sz="10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RUN · </a:t>
            </a:r>
            <a:r>
              <a:rPr sz="10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校园综合跑腿与代取服务管理系统</a:t>
            </a:r>
            <a:endParaRPr sz="1000"/>
          </a:p>
        </p:txBody>
      </p:sp>
      <p:sp>
        <p:nvSpPr>
          <p:cNvPr id="83" name="ft-page"/>
          <p:cNvSpPr>
            <a:spLocks noGrp="1"/>
          </p:cNvSpPr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4 / 17</a:t>
            </a:r>
            <a:endParaRPr sz="1000"/>
          </a:p>
        </p:txBody>
      </p:sp>
      <p:sp>
        <p:nvSpPr>
          <p:cNvPr id="2" name="hd-tick"/>
          <p:cNvSpPr>
            <a:spLocks noGrp="1"/>
          </p:cNvSpPr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v-num"/>
          <p:cNvSpPr>
            <a:spLocks noGrp="1"/>
          </p:cNvSpPr>
          <p:nvPr/>
        </p:nvSpPr>
        <p:spPr>
          <a:xfrm>
            <a:off x="711200" y="1524000"/>
            <a:ext cx="4064000" cy="215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endParaRPr sz="14000"/>
          </a:p>
        </p:txBody>
      </p:sp>
      <p:sp>
        <p:nvSpPr>
          <p:cNvPr id="3" name="div-line"/>
          <p:cNvSpPr>
            <a:spLocks noGrp="1"/>
          </p:cNvSpPr>
          <p:nvPr/>
        </p:nvSpPr>
        <p:spPr>
          <a:xfrm>
            <a:off x="762000" y="4013200"/>
            <a:ext cx="1524000" cy="381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iv-title"/>
          <p:cNvSpPr>
            <a:spLocks noGrp="1"/>
          </p:cNvSpPr>
          <p:nvPr/>
        </p:nvSpPr>
        <p:spPr>
          <a:xfrm>
            <a:off x="711200" y="43180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需求分析</a:t>
            </a:r>
            <a:endParaRPr sz="4000"/>
          </a:p>
        </p:txBody>
      </p:sp>
      <p:sp>
        <p:nvSpPr>
          <p:cNvPr id="5" name="div-sub"/>
          <p:cNvSpPr>
            <a:spLocks noGrp="1"/>
          </p:cNvSpPr>
          <p:nvPr/>
        </p:nvSpPr>
        <p:spPr>
          <a:xfrm>
            <a:off x="711200" y="5156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 charset="-122"/>
                <a:ea typeface="MiSans" charset="-122"/>
                <a:cs typeface="MiSans" charset="-122"/>
              </a:rPr>
              <a:t>功能架构 · 核心业务流程 · 数据与非功能需求</a:t>
            </a:r>
            <a:endParaRPr sz="1400"/>
          </a:p>
        </p:txBody>
      </p:sp>
      <p:sp>
        <p:nvSpPr>
          <p:cNvPr id="6" name="div-progress"/>
          <p:cNvSpPr>
            <a:spLocks noGrp="1"/>
          </p:cNvSpPr>
          <p:nvPr/>
        </p:nvSpPr>
        <p:spPr>
          <a:xfrm>
            <a:off x="711200" y="762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 charset="-122"/>
                <a:ea typeface="MiSans" charset="-122"/>
                <a:cs typeface="MiSans" charset="-122"/>
              </a:rPr>
              <a:t>SECTION 02 / 05</a:t>
            </a:r>
            <a:endParaRPr sz="1100"/>
          </a:p>
        </p:txBody>
      </p:sp>
      <p:sp>
        <p:nvSpPr>
          <p:cNvPr id="7" name="div-brand"/>
          <p:cNvSpPr>
            <a:spLocks noGrp="1"/>
          </p:cNvSpPr>
          <p:nvPr/>
        </p:nvSpPr>
        <p:spPr>
          <a:xfrm>
            <a:off x="711200" y="6299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 charset="-122"/>
                <a:ea typeface="MiSans" charset="-122"/>
                <a:cs typeface="MiSans" charset="-122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/>
          <p:cNvSpPr>
            <a:spLocks noGrp="1"/>
          </p:cNvSpPr>
          <p:nvPr/>
        </p:nvSpPr>
        <p:spPr>
          <a:xfrm>
            <a:off x="10922000" y="6299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 charset="-122"/>
                <a:ea typeface="MiSans" charset="-122"/>
                <a:cs typeface="MiSans" charset="-122"/>
              </a:rPr>
              <a:t>5 / 17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9" name="hd-tick"/>
          <p:cNvSpPr>
            <a:spLocks noGrp="1"/>
          </p:cNvSpPr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hd-title"/>
          <p:cNvSpPr>
            <a:spLocks noGrp="1"/>
          </p:cNvSpPr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50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功能需求</a:t>
            </a:r>
            <a:endParaRPr sz="2500"/>
          </a:p>
        </p:txBody>
      </p:sp>
      <p:sp>
        <p:nvSpPr>
          <p:cNvPr id="61" name="hd-sec"/>
          <p:cNvSpPr>
            <a:spLocks noGrp="1"/>
          </p:cNvSpPr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02 · 需求分析</a:t>
            </a:r>
            <a:endParaRPr sz="1100"/>
          </a:p>
        </p:txBody>
      </p:sp>
      <p:sp>
        <p:nvSpPr>
          <p:cNvPr id="62" name="hd-line"/>
          <p:cNvSpPr>
            <a:spLocks noGrp="1"/>
          </p:cNvSpPr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oot-box"/>
          <p:cNvSpPr>
            <a:spLocks noGrp="1"/>
          </p:cNvSpPr>
          <p:nvPr/>
        </p:nvSpPr>
        <p:spPr>
          <a:xfrm>
            <a:off x="711200" y="3149600"/>
            <a:ext cx="1778000" cy="812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oot-t"/>
          <p:cNvSpPr>
            <a:spLocks noGrp="1"/>
          </p:cNvSpPr>
          <p:nvPr/>
        </p:nvSpPr>
        <p:spPr>
          <a:xfrm>
            <a:off x="711200" y="3149600"/>
            <a:ext cx="177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济跑跑系统</a:t>
            </a:r>
            <a:endParaRPr sz="1600"/>
          </a:p>
          <a:p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93A8C4"/>
                </a:solidFill>
                <a:latin typeface="MiSans" charset="-122"/>
                <a:ea typeface="MiSans" charset="-122"/>
                <a:cs typeface="MiSans" charset="-122"/>
              </a:rPr>
              <a:t>JIRUN SYSTEM</a:t>
            </a:r>
            <a:endParaRPr sz="1600"/>
          </a:p>
        </p:txBody>
      </p:sp>
      <p:sp>
        <p:nvSpPr>
          <p:cNvPr id="65" name="stub-root"/>
          <p:cNvSpPr>
            <a:spLocks noGrp="1"/>
          </p:cNvSpPr>
          <p:nvPr/>
        </p:nvSpPr>
        <p:spPr>
          <a:xfrm>
            <a:off x="2489200" y="35433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spine"/>
          <p:cNvSpPr>
            <a:spLocks noGrp="1"/>
          </p:cNvSpPr>
          <p:nvPr/>
        </p:nvSpPr>
        <p:spPr>
          <a:xfrm>
            <a:off x="3124200" y="1651000"/>
            <a:ext cx="19050" cy="3810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stub1"/>
          <p:cNvSpPr>
            <a:spLocks noGrp="1"/>
          </p:cNvSpPr>
          <p:nvPr/>
        </p:nvSpPr>
        <p:spPr>
          <a:xfrm>
            <a:off x="3124200" y="16383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stub2"/>
          <p:cNvSpPr>
            <a:spLocks noGrp="1"/>
          </p:cNvSpPr>
          <p:nvPr/>
        </p:nvSpPr>
        <p:spPr>
          <a:xfrm>
            <a:off x="3124200" y="25908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stub3"/>
          <p:cNvSpPr>
            <a:spLocks noGrp="1"/>
          </p:cNvSpPr>
          <p:nvPr/>
        </p:nvSpPr>
        <p:spPr>
          <a:xfrm>
            <a:off x="3124200" y="35433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stub4"/>
          <p:cNvSpPr>
            <a:spLocks noGrp="1"/>
          </p:cNvSpPr>
          <p:nvPr/>
        </p:nvSpPr>
        <p:spPr>
          <a:xfrm>
            <a:off x="3124200" y="44958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stub5"/>
          <p:cNvSpPr>
            <a:spLocks noGrp="1"/>
          </p:cNvSpPr>
          <p:nvPr/>
        </p:nvSpPr>
        <p:spPr>
          <a:xfrm>
            <a:off x="3124200" y="54483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m1-title"/>
          <p:cNvSpPr>
            <a:spLocks noGrp="1"/>
          </p:cNvSpPr>
          <p:nvPr/>
        </p:nvSpPr>
        <p:spPr>
          <a:xfrm>
            <a:off x="3937000" y="1295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 charset="-122"/>
                <a:ea typeface="MiSans" charset="-122"/>
                <a:cs typeface="MiSans" charset="-122"/>
              </a:rPr>
              <a:t>账号与地址</a:t>
            </a:r>
            <a:endParaRPr sz="1500"/>
          </a:p>
        </p:txBody>
      </p:sp>
      <p:sp>
        <p:nvSpPr>
          <p:cNvPr id="73" name="m1-body"/>
          <p:cNvSpPr>
            <a:spLocks noGrp="1"/>
          </p:cNvSpPr>
          <p:nvPr/>
        </p:nvSpPr>
        <p:spPr>
          <a:xfrm>
            <a:off x="3937000" y="16256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注册登录（带盐哈希）· 账号封禁 / 注销生命周期 · 地址增删改与默认地址唯一</a:t>
            </a:r>
            <a:endParaRPr sz="1150"/>
          </a:p>
        </p:txBody>
      </p:sp>
      <p:sp>
        <p:nvSpPr>
          <p:cNvPr id="74" name="m1-line"/>
          <p:cNvSpPr>
            <a:spLocks noGrp="1"/>
          </p:cNvSpPr>
          <p:nvPr/>
        </p:nvSpPr>
        <p:spPr>
          <a:xfrm>
            <a:off x="3937000" y="2133600"/>
            <a:ext cx="7493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m2-title"/>
          <p:cNvSpPr>
            <a:spLocks noGrp="1"/>
          </p:cNvSpPr>
          <p:nvPr/>
        </p:nvSpPr>
        <p:spPr>
          <a:xfrm>
            <a:off x="3937000" y="22479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 charset="-122"/>
                <a:ea typeface="MiSans" charset="-122"/>
                <a:cs typeface="MiSans" charset="-122"/>
              </a:rPr>
              <a:t>基础配置</a:t>
            </a:r>
            <a:endParaRPr sz="1500"/>
          </a:p>
        </p:txBody>
      </p:sp>
      <p:sp>
        <p:nvSpPr>
          <p:cNvPr id="76" name="m2-body"/>
          <p:cNvSpPr>
            <a:spLocks noGrp="1"/>
          </p:cNvSpPr>
          <p:nvPr/>
        </p:nvSpPr>
        <p:spPr>
          <a:xfrm>
            <a:off x="3937000" y="25781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节点（校门 / 驿站 / 分发点）启闭维护 · 服务类型与价格规则 · 服务—节点适用绑定</a:t>
            </a:r>
            <a:endParaRPr sz="1150"/>
          </a:p>
        </p:txBody>
      </p:sp>
      <p:sp>
        <p:nvSpPr>
          <p:cNvPr id="77" name="m2-line"/>
          <p:cNvSpPr>
            <a:spLocks noGrp="1"/>
          </p:cNvSpPr>
          <p:nvPr/>
        </p:nvSpPr>
        <p:spPr>
          <a:xfrm>
            <a:off x="3937000" y="3086100"/>
            <a:ext cx="7493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m3-title"/>
          <p:cNvSpPr>
            <a:spLocks noGrp="1"/>
          </p:cNvSpPr>
          <p:nvPr/>
        </p:nvSpPr>
        <p:spPr>
          <a:xfrm>
            <a:off x="3937000" y="3200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 charset="-122"/>
                <a:ea typeface="MiSans" charset="-122"/>
                <a:cs typeface="MiSans" charset="-122"/>
              </a:rPr>
              <a:t>任务与接派</a:t>
            </a:r>
            <a:endParaRPr sz="1500"/>
          </a:p>
        </p:txBody>
      </p:sp>
      <p:sp>
        <p:nvSpPr>
          <p:cNvPr id="79" name="m3-body"/>
          <p:cNvSpPr>
            <a:spLocks noGrp="1"/>
          </p:cNvSpPr>
          <p:nvPr/>
        </p:nvSpPr>
        <p:spPr>
          <a:xfrm>
            <a:off x="3937000" y="35306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三类任务发布与取消 · 任务大厅抢单 · 管理员派单 / 重派 · 配送状态流转 · 确认收货</a:t>
            </a:r>
            <a:endParaRPr sz="1150"/>
          </a:p>
        </p:txBody>
      </p:sp>
      <p:sp>
        <p:nvSpPr>
          <p:cNvPr id="80" name="m3-line"/>
          <p:cNvSpPr>
            <a:spLocks noGrp="1"/>
          </p:cNvSpPr>
          <p:nvPr/>
        </p:nvSpPr>
        <p:spPr>
          <a:xfrm>
            <a:off x="3937000" y="4038600"/>
            <a:ext cx="7493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m4-title"/>
          <p:cNvSpPr>
            <a:spLocks noGrp="1"/>
          </p:cNvSpPr>
          <p:nvPr/>
        </p:nvSpPr>
        <p:spPr>
          <a:xfrm>
            <a:off x="3937000" y="41529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 charset="-122"/>
                <a:ea typeface="MiSans" charset="-122"/>
                <a:cs typeface="MiSans" charset="-122"/>
              </a:rPr>
              <a:t>资金与售后</a:t>
            </a:r>
            <a:endParaRPr sz="1500"/>
          </a:p>
        </p:txBody>
      </p:sp>
      <p:sp>
        <p:nvSpPr>
          <p:cNvPr id="82" name="m4-body"/>
          <p:cNvSpPr>
            <a:spLocks noGrp="1"/>
          </p:cNvSpPr>
          <p:nvPr/>
        </p:nvSpPr>
        <p:spPr>
          <a:xfrm>
            <a:off x="3937000" y="44831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收货后支付与稍后付款 · 退款申请与审核 · 一单一评与信誉分联动 · 投诉处理</a:t>
            </a:r>
            <a:endParaRPr sz="1150"/>
          </a:p>
        </p:txBody>
      </p:sp>
      <p:sp>
        <p:nvSpPr>
          <p:cNvPr id="83" name="m4-line"/>
          <p:cNvSpPr>
            <a:spLocks noGrp="1"/>
          </p:cNvSpPr>
          <p:nvPr/>
        </p:nvSpPr>
        <p:spPr>
          <a:xfrm>
            <a:off x="3937000" y="4991100"/>
            <a:ext cx="7493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m5-title"/>
          <p:cNvSpPr>
            <a:spLocks noGrp="1"/>
          </p:cNvSpPr>
          <p:nvPr/>
        </p:nvSpPr>
        <p:spPr>
          <a:xfrm>
            <a:off x="3937000" y="5105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 charset="-122"/>
                <a:ea typeface="MiSans" charset="-122"/>
                <a:cs typeface="MiSans" charset="-122"/>
              </a:rPr>
              <a:t>结算、审计与报表</a:t>
            </a:r>
            <a:endParaRPr sz="1500"/>
          </a:p>
        </p:txBody>
      </p:sp>
      <p:sp>
        <p:nvSpPr>
          <p:cNvPr id="85" name="m5-body"/>
          <p:cNvSpPr>
            <a:spLocks noGrp="1"/>
          </p:cNvSpPr>
          <p:nvPr/>
        </p:nvSpPr>
        <p:spPr>
          <a:xfrm>
            <a:off x="3937000" y="54356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跑腿员结算单生成 · 支付 / 退款 / 状态日志审计 · 按月统计报表与 CSV 导出</a:t>
            </a:r>
            <a:endParaRPr sz="1150"/>
          </a:p>
        </p:txBody>
      </p:sp>
      <p:sp>
        <p:nvSpPr>
          <p:cNvPr id="86" name="mod-note"/>
          <p:cNvSpPr>
            <a:spLocks noGrp="1"/>
          </p:cNvSpPr>
          <p:nvPr/>
        </p:nvSpPr>
        <p:spPr>
          <a:xfrm>
            <a:off x="3937000" y="6070600"/>
            <a:ext cx="774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87" name="ft-line"/>
          <p:cNvSpPr>
            <a:spLocks noGrp="1"/>
          </p:cNvSpPr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ft-page"/>
          <p:cNvSpPr>
            <a:spLocks noGrp="1"/>
          </p:cNvSpPr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6 / 17</a:t>
            </a:r>
            <a:endParaRPr sz="1000"/>
          </a:p>
        </p:txBody>
      </p:sp>
      <p:sp>
        <p:nvSpPr>
          <p:cNvPr id="90" name="ft-brand"/>
          <p:cNvSpPr>
            <a:spLocks noGrp="1"/>
          </p:cNvSpPr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校园综合跑腿与代取服务管理系统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hd-tick"/>
          <p:cNvSpPr>
            <a:spLocks noGrp="1"/>
          </p:cNvSpPr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hd-title"/>
          <p:cNvSpPr>
            <a:spLocks noGrp="1"/>
          </p:cNvSpPr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50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核心业务流</a:t>
            </a:r>
            <a:endParaRPr sz="2500"/>
          </a:p>
        </p:txBody>
      </p:sp>
      <p:sp>
        <p:nvSpPr>
          <p:cNvPr id="41" name="hd-sec"/>
          <p:cNvSpPr>
            <a:spLocks noGrp="1"/>
          </p:cNvSpPr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02 · 需求分析</a:t>
            </a:r>
            <a:endParaRPr sz="1100"/>
          </a:p>
        </p:txBody>
      </p:sp>
      <p:sp>
        <p:nvSpPr>
          <p:cNvPr id="42" name="hd-line"/>
          <p:cNvSpPr>
            <a:spLocks noGrp="1"/>
          </p:cNvSpPr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main-label"/>
          <p:cNvSpPr>
            <a:spLocks noGrp="1"/>
          </p:cNvSpPr>
          <p:nvPr/>
        </p:nvSpPr>
        <p:spPr>
          <a:xfrm>
            <a:off x="508000" y="1168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正常路径</a:t>
            </a:r>
            <a:endParaRPr sz="1100"/>
          </a:p>
        </p:txBody>
      </p:sp>
      <p:sp>
        <p:nvSpPr>
          <p:cNvPr id="44" name="s1"/>
          <p:cNvSpPr>
            <a:spLocks noGrp="1"/>
          </p:cNvSpPr>
          <p:nvPr/>
        </p:nvSpPr>
        <p:spPr>
          <a:xfrm>
            <a:off x="508000" y="1498600"/>
            <a:ext cx="1625600" cy="66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/>
        </p:txBody>
      </p:sp>
      <p:sp>
        <p:nvSpPr>
          <p:cNvPr id="45" name="s1-t"/>
          <p:cNvSpPr>
            <a:spLocks noGrp="1"/>
          </p:cNvSpPr>
          <p:nvPr/>
        </p:nvSpPr>
        <p:spPr>
          <a:xfrm>
            <a:off x="508000" y="149860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待接单</a:t>
            </a:r>
            <a:endParaRPr sz="1600"/>
          </a:p>
          <a:p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WAITING</a:t>
            </a:r>
            <a:endParaRPr sz="1600"/>
          </a:p>
        </p:txBody>
      </p:sp>
      <p:sp>
        <p:nvSpPr>
          <p:cNvPr id="46" name="a1"/>
          <p:cNvSpPr>
            <a:spLocks noGrp="1"/>
          </p:cNvSpPr>
          <p:nvPr/>
        </p:nvSpPr>
        <p:spPr>
          <a:xfrm>
            <a:off x="2184400" y="1752600"/>
            <a:ext cx="254000" cy="152400"/>
          </a:xfrm>
          <a:custGeom>
            <a:avLst/>
            <a:gdLst/>
            <a:ahLst/>
            <a:cxnLst/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/>
          <a:ln w="19050">
            <a:solidFill>
              <a:srgbClr val="0B4FB3"/>
            </a:solidFill>
            <a:tailEnd type="stealth"/>
          </a:ln>
        </p:spPr>
        <p:txBody>
          <a:bodyPr/>
          <a:lstStyle/>
          <a:p/>
        </p:txBody>
      </p:sp>
      <p:sp>
        <p:nvSpPr>
          <p:cNvPr id="47" name="s2"/>
          <p:cNvSpPr>
            <a:spLocks noGrp="1"/>
          </p:cNvSpPr>
          <p:nvPr/>
        </p:nvSpPr>
        <p:spPr>
          <a:xfrm>
            <a:off x="2489200" y="1498600"/>
            <a:ext cx="1625600" cy="66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/>
        </p:txBody>
      </p:sp>
      <p:sp>
        <p:nvSpPr>
          <p:cNvPr id="48" name="s2-t"/>
          <p:cNvSpPr>
            <a:spLocks noGrp="1"/>
          </p:cNvSpPr>
          <p:nvPr/>
        </p:nvSpPr>
        <p:spPr>
          <a:xfrm>
            <a:off x="2489200" y="149860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已接单 / 派单</a:t>
            </a:r>
            <a:endParaRPr sz="1600"/>
          </a:p>
          <a:p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ASSIGNED</a:t>
            </a:r>
            <a:endParaRPr sz="1600"/>
          </a:p>
        </p:txBody>
      </p:sp>
      <p:sp>
        <p:nvSpPr>
          <p:cNvPr id="49" name="a2"/>
          <p:cNvSpPr>
            <a:spLocks noGrp="1"/>
          </p:cNvSpPr>
          <p:nvPr/>
        </p:nvSpPr>
        <p:spPr>
          <a:xfrm>
            <a:off x="4165600" y="1752600"/>
            <a:ext cx="254000" cy="152400"/>
          </a:xfrm>
          <a:custGeom>
            <a:avLst/>
            <a:gdLst/>
            <a:ahLst/>
            <a:cxnLst/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/>
          <a:ln w="19050">
            <a:solidFill>
              <a:srgbClr val="0B4FB3"/>
            </a:solidFill>
            <a:tailEnd type="stealth"/>
          </a:ln>
        </p:spPr>
        <p:txBody>
          <a:bodyPr/>
          <a:lstStyle/>
          <a:p/>
        </p:txBody>
      </p:sp>
      <p:sp>
        <p:nvSpPr>
          <p:cNvPr id="50" name="s3"/>
          <p:cNvSpPr>
            <a:spLocks noGrp="1"/>
          </p:cNvSpPr>
          <p:nvPr/>
        </p:nvSpPr>
        <p:spPr>
          <a:xfrm>
            <a:off x="4470400" y="1498600"/>
            <a:ext cx="1625600" cy="66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/>
        </p:txBody>
      </p:sp>
      <p:sp>
        <p:nvSpPr>
          <p:cNvPr id="51" name="s3-t"/>
          <p:cNvSpPr>
            <a:spLocks noGrp="1"/>
          </p:cNvSpPr>
          <p:nvPr/>
        </p:nvSpPr>
        <p:spPr>
          <a:xfrm>
            <a:off x="4470400" y="149860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已取货</a:t>
            </a:r>
            <a:endParaRPr sz="1600"/>
          </a:p>
          <a:p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PICKED_UP</a:t>
            </a:r>
            <a:endParaRPr sz="1600"/>
          </a:p>
        </p:txBody>
      </p:sp>
      <p:sp>
        <p:nvSpPr>
          <p:cNvPr id="52" name="a3"/>
          <p:cNvSpPr>
            <a:spLocks noGrp="1"/>
          </p:cNvSpPr>
          <p:nvPr/>
        </p:nvSpPr>
        <p:spPr>
          <a:xfrm>
            <a:off x="6146800" y="1752600"/>
            <a:ext cx="254000" cy="152400"/>
          </a:xfrm>
          <a:custGeom>
            <a:avLst/>
            <a:gdLst/>
            <a:ahLst/>
            <a:cxnLst/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/>
          <a:ln w="19050">
            <a:solidFill>
              <a:srgbClr val="0B4FB3"/>
            </a:solidFill>
            <a:tailEnd type="stealth"/>
          </a:ln>
        </p:spPr>
        <p:txBody>
          <a:bodyPr/>
          <a:lstStyle/>
          <a:p/>
        </p:txBody>
      </p:sp>
      <p:sp>
        <p:nvSpPr>
          <p:cNvPr id="53" name="s4"/>
          <p:cNvSpPr>
            <a:spLocks noGrp="1"/>
          </p:cNvSpPr>
          <p:nvPr/>
        </p:nvSpPr>
        <p:spPr>
          <a:xfrm>
            <a:off x="6451600" y="1498600"/>
            <a:ext cx="1625600" cy="66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/>
        </p:txBody>
      </p:sp>
      <p:sp>
        <p:nvSpPr>
          <p:cNvPr id="54" name="s4-t"/>
          <p:cNvSpPr>
            <a:spLocks noGrp="1"/>
          </p:cNvSpPr>
          <p:nvPr/>
        </p:nvSpPr>
        <p:spPr>
          <a:xfrm>
            <a:off x="6451600" y="149860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配送中</a:t>
            </a:r>
            <a:endParaRPr sz="1600"/>
          </a:p>
          <a:p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DELIVERING</a:t>
            </a:r>
            <a:endParaRPr sz="1600"/>
          </a:p>
        </p:txBody>
      </p:sp>
      <p:sp>
        <p:nvSpPr>
          <p:cNvPr id="55" name="a4"/>
          <p:cNvSpPr>
            <a:spLocks noGrp="1"/>
          </p:cNvSpPr>
          <p:nvPr/>
        </p:nvSpPr>
        <p:spPr>
          <a:xfrm>
            <a:off x="8128000" y="1752600"/>
            <a:ext cx="254000" cy="152400"/>
          </a:xfrm>
          <a:custGeom>
            <a:avLst/>
            <a:gdLst/>
            <a:ahLst/>
            <a:cxnLst/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/>
          <a:ln w="19050">
            <a:solidFill>
              <a:srgbClr val="0B4FB3"/>
            </a:solidFill>
            <a:tailEnd type="stealth"/>
          </a:ln>
        </p:spPr>
        <p:txBody>
          <a:bodyPr/>
          <a:lstStyle/>
          <a:p/>
        </p:txBody>
      </p:sp>
      <p:sp>
        <p:nvSpPr>
          <p:cNvPr id="56" name="s5"/>
          <p:cNvSpPr>
            <a:spLocks noGrp="1"/>
          </p:cNvSpPr>
          <p:nvPr/>
        </p:nvSpPr>
        <p:spPr>
          <a:xfrm>
            <a:off x="8432800" y="1498600"/>
            <a:ext cx="1625600" cy="66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/>
        </p:txBody>
      </p:sp>
      <p:sp>
        <p:nvSpPr>
          <p:cNvPr id="57" name="s5-t"/>
          <p:cNvSpPr>
            <a:spLocks noGrp="1"/>
          </p:cNvSpPr>
          <p:nvPr/>
        </p:nvSpPr>
        <p:spPr>
          <a:xfrm>
            <a:off x="8432800" y="149860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 charset="-122"/>
                <a:ea typeface="MiSans" charset="-122"/>
                <a:cs typeface="MiSans" charset="-122"/>
              </a:rPr>
              <a:t>待确认付款</a:t>
            </a:r>
            <a:endParaRPr sz="1600"/>
          </a:p>
          <a:p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WAIT_CONFIRM</a:t>
            </a:r>
            <a:endParaRPr sz="1600"/>
          </a:p>
        </p:txBody>
      </p:sp>
      <p:sp>
        <p:nvSpPr>
          <p:cNvPr id="58" name="a5"/>
          <p:cNvSpPr>
            <a:spLocks noGrp="1"/>
          </p:cNvSpPr>
          <p:nvPr/>
        </p:nvSpPr>
        <p:spPr>
          <a:xfrm>
            <a:off x="10109200" y="17526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16" h="12">
                <a:moveTo>
                  <a:pt x="0" y="6"/>
                </a:moveTo>
                <a:lnTo>
                  <a:pt x="16" y="6"/>
                </a:lnTo>
              </a:path>
            </a:pathLst>
          </a:custGeom>
          <a:noFill/>
          <a:ln w="19050">
            <a:solidFill>
              <a:srgbClr val="0B4FB3"/>
            </a:solidFill>
            <a:tailEnd type="stealth"/>
          </a:ln>
        </p:spPr>
        <p:txBody>
          <a:bodyPr/>
          <a:lstStyle/>
          <a:p/>
        </p:txBody>
      </p:sp>
      <p:sp>
        <p:nvSpPr>
          <p:cNvPr id="59" name="s6"/>
          <p:cNvSpPr>
            <a:spLocks noGrp="1"/>
          </p:cNvSpPr>
          <p:nvPr/>
        </p:nvSpPr>
        <p:spPr>
          <a:xfrm>
            <a:off x="10363200" y="1498600"/>
            <a:ext cx="1320800" cy="6604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s6-t"/>
          <p:cNvSpPr>
            <a:spLocks noGrp="1"/>
          </p:cNvSpPr>
          <p:nvPr/>
        </p:nvSpPr>
        <p:spPr>
          <a:xfrm>
            <a:off x="10363200" y="1498600"/>
            <a:ext cx="1320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已完成</a:t>
            </a:r>
            <a:endParaRPr sz="1600"/>
          </a:p>
          <a:p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C9DCF5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FINISHED</a:t>
            </a:r>
            <a:endParaRPr sz="1600"/>
          </a:p>
        </p:txBody>
      </p:sp>
      <p:sp>
        <p:nvSpPr>
          <p:cNvPr id="61" name="trig"/>
          <p:cNvSpPr>
            <a:spLocks noGrp="1"/>
          </p:cNvSpPr>
          <p:nvPr/>
        </p:nvSpPr>
        <p:spPr>
          <a:xfrm>
            <a:off x="508000" y="2286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触发操作：发布任务 → 跑腿员抢单 / 管理员派单 → 取货 → 配送 → 送达待确认 → 用户确认收货并付款；进入 FINISHED 前支付状态必须为 PAID</a:t>
            </a:r>
            <a:endParaRPr sz="1050"/>
          </a:p>
        </p:txBody>
      </p:sp>
      <p:sp>
        <p:nvSpPr>
          <p:cNvPr id="62" name="exc-label"/>
          <p:cNvSpPr>
            <a:spLocks noGrp="1"/>
          </p:cNvSpPr>
          <p:nvPr/>
        </p:nvSpPr>
        <p:spPr>
          <a:xfrm>
            <a:off x="508000" y="2819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异常与售后路径</a:t>
            </a:r>
            <a:endParaRPr sz="1100"/>
          </a:p>
        </p:txBody>
      </p:sp>
      <p:sp>
        <p:nvSpPr>
          <p:cNvPr id="63" name="e1"/>
          <p:cNvSpPr>
            <a:spLocks noGrp="1"/>
          </p:cNvSpPr>
          <p:nvPr/>
        </p:nvSpPr>
        <p:spPr>
          <a:xfrm>
            <a:off x="508000" y="3149600"/>
            <a:ext cx="1905000" cy="558800"/>
          </a:xfrm>
          <a:prstGeom prst="rect">
            <a:avLst/>
          </a:prstGeom>
          <a:solidFill>
            <a:srgbClr val="F5F8FC"/>
          </a:solidFill>
          <a:ln w="15240">
            <a:solidFill>
              <a:srgbClr val="64748B"/>
            </a:solidFill>
            <a:prstDash val="dash"/>
          </a:ln>
        </p:spPr>
        <p:txBody>
          <a:bodyPr/>
          <a:lstStyle/>
          <a:p/>
        </p:txBody>
      </p:sp>
      <p:sp>
        <p:nvSpPr>
          <p:cNvPr id="64" name="e1-t"/>
          <p:cNvSpPr>
            <a:spLocks noGrp="1"/>
          </p:cNvSpPr>
          <p:nvPr/>
        </p:nvSpPr>
        <p:spPr>
          <a:xfrm>
            <a:off x="508000" y="31496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200" b="1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已取消</a:t>
            </a:r>
            <a:endParaRPr sz="1600"/>
          </a:p>
          <a:p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CANCELLED</a:t>
            </a:r>
            <a:endParaRPr sz="1600"/>
          </a:p>
        </p:txBody>
      </p:sp>
      <p:sp>
        <p:nvSpPr>
          <p:cNvPr id="65" name="e1-d"/>
          <p:cNvSpPr>
            <a:spLocks noGrp="1"/>
          </p:cNvSpPr>
          <p:nvPr/>
        </p:nvSpPr>
        <p:spPr>
          <a:xfrm>
            <a:off x="2565400" y="3200400"/>
            <a:ext cx="279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仅 WAITING 可自助取消；已接单取消须绑定当前接派记录并写状态日志</a:t>
            </a:r>
            <a:endParaRPr sz="1050"/>
          </a:p>
        </p:txBody>
      </p:sp>
      <p:sp>
        <p:nvSpPr>
          <p:cNvPr id="66" name="e2"/>
          <p:cNvSpPr>
            <a:spLocks noGrp="1"/>
          </p:cNvSpPr>
          <p:nvPr/>
        </p:nvSpPr>
        <p:spPr>
          <a:xfrm>
            <a:off x="5715000" y="3149600"/>
            <a:ext cx="1905000" cy="558800"/>
          </a:xfrm>
          <a:prstGeom prst="rect">
            <a:avLst/>
          </a:prstGeom>
          <a:solidFill>
            <a:srgbClr val="F5F8FC"/>
          </a:solidFill>
          <a:ln w="15240">
            <a:solidFill>
              <a:srgbClr val="64748B"/>
            </a:solidFill>
            <a:prstDash val="dash"/>
          </a:ln>
        </p:spPr>
        <p:txBody>
          <a:bodyPr/>
          <a:lstStyle/>
          <a:p/>
        </p:txBody>
      </p:sp>
      <p:sp>
        <p:nvSpPr>
          <p:cNvPr id="67" name="e2-t"/>
          <p:cNvSpPr>
            <a:spLocks noGrp="1"/>
          </p:cNvSpPr>
          <p:nvPr/>
        </p:nvSpPr>
        <p:spPr>
          <a:xfrm>
            <a:off x="5715000" y="31496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200" b="1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退款售后中</a:t>
            </a:r>
            <a:endParaRPr sz="1600"/>
          </a:p>
          <a:p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REFUNDING</a:t>
            </a:r>
            <a:endParaRPr sz="1600"/>
          </a:p>
        </p:txBody>
      </p:sp>
      <p:sp>
        <p:nvSpPr>
          <p:cNvPr id="68" name="e2-d"/>
          <p:cNvSpPr>
            <a:spLocks noGrp="1"/>
          </p:cNvSpPr>
          <p:nvPr/>
        </p:nvSpPr>
        <p:spPr>
          <a:xfrm>
            <a:off x="7772400" y="3200400"/>
            <a:ext cx="391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已付款任务的售后经退款申请—管理员审核处理；跑腿员无法履约时管理员新增 REASSIGN 记录重派，流程已优化</a:t>
            </a:r>
            <a:endParaRPr sz="1050"/>
          </a:p>
        </p:txBody>
      </p:sp>
      <p:sp>
        <p:nvSpPr>
          <p:cNvPr id="69" name="impl-line"/>
          <p:cNvSpPr>
            <a:spLocks noGrp="1"/>
          </p:cNvSpPr>
          <p:nvPr/>
        </p:nvSpPr>
        <p:spPr>
          <a:xfrm>
            <a:off x="508000" y="41148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109" name="st-table"/>
          <p:cNvGraphicFramePr/>
          <p:nvPr/>
        </p:nvGraphicFramePr>
        <p:xfrm>
          <a:off x="512064" y="4318000"/>
          <a:ext cx="11173968" cy="2035112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6784848"/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状态</a:t>
                      </a:r>
                      <a:endParaRPr sz="1100" b="1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含义</a:t>
                      </a:r>
                      <a:endParaRPr sz="1100" b="1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允许流转至</a:t>
                      </a:r>
                      <a:endParaRPr sz="1100" b="1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WAITING</a:t>
                      </a:r>
                      <a:endParaRPr sz="1000">
                        <a:solidFill>
                          <a:srgbClr val="102033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102033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待接单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102033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ASSIGNED / CANCELLED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102033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ASSIGNED</a:t>
                      </a:r>
                      <a:endParaRPr sz="1000">
                        <a:solidFill>
                          <a:srgbClr val="102033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已接派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PICKED_UP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PICKED_UP</a:t>
                      </a:r>
                      <a:endParaRPr sz="1000">
                        <a:solidFill>
                          <a:srgbClr val="102033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已取货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DELIVERING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DELIVERING</a:t>
                      </a:r>
                      <a:endParaRPr sz="1000">
                        <a:solidFill>
                          <a:srgbClr val="102033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配送中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WAIT_CONFIRM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WAIT_CONFIRM</a:t>
                      </a:r>
                      <a:endParaRPr sz="1000">
                        <a:solidFill>
                          <a:srgbClr val="102033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待确认付款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FINISHED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FINISHED 等</a:t>
                      </a:r>
                      <a:endParaRPr sz="1000">
                        <a:solidFill>
                          <a:srgbClr val="102033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终态 / 售后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FINISHED 不可再流转；REFUNDING 由管理员处理</a:t>
                      </a:r>
                      <a:endParaRPr sz="1100">
                        <a:solidFill>
                          <a:srgbClr val="1020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ft-line"/>
          <p:cNvSpPr>
            <a:spLocks noGrp="1"/>
          </p:cNvSpPr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ft-page"/>
          <p:cNvSpPr>
            <a:spLocks noGrp="1"/>
          </p:cNvSpPr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 charset="-122"/>
                <a:ea typeface="MiSans" charset="-122"/>
                <a:cs typeface="MiSans" charset="-122"/>
              </a:rPr>
              <a:t>7 / 17</a:t>
            </a:r>
            <a:endParaRPr sz="1000"/>
          </a:p>
        </p:txBody>
      </p:sp>
      <p:sp>
        <p:nvSpPr>
          <p:cNvPr id="76" name="ft-brand"/>
          <p:cNvSpPr>
            <a:spLocks noGrp="1"/>
          </p:cNvSpPr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校园综合跑腿与代取服务管理系统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v-num"/>
          <p:cNvSpPr>
            <a:spLocks noGrp="1"/>
          </p:cNvSpPr>
          <p:nvPr/>
        </p:nvSpPr>
        <p:spPr>
          <a:xfrm>
            <a:off x="711200" y="1524000"/>
            <a:ext cx="4064000" cy="215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endParaRPr sz="14000"/>
          </a:p>
        </p:txBody>
      </p:sp>
      <p:sp>
        <p:nvSpPr>
          <p:cNvPr id="3" name="div-line"/>
          <p:cNvSpPr>
            <a:spLocks noGrp="1"/>
          </p:cNvSpPr>
          <p:nvPr/>
        </p:nvSpPr>
        <p:spPr>
          <a:xfrm>
            <a:off x="762000" y="4013200"/>
            <a:ext cx="1524000" cy="381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iv-title"/>
          <p:cNvSpPr>
            <a:spLocks noGrp="1"/>
          </p:cNvSpPr>
          <p:nvPr/>
        </p:nvSpPr>
        <p:spPr>
          <a:xfrm>
            <a:off x="711200" y="43180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数据库设计</a:t>
            </a:r>
            <a:endParaRPr sz="4000"/>
          </a:p>
        </p:txBody>
      </p:sp>
      <p:sp>
        <p:nvSpPr>
          <p:cNvPr id="5" name="div-sub"/>
          <p:cNvSpPr>
            <a:spLocks noGrp="1"/>
          </p:cNvSpPr>
          <p:nvPr/>
        </p:nvSpPr>
        <p:spPr>
          <a:xfrm>
            <a:off x="711200" y="51562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 charset="-122"/>
                <a:ea typeface="MiSans" charset="-122"/>
                <a:cs typeface="MiSans" charset="-122"/>
              </a:rPr>
              <a:t>概念模型 · 关系模式 · 规范化 · 索引与约束</a:t>
            </a:r>
            <a:endParaRPr sz="1400"/>
          </a:p>
        </p:txBody>
      </p:sp>
      <p:sp>
        <p:nvSpPr>
          <p:cNvPr id="6" name="div-progress"/>
          <p:cNvSpPr>
            <a:spLocks noGrp="1"/>
          </p:cNvSpPr>
          <p:nvPr/>
        </p:nvSpPr>
        <p:spPr>
          <a:xfrm>
            <a:off x="711200" y="762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 charset="-122"/>
                <a:ea typeface="MiSans" charset="-122"/>
                <a:cs typeface="MiSans" charset="-122"/>
              </a:rPr>
              <a:t>SECTION 03 / 05</a:t>
            </a:r>
            <a:endParaRPr sz="1100"/>
          </a:p>
        </p:txBody>
      </p:sp>
      <p:sp>
        <p:nvSpPr>
          <p:cNvPr id="7" name="div-brand"/>
          <p:cNvSpPr>
            <a:spLocks noGrp="1"/>
          </p:cNvSpPr>
          <p:nvPr/>
        </p:nvSpPr>
        <p:spPr>
          <a:xfrm>
            <a:off x="711200" y="6299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 charset="-122"/>
                <a:ea typeface="MiSans" charset="-122"/>
                <a:cs typeface="MiSans" charset="-122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/>
          <p:cNvSpPr>
            <a:spLocks noGrp="1"/>
          </p:cNvSpPr>
          <p:nvPr/>
        </p:nvSpPr>
        <p:spPr>
          <a:xfrm>
            <a:off x="10922000" y="6299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 charset="-122"/>
                <a:ea typeface="MiSans" charset="-122"/>
                <a:cs typeface="MiSans" charset="-122"/>
              </a:rPr>
              <a:t>8 / 17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d-tick"/>
          <p:cNvSpPr>
            <a:spLocks noGrp="1"/>
          </p:cNvSpPr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d-title"/>
          <p:cNvSpPr>
            <a:spLocks noGrp="1"/>
          </p:cNvSpPr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关系模式与核心表</a:t>
            </a:r>
            <a:endParaRPr sz="2500"/>
          </a:p>
        </p:txBody>
      </p:sp>
      <p:sp>
        <p:nvSpPr>
          <p:cNvPr id="4" name="hd-sec"/>
          <p:cNvSpPr>
            <a:spLocks noGrp="1"/>
          </p:cNvSpPr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03 · 数据库设计</a:t>
            </a:r>
            <a:endParaRPr sz="11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17" name="schema-table"/>
          <p:cNvGraphicFramePr/>
          <p:nvPr/>
        </p:nvGraphicFramePr>
        <p:xfrm>
          <a:off x="508000" y="1219200"/>
          <a:ext cx="11176000" cy="4521202"/>
        </p:xfrm>
        <a:graphic>
          <a:graphicData uri="http://schemas.openxmlformats.org/drawingml/2006/table">
            <a:tbl>
              <a:tblPr/>
              <a:tblGrid>
                <a:gridCol w="1788160"/>
                <a:gridCol w="5811520"/>
                <a:gridCol w="1229360"/>
                <a:gridCol w="2346960"/>
              </a:tblGrid>
              <a:tr h="397866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表名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主要属性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主码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外码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users 用户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username, phone, password_hash, user_role, account_status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user_id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—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runners 跑腿员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user_id, real_name, identity_info, audit_status, work_status, credit_score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runner_id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user_id → users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tasks 任务主单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publisher_user_id, service_type_id, address_no, node_id, task_title, task_price, urgent_flag, task_status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task_id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组合外键引用 users、user_addresses、service_node_rules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任务明细（外卖 / 快递 / 私人）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food_delivery_details, express_pickup_details, private_task_details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(task_id, detail_no)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task_id → tasks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assign_records 接派记录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task_id, runner_id, operation_type, assigned_at, reassign_reason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record_id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task_id → tasks, runner_id → runners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task_status_logs 状态日志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record_id, status_before, status_after, operator_user_id, operated_at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log_id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record_id → assign_records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payments 支付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record_id, order_amount, pay_amount, pay_method, pay_status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payment_id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record_id → assign_records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reviews 评价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task_id, record_id, rating, comment_text, credit_delta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review_id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(record_id, task_id) → assign_records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schema-note-icon"/>
          <p:cNvSpPr>
            <a:spLocks noGrp="1"/>
          </p:cNvSpPr>
          <p:nvPr/>
        </p:nvSpPr>
        <p:spPr>
          <a:xfrm>
            <a:off x="508000" y="5918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32"/>
                </a:move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lnTo>
                  <a:pt x="58" y="480"/>
                </a:lnTo>
                <a:cubicBezTo>
                  <a:pt x="25" y="476"/>
                  <a:pt x="0" y="449"/>
                  <a:pt x="0" y="416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lose/>
                <a:moveTo>
                  <a:pt x="64" y="320"/>
                </a:moveTo>
                <a:lnTo>
                  <a:pt x="64" y="416"/>
                </a:lnTo>
                <a:lnTo>
                  <a:pt x="192" y="416"/>
                </a:lnTo>
                <a:lnTo>
                  <a:pt x="192" y="320"/>
                </a:lnTo>
                <a:lnTo>
                  <a:pt x="64" y="320"/>
                </a:lnTo>
                <a:close/>
                <a:moveTo>
                  <a:pt x="256" y="320"/>
                </a:moveTo>
                <a:lnTo>
                  <a:pt x="256" y="416"/>
                </a:lnTo>
                <a:lnTo>
                  <a:pt x="384" y="416"/>
                </a:lnTo>
                <a:lnTo>
                  <a:pt x="384" y="320"/>
                </a:lnTo>
                <a:lnTo>
                  <a:pt x="256" y="320"/>
                </a:lnTo>
                <a:close/>
                <a:moveTo>
                  <a:pt x="64" y="256"/>
                </a:moveTo>
                <a:lnTo>
                  <a:pt x="192" y="256"/>
                </a:lnTo>
                <a:lnTo>
                  <a:pt x="192" y="160"/>
                </a:lnTo>
                <a:lnTo>
                  <a:pt x="64" y="160"/>
                </a:lnTo>
                <a:lnTo>
                  <a:pt x="64" y="256"/>
                </a:lnTo>
                <a:close/>
                <a:moveTo>
                  <a:pt x="256" y="256"/>
                </a:moveTo>
                <a:lnTo>
                  <a:pt x="384" y="256"/>
                </a:lnTo>
                <a:lnTo>
                  <a:pt x="384" y="160"/>
                </a:lnTo>
                <a:lnTo>
                  <a:pt x="256" y="160"/>
                </a:lnTo>
                <a:lnTo>
                  <a:pt x="256" y="256"/>
                </a:lnTo>
                <a:close/>
              </a:path>
            </a:pathLst>
          </a:custGeom>
          <a:solidFill>
            <a:srgbClr val="77716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chema-note"/>
          <p:cNvSpPr>
            <a:spLocks noGrp="1"/>
          </p:cNvSpPr>
          <p:nvPr/>
        </p:nvSpPr>
        <p:spPr>
          <a:xfrm>
            <a:off x="787400" y="5867400"/>
            <a:ext cx="10896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1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当前结构共 24 张业务表。主实体使用单列主键，任务明细使用复合主键，service_node_rules 等关联表表达多对多关系。</a:t>
            </a:r>
            <a:endParaRPr sz="1100"/>
          </a:p>
        </p:txBody>
      </p:sp>
      <p:sp>
        <p:nvSpPr>
          <p:cNvPr id="9" name="ft-line"/>
          <p:cNvSpPr>
            <a:spLocks noGrp="1"/>
          </p:cNvSpPr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ft-brand"/>
          <p:cNvSpPr>
            <a:spLocks noGrp="1"/>
          </p:cNvSpPr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校园综合跑腿与代取服务管理系统</a:t>
            </a:r>
            <a:endParaRPr sz="1000"/>
          </a:p>
        </p:txBody>
      </p:sp>
      <p:sp>
        <p:nvSpPr>
          <p:cNvPr id="11" name="ft-page"/>
          <p:cNvSpPr>
            <a:spLocks noGrp="1"/>
          </p:cNvSpPr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10 / 17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d-tick"/>
          <p:cNvSpPr>
            <a:spLocks noGrp="1"/>
          </p:cNvSpPr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d-title"/>
          <p:cNvSpPr>
            <a:spLocks noGrp="1"/>
          </p:cNvSpPr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tasks 任务主表（真实 DDL）</a:t>
            </a:r>
            <a:endParaRPr sz="2500"/>
          </a:p>
        </p:txBody>
      </p:sp>
      <p:sp>
        <p:nvSpPr>
          <p:cNvPr id="4" name="hd-sec"/>
          <p:cNvSpPr>
            <a:spLocks noGrp="1"/>
          </p:cNvSpPr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03 · 数据库设计</a:t>
            </a:r>
            <a:endParaRPr sz="11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23" name="orders-table"/>
          <p:cNvGraphicFramePr/>
          <p:nvPr/>
        </p:nvGraphicFramePr>
        <p:xfrm>
          <a:off x="508000" y="1219200"/>
          <a:ext cx="7112000" cy="5373434"/>
        </p:xfrm>
        <a:graphic>
          <a:graphicData uri="http://schemas.openxmlformats.org/drawingml/2006/table">
            <a:tbl>
              <a:tblPr/>
              <a:tblGrid>
                <a:gridCol w="1706880"/>
                <a:gridCol w="1422400"/>
                <a:gridCol w="1849120"/>
                <a:gridCol w="2133600"/>
              </a:tblGrid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字段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类型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约束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说明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task_id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NUMBER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PK，身份列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任务内部标识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publisher_user_id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NUMBER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FK NOT NULL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发布用户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address_no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NUMBER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联合外键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与发布用户组合引用 user_addresses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service_type_id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NUMBER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联合外键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与 node_id 组合引用服务—节点规则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node_id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NUMBER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FK NOT NULL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交接节点（校门/驿站/分发点）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task_title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VARCHAR2(100 CHAR)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NOT NULL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任务标题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task_price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NUMBER(10,2)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CHECK ≥ 0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任务价格，避免浮点误差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urgent_flag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CHAR(1)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CHECK Y/N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加急标志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task_status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VARCHAR2(30 CHAR)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DEFAULT 'CREATED'，CHECK 限定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状态机 10 个合法状态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created_at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DATE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DEFAULT SYSDATE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发布时间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 panose="02000009000000000000"/>
                          <a:ea typeface="JetBrains Mono" panose="02000009000000000000"/>
                          <a:cs typeface="JetBrains Mono" panose="02000009000000000000"/>
                        </a:rPr>
                        <a:t>completed_at</a:t>
                      </a:r>
                      <a:endParaRPr sz="1100">
                        <a:solidFill>
                          <a:srgbClr val="23272E"/>
                        </a:solidFill>
                        <a:latin typeface="JetBrains Mono" panose="02000009000000000000"/>
                        <a:ea typeface="JetBrains Mono" panose="02000009000000000000"/>
                        <a:cs typeface="JetBrains Mono" panose="0200000900000000000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DATE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CHECK ≥ created_at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完成时间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note-label"/>
          <p:cNvSpPr>
            <a:spLocks noGrp="1"/>
          </p:cNvSpPr>
          <p:nvPr/>
        </p:nvSpPr>
        <p:spPr>
          <a:xfrm>
            <a:off x="8128000" y="12192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设计要点</a:t>
            </a:r>
            <a:endParaRPr sz="1200"/>
          </a:p>
        </p:txBody>
      </p:sp>
      <p:sp>
        <p:nvSpPr>
          <p:cNvPr id="8" name="note1"/>
          <p:cNvSpPr>
            <a:spLocks noGrp="1"/>
          </p:cNvSpPr>
          <p:nvPr/>
        </p:nvSpPr>
        <p:spPr>
          <a:xfrm>
            <a:off x="8128000" y="1600200"/>
            <a:ext cx="3556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主单与明细分离</a:t>
            </a:r>
            <a:endParaRPr sz="1150"/>
          </a:p>
          <a:p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任务公共字段写入 tasks，外卖分发、快递代取、私人跑腿分别写入三张明细表</a:t>
            </a:r>
            <a:endParaRPr sz="1150"/>
          </a:p>
        </p:txBody>
      </p:sp>
      <p:sp>
        <p:nvSpPr>
          <p:cNvPr id="9" name="note1-line"/>
          <p:cNvSpPr>
            <a:spLocks noGrp="1"/>
          </p:cNvSpPr>
          <p:nvPr/>
        </p:nvSpPr>
        <p:spPr>
          <a:xfrm>
            <a:off x="8128000" y="2819400"/>
            <a:ext cx="355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note2"/>
          <p:cNvSpPr>
            <a:spLocks noGrp="1"/>
          </p:cNvSpPr>
          <p:nvPr/>
        </p:nvSpPr>
        <p:spPr>
          <a:xfrm>
            <a:off x="8128000" y="2997200"/>
            <a:ext cx="3556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状态由约束限定</a:t>
            </a:r>
            <a:endParaRPr sz="1150"/>
          </a:p>
          <a:p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task_status 取值由 CHECK 约束限定，非法状态无法入库</a:t>
            </a:r>
            <a:endParaRPr sz="1150"/>
          </a:p>
        </p:txBody>
      </p:sp>
      <p:sp>
        <p:nvSpPr>
          <p:cNvPr id="11" name="note2-line"/>
          <p:cNvSpPr>
            <a:spLocks noGrp="1"/>
          </p:cNvSpPr>
          <p:nvPr/>
        </p:nvSpPr>
        <p:spPr>
          <a:xfrm>
            <a:off x="8128000" y="4216400"/>
            <a:ext cx="355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3"/>
          <p:cNvSpPr>
            <a:spLocks noGrp="1"/>
          </p:cNvSpPr>
          <p:nvPr/>
        </p:nvSpPr>
        <p:spPr>
          <a:xfrm>
            <a:off x="8128000" y="4394200"/>
            <a:ext cx="3556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行锁防并发抢单</a:t>
            </a:r>
            <a:endParaRPr sz="1150"/>
          </a:p>
          <a:p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SELECT … FOR UPDATE 锁定任务行后校验状态，防止重复接单</a:t>
            </a:r>
            <a:endParaRPr sz="1150"/>
          </a:p>
        </p:txBody>
      </p:sp>
      <p:sp>
        <p:nvSpPr>
          <p:cNvPr id="13" name="note3-line"/>
          <p:cNvSpPr>
            <a:spLocks noGrp="1"/>
          </p:cNvSpPr>
          <p:nvPr/>
        </p:nvSpPr>
        <p:spPr>
          <a:xfrm>
            <a:off x="8128000" y="5613400"/>
            <a:ext cx="355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note4"/>
          <p:cNvSpPr>
            <a:spLocks noGrp="1"/>
          </p:cNvSpPr>
          <p:nvPr/>
        </p:nvSpPr>
        <p:spPr>
          <a:xfrm>
            <a:off x="8128000" y="57912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组合外键：服务类型与交接节点绑定规则强制匹配</a:t>
            </a:r>
            <a:endParaRPr sz="1000"/>
          </a:p>
        </p:txBody>
      </p:sp>
      <p:sp>
        <p:nvSpPr>
          <p:cNvPr id="15" name="ft-line"/>
          <p:cNvSpPr>
            <a:spLocks noGrp="1"/>
          </p:cNvSpPr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ft-brand"/>
          <p:cNvSpPr>
            <a:spLocks noGrp="1"/>
          </p:cNvSpPr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校园综合跑腿与代取服务管理系统</a:t>
            </a:r>
            <a:endParaRPr sz="1000"/>
          </a:p>
        </p:txBody>
      </p:sp>
      <p:sp>
        <p:nvSpPr>
          <p:cNvPr id="17" name="ft-page"/>
          <p:cNvSpPr>
            <a:spLocks noGrp="1"/>
          </p:cNvSpPr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11 / 17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d-tick"/>
          <p:cNvSpPr>
            <a:spLocks noGrp="1"/>
          </p:cNvSpPr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d-title"/>
          <p:cNvSpPr>
            <a:spLocks noGrp="1"/>
          </p:cNvSpPr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数据库对象：结构、约束与并发控制</a:t>
            </a:r>
            <a:endParaRPr sz="2500"/>
          </a:p>
        </p:txBody>
      </p:sp>
      <p:sp>
        <p:nvSpPr>
          <p:cNvPr id="4" name="hd-sec"/>
          <p:cNvSpPr>
            <a:spLocks noGrp="1"/>
          </p:cNvSpPr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03 · 数据库设计</a:t>
            </a:r>
            <a:endParaRPr sz="11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q1-title"/>
          <p:cNvSpPr>
            <a:spLocks noGrp="1"/>
          </p:cNvSpPr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结构规模 SCHEMA</a:t>
            </a:r>
            <a:endParaRPr sz="1500"/>
          </a:p>
        </p:txBody>
      </p:sp>
      <p:sp>
        <p:nvSpPr>
          <p:cNvPr id="7" name="q1-body"/>
          <p:cNvSpPr>
            <a:spLocks noGrp="1"/>
          </p:cNvSpPr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24 张业务表 · 24 个主键 · 31 个外键</a:t>
            </a:r>
            <a:endParaRPr sz="1100"/>
          </a:p>
          <a:p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23 个显式索引覆盖任务、接派、支付、退款与结算查询</a:t>
            </a:r>
            <a:endParaRPr sz="1100"/>
          </a:p>
          <a:p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主表、弱实体明细和关联表共同支撑业务闭环</a:t>
            </a:r>
            <a:endParaRPr sz="1100"/>
          </a:p>
        </p:txBody>
      </p:sp>
      <p:sp>
        <p:nvSpPr>
          <p:cNvPr id="8" name="q2-title"/>
          <p:cNvSpPr>
            <a:spLocks noGrp="1"/>
          </p:cNvSpPr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完整性约束 CONSTRAINT</a:t>
            </a:r>
            <a:endParaRPr sz="1500"/>
          </a:p>
        </p:txBody>
      </p:sp>
      <p:sp>
        <p:nvSpPr>
          <p:cNvPr id="9" name="q2-body"/>
          <p:cNvSpPr>
            <a:spLocks noGrp="1"/>
          </p:cNvSpPr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30 个 CHECK 约束限定状态、金额与枚举取值</a:t>
            </a:r>
            <a:endParaRPr sz="1100"/>
          </a:p>
          <a:p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组合外键保证任务的用户地址和服务节点组合真实存在</a:t>
            </a:r>
            <a:endParaRPr sz="1100"/>
          </a:p>
          <a:p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唯一约束落实单默认地址、一任务一评价与支付流水号唯一</a:t>
            </a:r>
            <a:endParaRPr sz="1100"/>
          </a:p>
        </p:txBody>
      </p:sp>
      <p:sp>
        <p:nvSpPr>
          <p:cNvPr id="10" name="q3-title"/>
          <p:cNvSpPr>
            <a:spLocks noGrp="1"/>
          </p:cNvSpPr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事务与行锁 TRANSACTION / LOCK</a:t>
            </a:r>
            <a:endParaRPr sz="1500"/>
          </a:p>
        </p:txBody>
      </p:sp>
      <p:sp>
        <p:nvSpPr>
          <p:cNvPr id="11" name="q3-body"/>
          <p:cNvSpPr>
            <a:spLocks noGrp="1"/>
          </p:cNvSpPr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状态更新与日志写入在同一事务内提交</a:t>
            </a:r>
            <a:endParaRPr sz="1100"/>
          </a:p>
          <a:p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支付、退款和结算跨表写入失败时整体回滚</a:t>
            </a:r>
            <a:endParaRPr sz="1100"/>
          </a:p>
          <a:p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14 处 FOR UPDATE 语句保护抢单、审核与资金等热点数据</a:t>
            </a:r>
            <a:endParaRPr sz="1100"/>
          </a:p>
        </p:txBody>
      </p:sp>
      <p:sp>
        <p:nvSpPr>
          <p:cNvPr id="12" name="q4-title"/>
          <p:cNvSpPr>
            <a:spLocks noGrp="1"/>
          </p:cNvSpPr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视图、过程与函数</a:t>
            </a:r>
            <a:endParaRPr sz="1500"/>
          </a:p>
        </p:txBody>
      </p:sp>
      <p:sp>
        <p:nvSpPr>
          <p:cNvPr id="13" name="q4-body"/>
          <p:cNvSpPr>
            <a:spLocks noGrp="1"/>
          </p:cNvSpPr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4 个业务视图支撑任务、支付退款、跑腿员绩效与结算查询</a:t>
            </a:r>
            <a:endParaRPr sz="1100"/>
          </a:p>
          <a:p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4 个存储过程处理账号、默认地址、审核和原子接单</a:t>
            </a:r>
            <a:endParaRPr sz="1100"/>
          </a:p>
          <a:p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3 个函数负责价格、接单资格与服务节点规则，后端均有真实调用</a:t>
            </a:r>
            <a:endParaRPr sz="1100"/>
          </a:p>
        </p:txBody>
      </p:sp>
      <p:sp>
        <p:nvSpPr>
          <p:cNvPr id="14" name="h-div"/>
          <p:cNvSpPr>
            <a:spLocks noGrp="1"/>
          </p:cNvSpPr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v-div"/>
          <p:cNvSpPr>
            <a:spLocks noGrp="1"/>
          </p:cNvSpPr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obj-concl"/>
          <p:cNvSpPr>
            <a:spLocks noGrp="1"/>
          </p:cNvSpPr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真实对象规模：24 表 · 4 视图 · 4 过程 · 3 函数</a:t>
            </a:r>
            <a:endParaRPr sz="1200"/>
          </a:p>
        </p:txBody>
      </p:sp>
      <p:sp>
        <p:nvSpPr>
          <p:cNvPr id="17" name="ft-line"/>
          <p:cNvSpPr>
            <a:spLocks noGrp="1"/>
          </p:cNvSpPr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ft-brand"/>
          <p:cNvSpPr>
            <a:spLocks noGrp="1"/>
          </p:cNvSpPr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校园综合跑腿与代取服务管理系统</a:t>
            </a:r>
            <a:endParaRPr sz="1000"/>
          </a:p>
        </p:txBody>
      </p:sp>
      <p:sp>
        <p:nvSpPr>
          <p:cNvPr id="19" name="ft-page"/>
          <p:cNvSpPr>
            <a:spLocks noGrp="1"/>
          </p:cNvSpPr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12 / 17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v-num"/>
          <p:cNvSpPr>
            <a:spLocks noGrp="1"/>
          </p:cNvSpPr>
          <p:nvPr/>
        </p:nvSpPr>
        <p:spPr>
          <a:xfrm>
            <a:off x="711200" y="1524000"/>
            <a:ext cx="4064000" cy="215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04</a:t>
            </a:r>
            <a:endParaRPr sz="14000"/>
          </a:p>
        </p:txBody>
      </p:sp>
      <p:sp>
        <p:nvSpPr>
          <p:cNvPr id="3" name="div-line"/>
          <p:cNvSpPr>
            <a:spLocks noGrp="1"/>
          </p:cNvSpPr>
          <p:nvPr/>
        </p:nvSpPr>
        <p:spPr>
          <a:xfrm>
            <a:off x="762000" y="4013200"/>
            <a:ext cx="1524000" cy="381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iv-title"/>
          <p:cNvSpPr>
            <a:spLocks noGrp="1"/>
          </p:cNvSpPr>
          <p:nvPr/>
        </p:nvSpPr>
        <p:spPr>
          <a:xfrm>
            <a:off x="711200" y="43180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系统实现</a:t>
            </a:r>
            <a:endParaRPr sz="4000"/>
          </a:p>
        </p:txBody>
      </p:sp>
      <p:sp>
        <p:nvSpPr>
          <p:cNvPr id="5" name="div-sub"/>
          <p:cNvSpPr>
            <a:spLocks noGrp="1"/>
          </p:cNvSpPr>
          <p:nvPr/>
        </p:nvSpPr>
        <p:spPr>
          <a:xfrm>
            <a:off x="711200" y="5156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 charset="-122"/>
                <a:ea typeface="MiSans" charset="-122"/>
                <a:cs typeface="MiSans" charset="-122"/>
              </a:rPr>
              <a:t>真实界面 · 数据库对象调用 · 事务与行锁</a:t>
            </a:r>
            <a:endParaRPr sz="1400"/>
          </a:p>
        </p:txBody>
      </p:sp>
      <p:sp>
        <p:nvSpPr>
          <p:cNvPr id="6" name="div-progress"/>
          <p:cNvSpPr>
            <a:spLocks noGrp="1"/>
          </p:cNvSpPr>
          <p:nvPr/>
        </p:nvSpPr>
        <p:spPr>
          <a:xfrm>
            <a:off x="711200" y="762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 charset="-122"/>
                <a:ea typeface="MiSans" charset="-122"/>
                <a:cs typeface="MiSans" charset="-122"/>
              </a:rPr>
              <a:t>SECTION 04 / 05</a:t>
            </a:r>
            <a:endParaRPr sz="1100"/>
          </a:p>
        </p:txBody>
      </p:sp>
      <p:sp>
        <p:nvSpPr>
          <p:cNvPr id="7" name="div-brand"/>
          <p:cNvSpPr>
            <a:spLocks noGrp="1"/>
          </p:cNvSpPr>
          <p:nvPr/>
        </p:nvSpPr>
        <p:spPr>
          <a:xfrm>
            <a:off x="711200" y="6299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 charset="-122"/>
                <a:ea typeface="MiSans" charset="-122"/>
                <a:cs typeface="MiSans" charset="-122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/>
          <p:cNvSpPr>
            <a:spLocks noGrp="1"/>
          </p:cNvSpPr>
          <p:nvPr/>
        </p:nvSpPr>
        <p:spPr>
          <a:xfrm>
            <a:off x="10922000" y="6299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 charset="-122"/>
                <a:ea typeface="MiSans" charset="-122"/>
                <a:cs typeface="MiSans" charset="-122"/>
              </a:rPr>
              <a:t>13 / 17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d-tick"/>
          <p:cNvSpPr>
            <a:spLocks noGrp="1"/>
          </p:cNvSpPr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d-title"/>
          <p:cNvSpPr>
            <a:spLocks noGrp="1"/>
          </p:cNvSpPr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系统功能界面</a:t>
            </a:r>
            <a:endParaRPr sz="2500"/>
          </a:p>
        </p:txBody>
      </p:sp>
      <p:sp>
        <p:nvSpPr>
          <p:cNvPr id="4" name="hd-sec"/>
          <p:cNvSpPr>
            <a:spLocks noGrp="1"/>
          </p:cNvSpPr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04 · 系统实现</a:t>
            </a:r>
            <a:endParaRPr sz="11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ph1"/>
          <p:cNvSpPr>
            <a:spLocks noGrp="1"/>
          </p:cNvSpPr>
          <p:nvPr/>
        </p:nvSpPr>
        <p:spPr>
          <a:xfrm>
            <a:off x="508000" y="1270000"/>
            <a:ext cx="5461000" cy="406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7716A"/>
            </a:solidFill>
            <a:prstDash val="dash"/>
          </a:ln>
        </p:spPr>
        <p:txBody>
          <a:bodyPr/>
          <a:lstStyle/>
          <a:p/>
        </p:txBody>
      </p:sp>
      <p:sp>
        <p:nvSpPr>
          <p:cNvPr id="9" name="ph1-cap"/>
          <p:cNvSpPr>
            <a:spLocks noGrp="1"/>
          </p:cNvSpPr>
          <p:nvPr/>
        </p:nvSpPr>
        <p:spPr>
          <a:xfrm>
            <a:off x="508000" y="5461000"/>
            <a:ext cx="546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100" b="1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普通用户端　发布三类任务、跟踪状态、确认收货付款、评价与售后</a:t>
            </a:r>
            <a:endParaRPr sz="1100"/>
          </a:p>
          <a:p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对应：tasks · payments · reviews · refunds · complaints</a:t>
            </a:r>
            <a:endParaRPr sz="1100"/>
          </a:p>
        </p:txBody>
      </p:sp>
      <p:sp>
        <p:nvSpPr>
          <p:cNvPr id="10" name="ph2"/>
          <p:cNvSpPr>
            <a:spLocks noGrp="1"/>
          </p:cNvSpPr>
          <p:nvPr/>
        </p:nvSpPr>
        <p:spPr>
          <a:xfrm>
            <a:off x="6223000" y="1270000"/>
            <a:ext cx="5461000" cy="406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7716A"/>
            </a:solidFill>
            <a:prstDash val="dash"/>
          </a:ln>
        </p:spPr>
        <p:txBody>
          <a:bodyPr/>
          <a:lstStyle/>
          <a:p/>
        </p:txBody>
      </p:sp>
      <p:sp>
        <p:nvSpPr>
          <p:cNvPr id="13" name="ph2-cap"/>
          <p:cNvSpPr>
            <a:spLocks noGrp="1"/>
          </p:cNvSpPr>
          <p:nvPr/>
        </p:nvSpPr>
        <p:spPr>
          <a:xfrm>
            <a:off x="6223000" y="5461000"/>
            <a:ext cx="546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100" b="1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跑腿员与管理员端　任务大厅抢单、派单重派、配送状态、结算审计报表</a:t>
            </a:r>
            <a:endParaRPr sz="1100"/>
          </a:p>
          <a:p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对应：assign_records · task_status_logs · settlements · audit_logs · reports</a:t>
            </a:r>
            <a:endParaRPr sz="1100"/>
          </a:p>
        </p:txBody>
      </p:sp>
      <p:sp>
        <p:nvSpPr>
          <p:cNvPr id="14" name="ui-note"/>
          <p:cNvSpPr>
            <a:spLocks noGrp="1"/>
          </p:cNvSpPr>
          <p:nvPr/>
        </p:nvSpPr>
        <p:spPr>
          <a:xfrm>
            <a:off x="508000" y="61214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5" name="ft-line"/>
          <p:cNvSpPr>
            <a:spLocks noGrp="1"/>
          </p:cNvSpPr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ft-brand"/>
          <p:cNvSpPr>
            <a:spLocks noGrp="1"/>
          </p:cNvSpPr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校园综合跑腿与代取服务管理系统</a:t>
            </a:r>
            <a:endParaRPr sz="1000"/>
          </a:p>
        </p:txBody>
      </p:sp>
      <p:sp>
        <p:nvSpPr>
          <p:cNvPr id="17" name="ft-page"/>
          <p:cNvSpPr>
            <a:spLocks noGrp="1"/>
          </p:cNvSpPr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14 / 17</a:t>
            </a:r>
            <a:endParaRPr sz="1000"/>
          </a:p>
        </p:txBody>
      </p:sp>
      <p:pic>
        <p:nvPicPr>
          <p:cNvPr id="35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3328035"/>
            <a:ext cx="5481955" cy="2030095"/>
          </a:xfrm>
          <a:prstGeom prst="rect">
            <a:avLst/>
          </a:prstGeom>
        </p:spPr>
      </p:pic>
      <p:pic>
        <p:nvPicPr>
          <p:cNvPr id="36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0" y="3482975"/>
            <a:ext cx="2682875" cy="1837690"/>
          </a:xfrm>
          <a:prstGeom prst="rect">
            <a:avLst/>
          </a:prstGeom>
        </p:spPr>
      </p:pic>
      <p:pic>
        <p:nvPicPr>
          <p:cNvPr id="37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428365"/>
            <a:ext cx="2673350" cy="1892300"/>
          </a:xfrm>
          <a:prstGeom prst="rect">
            <a:avLst/>
          </a:prstGeom>
        </p:spPr>
      </p:pic>
      <p:pic>
        <p:nvPicPr>
          <p:cNvPr id="38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1292225"/>
            <a:ext cx="5461000" cy="2136140"/>
          </a:xfrm>
          <a:prstGeom prst="rect">
            <a:avLst/>
          </a:prstGeom>
        </p:spPr>
      </p:pic>
      <p:pic>
        <p:nvPicPr>
          <p:cNvPr id="39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1282700"/>
            <a:ext cx="5451475" cy="19424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d-tick"/>
          <p:cNvSpPr>
            <a:spLocks noGrp="1"/>
          </p:cNvSpPr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d-title"/>
          <p:cNvSpPr>
            <a:spLocks noGrp="1"/>
          </p:cNvSpPr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原子接单：存储过程与事务边界</a:t>
            </a:r>
            <a:endParaRPr sz="2500"/>
          </a:p>
        </p:txBody>
      </p:sp>
      <p:sp>
        <p:nvSpPr>
          <p:cNvPr id="4" name="hd-sec"/>
          <p:cNvSpPr>
            <a:spLocks noGrp="1"/>
          </p:cNvSpPr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04 · 系统实现</a:t>
            </a:r>
            <a:endParaRPr sz="11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code-panel"/>
          <p:cNvSpPr>
            <a:spLocks noGrp="1"/>
          </p:cNvSpPr>
          <p:nvPr/>
        </p:nvSpPr>
        <p:spPr>
          <a:xfrm>
            <a:off x="508000" y="1219200"/>
            <a:ext cx="6604000" cy="4978400"/>
          </a:xfrm>
          <a:prstGeom prst="rect">
            <a:avLst/>
          </a:prstGeom>
          <a:solidFill>
            <a:srgbClr val="232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ode-tag"/>
          <p:cNvSpPr>
            <a:spLocks noGrp="1"/>
          </p:cNvSpPr>
          <p:nvPr/>
        </p:nvSpPr>
        <p:spPr>
          <a:xfrm>
            <a:off x="508000" y="1219200"/>
            <a:ext cx="63500" cy="49784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code-text"/>
          <p:cNvSpPr>
            <a:spLocks noGrp="1"/>
          </p:cNvSpPr>
          <p:nvPr/>
        </p:nvSpPr>
        <p:spPr>
          <a:xfrm>
            <a:off x="812800" y="1422400"/>
            <a:ext cx="6096000" cy="462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-- database-enhancement/03_procedures.sql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+CREATE OR REPLACE PROCEDURE sp_accept_task_atomic (...) AS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+BEGIN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SELECT task_status, publisher_user_id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  INTO v_task_status, v_publisher_user_id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  FROM tasks WHERE task_id = p_task_id FOR UPDATE;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IF v_task_status &lt;&gt; 'WAITING' THEN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  p_result_code := 'TASK_NOT_WAITING'; RETURN;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END IF;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UPDATE tasks SET task_status = 'ASSIGNED'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 WHERE task_id = p_task_id AND task_status = 'WAITING';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UPDATE runners SET work_status = 'BUSY'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 WHERE runner_id = p_runner_id;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INSERT INTO assign_records (...) RETURNING record_id INTO p_record_id;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INSERT INTO task_status_logs (...);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  p_result_code := 'SUCCESS';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+END;</a:t>
            </a:r>
            <a:endParaRPr sz="1000"/>
          </a:p>
          <a:p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defRPr>
            </a:pPr>
            <a:r>
              <a:rPr sz="930">
                <a:solidFill>
                  <a:srgbClr val="F8F4EC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</a:rPr>
              <a:t>+-- AssignRepository 负责统一 COMMIT / ROLLBACK</a:t>
            </a:r>
            <a:endParaRPr sz="1000"/>
          </a:p>
        </p:txBody>
      </p:sp>
      <p:sp>
        <p:nvSpPr>
          <p:cNvPr id="10" name="anno1-n"/>
          <p:cNvSpPr>
            <a:spLocks noGrp="1"/>
          </p:cNvSpPr>
          <p:nvPr/>
        </p:nvSpPr>
        <p:spPr>
          <a:xfrm>
            <a:off x="7620000" y="1600200"/>
            <a:ext cx="40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6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①</a:t>
            </a:r>
            <a:endParaRPr sz="1600"/>
          </a:p>
        </p:txBody>
      </p:sp>
      <p:sp>
        <p:nvSpPr>
          <p:cNvPr id="11" name="anno1"/>
          <p:cNvSpPr>
            <a:spLocks noGrp="1"/>
          </p:cNvSpPr>
          <p:nvPr/>
        </p:nvSpPr>
        <p:spPr>
          <a:xfrm>
            <a:off x="8077200" y="1574800"/>
            <a:ext cx="3606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存储过程统一入口</a:t>
            </a:r>
            <a:endParaRPr sz="1150"/>
          </a:p>
          <a:p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sp_accept_task_atomic 完成资格、操作者和任务状态校验</a:t>
            </a:r>
            <a:endParaRPr sz="1150"/>
          </a:p>
        </p:txBody>
      </p:sp>
      <p:sp>
        <p:nvSpPr>
          <p:cNvPr id="12" name="anno1-line"/>
          <p:cNvSpPr>
            <a:spLocks noGrp="1"/>
          </p:cNvSpPr>
          <p:nvPr/>
        </p:nvSpPr>
        <p:spPr>
          <a:xfrm>
            <a:off x="7620000" y="2641600"/>
            <a:ext cx="406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anno2-n"/>
          <p:cNvSpPr>
            <a:spLocks noGrp="1"/>
          </p:cNvSpPr>
          <p:nvPr/>
        </p:nvSpPr>
        <p:spPr>
          <a:xfrm>
            <a:off x="7620000" y="2870200"/>
            <a:ext cx="40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6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②</a:t>
            </a:r>
            <a:endParaRPr sz="1600"/>
          </a:p>
        </p:txBody>
      </p:sp>
      <p:sp>
        <p:nvSpPr>
          <p:cNvPr id="14" name="anno2"/>
          <p:cNvSpPr>
            <a:spLocks noGrp="1"/>
          </p:cNvSpPr>
          <p:nvPr/>
        </p:nvSpPr>
        <p:spPr>
          <a:xfrm>
            <a:off x="8077200" y="2844800"/>
            <a:ext cx="3606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行锁防并发抢单</a:t>
            </a:r>
            <a:endParaRPr sz="1150"/>
          </a:p>
          <a:p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FOR UPDATE 锁定任务与账号数据，后到事务读取最新状态</a:t>
            </a:r>
            <a:endParaRPr sz="1150"/>
          </a:p>
        </p:txBody>
      </p:sp>
      <p:sp>
        <p:nvSpPr>
          <p:cNvPr id="15" name="anno2-line"/>
          <p:cNvSpPr>
            <a:spLocks noGrp="1"/>
          </p:cNvSpPr>
          <p:nvPr/>
        </p:nvSpPr>
        <p:spPr>
          <a:xfrm>
            <a:off x="7620000" y="3911600"/>
            <a:ext cx="406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anno3-n"/>
          <p:cNvSpPr>
            <a:spLocks noGrp="1"/>
          </p:cNvSpPr>
          <p:nvPr/>
        </p:nvSpPr>
        <p:spPr>
          <a:xfrm>
            <a:off x="7620000" y="4140200"/>
            <a:ext cx="40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600" b="1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③</a:t>
            </a:r>
            <a:endParaRPr sz="1600"/>
          </a:p>
        </p:txBody>
      </p:sp>
      <p:sp>
        <p:nvSpPr>
          <p:cNvPr id="17" name="anno3"/>
          <p:cNvSpPr>
            <a:spLocks noGrp="1"/>
          </p:cNvSpPr>
          <p:nvPr/>
        </p:nvSpPr>
        <p:spPr>
          <a:xfrm>
            <a:off x="8077200" y="4114800"/>
            <a:ext cx="3606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事务由调用方控制</a:t>
            </a:r>
            <a:endParaRPr sz="1150"/>
          </a:p>
          <a:p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过程内部不提交，Repository 统一执行 COMMIT 或 ROLLBACK</a:t>
            </a:r>
            <a:endParaRPr sz="1150"/>
          </a:p>
        </p:txBody>
      </p:sp>
      <p:sp>
        <p:nvSpPr>
          <p:cNvPr id="18" name="anno3-line"/>
          <p:cNvSpPr>
            <a:spLocks noGrp="1"/>
          </p:cNvSpPr>
          <p:nvPr/>
        </p:nvSpPr>
        <p:spPr>
          <a:xfrm>
            <a:off x="7620000" y="5181600"/>
            <a:ext cx="406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anno-note"/>
          <p:cNvSpPr>
            <a:spLocks noGrp="1"/>
          </p:cNvSpPr>
          <p:nvPr/>
        </p:nvSpPr>
        <p:spPr>
          <a:xfrm>
            <a:off x="7620000" y="5359400"/>
            <a:ext cx="406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 i="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仓库证据：AssignRepository.cs + 03_procedures.sql</a:t>
            </a:r>
            <a:endParaRPr sz="1000"/>
          </a:p>
        </p:txBody>
      </p:sp>
      <p:sp>
        <p:nvSpPr>
          <p:cNvPr id="20" name="ft-line"/>
          <p:cNvSpPr>
            <a:spLocks noGrp="1"/>
          </p:cNvSpPr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t-brand"/>
          <p:cNvSpPr>
            <a:spLocks noGrp="1"/>
          </p:cNvSpPr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校园综合跑腿与代取服务管理系统</a:t>
            </a:r>
            <a:endParaRPr sz="1000"/>
          </a:p>
        </p:txBody>
      </p:sp>
      <p:sp>
        <p:nvSpPr>
          <p:cNvPr id="22" name="ft-page"/>
          <p:cNvSpPr>
            <a:spLocks noGrp="1"/>
          </p:cNvSpPr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15 / 17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d-tick"/>
          <p:cNvSpPr>
            <a:spLocks noGrp="1"/>
          </p:cNvSpPr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d-title"/>
          <p:cNvSpPr>
            <a:spLocks noGrp="1"/>
          </p:cNvSpPr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系统测试</a:t>
            </a:r>
            <a:endParaRPr sz="2500"/>
          </a:p>
        </p:txBody>
      </p:sp>
      <p:sp>
        <p:nvSpPr>
          <p:cNvPr id="4" name="hd-sec"/>
          <p:cNvSpPr>
            <a:spLocks noGrp="1"/>
          </p:cNvSpPr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05 · 测试与总结</a:t>
            </a:r>
            <a:endParaRPr sz="11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20" name="test-table"/>
          <p:cNvGraphicFramePr/>
          <p:nvPr/>
        </p:nvGraphicFramePr>
        <p:xfrm>
          <a:off x="508000" y="1219200"/>
          <a:ext cx="11176000" cy="3937000"/>
        </p:xfrm>
        <a:graphic>
          <a:graphicData uri="http://schemas.openxmlformats.org/drawingml/2006/table">
            <a:tbl>
              <a:tblPr/>
              <a:tblGrid>
                <a:gridCol w="894080"/>
                <a:gridCol w="3352800"/>
                <a:gridCol w="4693920"/>
                <a:gridCol w="223520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编号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测试场景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预期结果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验证机制</a:t>
                      </a:r>
                      <a:endParaRPr sz="1100" b="1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T01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用户发布任务并确认付款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事务提交，tasks 与 payments 状态一致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事务原子性</a:t>
                      </a:r>
                      <a:endParaRPr sz="1100" b="1">
                        <a:solidFill>
                          <a:srgbClr val="3E62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T02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两名跑腿员同时抢同一单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仅一人接单成功，另一人状态校验失败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行锁互斥</a:t>
                      </a:r>
                      <a:endParaRPr sz="1100" b="1">
                        <a:solidFill>
                          <a:srgbClr val="3E62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T03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已付款任务申请退款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refunds 记录与任务售后状态一致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退款与状态回退</a:t>
                      </a:r>
                      <a:endParaRPr sz="1100" b="1">
                        <a:solidFill>
                          <a:srgbClr val="3E62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T04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管理员派单与重派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新增接派记录，任务状态与日志同步更新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事务与接派留痕</a:t>
                      </a:r>
                      <a:endParaRPr sz="1100" b="1">
                        <a:solidFill>
                          <a:srgbClr val="3E62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480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T05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用户提交评价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评分写入 reviews 并联动信誉分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信誉分联动</a:t>
                      </a:r>
                      <a:endParaRPr sz="1100" b="1">
                        <a:solidFill>
                          <a:srgbClr val="3E62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480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T06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投诉与管理员处理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投诉状态流转可查，处理结果联动信誉分</a:t>
                      </a:r>
                      <a:endParaRPr sz="1100">
                        <a:solidFill>
                          <a:srgbClr val="23272E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投诉处理流程</a:t>
                      </a:r>
                      <a:endParaRPr sz="1100" b="1">
                        <a:solidFill>
                          <a:srgbClr val="3E62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st-env-icon"/>
          <p:cNvSpPr>
            <a:spLocks noGrp="1"/>
          </p:cNvSpPr>
          <p:nvPr/>
        </p:nvSpPr>
        <p:spPr>
          <a:xfrm>
            <a:off x="508000" y="538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77716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st-env"/>
          <p:cNvSpPr>
            <a:spLocks noGrp="1"/>
          </p:cNvSpPr>
          <p:nvPr/>
        </p:nvSpPr>
        <p:spPr>
          <a:xfrm>
            <a:off x="787400" y="5334000"/>
            <a:ext cx="10896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50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测试环境：Oracle 19c · .NET 9 · xUnit；60 项自动化测试全部通过，并保留 Oracle 端到端验证脚本与截图</a:t>
            </a:r>
            <a:endParaRPr sz="1150"/>
          </a:p>
        </p:txBody>
      </p:sp>
      <p:sp>
        <p:nvSpPr>
          <p:cNvPr id="9" name="test-line"/>
          <p:cNvSpPr>
            <a:spLocks noGrp="1"/>
          </p:cNvSpPr>
          <p:nvPr/>
        </p:nvSpPr>
        <p:spPr>
          <a:xfrm>
            <a:off x="508000" y="5740400"/>
            <a:ext cx="11176000" cy="12700"/>
          </a:xfrm>
          <a:prstGeom prst="rect">
            <a:avLst/>
          </a:prstGeom>
          <a:solidFill>
            <a:srgbClr val="232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st-concl"/>
          <p:cNvSpPr>
            <a:spLocks noGrp="1"/>
          </p:cNvSpPr>
          <p:nvPr/>
        </p:nvSpPr>
        <p:spPr>
          <a:xfrm>
            <a:off x="508000" y="58928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300" b="1">
                <a:solidFill>
                  <a:srgbClr val="23272E"/>
                </a:solidFill>
                <a:latin typeface="MiSans" charset="-122"/>
                <a:ea typeface="MiSans" charset="-122"/>
                <a:cs typeface="MiSans" charset="-122"/>
              </a:rPr>
              <a:t>结构门禁：24 张表 · 47/47 POST 防伪校验 · 14 处 FOR UPDATE · 分层边界检查通过</a:t>
            </a:r>
            <a:endParaRPr sz="1300"/>
          </a:p>
        </p:txBody>
      </p:sp>
      <p:sp>
        <p:nvSpPr>
          <p:cNvPr id="11" name="test-note"/>
          <p:cNvSpPr>
            <a:spLocks noGrp="1"/>
          </p:cNvSpPr>
          <p:nvPr/>
        </p:nvSpPr>
        <p:spPr>
          <a:xfrm>
            <a:off x="508000" y="6273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2" name="ft-line"/>
          <p:cNvSpPr>
            <a:spLocks noGrp="1"/>
          </p:cNvSpPr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ft-brand"/>
          <p:cNvSpPr>
            <a:spLocks noGrp="1"/>
          </p:cNvSpPr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校园综合跑腿与代取服务管理系统</a:t>
            </a:r>
            <a:endParaRPr sz="1000"/>
          </a:p>
        </p:txBody>
      </p:sp>
      <p:sp>
        <p:nvSpPr>
          <p:cNvPr id="14" name="ft-page"/>
          <p:cNvSpPr>
            <a:spLocks noGrp="1"/>
          </p:cNvSpPr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 charset="-122"/>
                <a:ea typeface="MiSans" charset="-122"/>
                <a:cs typeface="MiSans" charset="-122"/>
              </a:rPr>
              <a:t>16 / 17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h-logo-box"/>
          <p:cNvSpPr>
            <a:spLocks noGrp="1"/>
          </p:cNvSpPr>
          <p:nvPr/>
        </p:nvSpPr>
        <p:spPr>
          <a:xfrm>
            <a:off x="711200" y="1219200"/>
            <a:ext cx="558800" cy="558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h-logo"/>
          <p:cNvSpPr>
            <a:spLocks noGrp="1"/>
          </p:cNvSpPr>
          <p:nvPr/>
        </p:nvSpPr>
        <p:spPr>
          <a:xfrm>
            <a:off x="711200" y="1219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endParaRPr sz="2200"/>
          </a:p>
        </p:txBody>
      </p:sp>
      <p:sp>
        <p:nvSpPr>
          <p:cNvPr id="4" name="th-brand"/>
          <p:cNvSpPr>
            <a:spLocks noGrp="1"/>
          </p:cNvSpPr>
          <p:nvPr/>
        </p:nvSpPr>
        <p:spPr>
          <a:xfrm>
            <a:off x="1422400" y="12192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  <a:buNone/>
            </a:pPr>
            <a:r>
              <a:rPr sz="160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济跑跑 JIRUN</a:t>
            </a:r>
            <a:endParaRPr sz="1600"/>
          </a:p>
          <a:p>
            <a:pPr algn="l">
              <a:lnSpc>
                <a:spcPct val="130000"/>
              </a:lnSpc>
              <a:buNone/>
            </a:pPr>
            <a:r>
              <a:rPr sz="900">
                <a:solidFill>
                  <a:srgbClr val="8A8478"/>
                </a:solidFill>
                <a:latin typeface="MiSans" charset="-122"/>
                <a:ea typeface="MiSans" charset="-122"/>
                <a:cs typeface="MiSans" charset="-122"/>
              </a:rPr>
              <a:t>CAMPUS RUNNER</a:t>
            </a:r>
            <a:endParaRPr sz="1600"/>
          </a:p>
        </p:txBody>
      </p:sp>
      <p:sp>
        <p:nvSpPr>
          <p:cNvPr id="5" name="th-main"/>
          <p:cNvSpPr>
            <a:spLocks noGrp="1"/>
          </p:cNvSpPr>
          <p:nvPr/>
        </p:nvSpPr>
        <p:spPr>
          <a:xfrm>
            <a:off x="711200" y="2667000"/>
            <a:ext cx="88900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440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恳请各位老师批评指正</a:t>
            </a:r>
            <a:endParaRPr sz="4400"/>
          </a:p>
        </p:txBody>
      </p:sp>
      <p:sp>
        <p:nvSpPr>
          <p:cNvPr id="6" name="th-qa"/>
          <p:cNvSpPr>
            <a:spLocks noGrp="1"/>
          </p:cNvSpPr>
          <p:nvPr/>
        </p:nvSpPr>
        <p:spPr>
          <a:xfrm>
            <a:off x="711200" y="37592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600" b="1" spc="4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Q&amp;</a:t>
            </a:r>
            <a:r>
              <a:rPr sz="2600" b="1" spc="4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A</a:t>
            </a:r>
            <a:endParaRPr sz="2600"/>
          </a:p>
        </p:txBody>
      </p:sp>
      <p:sp>
        <p:nvSpPr>
          <p:cNvPr id="7" name="th-line"/>
          <p:cNvSpPr>
            <a:spLocks noGrp="1"/>
          </p:cNvSpPr>
          <p:nvPr/>
        </p:nvSpPr>
        <p:spPr>
          <a:xfrm>
            <a:off x="762000" y="4927600"/>
            <a:ext cx="1524000" cy="381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h-page"/>
          <p:cNvSpPr>
            <a:spLocks noGrp="1"/>
          </p:cNvSpPr>
          <p:nvPr/>
        </p:nvSpPr>
        <p:spPr>
          <a:xfrm>
            <a:off x="10922000" y="6299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 charset="-122"/>
                <a:ea typeface="MiSans" charset="-122"/>
                <a:cs typeface="MiSans" charset="-122"/>
              </a:rPr>
              <a:t>17 / 17</a:t>
            </a:r>
            <a:endParaRPr sz="1000"/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13232" y="5102352"/>
            <a:ext cx="658834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小组成员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：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刘相成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 / 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薛毓哲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 / 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唐独彪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 / 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李柏言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 / 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韩昊苏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 / 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桑治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 / 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崔少坤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 / 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谢智行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 / 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蒋昊沄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 / </a:t>
            </a:r>
            <a:r>
              <a:rPr sz="1200">
                <a:solidFill>
                  <a:srgbClr val="E8551D"/>
                </a:solidFill>
                <a:latin typeface="MiSans" charset="-122"/>
                <a:ea typeface="MiSans" charset="-122"/>
                <a:cs typeface="MiSans" charset="-122"/>
              </a:rPr>
              <a:t>赵崇治</a:t>
            </a:r>
            <a:endParaRPr sz="1200">
              <a:solidFill>
                <a:srgbClr val="E8551D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pic>
        <p:nvPicPr>
          <p:cNvPr id="20" name="logo-im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8650" y="1155700"/>
            <a:ext cx="7112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2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3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4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5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6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7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8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9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10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11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12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13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14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15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16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17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ags/tag18.xml><?xml version="1.0" encoding="utf-8"?>
<p:tagLst xmlns:p="http://schemas.openxmlformats.org/presentationml/2006/main">
  <p:tag name="KSO_WM_DIAGRAM_VIRTUALLY_FRAME" val="{&quot;height&quot;:403.4800787401575,&quot;left&quot;:400,&quot;top&quot;:82.07992125984251,&quot;width&quot;:504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6008</Words>
  <Application>WPS 演示</Application>
  <PresentationFormat>Converted Presentation</PresentationFormat>
  <Paragraphs>627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MiSans</vt:lpstr>
      <vt:lpstr>JetBrains Mono</vt:lpstr>
      <vt:lpstr>Times New Roman</vt:lpstr>
      <vt:lpstr>微软雅黑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刘相成</cp:lastModifiedBy>
  <cp:revision>2</cp:revision>
  <dcterms:created xsi:type="dcterms:W3CDTF">2026-09-10T11:33:22Z</dcterms:created>
  <dcterms:modified xsi:type="dcterms:W3CDTF">2026-09-10T12:24:57Z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2052-12.1.0.28599</vt:lpwstr>
  </property>
  <property fmtid="{D5CDD505-2E9C-101B-9397-08002B2CF9AE}" pid="3" name="ICV">
    <vt:lpwstr>8B85F705DC404AA0A5054B4A97A38DA7_12</vt:lpwstr>
  </property>
</Properties>
</file>