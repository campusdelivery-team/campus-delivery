
<file path=[Content_Types].xml><?xml version="1.0" encoding="utf-8"?>
<Types xmlns="http://schemas.openxmlformats.org/package/2006/content-types">
  <Default Extension="xml" ContentType="application/vnd.openxmlformats-package.core-properties+xml"/>
  <Default Extension="dat" ContentType="application/x-fontdata"/>
  <Default Extension="png" ContentType="image/pn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  <Override PartName="/ppt/slides/slide9.xml" ContentType="application/vnd.openxmlformats-officedocument.presentationml.slide+xml"/>
  <Override PartName="/ppt/notesSlides/notesSlide9.xml" ContentType="application/vnd.openxmlformats-officedocument.presentationml.notesSlide+xml"/>
  <Override PartName="/ppt/slides/slide10.xml" ContentType="application/vnd.openxmlformats-officedocument.presentationml.slide+xml"/>
  <Override PartName="/ppt/notesSlides/notesSlide10.xml" ContentType="application/vnd.openxmlformats-officedocument.presentationml.notesSlide+xml"/>
  <Override PartName="/ppt/slides/slide11.xml" ContentType="application/vnd.openxmlformats-officedocument.presentationml.slide+xml"/>
  <Override PartName="/ppt/notesSlides/notesSlide11.xml" ContentType="application/vnd.openxmlformats-officedocument.presentationml.notesSlide+xml"/>
  <Override PartName="/ppt/slides/slide12.xml" ContentType="application/vnd.openxmlformats-officedocument.presentationml.slide+xml"/>
  <Override PartName="/ppt/notesSlides/notesSlide12.xml" ContentType="application/vnd.openxmlformats-officedocument.presentationml.notesSlide+xml"/>
  <Override PartName="/ppt/slides/slide13.xml" ContentType="application/vnd.openxmlformats-officedocument.presentationml.slide+xml"/>
  <Override PartName="/ppt/notesSlides/notesSlide13.xml" ContentType="application/vnd.openxmlformats-officedocument.presentationml.notesSlide+xml"/>
  <Override PartName="/ppt/slides/slide14.xml" ContentType="application/vnd.openxmlformats-officedocument.presentationml.slide+xml"/>
  <Override PartName="/ppt/notesSlides/notesSlide14.xml" ContentType="application/vnd.openxmlformats-officedocument.presentationml.notesSlide+xml"/>
  <Override PartName="/ppt/slides/slide15.xml" ContentType="application/vnd.openxmlformats-officedocument.presentationml.slide+xml"/>
  <Override PartName="/ppt/notesSlides/notesSlide15.xml" ContentType="application/vnd.openxmlformats-officedocument.presentationml.notesSlide+xml"/>
  <Override PartName="/ppt/slides/slide16.xml" ContentType="application/vnd.openxmlformats-officedocument.presentationml.slide+xml"/>
  <Override PartName="/ppt/notesSlides/notesSlide16.xml" ContentType="application/vnd.openxmlformats-officedocument.presentationml.notesSlide+xml"/>
  <Override PartName="/ppt/slides/slide17.xml" ContentType="application/vnd.openxmlformats-officedocument.presentationml.slide+xml"/>
  <Override PartName="/ppt/notesSlides/notesSlide17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4756f566424b499b" /><Relationship Type="http://schemas.openxmlformats.org/officeDocument/2006/relationships/extended-properties" Target="/docProps/app.xml" Id="R8bbd7ac3f05a4ef4" /><Relationship Type="http://schemas.openxmlformats.org/officeDocument/2006/relationships/officeDocument" Target="/ppt/presentation.xml" Id="Rfd9459d3a02046d6" /></Relationships>
</file>

<file path=ppt/presentation.xml><?xml version="1.0" encoding="utf-8"?>
<p:presentation xmlns:p="http://schemas.openxmlformats.org/presentationml/2006/main" embedTrueTypeFonts="1" saveSubsetFonts="1">
  <p:sldMasterIdLst>
    <p:sldMasterId xmlns:r="http://schemas.openxmlformats.org/officeDocument/2006/relationships" id="2147483648" r:id="Re202945b7fd04780"/>
  </p:sldMasterIdLst>
  <p:notesMasterIdLst>
    <p:notesMasterId xmlns:r="http://schemas.openxmlformats.org/officeDocument/2006/relationships" r:id="R9eaa655ab5814712"/>
  </p:notesMasterIdLst>
  <p:sldIdLst>
    <p:sldId xmlns:r="http://schemas.openxmlformats.org/officeDocument/2006/relationships" id="256" r:id="R757b73aaa94a4263"/>
    <p:sldId xmlns:r="http://schemas.openxmlformats.org/officeDocument/2006/relationships" id="257" r:id="Ree67df943dfb4c85"/>
    <p:sldId xmlns:r="http://schemas.openxmlformats.org/officeDocument/2006/relationships" id="258" r:id="R4f64fff2f4234156"/>
    <p:sldId xmlns:r="http://schemas.openxmlformats.org/officeDocument/2006/relationships" id="259" r:id="R295daaffabf343ec"/>
    <p:sldId xmlns:r="http://schemas.openxmlformats.org/officeDocument/2006/relationships" id="260" r:id="R5f3742148e08490a"/>
    <p:sldId xmlns:r="http://schemas.openxmlformats.org/officeDocument/2006/relationships" id="261" r:id="R6af34f61d9a041a4"/>
    <p:sldId xmlns:r="http://schemas.openxmlformats.org/officeDocument/2006/relationships" id="262" r:id="Rd4ce49ecf6764295"/>
    <p:sldId xmlns:r="http://schemas.openxmlformats.org/officeDocument/2006/relationships" id="263" r:id="Rd37b524098b14843"/>
    <p:sldId xmlns:r="http://schemas.openxmlformats.org/officeDocument/2006/relationships" id="264" r:id="R95ce5973dd264703"/>
    <p:sldId xmlns:r="http://schemas.openxmlformats.org/officeDocument/2006/relationships" id="265" r:id="Rbc26dfba73fc44a8"/>
    <p:sldId xmlns:r="http://schemas.openxmlformats.org/officeDocument/2006/relationships" id="266" r:id="Re20d1bc496cd45e9"/>
    <p:sldId xmlns:r="http://schemas.openxmlformats.org/officeDocument/2006/relationships" id="267" r:id="Rc301df187e9f4be6"/>
    <p:sldId xmlns:r="http://schemas.openxmlformats.org/officeDocument/2006/relationships" id="268" r:id="Ra2b54e6f1282473a"/>
    <p:sldId xmlns:r="http://schemas.openxmlformats.org/officeDocument/2006/relationships" id="269" r:id="R6d7c1c6a714f44f7"/>
    <p:sldId xmlns:r="http://schemas.openxmlformats.org/officeDocument/2006/relationships" id="270" r:id="Rc41bdcecd56943a7"/>
    <p:sldId xmlns:r="http://schemas.openxmlformats.org/officeDocument/2006/relationships" id="271" r:id="R217283cf6fd94b49"/>
    <p:sldId xmlns:r="http://schemas.openxmlformats.org/officeDocument/2006/relationships" id="272" r:id="Rb488884fb47849e4"/>
  </p:sldIdLst>
  <p:sldSz cx="12192000" cy="6858000"/>
  <p:notesSz cx="6858000" cy="9144000"/>
  <p:embeddedFontLst>
    <p:embeddedFont>
      <p:font typeface="MiSans"/>
      <p:regular xmlns:r="http://schemas.openxmlformats.org/officeDocument/2006/relationships" r:id="Rf595f219b28e4b3f"/>
    </p:embeddedFont>
    <p:embeddedFont>
      <p:font typeface="JetBrains Mono"/>
      <p:regular xmlns:r="http://schemas.openxmlformats.org/officeDocument/2006/relationships" r:id="R1aff0e545585429c"/>
    </p:embeddedFont>
    <p:embeddedFont>
      <p:font typeface="等线"/>
      <p:regular xmlns:r="http://schemas.openxmlformats.org/officeDocument/2006/relationships" r:id="Rfdafc04f338d490f"/>
      <p:bold xmlns:r="http://schemas.openxmlformats.org/officeDocument/2006/relationships" r:id="R99c3d33fbd2b4f54"/>
    </p:embeddedFont>
  </p:embeddedFontLst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slideViewPr>
    <p:cSldViewPr snapToGrid="0" snapToObjects="1">
      <p:cViewPr>
        <p:scale>
          <a:sx xmlns:a="http://schemas.openxmlformats.org/drawingml/2006/main" n="1" d="1"/>
          <a:sy xmlns:a="http://schemas.openxmlformats.org/drawingml/2006/main" n="1" d="1"/>
        </p:scale>
        <p:origin x="0" y="0"/>
      </p:cViewPr>
      <p:guideLst/>
    </p:cSldViewPr>
  </p:slide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6b119a7e27e34130" /><Relationship Type="http://schemas.openxmlformats.org/officeDocument/2006/relationships/slideMaster" Target="/ppt/slideMasters/slideMaster1.xml" Id="Re202945b7fd04780" /><Relationship Type="http://schemas.openxmlformats.org/officeDocument/2006/relationships/notesMaster" Target="/ppt/notesMasters/notesMaster1.xml" Id="R9eaa655ab5814712" /><Relationship Type="http://schemas.openxmlformats.org/officeDocument/2006/relationships/presProps" Target="/ppt/presProps.xml" Id="R61f95e4ee5204a41" /><Relationship Type="http://schemas.openxmlformats.org/officeDocument/2006/relationships/viewProps" Target="/ppt/viewProps.xml" Id="Raf4b1a403989481e" /><Relationship Type="http://schemas.openxmlformats.org/officeDocument/2006/relationships/tableStyles" Target="/ppt/tableStyles.xml" Id="R098e93f1493d41c1" /><Relationship Type="http://schemas.openxmlformats.org/officeDocument/2006/relationships/font" Target="/ppt/fonts/font.dat" Id="Rf595f219b28e4b3f" /><Relationship Type="http://schemas.openxmlformats.org/officeDocument/2006/relationships/font" Target="/ppt/fonts/font2.dat" Id="R1aff0e545585429c" /><Relationship Type="http://schemas.openxmlformats.org/officeDocument/2006/relationships/font" Target="/ppt/fonts/font3.dat" Id="Rfdafc04f338d490f" /><Relationship Type="http://schemas.openxmlformats.org/officeDocument/2006/relationships/font" Target="/ppt/fonts/font4.dat" Id="R99c3d33fbd2b4f54" /><Relationship Type="http://schemas.openxmlformats.org/officeDocument/2006/relationships/slide" Target="/ppt/slides/slide1.xml" Id="R757b73aaa94a4263" /><Relationship Type="http://schemas.openxmlformats.org/officeDocument/2006/relationships/slide" Target="/ppt/slides/slide2.xml" Id="Ree67df943dfb4c85" /><Relationship Type="http://schemas.openxmlformats.org/officeDocument/2006/relationships/slide" Target="/ppt/slides/slide3.xml" Id="R4f64fff2f4234156" /><Relationship Type="http://schemas.openxmlformats.org/officeDocument/2006/relationships/slide" Target="/ppt/slides/slide4.xml" Id="R295daaffabf343ec" /><Relationship Type="http://schemas.openxmlformats.org/officeDocument/2006/relationships/slide" Target="/ppt/slides/slide5.xml" Id="R5f3742148e08490a" /><Relationship Type="http://schemas.openxmlformats.org/officeDocument/2006/relationships/slide" Target="/ppt/slides/slide6.xml" Id="R6af34f61d9a041a4" /><Relationship Type="http://schemas.openxmlformats.org/officeDocument/2006/relationships/slide" Target="/ppt/slides/slide7.xml" Id="Rd4ce49ecf6764295" /><Relationship Type="http://schemas.openxmlformats.org/officeDocument/2006/relationships/slide" Target="/ppt/slides/slide8.xml" Id="Rd37b524098b14843" /><Relationship Type="http://schemas.openxmlformats.org/officeDocument/2006/relationships/slide" Target="/ppt/slides/slide9.xml" Id="R95ce5973dd264703" /><Relationship Type="http://schemas.openxmlformats.org/officeDocument/2006/relationships/slide" Target="/ppt/slides/slide10.xml" Id="Rbc26dfba73fc44a8" /><Relationship Type="http://schemas.openxmlformats.org/officeDocument/2006/relationships/slide" Target="/ppt/slides/slide11.xml" Id="Re20d1bc496cd45e9" /><Relationship Type="http://schemas.openxmlformats.org/officeDocument/2006/relationships/slide" Target="/ppt/slides/slide12.xml" Id="Rc301df187e9f4be6" /><Relationship Type="http://schemas.openxmlformats.org/officeDocument/2006/relationships/slide" Target="/ppt/slides/slide13.xml" Id="Ra2b54e6f1282473a" /><Relationship Type="http://schemas.openxmlformats.org/officeDocument/2006/relationships/slide" Target="/ppt/slides/slide14.xml" Id="R6d7c1c6a714f44f7" /><Relationship Type="http://schemas.openxmlformats.org/officeDocument/2006/relationships/slide" Target="/ppt/slides/slide15.xml" Id="Rc41bdcecd56943a7" /><Relationship Type="http://schemas.openxmlformats.org/officeDocument/2006/relationships/slide" Target="/ppt/slides/slide16.xml" Id="R217283cf6fd94b49" /><Relationship Type="http://schemas.openxmlformats.org/officeDocument/2006/relationships/slide" Target="/ppt/slides/slide17.xml" Id="Rb488884fb47849e4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6b6a41487d5746e5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6062bd6092964301" /><Relationship Type="http://schemas.openxmlformats.org/officeDocument/2006/relationships/notesMaster" Target="/ppt/notesMasters/notesMaster1.xml" Id="Ra968cac32ebc493a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a6d632f67ee4ddc" /><Relationship Type="http://schemas.openxmlformats.org/officeDocument/2006/relationships/notesMaster" Target="/ppt/notesMasters/notesMaster1.xml" Id="Rab0df8472d734816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2e2d0759afc94a2d" /><Relationship Type="http://schemas.openxmlformats.org/officeDocument/2006/relationships/notesMaster" Target="/ppt/notesMasters/notesMaster1.xml" Id="R2faa8c76f56147c1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f60c8996852d4729" /><Relationship Type="http://schemas.openxmlformats.org/officeDocument/2006/relationships/notesMaster" Target="/ppt/notesMasters/notesMaster1.xml" Id="R43cd9e1f7527446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cad830991c245f0" /><Relationship Type="http://schemas.openxmlformats.org/officeDocument/2006/relationships/notesMaster" Target="/ppt/notesMasters/notesMaster1.xml" Id="R8b2c4a52c05e43a0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0485223802dd49a7" /><Relationship Type="http://schemas.openxmlformats.org/officeDocument/2006/relationships/notesMaster" Target="/ppt/notesMasters/notesMaster1.xml" Id="R15745986be7d44b9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bf2451522752463b" /><Relationship Type="http://schemas.openxmlformats.org/officeDocument/2006/relationships/notesMaster" Target="/ppt/notesMasters/notesMaster1.xml" Id="R63184af6231e4ae8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aa129658e1f74e64" /><Relationship Type="http://schemas.openxmlformats.org/officeDocument/2006/relationships/notesMaster" Target="/ppt/notesMasters/notesMaster1.xml" Id="R08773424d2d94671" /></Relationships>
</file>

<file path=ppt/notesSlides/_rels/notesSlide9.xml.rels>&#65279;<?xml version="1.0" encoding="utf-8"?><Relationships xmlns="http://schemas.openxmlformats.org/package/2006/relationships"><Relationship Type="http://schemas.openxmlformats.org/officeDocument/2006/relationships/slide" Target="/ppt/slides/slide9.xml" Id="Rdf082728c74f4cf3" /><Relationship Type="http://schemas.openxmlformats.org/officeDocument/2006/relationships/notesMaster" Target="/ppt/notesMasters/notesMaster1.xml" Id="R698b133ca3044d2f" /></Relationships>
</file>

<file path=ppt/notesSlides/_rels/notesSlide10.xml.rels>&#65279;<?xml version="1.0" encoding="utf-8"?><Relationships xmlns="http://schemas.openxmlformats.org/package/2006/relationships"><Relationship Type="http://schemas.openxmlformats.org/officeDocument/2006/relationships/slide" Target="/ppt/slides/slide10.xml" Id="Ref4c4f7157724dd8" /><Relationship Type="http://schemas.openxmlformats.org/officeDocument/2006/relationships/notesMaster" Target="/ppt/notesMasters/notesMaster1.xml" Id="R47e3c86c75be48ae" /></Relationships>
</file>

<file path=ppt/notesSlides/_rels/notesSlide11.xml.rels>&#65279;<?xml version="1.0" encoding="utf-8"?><Relationships xmlns="http://schemas.openxmlformats.org/package/2006/relationships"><Relationship Type="http://schemas.openxmlformats.org/officeDocument/2006/relationships/slide" Target="/ppt/slides/slide11.xml" Id="R1fe7cfbb7ab54fb8" /><Relationship Type="http://schemas.openxmlformats.org/officeDocument/2006/relationships/notesMaster" Target="/ppt/notesMasters/notesMaster1.xml" Id="R61c41081f69e491b" /></Relationships>
</file>

<file path=ppt/notesSlides/_rels/notesSlide12.xml.rels>&#65279;<?xml version="1.0" encoding="utf-8"?><Relationships xmlns="http://schemas.openxmlformats.org/package/2006/relationships"><Relationship Type="http://schemas.openxmlformats.org/officeDocument/2006/relationships/slide" Target="/ppt/slides/slide12.xml" Id="Rea314abf41374a8f" /><Relationship Type="http://schemas.openxmlformats.org/officeDocument/2006/relationships/notesMaster" Target="/ppt/notesMasters/notesMaster1.xml" Id="R826aa4d59e304574" /></Relationships>
</file>

<file path=ppt/notesSlides/_rels/notesSlide13.xml.rels>&#65279;<?xml version="1.0" encoding="utf-8"?><Relationships xmlns="http://schemas.openxmlformats.org/package/2006/relationships"><Relationship Type="http://schemas.openxmlformats.org/officeDocument/2006/relationships/slide" Target="/ppt/slides/slide13.xml" Id="R5cf6374451cb4b4b" /><Relationship Type="http://schemas.openxmlformats.org/officeDocument/2006/relationships/notesMaster" Target="/ppt/notesMasters/notesMaster1.xml" Id="R99f239accaf44842" /></Relationships>
</file>

<file path=ppt/notesSlides/_rels/notesSlide14.xml.rels>&#65279;<?xml version="1.0" encoding="utf-8"?><Relationships xmlns="http://schemas.openxmlformats.org/package/2006/relationships"><Relationship Type="http://schemas.openxmlformats.org/officeDocument/2006/relationships/slide" Target="/ppt/slides/slide14.xml" Id="R07c09b6b14b747ea" /><Relationship Type="http://schemas.openxmlformats.org/officeDocument/2006/relationships/notesMaster" Target="/ppt/notesMasters/notesMaster1.xml" Id="R130d1427086b4cb9" /></Relationships>
</file>

<file path=ppt/notesSlides/_rels/notesSlide15.xml.rels>&#65279;<?xml version="1.0" encoding="utf-8"?><Relationships xmlns="http://schemas.openxmlformats.org/package/2006/relationships"><Relationship Type="http://schemas.openxmlformats.org/officeDocument/2006/relationships/slide" Target="/ppt/slides/slide15.xml" Id="R7d82eaaa07bd49fa" /><Relationship Type="http://schemas.openxmlformats.org/officeDocument/2006/relationships/notesMaster" Target="/ppt/notesMasters/notesMaster1.xml" Id="Rc566682a4ad1414e" /></Relationships>
</file>

<file path=ppt/notesSlides/_rels/notesSlide16.xml.rels>&#65279;<?xml version="1.0" encoding="utf-8"?><Relationships xmlns="http://schemas.openxmlformats.org/package/2006/relationships"><Relationship Type="http://schemas.openxmlformats.org/officeDocument/2006/relationships/slide" Target="/ppt/slides/slide16.xml" Id="R825fd945cbfc47c8" /><Relationship Type="http://schemas.openxmlformats.org/officeDocument/2006/relationships/notesMaster" Target="/ppt/notesMasters/notesMaster1.xml" Id="R925a3902f9b24606" /></Relationships>
</file>

<file path=ppt/notesSlides/_rels/notesSlide17.xml.rels>&#65279;<?xml version="1.0" encoding="utf-8"?><Relationships xmlns="http://schemas.openxmlformats.org/package/2006/relationships"><Relationship Type="http://schemas.openxmlformats.org/officeDocument/2006/relationships/slide" Target="/ppt/slides/slide17.xml" Id="Ra29cd60be6604fac" /><Relationship Type="http://schemas.openxmlformats.org/officeDocument/2006/relationships/notesMaster" Target="/ppt/notesMasters/notesMaster1.xml" Id="Rab58b72ed0b248cc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分层细节（口头说明）：Controller 只注入 Service 接口，Service 只注入 Repository 接口；越层引用由静态门禁检查拦截。该约束保证了 Oracle 类型与 SQL 不会泄漏到业务层与表现层，也使仓储可以用测试替身替换。</a:t>
            </a:r>
          </a:p>
          <a:p xmlns:a="http://schemas.openxmlformats.org/drawingml/2006/main">
            <a:r>
              <a:t>数据口径示例（口头说明）：nodes.node_type 存 GATE / STATION / DISTRIBUTION，Service 转换为「校门 / 驿站 / 分发点」后交 View 展示。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功能点与业务规则统计明细见课程设计报告；汇报时按五个功能域口头展开，不必逐条点数。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状态机在数据库中的实现（口头说明）：task_status 保存英文状态代码，页面显示中文名称；接单起每次状态变更写入 task_status_logs 并绑定接派记录；状态更新与日志写入在同一事务内提交；已接派任务不再出现在任务大厅，避免重复接单。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9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数据来源：database/oracle/campus_runner_oracle_schema.sql；图源：校园综合跑腿与代取服务管理系统-数据库设计文档.docx 中的真实物理模型。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0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备问（组合外键）：(publisher_user_id, address_no) 引用 user_addresses，(service_type_id, node_id) 引用 service_node_rules，保证任务的服务类型与交接节点必须存在适用规则；task_status 默认 CREATED，由 CHECK 约束限定 10 个合法取值。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备问（约束与索引）：一任务一评价由 uk_reviews_task 唯一约束强制；支付流水号唯一由 uk_payments_trade_no 约束强制；单默认地址由函数唯一索引 uk_user_addresses_one_default（CASE WHEN is_default = 'Y' THEN user_id END）实现；服务类型名称唯一索引为 UPPER(TRIM(service_name)) 函数索引，_ci 表示大小写不敏感。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界面截图提示（答辩前操作</a:t>
            </a:r>
            <a:r>
              <a:t>）：</a:t>
            </a:r>
            <a:r>
              <a:t>济跑跑品牌标识与前端页面展示已完成改版，请将改版后的真实系统截图插入两个占位框，两张截图同比例、同基线</a:t>
            </a:r>
            <a:r>
              <a:t>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口头补充：完整建库脚本见课程设计报告附录。最初方案用 version 乐观锁做冲突检测，迁移 Oracle 后统一改为 SELECT … FOR UPDATE 行锁，语义更直接，也便于在端到端用例中验证互斥效果。</a:t>
            </a:r>
          </a:p>
          <a:p xmlns:a="http://schemas.openxmlformats.org/drawingml/2006/main">
            <a:r>
              <a:t>行锁修复经过（口头说明）：初期实现未启用行锁，并发测试暴露两名跑腿员重复接单问题；引入 SELECT … FOR UPDATE 行锁后消除。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测试分布（口头说明）：总集成 TC-INT-01～05、账户与权限、基础资料 TC-BASE-01～08、评价投诉与信誉 TC-REVIEW-01～09、结算审计报表 TC-SETTLE-01～10，记录与截图存档于 docs/test-evidence；数据库基础数据、任务发布、接单派单、支付退款四模块证据待提交，被问及时如实说明。自动化测试 52/52 通过、共享 Oracle 端到端用例通过（报告 9.4 节），测试代码见 backend/tests。</a:t>
            </a:r>
          </a:p>
          <a:p xmlns:a="http://schemas.openxmlformats.org/drawingml/2006/main">
            <a:r>
              <a:t>原子性验证话术（备问）：在事务中手动抛出异常，观察 payments 与 tasks 是否均未写入。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1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bb6ae2e50dfe4d76" /></Relationships>
</file>

<file path=ppt/slideLayouts/slideLayout1.xml><?xml version="1.0" encoding="utf-8"?>
<p:sldLayout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41db6b8ca72e49f9" /><Relationship Type="http://schemas.openxmlformats.org/officeDocument/2006/relationships/slideLayout" Target="/ppt/slideLayouts/slideLayout1.xml" Id="Re823f62547ee486d" /></Relationships>
</file>

<file path=ppt/slideMasters/slideMaster1.xml><?xml version="1.0" encoding="utf-8"?>
<p:sld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e823f62547ee486d"/>
  </p:sldLayoutIdLst>
</p:sldMaster>
</file>

<file path=ppt/slideMasters/theme/theme2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16a8f6797b14c9d" /><Relationship Type="http://schemas.openxmlformats.org/officeDocument/2006/relationships/image" Target="/ppt/media/image.png" Id="R8de323ad2f9e4b8e" /><Relationship Type="http://schemas.openxmlformats.org/officeDocument/2006/relationships/image" Target="/ppt/media/image2.png" Id="R401afd9b90c14182" /><Relationship Type="http://schemas.openxmlformats.org/officeDocument/2006/relationships/notesSlide" Target="/ppt/notesSlides/notesSlide1.xml" Id="R2aa93d1c6648405c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9766528ad56c4a0b" /><Relationship Type="http://schemas.openxmlformats.org/officeDocument/2006/relationships/notesSlide" Target="/ppt/notesSlides/notesSlide2.xml" Id="R8b2dd16600a54d1b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52f6920915546f5" /><Relationship Type="http://schemas.openxmlformats.org/officeDocument/2006/relationships/image" Target="/ppt/media/image3.png" Id="R364b5be358b847ad" /><Relationship Type="http://schemas.openxmlformats.org/officeDocument/2006/relationships/notesSlide" Target="/ppt/notesSlides/notesSlide3.xml" Id="R3ed9c0cb1be7412f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e1f6511a1184b30" /><Relationship Type="http://schemas.openxmlformats.org/officeDocument/2006/relationships/notesSlide" Target="/ppt/notesSlides/notesSlide4.xml" Id="Rb7a507826de84dfb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20e56dd49c34a57" /><Relationship Type="http://schemas.openxmlformats.org/officeDocument/2006/relationships/notesSlide" Target="/ppt/notesSlides/notesSlide5.xml" Id="Rba70e81d2c42460d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1fb5547fd14c4c" /><Relationship Type="http://schemas.openxmlformats.org/officeDocument/2006/relationships/notesSlide" Target="/ppt/notesSlides/notesSlide6.xml" Id="R8cf050859ce1465f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7ed6d08db53e4317" /><Relationship Type="http://schemas.openxmlformats.org/officeDocument/2006/relationships/notesSlide" Target="/ppt/notesSlides/notesSlide7.xml" Id="R3d85e7c8294a4785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5da22da89aa4f94" /><Relationship Type="http://schemas.openxmlformats.org/officeDocument/2006/relationships/notesSlide" Target="/ppt/notesSlides/notesSlide8.xml" Id="R2240a196a6144ea0" /></Relationships>
</file>

<file path=ppt/slides/_rels/slide9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2c05afcae434af2" /><Relationship Type="http://schemas.openxmlformats.org/officeDocument/2006/relationships/image" Target="/ppt/media/image4.png" Id="Raab5cbc96d7b4b28" /><Relationship Type="http://schemas.openxmlformats.org/officeDocument/2006/relationships/image" Target="/ppt/media/image5.png" Id="Rba2f620133c6487d" /><Relationship Type="http://schemas.openxmlformats.org/officeDocument/2006/relationships/notesSlide" Target="/ppt/notesSlides/notesSlide9.xml" Id="R77ae4fd1756a486d" /></Relationships>
</file>

<file path=ppt/slides/_rels/slide10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faa54f3b9eb48db" /><Relationship Type="http://schemas.openxmlformats.org/officeDocument/2006/relationships/notesSlide" Target="/ppt/notesSlides/notesSlide10.xml" Id="R7000f648b67047db" /></Relationships>
</file>

<file path=ppt/slides/_rels/slide1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18da19bc5bd64a21" /><Relationship Type="http://schemas.openxmlformats.org/officeDocument/2006/relationships/notesSlide" Target="/ppt/notesSlides/notesSlide11.xml" Id="Re31ac47e150f4314" /></Relationships>
</file>

<file path=ppt/slides/_rels/slide1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35b1128438324bcd" /><Relationship Type="http://schemas.openxmlformats.org/officeDocument/2006/relationships/notesSlide" Target="/ppt/notesSlides/notesSlide12.xml" Id="R2f8c298dcf1044ae" /></Relationships>
</file>

<file path=ppt/slides/_rels/slide1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39dd99b09af4e75" /><Relationship Type="http://schemas.openxmlformats.org/officeDocument/2006/relationships/notesSlide" Target="/ppt/notesSlides/notesSlide13.xml" Id="Rc68b154620704813" /></Relationships>
</file>

<file path=ppt/slides/_rels/slide1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46e6e1e0a2554238" /><Relationship Type="http://schemas.openxmlformats.org/officeDocument/2006/relationships/image" Target="/ppt/media/image6.png" Id="Ra2f27f27ff694937" /><Relationship Type="http://schemas.openxmlformats.org/officeDocument/2006/relationships/image" Target="/ppt/media/image7.png" Id="Rbfa1b5ef84f24fd1" /><Relationship Type="http://schemas.openxmlformats.org/officeDocument/2006/relationships/image" Target="/ppt/media/image8.png" Id="R7fd03f5f063b4633" /><Relationship Type="http://schemas.openxmlformats.org/officeDocument/2006/relationships/image" Target="/ppt/media/image9.png" Id="Rd484468565714bb2" /><Relationship Type="http://schemas.openxmlformats.org/officeDocument/2006/relationships/image" Target="/ppt/media/image10.png" Id="Ra8b051100d23468d" /><Relationship Type="http://schemas.openxmlformats.org/officeDocument/2006/relationships/notesSlide" Target="/ppt/notesSlides/notesSlide14.xml" Id="Re773c5e6a0354af0" /></Relationships>
</file>

<file path=ppt/slides/_rels/slide1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8c117d027574aa8" /><Relationship Type="http://schemas.openxmlformats.org/officeDocument/2006/relationships/notesSlide" Target="/ppt/notesSlides/notesSlide15.xml" Id="Rb00d831d7afa4099" /></Relationships>
</file>

<file path=ppt/slides/_rels/slide1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32ee8c2f9574b02" /><Relationship Type="http://schemas.openxmlformats.org/officeDocument/2006/relationships/notesSlide" Target="/ppt/notesSlides/notesSlide16.xml" Id="R69a8f2e936714939" /></Relationships>
</file>

<file path=ppt/slides/_rels/slide17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2abf936aefc4764" /><Relationship Type="http://schemas.openxmlformats.org/officeDocument/2006/relationships/image" Target="/ppt/media/image2.png" Id="R5aa519f2c2f24f83" /><Relationship Type="http://schemas.openxmlformats.org/officeDocument/2006/relationships/notesSlide" Target="/ppt/notesSlides/notesSlide17.xml" Id="R36780c1f282a4290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pic>
        <p:nvPicPr>
          <p:cNvPr id="16" name="cover-i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8de323ad2f9e4b8e"/>
          <a:srcRect xmlns:a="http://schemas.openxmlformats.org/drawingml/2006/main" l="18000" t="0" r="1400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00" y="0"/>
            <a:ext cx="7112000" cy="6858000"/>
          </a:xfrm>
          <a:prstGeom xmlns:a="http://schemas.openxmlformats.org/drawingml/2006/main" prst="rect">
            <a:avLst/>
          </a:prstGeom>
          <a:ln xmlns:a="http://schemas.openxmlformats.org/drawingml/2006/main">
            <a:noFill/>
          </a:ln>
        </p:spPr>
      </p:pic>
      <p:sp>
        <p:nvSpPr>
          <p:cNvPr id="3" name="img-mask">
            <a:extLst xmlns:a="http://schemas.openxmlformats.org/drawingml/2006/main">
              <a:ext uri="{FF2B5EF4-FFF2-40B4-BE49-F238E27FC236}">
                <a16:creationId xmlns:a16="http://schemas.microsoft.com/office/drawing/2014/main" id="{C55F8B91-F19F-47AA-AD48-EC54630DDF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0"/>
            <a:ext cx="508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logo-box">
            <a:extLst xmlns:a="http://schemas.openxmlformats.org/drawingml/2006/main">
              <a:ext uri="{FF2B5EF4-FFF2-40B4-BE49-F238E27FC236}">
                <a16:creationId xmlns:a16="http://schemas.microsoft.com/office/drawing/2014/main" id="{F11B2C57-B291-48BB-9BBF-1717E3EFAD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685800" cy="685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" name="logo-text">
            <a:extLst xmlns:a="http://schemas.openxmlformats.org/drawingml/2006/main">
              <a:ext uri="{FF2B5EF4-FFF2-40B4-BE49-F238E27FC236}">
                <a16:creationId xmlns:a16="http://schemas.microsoft.com/office/drawing/2014/main" id="{079B0F6C-E417-4C06-8310-24DE1D93BF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6858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700"/>
          </a:p>
        </p:txBody>
      </p:sp>
      <p:sp>
        <p:nvSpPr>
          <p:cNvPr id="6" name="brand">
            <a:extLst xmlns:a="http://schemas.openxmlformats.org/drawingml/2006/main">
              <a:ext uri="{FF2B5EF4-FFF2-40B4-BE49-F238E27FC236}">
                <a16:creationId xmlns:a16="http://schemas.microsoft.com/office/drawing/2014/main" id="{821CC905-B6E3-46DD-8B21-57F2E2D9DB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74800" y="762000"/>
            <a:ext cx="3175000" cy="685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2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济跑跑</a:t>
            </a:r>
            <a:endParaRPr sz="1600"/>
          </a:p>
          <a:p xmlns:a="http://schemas.openxmlformats.org/drawingml/2006/main">
            <a:pPr algn="l">
              <a:lnSpc>
                <a:spcPct val="12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JIRUN CAMPUS RUNNER</a:t>
            </a:r>
            <a:endParaRPr sz="1600"/>
          </a:p>
        </p:txBody>
      </p:sp>
      <p:sp>
        <p:nvSpPr>
          <p:cNvPr id="7" name="cover-line1">
            <a:extLst xmlns:a="http://schemas.openxmlformats.org/drawingml/2006/main">
              <a:ext uri="{FF2B5EF4-FFF2-40B4-BE49-F238E27FC236}">
                <a16:creationId xmlns:a16="http://schemas.microsoft.com/office/drawing/2014/main" id="{A06FC50E-F62A-4BE3-A00C-9C11FF419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8542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ver-label">
            <a:extLst xmlns:a="http://schemas.openxmlformats.org/drawingml/2006/main">
              <a:ext uri="{FF2B5EF4-FFF2-40B4-BE49-F238E27FC236}">
                <a16:creationId xmlns:a16="http://schemas.microsoft.com/office/drawing/2014/main" id="{264A0563-0783-4193-B8B8-945DF0E37F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082800"/>
            <a:ext cx="4064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300" b="1" spc="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数据库课程设计 · 答辩汇报</a:t>
            </a:r>
            <a:endParaRPr sz="1300"/>
          </a:p>
        </p:txBody>
      </p:sp>
      <p:sp>
        <p:nvSpPr>
          <p:cNvPr id="9" name="cover-title">
            <a:extLst xmlns:a="http://schemas.openxmlformats.org/drawingml/2006/main">
              <a:ext uri="{FF2B5EF4-FFF2-40B4-BE49-F238E27FC236}">
                <a16:creationId xmlns:a16="http://schemas.microsoft.com/office/drawing/2014/main" id="{B863EDBB-7FE9-49B2-9852-BCBB62F5EC5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540000"/>
            <a:ext cx="4013200" cy="152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l">
              <a:lnSpc>
                <a:spcPct val="135000"/>
              </a:lnSpc>
              <a:buNone/>
            </a:pPr>
            <a:r>
              <a:rPr sz="3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3300"/>
          </a:p>
        </p:txBody>
      </p:sp>
      <p:sp>
        <p:nvSpPr>
          <p:cNvPr id="10" name="cover-subtitle">
            <a:extLst xmlns:a="http://schemas.openxmlformats.org/drawingml/2006/main">
              <a:ext uri="{FF2B5EF4-FFF2-40B4-BE49-F238E27FC236}">
                <a16:creationId xmlns:a16="http://schemas.microsoft.com/office/drawing/2014/main" id="{D9B24FDA-AB3B-4A2B-9068-029A759E92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165600"/>
            <a:ext cx="40132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Campus Comprehensive Errand and Pickup Service Management System</a:t>
            </a:r>
            <a:endParaRPr sz="1100"/>
          </a:p>
        </p:txBody>
      </p:sp>
      <p:sp>
        <p:nvSpPr>
          <p:cNvPr id="11" name="cover-meta">
            <a:extLst xmlns:a="http://schemas.openxmlformats.org/drawingml/2006/main">
              <a:ext uri="{FF2B5EF4-FFF2-40B4-BE49-F238E27FC236}">
                <a16:creationId xmlns:a16="http://schemas.microsoft.com/office/drawing/2014/main" id="{F6BB8B75-CAB8-41EF-93DB-E9A088D3C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919472"/>
            <a:ext cx="4013200" cy="990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汇报人：</a:t>
            </a: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未定</a:t>
            </a: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　　指导教师：袁时金</a:t>
            </a:r>
            <a:endParaRPr sz="1200"/>
          </a:p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小组成员：</a:t>
            </a:r>
            <a:r>
              <a:rPr sz="1200">
                <a:solidFill>
                  <a:srgbClr val="77716A"/>
                </a:solidFill>
              </a:rPr>
              <a:t>刘相成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薛毓哲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唐独彪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李柏言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韩昊苏 </a:t>
            </a:r>
            <a:endParaRPr sz="1200">
              <a:solidFill>
                <a:srgbClr val="77716A"/>
              </a:solidFill>
            </a:endParaRPr>
          </a:p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</a:rPr>
              <a:t>                     </a:t>
            </a:r>
            <a:r>
              <a:rPr sz="1200">
                <a:solidFill>
                  <a:srgbClr val="77716A"/>
                </a:solidFill>
              </a:rPr>
              <a:t>桑治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崔少坤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谢智行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蒋昊沄 </a:t>
            </a:r>
            <a:r>
              <a:rPr sz="1200">
                <a:solidFill>
                  <a:srgbClr val="77716A"/>
                </a:solidFill>
              </a:rPr>
              <a:t>/ </a:t>
            </a:r>
            <a:r>
              <a:rPr sz="1200">
                <a:solidFill>
                  <a:srgbClr val="77716A"/>
                </a:solidFill>
              </a:rPr>
              <a:t>赵崇治</a:t>
            </a:r>
            <a:endParaRPr sz="1200"/>
          </a:p>
          <a:p xmlns:a="http://schemas.openxmlformats.org/drawingml/2006/main">
            <a:pPr>
              <a:lnSpc>
                <a:spcPct val="175000"/>
              </a:lnSpc>
              <a:buNone/>
            </a:pPr>
            <a:r>
              <a:rPr sz="1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计算机科学与技术学院 · 2026 年 9 月 12 日</a:t>
            </a:r>
            <a:endParaRPr sz="1200"/>
          </a:p>
        </p:txBody>
      </p:sp>
      <p:sp>
        <p:nvSpPr>
          <p:cNvPr id="12" name="cover-line2">
            <a:extLst xmlns:a="http://schemas.openxmlformats.org/drawingml/2006/main">
              <a:ext uri="{FF2B5EF4-FFF2-40B4-BE49-F238E27FC236}">
                <a16:creationId xmlns:a16="http://schemas.microsoft.com/office/drawing/2014/main" id="{CEC2A97E-AE01-46E8-9F6B-6751A62C0A7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48400"/>
            <a:ext cx="36576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cover-note">
            <a:extLst xmlns:a="http://schemas.openxmlformats.org/drawingml/2006/main">
              <a:ext uri="{FF2B5EF4-FFF2-40B4-BE49-F238E27FC236}">
                <a16:creationId xmlns:a16="http://schemas.microsoft.com/office/drawing/2014/main" id="{65D91C03-EF53-4C53-B006-813F409BAF2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350000"/>
            <a:ext cx="40132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pic>
        <p:nvPicPr>
          <p:cNvPr id="28" name="logo-i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01afd9b90c14182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74076" y="749300"/>
            <a:ext cx="711200" cy="711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  <a:effectLst xmlns:a="http://schemas.openxmlformats.org/drawingml/2006/main"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84020440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oc-bar">
            <a:extLst xmlns:a="http://schemas.openxmlformats.org/drawingml/2006/main">
              <a:ext uri="{FF2B5EF4-FFF2-40B4-BE49-F238E27FC236}">
                <a16:creationId xmlns:a16="http://schemas.microsoft.com/office/drawing/2014/main" id="{CA14E892-EF72-4809-A716-1E01BE557A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066800"/>
            <a:ext cx="63500" cy="12192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oc-title">
            <a:extLst xmlns:a="http://schemas.openxmlformats.org/drawingml/2006/main">
              <a:ext uri="{FF2B5EF4-FFF2-40B4-BE49-F238E27FC236}">
                <a16:creationId xmlns:a16="http://schemas.microsoft.com/office/drawing/2014/main" id="{F1FBA041-FECF-4933-A36A-AAC3EBC1E4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066800"/>
            <a:ext cx="3048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4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目录</a:t>
            </a:r>
            <a:endParaRPr sz="4400"/>
          </a:p>
        </p:txBody>
      </p:sp>
      <p:sp>
        <p:nvSpPr>
          <p:cNvPr id="4" name="toc-en">
            <a:extLst xmlns:a="http://schemas.openxmlformats.org/drawingml/2006/main">
              <a:ext uri="{FF2B5EF4-FFF2-40B4-BE49-F238E27FC236}">
                <a16:creationId xmlns:a16="http://schemas.microsoft.com/office/drawing/2014/main" id="{D02A173E-348C-4911-A8D9-60F935EE89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1905000"/>
            <a:ext cx="3048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spc="4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CONTENTS</a:t>
            </a:r>
            <a:endParaRPr sz="1200"/>
          </a:p>
        </p:txBody>
      </p:sp>
      <p:sp>
        <p:nvSpPr>
          <p:cNvPr id="5" name="toc-brand">
            <a:extLst xmlns:a="http://schemas.openxmlformats.org/drawingml/2006/main">
              <a:ext uri="{FF2B5EF4-FFF2-40B4-BE49-F238E27FC236}">
                <a16:creationId xmlns:a16="http://schemas.microsoft.com/office/drawing/2014/main" id="{673BF9D2-63D2-4F13-A251-74EA0CA52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6000" y="5969000"/>
            <a:ext cx="330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6" name="toc-n1">
            <a:extLst xmlns:a="http://schemas.openxmlformats.org/drawingml/2006/main">
              <a:ext uri="{FF2B5EF4-FFF2-40B4-BE49-F238E27FC236}">
                <a16:creationId xmlns:a16="http://schemas.microsoft.com/office/drawing/2014/main" id="{AD42828F-7EA3-4AE4-92D7-24D1347BBA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042415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01</a:t>
            </a:r>
            <a:endParaRPr sz="2200"/>
          </a:p>
        </p:txBody>
      </p:sp>
      <p:sp>
        <p:nvSpPr>
          <p:cNvPr id="7" name="toc-t1">
            <a:extLst xmlns:a="http://schemas.openxmlformats.org/drawingml/2006/main">
              <a:ext uri="{FF2B5EF4-FFF2-40B4-BE49-F238E27FC236}">
                <a16:creationId xmlns:a16="http://schemas.microsoft.com/office/drawing/2014/main" id="{7DA70169-8F77-4D68-8527-D5162BCD43D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042415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项目概述</a:t>
            </a:r>
            <a:endParaRPr sz="1800"/>
          </a:p>
        </p:txBody>
      </p:sp>
      <p:sp>
        <p:nvSpPr>
          <p:cNvPr id="8" name="toc-d1">
            <a:extLst xmlns:a="http://schemas.openxmlformats.org/drawingml/2006/main">
              <a:ext uri="{FF2B5EF4-FFF2-40B4-BE49-F238E27FC236}">
                <a16:creationId xmlns:a16="http://schemas.microsoft.com/office/drawing/2014/main" id="{639E92FA-28B4-4DCC-8AEA-01EE259E74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426463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业务背景 · 技术架构 · 数据库驱动分层</a:t>
            </a:r>
            <a:endParaRPr sz="1100"/>
          </a:p>
        </p:txBody>
      </p:sp>
      <p:sp>
        <p:nvSpPr>
          <p:cNvPr id="9" name="toc-l1">
            <a:extLst xmlns:a="http://schemas.openxmlformats.org/drawingml/2006/main">
              <a:ext uri="{FF2B5EF4-FFF2-40B4-BE49-F238E27FC236}">
                <a16:creationId xmlns:a16="http://schemas.microsoft.com/office/drawing/2014/main" id="{7C8885FB-3722-40FE-A8C8-2254CA9F8D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856231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oc-n2">
            <a:extLst xmlns:a="http://schemas.openxmlformats.org/drawingml/2006/main">
              <a:ext uri="{FF2B5EF4-FFF2-40B4-BE49-F238E27FC236}">
                <a16:creationId xmlns:a16="http://schemas.microsoft.com/office/drawing/2014/main" id="{DE12970A-6528-495D-826F-80233FE9C1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1901952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2200"/>
          </a:p>
        </p:txBody>
      </p:sp>
      <p:sp>
        <p:nvSpPr>
          <p:cNvPr id="11" name="toc-t2">
            <a:extLst xmlns:a="http://schemas.openxmlformats.org/drawingml/2006/main">
              <a:ext uri="{FF2B5EF4-FFF2-40B4-BE49-F238E27FC236}">
                <a16:creationId xmlns:a16="http://schemas.microsoft.com/office/drawing/2014/main" id="{2CBAF831-2F8E-42ED-9AFF-C9F188B90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1901952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需求分析</a:t>
            </a:r>
            <a:endParaRPr sz="1800"/>
          </a:p>
        </p:txBody>
      </p:sp>
      <p:sp>
        <p:nvSpPr>
          <p:cNvPr id="12" name="toc-d2">
            <a:extLst xmlns:a="http://schemas.openxmlformats.org/drawingml/2006/main">
              <a:ext uri="{FF2B5EF4-FFF2-40B4-BE49-F238E27FC236}">
                <a16:creationId xmlns:a16="http://schemas.microsoft.com/office/drawing/2014/main" id="{1C8FC4A6-F789-4AFC-9FE8-1A59E0AE02F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286000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五类功能模块 · 核心业务状态机 · 权限与售后</a:t>
            </a:r>
            <a:endParaRPr sz="1100"/>
          </a:p>
        </p:txBody>
      </p:sp>
      <p:sp>
        <p:nvSpPr>
          <p:cNvPr id="13" name="toc-l2">
            <a:extLst xmlns:a="http://schemas.openxmlformats.org/drawingml/2006/main">
              <a:ext uri="{FF2B5EF4-FFF2-40B4-BE49-F238E27FC236}">
                <a16:creationId xmlns:a16="http://schemas.microsoft.com/office/drawing/2014/main" id="{3E895960-2848-44F4-891D-4A52A6FC7D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715768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toc-n3">
            <a:extLst xmlns:a="http://schemas.openxmlformats.org/drawingml/2006/main">
              <a:ext uri="{FF2B5EF4-FFF2-40B4-BE49-F238E27FC236}">
                <a16:creationId xmlns:a16="http://schemas.microsoft.com/office/drawing/2014/main" id="{3918B2D0-6673-4509-9BE8-4E0390339D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2761488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2200"/>
          </a:p>
        </p:txBody>
      </p:sp>
      <p:sp>
        <p:nvSpPr>
          <p:cNvPr id="15" name="toc-t3">
            <a:extLst xmlns:a="http://schemas.openxmlformats.org/drawingml/2006/main">
              <a:ext uri="{FF2B5EF4-FFF2-40B4-BE49-F238E27FC236}">
                <a16:creationId xmlns:a16="http://schemas.microsoft.com/office/drawing/2014/main" id="{27BC07E5-1E2D-4AF7-9C87-6CFEC65312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2761488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数据库设计</a:t>
            </a:r>
            <a:endParaRPr sz="1800"/>
          </a:p>
        </p:txBody>
      </p:sp>
      <p:sp>
        <p:nvSpPr>
          <p:cNvPr id="16" name="toc-d3">
            <a:extLst xmlns:a="http://schemas.openxmlformats.org/drawingml/2006/main">
              <a:ext uri="{FF2B5EF4-FFF2-40B4-BE49-F238E27FC236}">
                <a16:creationId xmlns:a16="http://schemas.microsoft.com/office/drawing/2014/main" id="{8EEDFA1F-A3EF-439A-A8C2-9622B955D90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145536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真实物理模型 · 24 表关系 · 索引与完整性约束</a:t>
            </a:r>
            <a:endParaRPr sz="1100"/>
          </a:p>
        </p:txBody>
      </p:sp>
      <p:sp>
        <p:nvSpPr>
          <p:cNvPr id="17" name="toc-l3">
            <a:extLst xmlns:a="http://schemas.openxmlformats.org/drawingml/2006/main">
              <a:ext uri="{FF2B5EF4-FFF2-40B4-BE49-F238E27FC236}">
                <a16:creationId xmlns:a16="http://schemas.microsoft.com/office/drawing/2014/main" id="{6A2061AF-EF0B-413B-B247-7A90E1B829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575304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toc-n4">
            <a:extLst xmlns:a="http://schemas.openxmlformats.org/drawingml/2006/main">
              <a:ext uri="{FF2B5EF4-FFF2-40B4-BE49-F238E27FC236}">
                <a16:creationId xmlns:a16="http://schemas.microsoft.com/office/drawing/2014/main" id="{7BD79EC0-BD06-4A6F-98FF-946340762D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3621024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04</a:t>
            </a:r>
            <a:endParaRPr sz="2200"/>
          </a:p>
        </p:txBody>
      </p:sp>
      <p:sp>
        <p:nvSpPr>
          <p:cNvPr id="19" name="toc-t4">
            <a:extLst xmlns:a="http://schemas.openxmlformats.org/drawingml/2006/main">
              <a:ext uri="{FF2B5EF4-FFF2-40B4-BE49-F238E27FC236}">
                <a16:creationId xmlns:a16="http://schemas.microsoft.com/office/drawing/2014/main" id="{CFF4FDF2-8A3C-453A-B76A-BE1861CA1D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3621024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系统实现</a:t>
            </a:r>
            <a:endParaRPr sz="1800"/>
          </a:p>
        </p:txBody>
      </p:sp>
      <p:sp>
        <p:nvSpPr>
          <p:cNvPr id="20" name="toc-d4">
            <a:extLst xmlns:a="http://schemas.openxmlformats.org/drawingml/2006/main">
              <a:ext uri="{FF2B5EF4-FFF2-40B4-BE49-F238E27FC236}">
                <a16:creationId xmlns:a16="http://schemas.microsoft.com/office/drawing/2014/main" id="{E07D1841-F390-4B37-B91D-BE0978BB596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005072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真实界面 · 参数化 SQL · 事务与行锁</a:t>
            </a:r>
            <a:endParaRPr sz="1100"/>
          </a:p>
        </p:txBody>
      </p:sp>
      <p:sp>
        <p:nvSpPr>
          <p:cNvPr id="21" name="toc-l4">
            <a:extLst xmlns:a="http://schemas.openxmlformats.org/drawingml/2006/main">
              <a:ext uri="{FF2B5EF4-FFF2-40B4-BE49-F238E27FC236}">
                <a16:creationId xmlns:a16="http://schemas.microsoft.com/office/drawing/2014/main" id="{52FDBD07-8CD3-4FFF-A028-0390D8A7B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434840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toc-n5">
            <a:extLst xmlns:a="http://schemas.openxmlformats.org/drawingml/2006/main">
              <a:ext uri="{FF2B5EF4-FFF2-40B4-BE49-F238E27FC236}">
                <a16:creationId xmlns:a16="http://schemas.microsoft.com/office/drawing/2014/main" id="{36671847-1DAA-4B1F-9084-012BB2E1A6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340096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06</a:t>
            </a:r>
            <a:endParaRPr sz="2200"/>
          </a:p>
        </p:txBody>
      </p:sp>
      <p:sp>
        <p:nvSpPr>
          <p:cNvPr id="23" name="toc-t5">
            <a:extLst xmlns:a="http://schemas.openxmlformats.org/drawingml/2006/main">
              <a:ext uri="{FF2B5EF4-FFF2-40B4-BE49-F238E27FC236}">
                <a16:creationId xmlns:a16="http://schemas.microsoft.com/office/drawing/2014/main" id="{DA420E66-9F59-42A5-859B-D2A44831F6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5340096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答辩问答</a:t>
            </a:r>
            <a:endParaRPr sz="1800"/>
          </a:p>
        </p:txBody>
      </p:sp>
      <p:sp>
        <p:nvSpPr>
          <p:cNvPr id="24" name="toc-d5">
            <a:extLst xmlns:a="http://schemas.openxmlformats.org/drawingml/2006/main">
              <a:ext uri="{FF2B5EF4-FFF2-40B4-BE49-F238E27FC236}">
                <a16:creationId xmlns:a16="http://schemas.microsoft.com/office/drawing/2014/main" id="{368769CA-A2B5-4339-85F8-CBA94D5D6B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5724144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设计依据 · 关键约束 · 核心业务逻辑</a:t>
            </a:r>
            <a:endParaRPr sz="1100"/>
          </a:p>
        </p:txBody>
      </p:sp>
      <p:sp>
        <p:nvSpPr>
          <p:cNvPr id="25" name="toc-l5">
            <a:extLst xmlns:a="http://schemas.openxmlformats.org/drawingml/2006/main">
              <a:ext uri="{FF2B5EF4-FFF2-40B4-BE49-F238E27FC236}">
                <a16:creationId xmlns:a16="http://schemas.microsoft.com/office/drawing/2014/main" id="{C3937174-E892-4BDA-AC07-0CF6F65FA4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6153912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6" name="toc-n5">
            <a:extLst xmlns:a="http://schemas.openxmlformats.org/drawingml/2006/main">
              <a:ext uri="{FF2B5EF4-FFF2-40B4-BE49-F238E27FC236}">
                <a16:creationId xmlns:a16="http://schemas.microsoft.com/office/drawing/2014/main" id="{8C3AFCA4-A7A7-4D7F-A223-24E9F6D6694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4480560"/>
            <a:ext cx="7112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2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05</a:t>
            </a:r>
            <a:endParaRPr sz="2200"/>
          </a:p>
        </p:txBody>
      </p:sp>
      <p:sp>
        <p:nvSpPr>
          <p:cNvPr id="27" name="toc-t5">
            <a:extLst xmlns:a="http://schemas.openxmlformats.org/drawingml/2006/main">
              <a:ext uri="{FF2B5EF4-FFF2-40B4-BE49-F238E27FC236}">
                <a16:creationId xmlns:a16="http://schemas.microsoft.com/office/drawing/2014/main" id="{F77CC232-ACDC-4E12-A664-79B883A44F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480560"/>
            <a:ext cx="25400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8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测试与总结</a:t>
            </a:r>
            <a:endParaRPr sz="1800"/>
          </a:p>
        </p:txBody>
      </p:sp>
      <p:sp>
        <p:nvSpPr>
          <p:cNvPr id="28" name="toc-d5">
            <a:extLst xmlns:a="http://schemas.openxmlformats.org/drawingml/2006/main">
              <a:ext uri="{FF2B5EF4-FFF2-40B4-BE49-F238E27FC236}">
                <a16:creationId xmlns:a16="http://schemas.microsoft.com/office/drawing/2014/main" id="{A7B4D76E-7F00-4FEF-81D7-3F2073BE32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969000" y="4864608"/>
            <a:ext cx="5334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自动化测试 · 结构门禁 · Oracle 端到端验证</a:t>
            </a:r>
            <a:endParaRPr sz="1100"/>
          </a:p>
        </p:txBody>
      </p:sp>
      <p:sp>
        <p:nvSpPr>
          <p:cNvPr id="29" name="toc-l5">
            <a:extLst xmlns:a="http://schemas.openxmlformats.org/drawingml/2006/main">
              <a:ext uri="{FF2B5EF4-FFF2-40B4-BE49-F238E27FC236}">
                <a16:creationId xmlns:a16="http://schemas.microsoft.com/office/drawing/2014/main" id="{3ECA690E-13A0-401B-81B1-2E0EEFCEDF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0" y="5294376"/>
            <a:ext cx="64008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1453350834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8D2B7AB3-8213-4C87-A5FC-672F642B9A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BFADBA14-A1AA-449F-BFC6-D0C5BF67A8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项目背景：校园跑腿需要统一履约与数据管理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998DBBC9-DD44-46E7-89E1-DA591E7F0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01 · 项目概述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C831E4D-5902-4781-B8BE-05CE0FD4DA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bg-intro">
            <a:extLst xmlns:a="http://schemas.openxmlformats.org/drawingml/2006/main">
              <a:ext uri="{FF2B5EF4-FFF2-40B4-BE49-F238E27FC236}">
                <a16:creationId xmlns:a16="http://schemas.microsoft.com/office/drawing/2014/main" id="{0F626671-085E-4915-AC4A-659FDFF23E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1244600"/>
            <a:ext cx="5334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300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外卖分发 / 快递代取 / 私人跑腿集中管理 · 状态可追踪 · 资金与售后可审计</a:t>
            </a:r>
            <a:endParaRPr sz="1300"/>
          </a:p>
        </p:txBody>
      </p:sp>
      <p:sp>
        <p:nvSpPr>
          <p:cNvPr id="9" name="pain1-n">
            <a:extLst xmlns:a="http://schemas.openxmlformats.org/drawingml/2006/main">
              <a:ext uri="{FF2B5EF4-FFF2-40B4-BE49-F238E27FC236}">
                <a16:creationId xmlns:a16="http://schemas.microsoft.com/office/drawing/2014/main" id="{9369AF1D-9D82-449B-9B1A-EA4C8466FEA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2184400"/>
            <a:ext cx="50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01</a:t>
            </a:r>
            <a:endParaRPr sz="2000"/>
          </a:p>
        </p:txBody>
      </p:sp>
      <p:sp>
        <p:nvSpPr>
          <p:cNvPr id="10" name="pain1">
            <a:extLst xmlns:a="http://schemas.openxmlformats.org/drawingml/2006/main">
              <a:ext uri="{FF2B5EF4-FFF2-40B4-BE49-F238E27FC236}">
                <a16:creationId xmlns:a16="http://schemas.microsoft.com/office/drawing/2014/main" id="{96824435-6B18-4B02-BECA-FECAA4EB1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2133600"/>
            <a:ext cx="472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发布入口分散</a:t>
            </a:r>
            <a:endParaRPr sz="12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群聊与口头约定难以沉淀任务、价格、地址和履约状态</a:t>
            </a:r>
            <a:endParaRPr sz="1250"/>
          </a:p>
        </p:txBody>
      </p:sp>
      <p:sp>
        <p:nvSpPr>
          <p:cNvPr id="11" name="pain1-line">
            <a:extLst xmlns:a="http://schemas.openxmlformats.org/drawingml/2006/main">
              <a:ext uri="{FF2B5EF4-FFF2-40B4-BE49-F238E27FC236}">
                <a16:creationId xmlns:a16="http://schemas.microsoft.com/office/drawing/2014/main" id="{53046AFB-101B-418E-AC8B-5A196B894F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048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pain2-n">
            <a:extLst xmlns:a="http://schemas.openxmlformats.org/drawingml/2006/main">
              <a:ext uri="{FF2B5EF4-FFF2-40B4-BE49-F238E27FC236}">
                <a16:creationId xmlns:a16="http://schemas.microsoft.com/office/drawing/2014/main" id="{FF0F0DD0-2D6A-44A5-8EFC-ACFCCC48B5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3276600"/>
            <a:ext cx="50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2000"/>
          </a:p>
        </p:txBody>
      </p:sp>
      <p:sp>
        <p:nvSpPr>
          <p:cNvPr id="13" name="pain2">
            <a:extLst xmlns:a="http://schemas.openxmlformats.org/drawingml/2006/main">
              <a:ext uri="{FF2B5EF4-FFF2-40B4-BE49-F238E27FC236}">
                <a16:creationId xmlns:a16="http://schemas.microsoft.com/office/drawing/2014/main" id="{8CB2B8F7-DFFD-489F-B173-E69B0C5507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3225800"/>
            <a:ext cx="472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履约过程难追踪</a:t>
            </a:r>
            <a:endParaRPr sz="12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接单、取货、配送、确认收货缺少统一状态与日志</a:t>
            </a:r>
            <a:endParaRPr sz="1250"/>
          </a:p>
        </p:txBody>
      </p:sp>
      <p:sp>
        <p:nvSpPr>
          <p:cNvPr id="14" name="pain2-line">
            <a:extLst xmlns:a="http://schemas.openxmlformats.org/drawingml/2006/main">
              <a:ext uri="{FF2B5EF4-FFF2-40B4-BE49-F238E27FC236}">
                <a16:creationId xmlns:a16="http://schemas.microsoft.com/office/drawing/2014/main" id="{127AE516-1F01-4E0B-9B98-2FA0BB6904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1402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pain3-n">
            <a:extLst xmlns:a="http://schemas.openxmlformats.org/drawingml/2006/main">
              <a:ext uri="{FF2B5EF4-FFF2-40B4-BE49-F238E27FC236}">
                <a16:creationId xmlns:a16="http://schemas.microsoft.com/office/drawing/2014/main" id="{7C9B037E-FAAE-4DAE-B3FF-0A2B90FA31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4368800"/>
            <a:ext cx="508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2000"/>
          </a:p>
        </p:txBody>
      </p:sp>
      <p:sp>
        <p:nvSpPr>
          <p:cNvPr id="16" name="pain3">
            <a:extLst xmlns:a="http://schemas.openxmlformats.org/drawingml/2006/main">
              <a:ext uri="{FF2B5EF4-FFF2-40B4-BE49-F238E27FC236}">
                <a16:creationId xmlns:a16="http://schemas.microsoft.com/office/drawing/2014/main" id="{3DE5E76C-FE19-4ADE-911A-CC1598AB04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59600" y="4318000"/>
            <a:ext cx="47244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资金与责任难核验</a:t>
            </a:r>
            <a:endParaRPr sz="12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2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支付、退款、评价、投诉和结算缺少一致的数据依据</a:t>
            </a:r>
            <a:endParaRPr sz="1250"/>
          </a:p>
        </p:txBody>
      </p:sp>
      <p:sp>
        <p:nvSpPr>
          <p:cNvPr id="17" name="bg-concl-line">
            <a:extLst xmlns:a="http://schemas.openxmlformats.org/drawingml/2006/main">
              <a:ext uri="{FF2B5EF4-FFF2-40B4-BE49-F238E27FC236}">
                <a16:creationId xmlns:a16="http://schemas.microsoft.com/office/drawing/2014/main" id="{1110DF4D-2E47-4D33-910F-1387E255C3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350000" y="5461000"/>
            <a:ext cx="533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ft-line">
            <a:extLst xmlns:a="http://schemas.openxmlformats.org/drawingml/2006/main">
              <a:ext uri="{FF2B5EF4-FFF2-40B4-BE49-F238E27FC236}">
                <a16:creationId xmlns:a16="http://schemas.microsoft.com/office/drawing/2014/main" id="{A9283F84-F907-4C98-8AA4-67A83888360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0" name="ft-brand">
            <a:extLst xmlns:a="http://schemas.openxmlformats.org/drawingml/2006/main">
              <a:ext uri="{FF2B5EF4-FFF2-40B4-BE49-F238E27FC236}">
                <a16:creationId xmlns:a16="http://schemas.microsoft.com/office/drawing/2014/main" id="{CFBC2BF7-359B-4C39-8880-5D85E75829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1" name="ft-page">
            <a:extLst xmlns:a="http://schemas.openxmlformats.org/drawingml/2006/main">
              <a:ext uri="{FF2B5EF4-FFF2-40B4-BE49-F238E27FC236}">
                <a16:creationId xmlns:a16="http://schemas.microsoft.com/office/drawing/2014/main" id="{5620CF62-FC97-4B93-97E6-98558B51AEB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3 / 17</a:t>
            </a:r>
            <a:endParaRPr sz="1000"/>
          </a:p>
        </p:txBody>
      </p:sp>
      <p:sp>
        <p:nvSpPr>
          <p:cNvPr id="7" name="ph2">
            <a:extLst xmlns:a="http://schemas.openxmlformats.org/drawingml/2006/main">
              <a:ext uri="{FF2B5EF4-FFF2-40B4-BE49-F238E27FC236}">
                <a16:creationId xmlns:a16="http://schemas.microsoft.com/office/drawing/2014/main" id="{77747224-D220-4B45-4005-3516B298F5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7693" y="2006600"/>
            <a:ext cx="6009995" cy="3276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16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2" name="ph2-icon">
            <a:extLst xmlns:a="http://schemas.openxmlformats.org/drawingml/2006/main">
              <a:ext uri="{FF2B5EF4-FFF2-40B4-BE49-F238E27FC236}">
                <a16:creationId xmlns:a16="http://schemas.microsoft.com/office/drawing/2014/main" id="{A0B2868D-141F-0A64-22ED-E861BDFF75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007005" y="3204317"/>
            <a:ext cx="406400" cy="406400"/>
          </a:xfrm>
          <a:custGeom xmlns:a="http://schemas.openxmlformats.org/drawingml/2006/main">
            <a:rect l="l" t="t" r="r" b="b"/>
            <a:pathLst>
              <a:path w="448" h="512">
                <a:moveTo>
                  <a:pt x="0" y="96"/>
                </a:move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cubicBezTo>
                  <a:pt x="29" y="480"/>
                  <a:pt x="0" y="451"/>
                  <a:pt x="0" y="416"/>
                </a:cubicBezTo>
                <a:lnTo>
                  <a:pt x="0" y="96"/>
                </a:lnTo>
                <a:close/>
                <a:moveTo>
                  <a:pt x="64" y="80"/>
                </a:moveTo>
                <a:cubicBezTo>
                  <a:pt x="55" y="80"/>
                  <a:pt x="48" y="87"/>
                  <a:pt x="48" y="96"/>
                </a:cubicBezTo>
                <a:lnTo>
                  <a:pt x="48" y="416"/>
                </a:lnTo>
                <a:cubicBezTo>
                  <a:pt x="48" y="425"/>
                  <a:pt x="55" y="432"/>
                  <a:pt x="64" y="432"/>
                </a:cubicBezTo>
                <a:lnTo>
                  <a:pt x="384" y="432"/>
                </a:lnTo>
                <a:cubicBezTo>
                  <a:pt x="393" y="432"/>
                  <a:pt x="400" y="425"/>
                  <a:pt x="400" y="416"/>
                </a:cubicBezTo>
                <a:lnTo>
                  <a:pt x="400" y="96"/>
                </a:lnTo>
                <a:cubicBezTo>
                  <a:pt x="400" y="87"/>
                  <a:pt x="393" y="80"/>
                  <a:pt x="384" y="80"/>
                </a:cubicBezTo>
                <a:lnTo>
                  <a:pt x="64" y="80"/>
                </a:lnTo>
                <a:close/>
              </a:path>
              <a:path w="448" h="512">
                <a:moveTo>
                  <a:pt x="128" y="128"/>
                </a:moveTo>
                <a:cubicBezTo>
                  <a:pt x="146" y="128"/>
                  <a:pt x="160" y="142"/>
                  <a:pt x="160" y="160"/>
                </a:cubicBezTo>
                <a:cubicBezTo>
                  <a:pt x="160" y="178"/>
                  <a:pt x="146" y="192"/>
                  <a:pt x="128" y="192"/>
                </a:cubicBezTo>
                <a:cubicBezTo>
                  <a:pt x="110" y="192"/>
                  <a:pt x="96" y="178"/>
                  <a:pt x="96" y="160"/>
                </a:cubicBezTo>
                <a:cubicBezTo>
                  <a:pt x="96" y="142"/>
                  <a:pt x="110" y="128"/>
                  <a:pt x="128" y="128"/>
                </a:cubicBezTo>
                <a:close/>
              </a:path>
              <a:path w="448" h="512">
                <a:moveTo>
                  <a:pt x="264" y="200"/>
                </a:moveTo>
                <a:cubicBezTo>
                  <a:pt x="273" y="200"/>
                  <a:pt x="280" y="205"/>
                  <a:pt x="285" y="212"/>
                </a:cubicBezTo>
                <a:lnTo>
                  <a:pt x="365" y="348"/>
                </a:lnTo>
                <a:cubicBezTo>
                  <a:pt x="369" y="355"/>
                  <a:pt x="369" y="364"/>
                  <a:pt x="365" y="372"/>
                </a:cubicBezTo>
                <a:cubicBezTo>
                  <a:pt x="361" y="379"/>
                  <a:pt x="353" y="384"/>
                  <a:pt x="344" y="384"/>
                </a:cubicBezTo>
                <a:lnTo>
                  <a:pt x="104" y="384"/>
                </a:lnTo>
                <a:cubicBezTo>
                  <a:pt x="95" y="384"/>
                  <a:pt x="87" y="379"/>
                  <a:pt x="83" y="371"/>
                </a:cubicBezTo>
                <a:cubicBezTo>
                  <a:pt x="79" y="363"/>
                  <a:pt x="79" y="354"/>
                  <a:pt x="84" y="346"/>
                </a:cubicBezTo>
                <a:lnTo>
                  <a:pt x="140" y="266"/>
                </a:lnTo>
                <a:cubicBezTo>
                  <a:pt x="145" y="260"/>
                  <a:pt x="152" y="256"/>
                  <a:pt x="160" y="256"/>
                </a:cubicBezTo>
                <a:cubicBezTo>
                  <a:pt x="168" y="256"/>
                  <a:pt x="175" y="260"/>
                  <a:pt x="180" y="266"/>
                </a:cubicBezTo>
                <a:lnTo>
                  <a:pt x="197" y="291"/>
                </a:lnTo>
                <a:lnTo>
                  <a:pt x="243" y="212"/>
                </a:lnTo>
                <a:cubicBezTo>
                  <a:pt x="248" y="205"/>
                  <a:pt x="256" y="200"/>
                  <a:pt x="264" y="200"/>
                </a:cubicBez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3" name="ph2-t">
            <a:extLst xmlns:a="http://schemas.openxmlformats.org/drawingml/2006/main">
              <a:ext uri="{FF2B5EF4-FFF2-40B4-BE49-F238E27FC236}">
                <a16:creationId xmlns:a16="http://schemas.microsoft.com/office/drawing/2014/main" id="{66356F97-97EB-4468-5532-8C99B63FA3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2005" y="3763117"/>
            <a:ext cx="4191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t"/>
          <a:lstStyle xmlns:a="http://schemas.openxmlformats.org/drawingml/2006/main"/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300" b="1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此处替换为实际界面截图</a:t>
            </a:r>
            <a:endParaRPr sz="1600"/>
          </a:p>
          <a:p xmlns:a="http://schemas.openxmlformats.org/drawingml/2006/main">
            <a:pPr algn="ctr">
              <a:lnSpc>
                <a:spcPct val="150000"/>
              </a:lnSpc>
              <a:buNone/>
            </a:pPr>
            <a:r>
              <a:rPr sz="10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建议：工作台页</a:t>
            </a:r>
            <a:endParaRPr sz="1600"/>
          </a:p>
        </p:txBody>
      </p:sp>
      <p:pic>
        <p:nvPicPr>
          <p:cNvPr id="45" name="图片 5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64b5be358b847a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66010" y="2029142"/>
            <a:ext cx="5900597" cy="3254058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807725532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6" name="hd-title">
            <a:extLst xmlns:a="http://schemas.openxmlformats.org/drawingml/2006/main">
              <a:ext uri="{FF2B5EF4-FFF2-40B4-BE49-F238E27FC236}">
                <a16:creationId xmlns:a16="http://schemas.microsoft.com/office/drawing/2014/main" id="{6C897C76-4940-2B00-E4DC-D1A88BFE93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技术架构</a:t>
            </a:r>
            <a:endParaRPr sz="2500"/>
          </a:p>
        </p:txBody>
      </p:sp>
      <p:sp>
        <p:nvSpPr>
          <p:cNvPr id="57" name="hd-sec">
            <a:extLst xmlns:a="http://schemas.openxmlformats.org/drawingml/2006/main">
              <a:ext uri="{FF2B5EF4-FFF2-40B4-BE49-F238E27FC236}">
                <a16:creationId xmlns:a16="http://schemas.microsoft.com/office/drawing/2014/main" id="{5B061668-EB2D-6BE3-3EBC-879F8D83889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01 · 项目概述</a:t>
            </a:r>
            <a:endParaRPr sz="1100"/>
          </a:p>
        </p:txBody>
      </p:sp>
      <p:sp>
        <p:nvSpPr>
          <p:cNvPr id="58" name="hd-line">
            <a:extLst xmlns:a="http://schemas.openxmlformats.org/drawingml/2006/main">
              <a:ext uri="{FF2B5EF4-FFF2-40B4-BE49-F238E27FC236}">
                <a16:creationId xmlns:a16="http://schemas.microsoft.com/office/drawing/2014/main" id="{3CE0CEEB-A854-783F-F8C1-308EFD029D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layer1">
            <a:extLst xmlns:a="http://schemas.openxmlformats.org/drawingml/2006/main">
              <a:ext uri="{FF2B5EF4-FFF2-40B4-BE49-F238E27FC236}">
                <a16:creationId xmlns:a16="http://schemas.microsoft.com/office/drawing/2014/main" id="{9A06A9C1-D8C6-86FB-6FEE-F9FFD88C75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20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layer1-tag">
            <a:extLst xmlns:a="http://schemas.openxmlformats.org/drawingml/2006/main">
              <a:ext uri="{FF2B5EF4-FFF2-40B4-BE49-F238E27FC236}">
                <a16:creationId xmlns:a16="http://schemas.microsoft.com/office/drawing/2014/main" id="{DBB75117-7130-B210-84BA-4C9A88221F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1" name="layer1-t">
            <a:extLst xmlns:a="http://schemas.openxmlformats.org/drawingml/2006/main">
              <a:ext uri="{FF2B5EF4-FFF2-40B4-BE49-F238E27FC236}">
                <a16:creationId xmlns:a16="http://schemas.microsoft.com/office/drawing/2014/main" id="{DE93E5B0-21E9-D9FE-7127-69651A81A2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3208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表现层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Presentation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Razor Views · ViewModels 表单 / 展示模型 · wwwroot 静态资源</a:t>
            </a:r>
            <a:endParaRPr sz="1600"/>
          </a:p>
        </p:txBody>
      </p:sp>
      <p:sp>
        <p:nvSpPr>
          <p:cNvPr id="62" name="ar1">
            <a:extLst xmlns:a="http://schemas.openxmlformats.org/drawingml/2006/main">
              <a:ext uri="{FF2B5EF4-FFF2-40B4-BE49-F238E27FC236}">
                <a16:creationId xmlns:a16="http://schemas.microsoft.com/office/drawing/2014/main" id="{0A094C04-B63A-4EA0-2C57-FDEB9A0CED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20320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layer2">
            <a:extLst xmlns:a="http://schemas.openxmlformats.org/drawingml/2006/main">
              <a:ext uri="{FF2B5EF4-FFF2-40B4-BE49-F238E27FC236}">
                <a16:creationId xmlns:a16="http://schemas.microsoft.com/office/drawing/2014/main" id="{4FC18C00-89DF-5D9D-4102-EFCE9F0D5A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2098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20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layer2-tag">
            <a:extLst xmlns:a="http://schemas.openxmlformats.org/drawingml/2006/main">
              <a:ext uri="{FF2B5EF4-FFF2-40B4-BE49-F238E27FC236}">
                <a16:creationId xmlns:a16="http://schemas.microsoft.com/office/drawing/2014/main" id="{219BDBDC-3AE2-8334-D309-330247F65D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2098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0203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5" name="layer2-t">
            <a:extLst xmlns:a="http://schemas.openxmlformats.org/drawingml/2006/main">
              <a:ext uri="{FF2B5EF4-FFF2-40B4-BE49-F238E27FC236}">
                <a16:creationId xmlns:a16="http://schemas.microsoft.com/office/drawing/2014/main" id="{A4989901-270F-8FBC-2FD1-A47CDD3F39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3114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控制层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Controllers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接收请求、绑定参数、调用 Service 接口、返回 View / Redirect</a:t>
            </a:r>
            <a:endParaRPr sz="1600"/>
          </a:p>
        </p:txBody>
      </p:sp>
      <p:sp>
        <p:nvSpPr>
          <p:cNvPr id="66" name="ar2">
            <a:extLst xmlns:a="http://schemas.openxmlformats.org/drawingml/2006/main">
              <a:ext uri="{FF2B5EF4-FFF2-40B4-BE49-F238E27FC236}">
                <a16:creationId xmlns:a16="http://schemas.microsoft.com/office/drawing/2014/main" id="{7A111BAC-095B-8091-4C7C-8D06CDD135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30226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layer3">
            <a:extLst xmlns:a="http://schemas.openxmlformats.org/drawingml/2006/main">
              <a:ext uri="{FF2B5EF4-FFF2-40B4-BE49-F238E27FC236}">
                <a16:creationId xmlns:a16="http://schemas.microsoft.com/office/drawing/2014/main" id="{BB1750DF-5B06-D7CC-EE94-E46AEDD54C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2004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layer3-tag">
            <a:extLst xmlns:a="http://schemas.openxmlformats.org/drawingml/2006/main">
              <a:ext uri="{FF2B5EF4-FFF2-40B4-BE49-F238E27FC236}">
                <a16:creationId xmlns:a16="http://schemas.microsoft.com/office/drawing/2014/main" id="{CB824A45-FC11-C000-6B98-83D4C061B8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2004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layer3-t">
            <a:extLst xmlns:a="http://schemas.openxmlformats.org/drawingml/2006/main">
              <a:ext uri="{FF2B5EF4-FFF2-40B4-BE49-F238E27FC236}">
                <a16:creationId xmlns:a16="http://schemas.microsoft.com/office/drawing/2014/main" id="{384D0156-1B53-93FF-6F1E-D6387B0725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33020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业务层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Services / Interfaces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业务规则、状态判断、事务边界控制、中文显示名转换</a:t>
            </a:r>
            <a:endParaRPr sz="1600"/>
          </a:p>
        </p:txBody>
      </p:sp>
      <p:sp>
        <p:nvSpPr>
          <p:cNvPr id="70" name="ar3">
            <a:extLst xmlns:a="http://schemas.openxmlformats.org/drawingml/2006/main">
              <a:ext uri="{FF2B5EF4-FFF2-40B4-BE49-F238E27FC236}">
                <a16:creationId xmlns:a16="http://schemas.microsoft.com/office/drawing/2014/main" id="{8236195A-C44E-A81D-F666-D0E5A73320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40132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layer4">
            <a:extLst xmlns:a="http://schemas.openxmlformats.org/drawingml/2006/main">
              <a:ext uri="{FF2B5EF4-FFF2-40B4-BE49-F238E27FC236}">
                <a16:creationId xmlns:a16="http://schemas.microsoft.com/office/drawing/2014/main" id="{FDE48483-3FD0-45AD-CD84-D9F7D3D560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10203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layer4-tag">
            <a:extLst xmlns:a="http://schemas.openxmlformats.org/drawingml/2006/main">
              <a:ext uri="{FF2B5EF4-FFF2-40B4-BE49-F238E27FC236}">
                <a16:creationId xmlns:a16="http://schemas.microsoft.com/office/drawing/2014/main" id="{AF3225E8-154B-BD7E-511F-F3C8E4C7C6C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91000"/>
            <a:ext cx="635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0A6A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3" name="layer4-t">
            <a:extLst xmlns:a="http://schemas.openxmlformats.org/drawingml/2006/main">
              <a:ext uri="{FF2B5EF4-FFF2-40B4-BE49-F238E27FC236}">
                <a16:creationId xmlns:a16="http://schemas.microsoft.com/office/drawing/2014/main" id="{84782742-4B4C-2037-FD23-12A79F2A7F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2926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持久层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　Repositories / Persistence</a:t>
            </a:r>
            <a:endParaRPr sz="1600"/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仓储接口、参数化 SQL、FOR UPDATE 行锁、Oracle 连接工厂</a:t>
            </a:r>
            <a:endParaRPr sz="1600"/>
          </a:p>
        </p:txBody>
      </p:sp>
      <p:sp>
        <p:nvSpPr>
          <p:cNvPr id="74" name="ar4">
            <a:extLst xmlns:a="http://schemas.openxmlformats.org/drawingml/2006/main">
              <a:ext uri="{FF2B5EF4-FFF2-40B4-BE49-F238E27FC236}">
                <a16:creationId xmlns:a16="http://schemas.microsoft.com/office/drawing/2014/main" id="{EE182D49-3997-8967-C9E1-FD20370487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403600" y="5003800"/>
            <a:ext cx="177800" cy="152400"/>
          </a:xfrm>
          <a:custGeom xmlns:a="http://schemas.openxmlformats.org/drawingml/2006/main">
            <a:rect l="l" t="t" r="r" b="b"/>
            <a:pathLst>
              <a:path w="14" h="12">
                <a:moveTo>
                  <a:pt x="7" y="0"/>
                </a:moveTo>
                <a:lnTo>
                  <a:pt x="7" y="12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layer5">
            <a:extLst xmlns:a="http://schemas.openxmlformats.org/drawingml/2006/main">
              <a:ext uri="{FF2B5EF4-FFF2-40B4-BE49-F238E27FC236}">
                <a16:creationId xmlns:a16="http://schemas.microsoft.com/office/drawing/2014/main" id="{294F35F5-4331-2B54-B1AB-C7949CEB53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181600"/>
            <a:ext cx="5969000" cy="787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6" name="layer5-t">
            <a:extLst xmlns:a="http://schemas.openxmlformats.org/drawingml/2006/main">
              <a:ext uri="{FF2B5EF4-FFF2-40B4-BE49-F238E27FC236}">
                <a16:creationId xmlns:a16="http://schemas.microsoft.com/office/drawing/2014/main" id="{111B7937-2C42-08DA-134C-5A91D30B12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5283200"/>
            <a:ext cx="55372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300" b="1">
                <a:solidFill>
                  <a:schemeClr val="bg1"/>
                </a:solidFill>
                <a:latin typeface="MiSans"/>
                <a:ea typeface="MiSans"/>
                <a:cs typeface="MiSans"/>
              </a:rPr>
              <a:t>数据库层　Oracle 19c</a:t>
            </a:r>
            <a:endParaRPr sz="1600">
              <a:solidFill>
                <a:schemeClr val="bg1"/>
              </a:solidFill>
            </a:endParaRPr>
          </a:p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chemeClr val="bg1"/>
                </a:solidFill>
                <a:latin typeface="MiSans"/>
                <a:ea typeface="MiSans"/>
                <a:cs typeface="MiSans"/>
              </a:rPr>
              <a:t>24 张业务表 · 23 个显式索引 · 31 个外键 · 30 个 CHECK 约束</a:t>
            </a:r>
            <a:endParaRPr sz="1600">
              <a:solidFill>
                <a:schemeClr val="bg1"/>
              </a:solidFill>
            </a:endParaRPr>
          </a:p>
        </p:txBody>
      </p:sp>
      <p:sp>
        <p:nvSpPr>
          <p:cNvPr id="77" name="stack-label">
            <a:extLst xmlns:a="http://schemas.openxmlformats.org/drawingml/2006/main">
              <a:ext uri="{FF2B5EF4-FFF2-40B4-BE49-F238E27FC236}">
                <a16:creationId xmlns:a16="http://schemas.microsoft.com/office/drawing/2014/main" id="{EC5F103F-BF56-3A67-DE45-318FE3C2EB5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219200"/>
            <a:ext cx="4699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调用方向与边界约束</a:t>
            </a:r>
            <a:endParaRPr sz="1200"/>
          </a:p>
        </p:txBody>
      </p:sp>
      <p:sp>
        <p:nvSpPr>
          <p:cNvPr id="78" name="stack-body">
            <a:extLst xmlns:a="http://schemas.openxmlformats.org/drawingml/2006/main">
              <a:ext uri="{FF2B5EF4-FFF2-40B4-BE49-F238E27FC236}">
                <a16:creationId xmlns:a16="http://schemas.microsoft.com/office/drawing/2014/main" id="{01422C9E-5164-96D4-9077-1E7B62080F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1574800"/>
            <a:ext cx="4699000" cy="299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050">
                <a:solidFill>
                  <a:srgbClr val="102033"/>
                </a:solidFill>
                <a:latin typeface="JetBrains Mono"/>
                <a:ea typeface="JetBrains Mono"/>
                <a:cs typeface="JetBrains Mono"/>
              </a:rPr>
              <a:t>View → Controller → IService → Service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050">
                <a:solidFill>
                  <a:srgbClr val="102033"/>
                </a:solidFill>
                <a:latin typeface="JetBrains Mono"/>
                <a:ea typeface="JetBrains Mono"/>
                <a:cs typeface="JetBrains Mono"/>
              </a:rPr>
              <a:t>→ IRepository → Repository → Oracle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各层接口解耦 · 实现可替换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spcBef>
                <a:spcPts val="1000"/>
              </a:spcBef>
              <a:buNone/>
            </a:pPr>
            <a:r>
              <a:rPr sz="11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运行环境</a:t>
            </a:r>
            <a:r>
              <a:rPr sz="1150">
                <a:solidFill>
                  <a:srgbClr val="102033"/>
                </a:solidFill>
                <a:latin typeface="MiSans"/>
                <a:ea typeface="MiSans"/>
                <a:cs typeface="MiSans"/>
              </a:rPr>
              <a:t>　.NET SDK 9 · net9.0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1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测试工程</a:t>
            </a:r>
            <a:r>
              <a:rPr sz="1150">
                <a:solidFill>
                  <a:srgbClr val="102033"/>
                </a:solidFill>
                <a:latin typeface="MiSans"/>
                <a:ea typeface="MiSans"/>
                <a:cs typeface="MiSans"/>
              </a:rPr>
              <a:t>　xUnit + 仓储接口测试替身</a:t>
            </a:r>
            <a:endParaRPr sz="1150"/>
          </a:p>
          <a:p xmlns:a="http://schemas.openxmlformats.org/drawingml/2006/main">
            <a:pPr>
              <a:lnSpc>
                <a:spcPct val="160000"/>
              </a:lnSpc>
              <a:buNone/>
            </a:pPr>
            <a:r>
              <a:rPr sz="11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数据口径</a:t>
            </a:r>
            <a:r>
              <a:rPr sz="1150">
                <a:solidFill>
                  <a:srgbClr val="102033"/>
                </a:solidFill>
                <a:latin typeface="MiSans"/>
                <a:ea typeface="MiSans"/>
                <a:cs typeface="MiSans"/>
              </a:rPr>
              <a:t>　英文代码入库，页面显示中文</a:t>
            </a:r>
            <a:endParaRPr sz="1150"/>
          </a:p>
        </p:txBody>
      </p:sp>
      <p:sp>
        <p:nvSpPr>
          <p:cNvPr id="79" name="stack-line">
            <a:extLst xmlns:a="http://schemas.openxmlformats.org/drawingml/2006/main">
              <a:ext uri="{FF2B5EF4-FFF2-40B4-BE49-F238E27FC236}">
                <a16:creationId xmlns:a16="http://schemas.microsoft.com/office/drawing/2014/main" id="{FA681106-DC8C-C39B-B175-2851D39616B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537200"/>
            <a:ext cx="4699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0" name="stack-note">
            <a:extLst xmlns:a="http://schemas.openxmlformats.org/drawingml/2006/main">
              <a:ext uri="{FF2B5EF4-FFF2-40B4-BE49-F238E27FC236}">
                <a16:creationId xmlns:a16="http://schemas.microsoft.com/office/drawing/2014/main" id="{C971C912-0968-CB74-E360-B503AF2093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985000" y="5689600"/>
            <a:ext cx="4699000" cy="381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81" name="ft-line">
            <a:extLst xmlns:a="http://schemas.openxmlformats.org/drawingml/2006/main">
              <a:ext uri="{FF2B5EF4-FFF2-40B4-BE49-F238E27FC236}">
                <a16:creationId xmlns:a16="http://schemas.microsoft.com/office/drawing/2014/main" id="{2EB400EB-5B13-0016-01F8-252A613FF7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2" name="ft-brand">
            <a:extLst xmlns:a="http://schemas.openxmlformats.org/drawingml/2006/main">
              <a:ext uri="{FF2B5EF4-FFF2-40B4-BE49-F238E27FC236}">
                <a16:creationId xmlns:a16="http://schemas.microsoft.com/office/drawing/2014/main" id="{DAB0864F-A885-3524-A84C-84F99C06D7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济跑跑 J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I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RUN · </a:t>
            </a: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83" name="ft-page">
            <a:extLst xmlns:a="http://schemas.openxmlformats.org/drawingml/2006/main">
              <a:ext uri="{FF2B5EF4-FFF2-40B4-BE49-F238E27FC236}">
                <a16:creationId xmlns:a16="http://schemas.microsoft.com/office/drawing/2014/main" id="{CDF46835-4D8B-A662-E6D9-978D916126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4 / 17</a:t>
            </a:r>
            <a:endParaRPr sz="1000"/>
          </a:p>
        </p:txBody>
      </p:sp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136B2D8F-D2F8-7B00-38F1-272029E4B12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</p:spTree>
    <p:extLst>
      <p:ext uri="{BB962C8B-B14F-4D97-AF65-F5344CB8AC3E}">
        <p14:creationId xmlns:p14="http://schemas.microsoft.com/office/powerpoint/2010/main" val="903047673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87F46A7C-5929-4AAF-8218-5FC6520DCFB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02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44D7C18A-0ED4-4572-A715-5707953EA5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936F9D82-52B9-4045-A206-570E83A451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需求分析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2AE34302-EB33-4A27-BCDA-73D5B781EB4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功能架构 · 核心业务流程 · 数据与非功能需求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CC25BDB9-647E-4139-89D6-60A272AF1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02 / 05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9A97C313-5C80-41B8-855A-ADEC6095CD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B67BE45A-07BA-45B7-9913-50DCA04B47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5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5347687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59" name="hd-tick">
            <a:extLst xmlns:a="http://schemas.openxmlformats.org/drawingml/2006/main">
              <a:ext uri="{FF2B5EF4-FFF2-40B4-BE49-F238E27FC236}">
                <a16:creationId xmlns:a16="http://schemas.microsoft.com/office/drawing/2014/main" id="{1D08A911-717B-B799-4359-0A50FCA0FE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hd-title">
            <a:extLst xmlns:a="http://schemas.openxmlformats.org/drawingml/2006/main">
              <a:ext uri="{FF2B5EF4-FFF2-40B4-BE49-F238E27FC236}">
                <a16:creationId xmlns:a16="http://schemas.microsoft.com/office/drawing/2014/main" id="{42C88B4C-90FE-909B-D8C1-20DFD61930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功能需求</a:t>
            </a:r>
            <a:endParaRPr sz="2500"/>
          </a:p>
        </p:txBody>
      </p:sp>
      <p:sp>
        <p:nvSpPr>
          <p:cNvPr id="61" name="hd-sec">
            <a:extLst xmlns:a="http://schemas.openxmlformats.org/drawingml/2006/main">
              <a:ext uri="{FF2B5EF4-FFF2-40B4-BE49-F238E27FC236}">
                <a16:creationId xmlns:a16="http://schemas.microsoft.com/office/drawing/2014/main" id="{B17147CB-4F6E-B452-66E2-3564401E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02 · 需求分析</a:t>
            </a:r>
            <a:endParaRPr sz="1100"/>
          </a:p>
        </p:txBody>
      </p:sp>
      <p:sp>
        <p:nvSpPr>
          <p:cNvPr id="62" name="hd-line">
            <a:extLst xmlns:a="http://schemas.openxmlformats.org/drawingml/2006/main">
              <a:ext uri="{FF2B5EF4-FFF2-40B4-BE49-F238E27FC236}">
                <a16:creationId xmlns:a16="http://schemas.microsoft.com/office/drawing/2014/main" id="{93880704-734E-1F64-39F1-FA24391D84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3" name="root-box">
            <a:extLst xmlns:a="http://schemas.openxmlformats.org/drawingml/2006/main">
              <a:ext uri="{FF2B5EF4-FFF2-40B4-BE49-F238E27FC236}">
                <a16:creationId xmlns:a16="http://schemas.microsoft.com/office/drawing/2014/main" id="{B491C8D2-A498-61BD-2A75-25785C581BE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149600"/>
            <a:ext cx="1778000" cy="812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1F3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root-t">
            <a:extLst xmlns:a="http://schemas.openxmlformats.org/drawingml/2006/main">
              <a:ext uri="{FF2B5EF4-FFF2-40B4-BE49-F238E27FC236}">
                <a16:creationId xmlns:a16="http://schemas.microsoft.com/office/drawing/2014/main" id="{DDBE997D-65BB-3AF6-E95B-53EA01FC6C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149600"/>
            <a:ext cx="1778000" cy="81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5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济跑跑系统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93A8C4"/>
                </a:solidFill>
                <a:latin typeface="MiSans"/>
                <a:ea typeface="MiSans"/>
                <a:cs typeface="MiSans"/>
              </a:rPr>
              <a:t>JIRUN SYSTEM</a:t>
            </a:r>
            <a:endParaRPr sz="1600"/>
          </a:p>
        </p:txBody>
      </p:sp>
      <p:sp>
        <p:nvSpPr>
          <p:cNvPr id="65" name="stub-root">
            <a:extLst xmlns:a="http://schemas.openxmlformats.org/drawingml/2006/main">
              <a:ext uri="{FF2B5EF4-FFF2-40B4-BE49-F238E27FC236}">
                <a16:creationId xmlns:a16="http://schemas.microsoft.com/office/drawing/2014/main" id="{2C259351-C04F-517D-DA7D-80772A7686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3543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6" name="spine">
            <a:extLst xmlns:a="http://schemas.openxmlformats.org/drawingml/2006/main">
              <a:ext uri="{FF2B5EF4-FFF2-40B4-BE49-F238E27FC236}">
                <a16:creationId xmlns:a16="http://schemas.microsoft.com/office/drawing/2014/main" id="{70D4C992-C49D-95C9-DA26-2B9D75B278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51000"/>
            <a:ext cx="19050" cy="3810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stub1">
            <a:extLst xmlns:a="http://schemas.openxmlformats.org/drawingml/2006/main">
              <a:ext uri="{FF2B5EF4-FFF2-40B4-BE49-F238E27FC236}">
                <a16:creationId xmlns:a16="http://schemas.microsoft.com/office/drawing/2014/main" id="{71D4D66D-FD7A-A0E9-D23F-8E313A1ACF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1638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8" name="stub2">
            <a:extLst xmlns:a="http://schemas.openxmlformats.org/drawingml/2006/main">
              <a:ext uri="{FF2B5EF4-FFF2-40B4-BE49-F238E27FC236}">
                <a16:creationId xmlns:a16="http://schemas.microsoft.com/office/drawing/2014/main" id="{F8A2B5D1-6EED-66C8-6D52-3E6ED86141F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25908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9" name="stub3">
            <a:extLst xmlns:a="http://schemas.openxmlformats.org/drawingml/2006/main">
              <a:ext uri="{FF2B5EF4-FFF2-40B4-BE49-F238E27FC236}">
                <a16:creationId xmlns:a16="http://schemas.microsoft.com/office/drawing/2014/main" id="{FFE69346-902B-566C-78D7-BE809853739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43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0" name="stub4">
            <a:extLst xmlns:a="http://schemas.openxmlformats.org/drawingml/2006/main">
              <a:ext uri="{FF2B5EF4-FFF2-40B4-BE49-F238E27FC236}">
                <a16:creationId xmlns:a16="http://schemas.microsoft.com/office/drawing/2014/main" id="{185F4D19-8192-3E78-75CA-216E131C464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44958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1" name="stub5">
            <a:extLst xmlns:a="http://schemas.openxmlformats.org/drawingml/2006/main">
              <a:ext uri="{FF2B5EF4-FFF2-40B4-BE49-F238E27FC236}">
                <a16:creationId xmlns:a16="http://schemas.microsoft.com/office/drawing/2014/main" id="{FF67CB64-4AF9-C337-434B-6B03FAAFAF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5448300"/>
            <a:ext cx="635000" cy="1905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64748B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2" name="m1-title">
            <a:extLst xmlns:a="http://schemas.openxmlformats.org/drawingml/2006/main">
              <a:ext uri="{FF2B5EF4-FFF2-40B4-BE49-F238E27FC236}">
                <a16:creationId xmlns:a16="http://schemas.microsoft.com/office/drawing/2014/main" id="{586231B5-F2B1-F904-F33F-91375B1DC5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1295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账号与地址</a:t>
            </a:r>
            <a:endParaRPr sz="1500"/>
          </a:p>
        </p:txBody>
      </p:sp>
      <p:sp>
        <p:nvSpPr>
          <p:cNvPr id="73" name="m1-body">
            <a:extLst xmlns:a="http://schemas.openxmlformats.org/drawingml/2006/main">
              <a:ext uri="{FF2B5EF4-FFF2-40B4-BE49-F238E27FC236}">
                <a16:creationId xmlns:a16="http://schemas.microsoft.com/office/drawing/2014/main" id="{9669C09F-3E9A-6205-8DA2-80814E0E5C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16256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注册登录（带盐哈希）· 账号封禁 / 注销生命周期 · 地址增删改与默认地址唯一</a:t>
            </a:r>
            <a:endParaRPr sz="1150"/>
          </a:p>
        </p:txBody>
      </p:sp>
      <p:sp>
        <p:nvSpPr>
          <p:cNvPr id="74" name="m1-line">
            <a:extLst xmlns:a="http://schemas.openxmlformats.org/drawingml/2006/main">
              <a:ext uri="{FF2B5EF4-FFF2-40B4-BE49-F238E27FC236}">
                <a16:creationId xmlns:a16="http://schemas.microsoft.com/office/drawing/2014/main" id="{504F0EC1-815B-FD8C-967A-8AF4B8CED5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1336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m2-title">
            <a:extLst xmlns:a="http://schemas.openxmlformats.org/drawingml/2006/main">
              <a:ext uri="{FF2B5EF4-FFF2-40B4-BE49-F238E27FC236}">
                <a16:creationId xmlns:a16="http://schemas.microsoft.com/office/drawing/2014/main" id="{61B902CA-465E-54A7-A29F-92A980297EB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2479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基础配置</a:t>
            </a:r>
            <a:endParaRPr sz="1500"/>
          </a:p>
        </p:txBody>
      </p:sp>
      <p:sp>
        <p:nvSpPr>
          <p:cNvPr id="76" name="m2-body">
            <a:extLst xmlns:a="http://schemas.openxmlformats.org/drawingml/2006/main">
              <a:ext uri="{FF2B5EF4-FFF2-40B4-BE49-F238E27FC236}">
                <a16:creationId xmlns:a16="http://schemas.microsoft.com/office/drawing/2014/main" id="{9D1CDACF-C330-4B42-8A61-951BD4DBFA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25781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节点（校门 / 驿站 / 分发点）启闭维护 · 服务类型与价格规则 · 服务—节点适用绑定</a:t>
            </a:r>
            <a:endParaRPr sz="1150"/>
          </a:p>
        </p:txBody>
      </p:sp>
      <p:sp>
        <p:nvSpPr>
          <p:cNvPr id="77" name="m2-line">
            <a:extLst xmlns:a="http://schemas.openxmlformats.org/drawingml/2006/main">
              <a:ext uri="{FF2B5EF4-FFF2-40B4-BE49-F238E27FC236}">
                <a16:creationId xmlns:a16="http://schemas.microsoft.com/office/drawing/2014/main" id="{9C776686-7147-9F13-6216-277E146D19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0861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8" name="m3-title">
            <a:extLst xmlns:a="http://schemas.openxmlformats.org/drawingml/2006/main">
              <a:ext uri="{FF2B5EF4-FFF2-40B4-BE49-F238E27FC236}">
                <a16:creationId xmlns:a16="http://schemas.microsoft.com/office/drawing/2014/main" id="{BA9C3F16-8007-78C8-91C1-651E97CEC5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200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任务与接派</a:t>
            </a:r>
            <a:endParaRPr sz="1500"/>
          </a:p>
        </p:txBody>
      </p:sp>
      <p:sp>
        <p:nvSpPr>
          <p:cNvPr id="79" name="m3-body">
            <a:extLst xmlns:a="http://schemas.openxmlformats.org/drawingml/2006/main">
              <a:ext uri="{FF2B5EF4-FFF2-40B4-BE49-F238E27FC236}">
                <a16:creationId xmlns:a16="http://schemas.microsoft.com/office/drawing/2014/main" id="{7F084453-BBAC-952C-24AE-D572AC0EC1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35306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三类任务发布与取消 · 任务大厅抢单 · 管理员派单 / 重派 · 配送状态流转 · 确认收货</a:t>
            </a:r>
            <a:endParaRPr sz="1150"/>
          </a:p>
        </p:txBody>
      </p:sp>
      <p:sp>
        <p:nvSpPr>
          <p:cNvPr id="80" name="m3-line">
            <a:extLst xmlns:a="http://schemas.openxmlformats.org/drawingml/2006/main">
              <a:ext uri="{FF2B5EF4-FFF2-40B4-BE49-F238E27FC236}">
                <a16:creationId xmlns:a16="http://schemas.microsoft.com/office/drawing/2014/main" id="{5542D8D9-3A48-EA43-B802-BE62F4BC241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0386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1" name="m4-title">
            <a:extLst xmlns:a="http://schemas.openxmlformats.org/drawingml/2006/main">
              <a:ext uri="{FF2B5EF4-FFF2-40B4-BE49-F238E27FC236}">
                <a16:creationId xmlns:a16="http://schemas.microsoft.com/office/drawing/2014/main" id="{0A23ABFB-50D7-8051-A77A-957583B22B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1529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资金与售后</a:t>
            </a:r>
            <a:endParaRPr sz="1500"/>
          </a:p>
        </p:txBody>
      </p:sp>
      <p:sp>
        <p:nvSpPr>
          <p:cNvPr id="82" name="m4-body">
            <a:extLst xmlns:a="http://schemas.openxmlformats.org/drawingml/2006/main">
              <a:ext uri="{FF2B5EF4-FFF2-40B4-BE49-F238E27FC236}">
                <a16:creationId xmlns:a16="http://schemas.microsoft.com/office/drawing/2014/main" id="{370348A8-B0B7-3182-7818-7B23AFF625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4831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收货后支付与稍后付款 · 退款申请与审核 · 一单一评与信誉分联动 · 投诉处理</a:t>
            </a:r>
            <a:endParaRPr sz="1150"/>
          </a:p>
        </p:txBody>
      </p:sp>
      <p:sp>
        <p:nvSpPr>
          <p:cNvPr id="83" name="m4-line">
            <a:extLst xmlns:a="http://schemas.openxmlformats.org/drawingml/2006/main">
              <a:ext uri="{FF2B5EF4-FFF2-40B4-BE49-F238E27FC236}">
                <a16:creationId xmlns:a16="http://schemas.microsoft.com/office/drawing/2014/main" id="{3FE9E4AD-24F8-1897-0D7B-3FB457A2F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4991100"/>
            <a:ext cx="7493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4" name="m5-title">
            <a:extLst xmlns:a="http://schemas.openxmlformats.org/drawingml/2006/main">
              <a:ext uri="{FF2B5EF4-FFF2-40B4-BE49-F238E27FC236}">
                <a16:creationId xmlns:a16="http://schemas.microsoft.com/office/drawing/2014/main" id="{3803B649-E38F-3A60-1D97-E527232AA6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105400"/>
            <a:ext cx="508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0B4FB3"/>
                </a:solidFill>
                <a:latin typeface="MiSans"/>
                <a:ea typeface="MiSans"/>
                <a:cs typeface="MiSans"/>
              </a:rPr>
              <a:t>结算、审计与报表</a:t>
            </a:r>
            <a:endParaRPr sz="1500"/>
          </a:p>
        </p:txBody>
      </p:sp>
      <p:sp>
        <p:nvSpPr>
          <p:cNvPr id="85" name="m5-body">
            <a:extLst xmlns:a="http://schemas.openxmlformats.org/drawingml/2006/main">
              <a:ext uri="{FF2B5EF4-FFF2-40B4-BE49-F238E27FC236}">
                <a16:creationId xmlns:a16="http://schemas.microsoft.com/office/drawing/2014/main" id="{EC5E519C-9EAE-2672-96BD-5B10D5B928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5435600"/>
            <a:ext cx="7493000" cy="50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跑腿员结算单生成 · 支付 / 退款 / 状态日志审计 · 按月统计报表与 CSV 导出</a:t>
            </a:r>
            <a:endParaRPr sz="1150"/>
          </a:p>
        </p:txBody>
      </p:sp>
      <p:sp>
        <p:nvSpPr>
          <p:cNvPr id="86" name="mod-note">
            <a:extLst xmlns:a="http://schemas.openxmlformats.org/drawingml/2006/main">
              <a:ext uri="{FF2B5EF4-FFF2-40B4-BE49-F238E27FC236}">
                <a16:creationId xmlns:a16="http://schemas.microsoft.com/office/drawing/2014/main" id="{062D63A5-1D34-D56A-505A-813157CA13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937000" y="6070600"/>
            <a:ext cx="7747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87" name="ft-line">
            <a:extLst xmlns:a="http://schemas.openxmlformats.org/drawingml/2006/main">
              <a:ext uri="{FF2B5EF4-FFF2-40B4-BE49-F238E27FC236}">
                <a16:creationId xmlns:a16="http://schemas.microsoft.com/office/drawing/2014/main" id="{9FD6A6A2-BDC8-F637-6B1B-B06CAA8E82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9" name="ft-page">
            <a:extLst xmlns:a="http://schemas.openxmlformats.org/drawingml/2006/main">
              <a:ext uri="{FF2B5EF4-FFF2-40B4-BE49-F238E27FC236}">
                <a16:creationId xmlns:a16="http://schemas.microsoft.com/office/drawing/2014/main" id="{0464EFD3-2D15-A502-F977-0BA00B6A76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6 / 17</a:t>
            </a:r>
            <a:endParaRPr sz="1000"/>
          </a:p>
        </p:txBody>
      </p:sp>
      <p:sp>
        <p:nvSpPr>
          <p:cNvPr id="90" name="ft-brand">
            <a:extLst xmlns:a="http://schemas.openxmlformats.org/drawingml/2006/main">
              <a:ext uri="{FF2B5EF4-FFF2-40B4-BE49-F238E27FC236}">
                <a16:creationId xmlns:a16="http://schemas.microsoft.com/office/drawing/2014/main" id="{80B64138-B861-4820-AC24-4D683717A2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92201526"/>
      </p:ext>
    </p:extLst>
  </p:cSld>
</p:sld>
</file>

<file path=ppt/slides/slide7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39" name="hd-tick">
            <a:extLst xmlns:a="http://schemas.openxmlformats.org/drawingml/2006/main">
              <a:ext uri="{FF2B5EF4-FFF2-40B4-BE49-F238E27FC236}">
                <a16:creationId xmlns:a16="http://schemas.microsoft.com/office/drawing/2014/main" id="{2EF9BFD5-282E-79F9-7D0B-E946A761D8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0" name="hd-title">
            <a:extLst xmlns:a="http://schemas.openxmlformats.org/drawingml/2006/main">
              <a:ext uri="{FF2B5EF4-FFF2-40B4-BE49-F238E27FC236}">
                <a16:creationId xmlns:a16="http://schemas.microsoft.com/office/drawing/2014/main" id="{669631E7-48CE-A1AC-3502-8053308FFE3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核心业务流</a:t>
            </a:r>
            <a:endParaRPr sz="2500"/>
          </a:p>
        </p:txBody>
      </p:sp>
      <p:sp>
        <p:nvSpPr>
          <p:cNvPr id="41" name="hd-sec">
            <a:extLst xmlns:a="http://schemas.openxmlformats.org/drawingml/2006/main">
              <a:ext uri="{FF2B5EF4-FFF2-40B4-BE49-F238E27FC236}">
                <a16:creationId xmlns:a16="http://schemas.microsoft.com/office/drawing/2014/main" id="{35BC5832-716E-7835-C1AE-35A9F2E8E2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02 · 需求分析</a:t>
            </a:r>
            <a:endParaRPr sz="1100"/>
          </a:p>
        </p:txBody>
      </p:sp>
      <p:sp>
        <p:nvSpPr>
          <p:cNvPr id="42" name="hd-line">
            <a:extLst xmlns:a="http://schemas.openxmlformats.org/drawingml/2006/main">
              <a:ext uri="{FF2B5EF4-FFF2-40B4-BE49-F238E27FC236}">
                <a16:creationId xmlns:a16="http://schemas.microsoft.com/office/drawing/2014/main" id="{CBB8944E-8AF3-D2C5-CCCB-1575EAD0802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3" name="main-label">
            <a:extLst xmlns:a="http://schemas.openxmlformats.org/drawingml/2006/main">
              <a:ext uri="{FF2B5EF4-FFF2-40B4-BE49-F238E27FC236}">
                <a16:creationId xmlns:a16="http://schemas.microsoft.com/office/drawing/2014/main" id="{3CEE5975-4A3D-4AD5-2D8D-F5D3D98072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168400"/>
            <a:ext cx="508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正常路径</a:t>
            </a:r>
            <a:endParaRPr sz="1100"/>
          </a:p>
        </p:txBody>
      </p:sp>
      <p:sp>
        <p:nvSpPr>
          <p:cNvPr id="44" name="s1">
            <a:extLst xmlns:a="http://schemas.openxmlformats.org/drawingml/2006/main">
              <a:ext uri="{FF2B5EF4-FFF2-40B4-BE49-F238E27FC236}">
                <a16:creationId xmlns:a16="http://schemas.microsoft.com/office/drawing/2014/main" id="{08DF6599-B144-7445-713E-0152C584BF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5" name="s1-t">
            <a:extLst xmlns:a="http://schemas.openxmlformats.org/drawingml/2006/main">
              <a:ext uri="{FF2B5EF4-FFF2-40B4-BE49-F238E27FC236}">
                <a16:creationId xmlns:a16="http://schemas.microsoft.com/office/drawing/2014/main" id="{0F11A72B-2B2E-D72D-60B5-CE7C831E3F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待接单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WAITING</a:t>
            </a:r>
            <a:endParaRPr sz="1600"/>
          </a:p>
        </p:txBody>
      </p:sp>
      <p:sp>
        <p:nvSpPr>
          <p:cNvPr id="46" name="a1">
            <a:extLst xmlns:a="http://schemas.openxmlformats.org/drawingml/2006/main">
              <a:ext uri="{FF2B5EF4-FFF2-40B4-BE49-F238E27FC236}">
                <a16:creationId xmlns:a16="http://schemas.microsoft.com/office/drawing/2014/main" id="{80EE1074-B130-FAF9-DA05-1D2A033B8E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844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7" name="s2">
            <a:extLst xmlns:a="http://schemas.openxmlformats.org/drawingml/2006/main">
              <a:ext uri="{FF2B5EF4-FFF2-40B4-BE49-F238E27FC236}">
                <a16:creationId xmlns:a16="http://schemas.microsoft.com/office/drawing/2014/main" id="{F8DFF56F-AC98-4C8E-7BD6-284C041936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8" name="s2-t">
            <a:extLst xmlns:a="http://schemas.openxmlformats.org/drawingml/2006/main">
              <a:ext uri="{FF2B5EF4-FFF2-40B4-BE49-F238E27FC236}">
                <a16:creationId xmlns:a16="http://schemas.microsoft.com/office/drawing/2014/main" id="{3623A747-1F0B-C962-414C-F8992D4183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4892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已接单 / 派单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ASSIGNED</a:t>
            </a:r>
            <a:endParaRPr sz="1600"/>
          </a:p>
        </p:txBody>
      </p:sp>
      <p:sp>
        <p:nvSpPr>
          <p:cNvPr id="49" name="a2">
            <a:extLst xmlns:a="http://schemas.openxmlformats.org/drawingml/2006/main">
              <a:ext uri="{FF2B5EF4-FFF2-40B4-BE49-F238E27FC236}">
                <a16:creationId xmlns:a16="http://schemas.microsoft.com/office/drawing/2014/main" id="{C00D4AA3-E45C-BC24-9727-D49A50AAF0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56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0" name="s3">
            <a:extLst xmlns:a="http://schemas.openxmlformats.org/drawingml/2006/main">
              <a:ext uri="{FF2B5EF4-FFF2-40B4-BE49-F238E27FC236}">
                <a16:creationId xmlns:a16="http://schemas.microsoft.com/office/drawing/2014/main" id="{84E2A03B-263C-CCCE-3FFC-E2D0F40084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1" name="s3-t">
            <a:extLst xmlns:a="http://schemas.openxmlformats.org/drawingml/2006/main">
              <a:ext uri="{FF2B5EF4-FFF2-40B4-BE49-F238E27FC236}">
                <a16:creationId xmlns:a16="http://schemas.microsoft.com/office/drawing/2014/main" id="{00F87D1C-6979-596D-9C58-A23DF9C073D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4704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已取货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PICKED_UP</a:t>
            </a:r>
            <a:endParaRPr sz="1600"/>
          </a:p>
        </p:txBody>
      </p:sp>
      <p:sp>
        <p:nvSpPr>
          <p:cNvPr id="52" name="a3">
            <a:extLst xmlns:a="http://schemas.openxmlformats.org/drawingml/2006/main">
              <a:ext uri="{FF2B5EF4-FFF2-40B4-BE49-F238E27FC236}">
                <a16:creationId xmlns:a16="http://schemas.microsoft.com/office/drawing/2014/main" id="{877777BB-0278-CCCC-B63F-1BE19821AF9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468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3" name="s4">
            <a:extLst xmlns:a="http://schemas.openxmlformats.org/drawingml/2006/main">
              <a:ext uri="{FF2B5EF4-FFF2-40B4-BE49-F238E27FC236}">
                <a16:creationId xmlns:a16="http://schemas.microsoft.com/office/drawing/2014/main" id="{1F2FD6A0-8CD5-F87C-B45A-A6C3B232FC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4" name="s4-t">
            <a:extLst xmlns:a="http://schemas.openxmlformats.org/drawingml/2006/main">
              <a:ext uri="{FF2B5EF4-FFF2-40B4-BE49-F238E27FC236}">
                <a16:creationId xmlns:a16="http://schemas.microsoft.com/office/drawing/2014/main" id="{BA9E1B45-D20F-B3D2-9A59-C36EBB43A8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516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配送中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DELIVERING</a:t>
            </a:r>
            <a:endParaRPr sz="1600"/>
          </a:p>
        </p:txBody>
      </p:sp>
      <p:sp>
        <p:nvSpPr>
          <p:cNvPr id="55" name="a4">
            <a:extLst xmlns:a="http://schemas.openxmlformats.org/drawingml/2006/main">
              <a:ext uri="{FF2B5EF4-FFF2-40B4-BE49-F238E27FC236}">
                <a16:creationId xmlns:a16="http://schemas.microsoft.com/office/drawing/2014/main" id="{05128A43-EBB7-74FB-FCDE-7DB41173E1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752600"/>
            <a:ext cx="254000" cy="152400"/>
          </a:xfrm>
          <a:custGeom xmlns:a="http://schemas.openxmlformats.org/drawingml/2006/main">
            <a:rect l="l" t="t" r="r" b="b"/>
            <a:pathLst>
              <a:path w="20" h="12">
                <a:moveTo>
                  <a:pt x="0" y="6"/>
                </a:moveTo>
                <a:lnTo>
                  <a:pt x="20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6" name="s5">
            <a:extLst xmlns:a="http://schemas.openxmlformats.org/drawingml/2006/main">
              <a:ext uri="{FF2B5EF4-FFF2-40B4-BE49-F238E27FC236}">
                <a16:creationId xmlns:a16="http://schemas.microsoft.com/office/drawing/2014/main" id="{815CC9E2-28FF-EDBD-E47A-BA2E2C0E09B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1498600"/>
            <a:ext cx="16256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5240">
            <a:solidFill>
              <a:srgbClr val="0B4FB3"/>
            </a:solidFill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7" name="s5-t">
            <a:extLst xmlns:a="http://schemas.openxmlformats.org/drawingml/2006/main">
              <a:ext uri="{FF2B5EF4-FFF2-40B4-BE49-F238E27FC236}">
                <a16:creationId xmlns:a16="http://schemas.microsoft.com/office/drawing/2014/main" id="{F1B0D024-22CE-8070-29D0-52F9069D006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432800" y="1498600"/>
            <a:ext cx="16256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102033"/>
                </a:solidFill>
                <a:latin typeface="MiSans"/>
                <a:ea typeface="MiSans"/>
                <a:cs typeface="MiSans"/>
              </a:rPr>
              <a:t>待确认付款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WAIT_CONFIRM</a:t>
            </a:r>
            <a:endParaRPr sz="1600"/>
          </a:p>
        </p:txBody>
      </p:sp>
      <p:sp>
        <p:nvSpPr>
          <p:cNvPr id="58" name="a5">
            <a:extLst xmlns:a="http://schemas.openxmlformats.org/drawingml/2006/main">
              <a:ext uri="{FF2B5EF4-FFF2-40B4-BE49-F238E27FC236}">
                <a16:creationId xmlns:a16="http://schemas.microsoft.com/office/drawing/2014/main" id="{5CE7E70D-940A-A884-224B-43EB3A312E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09200" y="1752600"/>
            <a:ext cx="203200" cy="152400"/>
          </a:xfrm>
          <a:custGeom xmlns:a="http://schemas.openxmlformats.org/drawingml/2006/main">
            <a:rect l="l" t="t" r="r" b="b"/>
            <a:pathLst>
              <a:path w="16" h="12">
                <a:moveTo>
                  <a:pt x="0" y="6"/>
                </a:moveTo>
                <a:lnTo>
                  <a:pt x="16" y="6"/>
                </a:lnTo>
              </a:path>
            </a:pathLst>
          </a:custGeom>
          <a:noFill xmlns:a="http://schemas.openxmlformats.org/drawingml/2006/main"/>
          <a:ln xmlns:a="http://schemas.openxmlformats.org/drawingml/2006/main" w="19050">
            <a:solidFill>
              <a:srgbClr val="0B4FB3"/>
            </a:solidFill>
            <a:tailEnd type="stealt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59" name="s6">
            <a:extLst xmlns:a="http://schemas.openxmlformats.org/drawingml/2006/main">
              <a:ext uri="{FF2B5EF4-FFF2-40B4-BE49-F238E27FC236}">
                <a16:creationId xmlns:a16="http://schemas.microsoft.com/office/drawing/2014/main" id="{364C348E-478C-1E01-5454-F608415EAD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98600"/>
            <a:ext cx="1320800" cy="660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0B4FB3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0" name="s6-t">
            <a:extLst xmlns:a="http://schemas.openxmlformats.org/drawingml/2006/main">
              <a:ext uri="{FF2B5EF4-FFF2-40B4-BE49-F238E27FC236}">
                <a16:creationId xmlns:a16="http://schemas.microsoft.com/office/drawing/2014/main" id="{67F9A409-26D0-9DC7-896E-6EA0E9EC03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363200" y="1498600"/>
            <a:ext cx="1320800" cy="660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5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已完成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C9DCF5"/>
                </a:solidFill>
                <a:latin typeface="JetBrains Mono"/>
                <a:ea typeface="JetBrains Mono"/>
                <a:cs typeface="JetBrains Mono"/>
              </a:rPr>
              <a:t>FINISHED</a:t>
            </a:r>
            <a:endParaRPr sz="1600"/>
          </a:p>
        </p:txBody>
      </p:sp>
      <p:sp>
        <p:nvSpPr>
          <p:cNvPr id="61" name="trig">
            <a:extLst xmlns:a="http://schemas.openxmlformats.org/drawingml/2006/main">
              <a:ext uri="{FF2B5EF4-FFF2-40B4-BE49-F238E27FC236}">
                <a16:creationId xmlns:a16="http://schemas.microsoft.com/office/drawing/2014/main" id="{413E141A-4FB3-3894-E2D4-A7CFDD5EDE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286000"/>
            <a:ext cx="1117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触发操作：发布任务 → 跑腿员抢单 / 管理员派单 → 取货 → 配送 → 送达待确认 → 用户确认收货并付款；进入 FINISHED 前支付状态必须为 PAID</a:t>
            </a:r>
            <a:endParaRPr sz="1050"/>
          </a:p>
        </p:txBody>
      </p:sp>
      <p:sp>
        <p:nvSpPr>
          <p:cNvPr id="62" name="exc-label">
            <a:extLst xmlns:a="http://schemas.openxmlformats.org/drawingml/2006/main">
              <a:ext uri="{FF2B5EF4-FFF2-40B4-BE49-F238E27FC236}">
                <a16:creationId xmlns:a16="http://schemas.microsoft.com/office/drawing/2014/main" id="{9E32709F-BCD6-4E71-922C-5C93683E4ED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28194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b="1" spc="1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异常与售后路径</a:t>
            </a:r>
            <a:endParaRPr sz="1100"/>
          </a:p>
        </p:txBody>
      </p:sp>
      <p:sp>
        <p:nvSpPr>
          <p:cNvPr id="63" name="e1">
            <a:extLst xmlns:a="http://schemas.openxmlformats.org/drawingml/2006/main">
              <a:ext uri="{FF2B5EF4-FFF2-40B4-BE49-F238E27FC236}">
                <a16:creationId xmlns:a16="http://schemas.microsoft.com/office/drawing/2014/main" id="{31CC0D58-85FE-8E61-C873-E7787CC68B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149600"/>
            <a:ext cx="1905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5240">
            <a:solidFill>
              <a:srgbClr val="64748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4" name="e1-t">
            <a:extLst xmlns:a="http://schemas.openxmlformats.org/drawingml/2006/main">
              <a:ext uri="{FF2B5EF4-FFF2-40B4-BE49-F238E27FC236}">
                <a16:creationId xmlns:a16="http://schemas.microsoft.com/office/drawing/2014/main" id="{0677F639-9A97-73F4-E627-77CDDA3235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149600"/>
            <a:ext cx="190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00" b="1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已取消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CANCELLED</a:t>
            </a:r>
            <a:endParaRPr sz="1600"/>
          </a:p>
        </p:txBody>
      </p:sp>
      <p:sp>
        <p:nvSpPr>
          <p:cNvPr id="65" name="e1-d">
            <a:extLst xmlns:a="http://schemas.openxmlformats.org/drawingml/2006/main">
              <a:ext uri="{FF2B5EF4-FFF2-40B4-BE49-F238E27FC236}">
                <a16:creationId xmlns:a16="http://schemas.microsoft.com/office/drawing/2014/main" id="{6819929A-0E43-013B-4999-E19A25A562D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565400" y="3200400"/>
            <a:ext cx="2794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仅 WAITING 可自助取消；已接单取消须绑定当前接派记录并写状态日志</a:t>
            </a:r>
            <a:endParaRPr sz="1050"/>
          </a:p>
        </p:txBody>
      </p:sp>
      <p:sp>
        <p:nvSpPr>
          <p:cNvPr id="66" name="e2">
            <a:extLst xmlns:a="http://schemas.openxmlformats.org/drawingml/2006/main">
              <a:ext uri="{FF2B5EF4-FFF2-40B4-BE49-F238E27FC236}">
                <a16:creationId xmlns:a16="http://schemas.microsoft.com/office/drawing/2014/main" id="{165635BC-55B6-BF17-CC35-3BCAF9208C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9600"/>
            <a:ext cx="19050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5F8FC"/>
          </a:solidFill>
          <a:ln xmlns:a="http://schemas.openxmlformats.org/drawingml/2006/main" w="15240">
            <a:solidFill>
              <a:srgbClr val="64748B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7" name="e2-t">
            <a:extLst xmlns:a="http://schemas.openxmlformats.org/drawingml/2006/main">
              <a:ext uri="{FF2B5EF4-FFF2-40B4-BE49-F238E27FC236}">
                <a16:creationId xmlns:a16="http://schemas.microsoft.com/office/drawing/2014/main" id="{31A16F9B-F284-8D94-6924-8640AD502E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715000" y="3149600"/>
            <a:ext cx="1905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1200" b="1">
                <a:solidFill>
                  <a:srgbClr val="64748B"/>
                </a:solidFill>
                <a:latin typeface="MiSans"/>
                <a:ea typeface="MiSans"/>
                <a:cs typeface="MiSans"/>
              </a:rPr>
              <a:t>退款售后中</a:t>
            </a:r>
            <a:endParaRPr sz="1600"/>
          </a:p>
          <a:p xmlns:a="http://schemas.openxmlformats.org/drawingml/2006/main">
            <a:pPr algn="ctr">
              <a:lnSpc>
                <a:spcPct val="130000"/>
              </a:lnSpc>
              <a:buNone/>
            </a:pPr>
            <a:r>
              <a:rPr sz="900">
                <a:solidFill>
                  <a:srgbClr val="64748B"/>
                </a:solidFill>
                <a:latin typeface="JetBrains Mono"/>
                <a:ea typeface="JetBrains Mono"/>
                <a:cs typeface="JetBrains Mono"/>
              </a:rPr>
              <a:t>REFUNDING</a:t>
            </a:r>
            <a:endParaRPr sz="1600"/>
          </a:p>
        </p:txBody>
      </p:sp>
      <p:sp>
        <p:nvSpPr>
          <p:cNvPr id="68" name="e2-d">
            <a:extLst xmlns:a="http://schemas.openxmlformats.org/drawingml/2006/main">
              <a:ext uri="{FF2B5EF4-FFF2-40B4-BE49-F238E27FC236}">
                <a16:creationId xmlns:a16="http://schemas.microsoft.com/office/drawing/2014/main" id="{7C85EDD8-2BE9-75E1-C2D1-0075E9B837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772400" y="3200400"/>
            <a:ext cx="39116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0000"/>
              </a:lnSpc>
              <a:buNone/>
            </a:pPr>
            <a:r>
              <a:rPr sz="105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已付款任务的售后经退款申请—管理员审核处理；跑腿员无法履约时管理员新增 REASSIGN 记录重派，流程已优化</a:t>
            </a:r>
            <a:endParaRPr sz="1050"/>
          </a:p>
        </p:txBody>
      </p:sp>
      <p:sp>
        <p:nvSpPr>
          <p:cNvPr id="69" name="impl-line">
            <a:extLst xmlns:a="http://schemas.openxmlformats.org/drawingml/2006/main">
              <a:ext uri="{FF2B5EF4-FFF2-40B4-BE49-F238E27FC236}">
                <a16:creationId xmlns:a16="http://schemas.microsoft.com/office/drawing/2014/main" id="{4567C189-CF68-B7B7-594A-7A8684BBD1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148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09" name="st-table"/>
          <p:cNvGraphicFramePr/>
          <p:nvPr/>
        </p:nvGraphicFramePr>
        <p:xfrm>
          <a:off xmlns:a="http://schemas.openxmlformats.org/drawingml/2006/main" x="512064" y="4318000"/>
          <a:ext xmlns:a="http://schemas.openxmlformats.org/drawingml/2006/main" cx="11173968" cy="203511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645920"/>
                <a:gridCol w="2743200"/>
                <a:gridCol w="6784848"/>
              </a:tblGrid>
              <a:tr h="31089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含义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允许流转至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102033"/>
                      </a:solidFill>
                    </a:lnT>
                    <a:lnB w="19050">
                      <a:solidFill>
                        <a:srgbClr val="102033"/>
                      </a:solidFill>
                    </a:lnB>
                    <a:solidFill>
                      <a:srgbClr val="E4EEFB"/>
                    </a:solidFill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WAITING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待接单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ASSIGNED / CANCELLED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102033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ASSIGNED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已接派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PICKED_UP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PICKED_UP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已取货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DELIVERING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DELIVERING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配送中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WAIT_CONFIRM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WAIT_CONFIRM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待确认付款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FINISHED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  <a:tr h="27432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000">
                          <a:solidFill>
                            <a:srgbClr val="102033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FINISHED 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终态 / 售后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102033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FINISHED 不可再流转；REFUNDING 由管理员处理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E7F5"/>
                      </a:solidFill>
                      <a:prstDash val="solid"/>
                    </a:lnT>
                    <a:lnB w="12700">
                      <a:solidFill>
                        <a:srgbClr val="DCE7F5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3" name="ft-line">
            <a:extLst xmlns:a="http://schemas.openxmlformats.org/drawingml/2006/main">
              <a:ext uri="{FF2B5EF4-FFF2-40B4-BE49-F238E27FC236}">
                <a16:creationId xmlns:a16="http://schemas.microsoft.com/office/drawing/2014/main" id="{BFF6B245-4A29-526A-5359-B121740DE19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E7F5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5" name="ft-page">
            <a:extLst xmlns:a="http://schemas.openxmlformats.org/drawingml/2006/main">
              <a:ext uri="{FF2B5EF4-FFF2-40B4-BE49-F238E27FC236}">
                <a16:creationId xmlns:a16="http://schemas.microsoft.com/office/drawing/2014/main" id="{1AB1C120-AB3F-A0A4-A5F4-500AD0CB2F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64748B"/>
                </a:solidFill>
                <a:latin typeface="MiSans"/>
                <a:ea typeface="MiSans"/>
                <a:cs typeface="MiSans"/>
              </a:rPr>
              <a:t>7 / 17</a:t>
            </a:r>
            <a:endParaRPr sz="1000"/>
          </a:p>
        </p:txBody>
      </p:sp>
      <p:sp>
        <p:nvSpPr>
          <p:cNvPr id="76" name="ft-brand">
            <a:extLst xmlns:a="http://schemas.openxmlformats.org/drawingml/2006/main">
              <a:ext uri="{FF2B5EF4-FFF2-40B4-BE49-F238E27FC236}">
                <a16:creationId xmlns:a16="http://schemas.microsoft.com/office/drawing/2014/main" id="{22054281-C218-48B1-BD0F-E4EA08640D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658630930"/>
      </p:ext>
    </p:extLst>
  </p:cSld>
</p:sld>
</file>

<file path=ppt/slides/slide8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5984B324-2A5F-4550-809D-EA951ACDE7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03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D3935218-F463-42EA-81F9-13CD5DF3BA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F621C30D-7EDB-4676-93C2-9D3D87396C6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数据库设计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08B3D1E7-A8AB-4706-A520-ADAE9F6AC2F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8128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概念模型 · 关系模式 · 规范化 · 索引与约束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8CCCE5F1-EF54-40F2-8085-CAE379366C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03 / 05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544AB948-5314-4ED5-A255-EF689779DB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7E7ABCF7-7BAF-43FE-B935-81A7416D85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8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261037875"/>
      </p:ext>
    </p:extLst>
  </p:cSld>
</p:sld>
</file>

<file path=ppt/slides/slide9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hd-tick">
            <a:extLst xmlns:a="http://schemas.openxmlformats.org/drawingml/2006/main">
              <a:ext uri="{FF2B5EF4-FFF2-40B4-BE49-F238E27FC236}">
                <a16:creationId xmlns:a16="http://schemas.microsoft.com/office/drawing/2014/main" id="{B4080051-7BE4-4735-BE17-A209A33C4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431768"/>
            <a:ext cx="63532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 w="0">
            <a:noFill/>
          </a:ln>
        </p:spPr>
      </p:sp>
      <p:sp>
        <p:nvSpPr>
          <p:cNvPr id="2" name="hd-title">
            <a:extLst xmlns:a="http://schemas.openxmlformats.org/drawingml/2006/main">
              <a:ext uri="{FF2B5EF4-FFF2-40B4-BE49-F238E27FC236}">
                <a16:creationId xmlns:a16="http://schemas.microsoft.com/office/drawing/2014/main" id="{154A6F32-65E0-4EE0-803F-794146D9592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32" y="381000"/>
            <a:ext cx="8382000" cy="43176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2500" b="1">
                <a:solidFill>
                  <a:srgbClr val="23272E"/>
                </a:solidFill>
                <a:latin typeface="MiSans"/>
                <a:ea typeface="MiSans"/>
                <a:cs typeface="MiSans"/>
              </a:defRPr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总体 E-R 图（真实物理模型）</a:t>
            </a:r>
          </a:p>
        </p:txBody>
      </p:sp>
      <p:sp>
        <p:nvSpPr>
          <p:cNvPr id="3" name="hd-sec">
            <a:extLst xmlns:a="http://schemas.openxmlformats.org/drawingml/2006/main">
              <a:ext uri="{FF2B5EF4-FFF2-40B4-BE49-F238E27FC236}">
                <a16:creationId xmlns:a16="http://schemas.microsoft.com/office/drawing/2014/main" id="{A7D87004-1326-4B5F-8E18-7B64D24358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89968" y="533400"/>
            <a:ext cx="2793968" cy="177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100">
                <a:solidFill>
                  <a:srgbClr val="77716A"/>
                </a:solidFill>
                <a:latin typeface="MiSans"/>
                <a:ea typeface="MiSans"/>
                <a:cs typeface="MiSans"/>
              </a:defRPr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</a:p>
        </p:txBody>
      </p:sp>
      <p:sp>
        <p:nvSpPr>
          <p:cNvPr id="4" name="hd-line">
            <a:extLst xmlns:a="http://schemas.openxmlformats.org/drawingml/2006/main">
              <a:ext uri="{FF2B5EF4-FFF2-40B4-BE49-F238E27FC236}">
                <a16:creationId xmlns:a16="http://schemas.microsoft.com/office/drawing/2014/main" id="{50128285-6E58-47E0-8B35-E115937689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965168"/>
            <a:ext cx="11175968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 w="0">
            <a:noFill/>
          </a:ln>
        </p:spPr>
      </p:sp>
      <p:sp>
        <p:nvSpPr>
          <p:cNvPr id="5" name="er-note">
            <a:extLst xmlns:a="http://schemas.openxmlformats.org/drawingml/2006/main">
              <a:ext uri="{FF2B5EF4-FFF2-40B4-BE49-F238E27FC236}">
                <a16:creationId xmlns:a16="http://schemas.microsoft.com/office/drawing/2014/main" id="{72EF5B11-2044-44EC-8B79-E970C2F018D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1066800"/>
            <a:ext cx="11175968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ctr">
              <a:defRPr sz="1100">
                <a:solidFill>
                  <a:srgbClr val="77716A"/>
                </a:solidFill>
                <a:latin typeface="MiSans"/>
                <a:ea typeface="MiSans"/>
                <a:cs typeface="MiSans"/>
              </a:defRPr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依据 campus_runner_oracle_schema.sql 生成，完整覆盖 24 张业务表及关联表</a:t>
            </a:r>
          </a:p>
        </p:txBody>
      </p:sp>
      <p:pic>
        <p:nvPicPr>
          <p:cNvPr id="1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ab5cbc96d7b4b28"/>
          <a:srcRect xmlns:a="http://schemas.openxmlformats.org/drawingml/2006/main" l="0" t="15726" r="0" b="15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7968" y="1362075"/>
            <a:ext cx="5410200" cy="4857750"/>
          </a:xfrm>
          <a:prstGeom xmlns:a="http://schemas.openxmlformats.org/drawingml/2006/main" prst="rect">
            <a:avLst/>
          </a:prstGeom>
        </p:spPr>
      </p:pic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a2f620133c6487d"/>
          <a:srcRect xmlns:a="http://schemas.openxmlformats.org/drawingml/2006/main" l="0" t="15726" r="0" b="15726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73832" y="1362075"/>
            <a:ext cx="5410200" cy="4857750"/>
          </a:xfrm>
          <a:prstGeom xmlns:a="http://schemas.openxmlformats.org/drawingml/2006/main" prst="rect">
            <a:avLst/>
          </a:prstGeom>
        </p:spPr>
      </p:pic>
      <p:sp>
        <p:nvSpPr>
          <p:cNvPr id="8" name="ft-line">
            <a:extLst xmlns:a="http://schemas.openxmlformats.org/drawingml/2006/main">
              <a:ext uri="{FF2B5EF4-FFF2-40B4-BE49-F238E27FC236}">
                <a16:creationId xmlns:a16="http://schemas.microsoft.com/office/drawing/2014/main" id="{C6997398-EC5B-4EE5-9EF5-1AB3478730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6502432"/>
            <a:ext cx="11175968" cy="12668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 w="0">
            <a:noFill/>
          </a:ln>
        </p:spPr>
      </p:sp>
      <p:sp>
        <p:nvSpPr>
          <p:cNvPr id="9" name="ft-brand">
            <a:extLst xmlns:a="http://schemas.openxmlformats.org/drawingml/2006/main">
              <a:ext uri="{FF2B5EF4-FFF2-40B4-BE49-F238E27FC236}">
                <a16:creationId xmlns:a16="http://schemas.microsoft.com/office/drawing/2014/main" id="{2E848987-BD29-41BF-8FB4-53256240E1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7968" y="6603968"/>
            <a:ext cx="5079968" cy="177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>
              <a:defRPr sz="1000">
                <a:solidFill>
                  <a:srgbClr val="77716A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校园综合跑腿与代取服务管理系统</a:t>
            </a:r>
          </a:p>
        </p:txBody>
      </p:sp>
      <p:sp>
        <p:nvSpPr>
          <p:cNvPr id="10" name="ft-page">
            <a:extLst xmlns:a="http://schemas.openxmlformats.org/drawingml/2006/main">
              <a:ext uri="{FF2B5EF4-FFF2-40B4-BE49-F238E27FC236}">
                <a16:creationId xmlns:a16="http://schemas.microsoft.com/office/drawing/2014/main" id="{14C3CAC2-8013-4553-B171-14764D35C4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3968" y="6603968"/>
            <a:ext cx="1269968" cy="177832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Autofit/>
          </a:bodyPr>
          <a:lstStyle xmlns:a="http://schemas.openxmlformats.org/drawingml/2006/main"/>
          <a:p xmlns:a="http://schemas.openxmlformats.org/drawingml/2006/main">
            <a:pPr algn="r">
              <a:defRPr sz="1000">
                <a:solidFill>
                  <a:srgbClr val="77716A"/>
                </a:solidFill>
                <a:latin typeface="MiSans"/>
                <a:ea typeface="MiSans"/>
                <a:cs typeface="MiSans"/>
              </a:defRPr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9 / 17</a:t>
            </a:r>
          </a:p>
        </p:txBody>
      </p:sp>
    </p:spTree>
    <p:extLst>
      <p:ext uri="{BB962C8B-B14F-4D97-AF65-F5344CB8AC3E}">
        <p14:creationId xmlns:p14="http://schemas.microsoft.com/office/powerpoint/2010/main" val="1490639051"/>
      </p:ext>
    </p:extLst>
  </p:cSld>
</p:sld>
</file>

<file path=ppt/slides/slide10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B435ECC0-B872-41B9-819F-FD2A4286DF3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E98DB2F1-3EFB-4FE2-B2F2-9D1C223AA3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关系模式与核心表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FD0F6316-CFF1-44B4-B4EA-58BAAF8EB88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197DDA21-B164-48B0-AD83-D81A12A9B4C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17" name="schema-table"/>
          <p:cNvGraphicFramePr/>
          <p:nvPr/>
        </p:nvGraphicFramePr>
        <p:xfrm>
          <a:off xmlns:a="http://schemas.openxmlformats.org/drawingml/2006/main" x="508000" y="1219200"/>
          <a:ext xmlns:a="http://schemas.openxmlformats.org/drawingml/2006/main" cx="11176000" cy="4521202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88160"/>
                <a:gridCol w="5811520"/>
                <a:gridCol w="1229360"/>
                <a:gridCol w="2346960"/>
              </a:tblGrid>
              <a:tr h="397866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表名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主要属性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主码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外码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users 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username, phone, password_hash, user_role, account_status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—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runners 跑腿员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user_id, real_name, identity_info, audit_status, work_status, credit_score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runner_id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user_id → users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tasks 任务主单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publisher_user_id, service_type_id, address_no, node_id, task_title, task_price, urgent_flag, task_status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组合外键引用 users、user_addresses、service_node_rules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任务明细（外卖 / 快递 / 私人）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food_delivery_details, express_pickup_details, private_task_details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(task_id, detail_no)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 → tasks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assign_records 接派记录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task_id, runner_id, operation_type, assigned_at, reassign_reason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 → tasks, runner_id → runners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task_status_logs 状态日志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record_id, status_before, status_after, operator_user_id, operated_at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log_id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 → assign_records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payments 支付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record_id, order_amount, pay_amount, pay_method, pay_status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payment_id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record_id → assign_records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15417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reviews 评价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task_id, record_id, rating, comment_text, credit_delta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review_id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(record_id, task_id) → assign_records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schema-note-icon">
            <a:extLst xmlns:a="http://schemas.openxmlformats.org/drawingml/2006/main">
              <a:ext uri="{FF2B5EF4-FFF2-40B4-BE49-F238E27FC236}">
                <a16:creationId xmlns:a16="http://schemas.microsoft.com/office/drawing/2014/main" id="{B7A3D645-C712-4181-A4FF-39CF2C7ADA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918200"/>
            <a:ext cx="177800" cy="177800"/>
          </a:xfrm>
          <a:custGeom xmlns:a="http://schemas.openxmlformats.org/drawingml/2006/main">
            <a:rect l="l" t="t" r="r" b="b"/>
            <a:pathLst>
              <a:path w="448" h="512">
                <a:moveTo>
                  <a:pt x="384" y="32"/>
                </a:moveTo>
                <a:cubicBezTo>
                  <a:pt x="419" y="32"/>
                  <a:pt x="448" y="61"/>
                  <a:pt x="448" y="96"/>
                </a:cubicBezTo>
                <a:lnTo>
                  <a:pt x="448" y="416"/>
                </a:lnTo>
                <a:cubicBezTo>
                  <a:pt x="448" y="451"/>
                  <a:pt x="419" y="480"/>
                  <a:pt x="384" y="480"/>
                </a:cubicBezTo>
                <a:lnTo>
                  <a:pt x="64" y="480"/>
                </a:lnTo>
                <a:lnTo>
                  <a:pt x="58" y="480"/>
                </a:lnTo>
                <a:cubicBezTo>
                  <a:pt x="25" y="476"/>
                  <a:pt x="0" y="449"/>
                  <a:pt x="0" y="416"/>
                </a:cubicBezTo>
                <a:lnTo>
                  <a:pt x="0" y="96"/>
                </a:lnTo>
                <a:cubicBezTo>
                  <a:pt x="0" y="61"/>
                  <a:pt x="29" y="32"/>
                  <a:pt x="64" y="32"/>
                </a:cubicBezTo>
                <a:lnTo>
                  <a:pt x="384" y="32"/>
                </a:lnTo>
                <a:close/>
                <a:moveTo>
                  <a:pt x="64" y="320"/>
                </a:moveTo>
                <a:lnTo>
                  <a:pt x="64" y="416"/>
                </a:lnTo>
                <a:lnTo>
                  <a:pt x="192" y="416"/>
                </a:lnTo>
                <a:lnTo>
                  <a:pt x="192" y="320"/>
                </a:lnTo>
                <a:lnTo>
                  <a:pt x="64" y="320"/>
                </a:lnTo>
                <a:close/>
                <a:moveTo>
                  <a:pt x="256" y="320"/>
                </a:moveTo>
                <a:lnTo>
                  <a:pt x="256" y="416"/>
                </a:lnTo>
                <a:lnTo>
                  <a:pt x="384" y="416"/>
                </a:lnTo>
                <a:lnTo>
                  <a:pt x="384" y="320"/>
                </a:lnTo>
                <a:lnTo>
                  <a:pt x="256" y="320"/>
                </a:lnTo>
                <a:close/>
                <a:moveTo>
                  <a:pt x="64" y="256"/>
                </a:moveTo>
                <a:lnTo>
                  <a:pt x="192" y="256"/>
                </a:lnTo>
                <a:lnTo>
                  <a:pt x="192" y="160"/>
                </a:lnTo>
                <a:lnTo>
                  <a:pt x="64" y="160"/>
                </a:lnTo>
                <a:lnTo>
                  <a:pt x="64" y="256"/>
                </a:lnTo>
                <a:close/>
                <a:moveTo>
                  <a:pt x="256" y="256"/>
                </a:moveTo>
                <a:lnTo>
                  <a:pt x="384" y="256"/>
                </a:lnTo>
                <a:lnTo>
                  <a:pt x="384" y="160"/>
                </a:lnTo>
                <a:lnTo>
                  <a:pt x="256" y="160"/>
                </a:lnTo>
                <a:lnTo>
                  <a:pt x="256" y="256"/>
                </a:ln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schema-note">
            <a:extLst xmlns:a="http://schemas.openxmlformats.org/drawingml/2006/main">
              <a:ext uri="{FF2B5EF4-FFF2-40B4-BE49-F238E27FC236}">
                <a16:creationId xmlns:a16="http://schemas.microsoft.com/office/drawing/2014/main" id="{D214C32B-37EB-485D-85DC-1BC8F38AE0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867400"/>
            <a:ext cx="10896600" cy="406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当前结构共 24 张业务表。主实体使用单列主键，任务明细使用复合主键，service_node_rules 等关联表表达多对多关系。</a:t>
            </a:r>
            <a:endParaRPr sz="1100"/>
          </a:p>
        </p:txBody>
      </p:sp>
      <p:sp>
        <p:nvSpPr>
          <p:cNvPr id="9" name="ft-line">
            <a:extLst xmlns:a="http://schemas.openxmlformats.org/drawingml/2006/main">
              <a:ext uri="{FF2B5EF4-FFF2-40B4-BE49-F238E27FC236}">
                <a16:creationId xmlns:a16="http://schemas.microsoft.com/office/drawing/2014/main" id="{2FDBD97F-7E21-4517-960D-2E6F0F37CA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ft-brand">
            <a:extLst xmlns:a="http://schemas.openxmlformats.org/drawingml/2006/main">
              <a:ext uri="{FF2B5EF4-FFF2-40B4-BE49-F238E27FC236}">
                <a16:creationId xmlns:a16="http://schemas.microsoft.com/office/drawing/2014/main" id="{41AE531B-D243-4DE8-8FF6-FB37C534EF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1" name="ft-page">
            <a:extLst xmlns:a="http://schemas.openxmlformats.org/drawingml/2006/main">
              <a:ext uri="{FF2B5EF4-FFF2-40B4-BE49-F238E27FC236}">
                <a16:creationId xmlns:a16="http://schemas.microsoft.com/office/drawing/2014/main" id="{BA4D2B35-5A61-46EA-A1D3-DB8C9010A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10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740165729"/>
      </p:ext>
    </p:extLst>
  </p:cSld>
</p:sld>
</file>

<file path=ppt/slides/slide11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E23E0608-6A1C-4F2B-A243-77B3B11EB2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78F333F2-69A4-46D9-B944-FB8C2EBBC2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tasks 任务主表（真实 DDL）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499BD6C5-5965-40DC-AA6A-CF93AD8CFB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DE1D3CE8-2078-4050-891E-3B6932C3C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3" name="orders-table"/>
          <p:cNvGraphicFramePr/>
          <p:nvPr/>
        </p:nvGraphicFramePr>
        <p:xfrm>
          <a:off xmlns:a="http://schemas.openxmlformats.org/drawingml/2006/main" x="508000" y="1219200"/>
          <a:ext xmlns:a="http://schemas.openxmlformats.org/drawingml/2006/main" cx="7112000" cy="5373434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1706880"/>
                <a:gridCol w="1422400"/>
                <a:gridCol w="1849120"/>
                <a:gridCol w="2133600"/>
              </a:tblGrid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字段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类型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约束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说明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PK，身份列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任务内部标识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publisher_user_id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FK NOT NULL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发布用户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address_no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联合外键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与发布用户组合引用 user_addresses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service_type_id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联合外键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与 node_id 组合引用服务—节点规则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node_id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FK NOT NULL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交接节点（校门/驿站/分发点）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task_title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VARCHAR2(100 CHAR)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NOT NULL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任务标题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task_price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NUMBER(10,2)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≥ 0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任务价格，避免浮点误差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urgent_flag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CHAR(1)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Y/N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加急标志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task_status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VARCHAR2(30 CHAR)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'CREATED'，CHECK 限定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状态机 10 个合法状态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created_at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DEFAULT SYSDATE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发布时间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41910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JetBrains Mono"/>
                          <a:ea typeface="JetBrains Mono"/>
                          <a:cs typeface="JetBrains Mono"/>
                        </a:rPr>
                        <a:t>completed_at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DATE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CHECK ≥ created_at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完成时间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note-label">
            <a:extLst xmlns:a="http://schemas.openxmlformats.org/drawingml/2006/main">
              <a:ext uri="{FF2B5EF4-FFF2-40B4-BE49-F238E27FC236}">
                <a16:creationId xmlns:a16="http://schemas.microsoft.com/office/drawing/2014/main" id="{E252E515-B1DD-4F6D-BEFF-B6979344AD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219200"/>
            <a:ext cx="3556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 spc="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设计要点</a:t>
            </a:r>
            <a:endParaRPr sz="1200"/>
          </a:p>
        </p:txBody>
      </p:sp>
      <p:sp>
        <p:nvSpPr>
          <p:cNvPr id="8" name="note1">
            <a:extLst xmlns:a="http://schemas.openxmlformats.org/drawingml/2006/main">
              <a:ext uri="{FF2B5EF4-FFF2-40B4-BE49-F238E27FC236}">
                <a16:creationId xmlns:a16="http://schemas.microsoft.com/office/drawing/2014/main" id="{92C144D8-58DE-4BC4-9428-8E525B3262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1600200"/>
            <a:ext cx="3556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主单与明细分离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任务公共字段写入 tasks，外卖分发、快递代取、私人跑腿分别写入三张明细表</a:t>
            </a:r>
            <a:endParaRPr sz="1150"/>
          </a:p>
        </p:txBody>
      </p:sp>
      <p:sp>
        <p:nvSpPr>
          <p:cNvPr id="9" name="note1-line">
            <a:extLst xmlns:a="http://schemas.openxmlformats.org/drawingml/2006/main">
              <a:ext uri="{FF2B5EF4-FFF2-40B4-BE49-F238E27FC236}">
                <a16:creationId xmlns:a16="http://schemas.microsoft.com/office/drawing/2014/main" id="{295C4940-F983-4FDC-A6D0-B0C72AA5B6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819400"/>
            <a:ext cx="355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note2">
            <a:extLst xmlns:a="http://schemas.openxmlformats.org/drawingml/2006/main">
              <a:ext uri="{FF2B5EF4-FFF2-40B4-BE49-F238E27FC236}">
                <a16:creationId xmlns:a16="http://schemas.microsoft.com/office/drawing/2014/main" id="{42A03569-A90B-4590-968B-A4EADBF1F8E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2997200"/>
            <a:ext cx="3556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状态由约束限定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task_status 取值由 CHECK 约束限定，非法状态无法入库</a:t>
            </a:r>
            <a:endParaRPr sz="1150"/>
          </a:p>
        </p:txBody>
      </p:sp>
      <p:sp>
        <p:nvSpPr>
          <p:cNvPr id="11" name="note2-line">
            <a:extLst xmlns:a="http://schemas.openxmlformats.org/drawingml/2006/main">
              <a:ext uri="{FF2B5EF4-FFF2-40B4-BE49-F238E27FC236}">
                <a16:creationId xmlns:a16="http://schemas.microsoft.com/office/drawing/2014/main" id="{35ABEE08-8A77-4FA0-AE18-D2782F7DEF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216400"/>
            <a:ext cx="355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2" name="note3">
            <a:extLst xmlns:a="http://schemas.openxmlformats.org/drawingml/2006/main">
              <a:ext uri="{FF2B5EF4-FFF2-40B4-BE49-F238E27FC236}">
                <a16:creationId xmlns:a16="http://schemas.microsoft.com/office/drawing/2014/main" id="{85F27AAB-7210-48E7-BFA2-CE3C115096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4394200"/>
            <a:ext cx="3556000" cy="1117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行锁防并发抢单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SELECT … FOR UPDATE 锁定任务行后校验状态，防止重复接单</a:t>
            </a:r>
            <a:endParaRPr sz="1150"/>
          </a:p>
        </p:txBody>
      </p:sp>
      <p:sp>
        <p:nvSpPr>
          <p:cNvPr id="13" name="note3-line">
            <a:extLst xmlns:a="http://schemas.openxmlformats.org/drawingml/2006/main">
              <a:ext uri="{FF2B5EF4-FFF2-40B4-BE49-F238E27FC236}">
                <a16:creationId xmlns:a16="http://schemas.microsoft.com/office/drawing/2014/main" id="{BF8DB0E9-597B-4BC3-A5DB-B586C10730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613400"/>
            <a:ext cx="355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4" name="note4">
            <a:extLst xmlns:a="http://schemas.openxmlformats.org/drawingml/2006/main">
              <a:ext uri="{FF2B5EF4-FFF2-40B4-BE49-F238E27FC236}">
                <a16:creationId xmlns:a16="http://schemas.microsoft.com/office/drawing/2014/main" id="{0291E4AD-D07E-4907-927A-12F6EEFA45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0" y="5791200"/>
            <a:ext cx="355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组合外键：服务类型与交接节点绑定规则强制匹配</a:t>
            </a:r>
            <a:endParaRPr sz="1000"/>
          </a:p>
        </p:txBody>
      </p:sp>
      <p:sp>
        <p:nvSpPr>
          <p:cNvPr id="15" name="ft-line">
            <a:extLst xmlns:a="http://schemas.openxmlformats.org/drawingml/2006/main">
              <a:ext uri="{FF2B5EF4-FFF2-40B4-BE49-F238E27FC236}">
                <a16:creationId xmlns:a16="http://schemas.microsoft.com/office/drawing/2014/main" id="{E9AA9853-96B2-4B0D-BA14-D19D590BEA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t-brand">
            <a:extLst xmlns:a="http://schemas.openxmlformats.org/drawingml/2006/main">
              <a:ext uri="{FF2B5EF4-FFF2-40B4-BE49-F238E27FC236}">
                <a16:creationId xmlns:a16="http://schemas.microsoft.com/office/drawing/2014/main" id="{DC213733-DF07-4DEE-88CA-A5D078282A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7" name="ft-page">
            <a:extLst xmlns:a="http://schemas.openxmlformats.org/drawingml/2006/main">
              <a:ext uri="{FF2B5EF4-FFF2-40B4-BE49-F238E27FC236}">
                <a16:creationId xmlns:a16="http://schemas.microsoft.com/office/drawing/2014/main" id="{EB8CEE7D-ADB8-4112-8127-9C3F5F8347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11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557186876"/>
      </p:ext>
    </p:extLst>
  </p:cSld>
</p:sld>
</file>

<file path=ppt/slides/slide12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17C07AE7-B243-4157-A46A-14F302DA90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F45F34F9-E0E7-42B3-9952-A208D0D6FB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数据库对象：结构、约束与并发控制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17C36359-4614-4FB7-9EDD-D5520F0678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03 · 数据库设计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33D52C71-F311-43C5-A9C0-74F1792158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q1-title">
            <a:extLst xmlns:a="http://schemas.openxmlformats.org/drawingml/2006/main">
              <a:ext uri="{FF2B5EF4-FFF2-40B4-BE49-F238E27FC236}">
                <a16:creationId xmlns:a16="http://schemas.microsoft.com/office/drawing/2014/main" id="{C5AF50DF-4482-4761-AD95-77183A3CEE6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结构规模 SCHEMA</a:t>
            </a:r>
            <a:endParaRPr sz="1500"/>
          </a:p>
        </p:txBody>
      </p:sp>
      <p:sp>
        <p:nvSpPr>
          <p:cNvPr id="7" name="q1-body">
            <a:extLst xmlns:a="http://schemas.openxmlformats.org/drawingml/2006/main">
              <a:ext uri="{FF2B5EF4-FFF2-40B4-BE49-F238E27FC236}">
                <a16:creationId xmlns:a16="http://schemas.microsoft.com/office/drawing/2014/main" id="{BEBC19CB-F747-4E6F-A0DC-C464F10183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24 张业务表 · 24 个主键 · 31 个外键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23 个显式索引覆盖任务、接派、支付、退款与结算查询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主表、弱实体明细和关联表共同支撑业务闭环</a:t>
            </a:r>
            <a:endParaRPr sz="1100"/>
          </a:p>
        </p:txBody>
      </p:sp>
      <p:sp>
        <p:nvSpPr>
          <p:cNvPr id="8" name="q2-title">
            <a:extLst xmlns:a="http://schemas.openxmlformats.org/drawingml/2006/main">
              <a:ext uri="{FF2B5EF4-FFF2-40B4-BE49-F238E27FC236}">
                <a16:creationId xmlns:a16="http://schemas.microsoft.com/office/drawing/2014/main" id="{76F8F4A8-B2CC-416A-BD7F-964B704334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2446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完整性约束 CONSTRAINT</a:t>
            </a:r>
            <a:endParaRPr sz="1500"/>
          </a:p>
        </p:txBody>
      </p:sp>
      <p:sp>
        <p:nvSpPr>
          <p:cNvPr id="9" name="q2-body">
            <a:extLst xmlns:a="http://schemas.openxmlformats.org/drawingml/2006/main">
              <a:ext uri="{FF2B5EF4-FFF2-40B4-BE49-F238E27FC236}">
                <a16:creationId xmlns:a16="http://schemas.microsoft.com/office/drawing/2014/main" id="{E015429A-67D8-4961-A2A1-5CF5154EDE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16256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30 个 CHECK 约束限定状态、金额与枚举取值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组合外键保证任务的用户地址和服务节点组合真实存在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唯一约束落实单默认地址、一任务一评价与支付流水号唯一</a:t>
            </a:r>
            <a:endParaRPr sz="1100"/>
          </a:p>
        </p:txBody>
      </p:sp>
      <p:sp>
        <p:nvSpPr>
          <p:cNvPr id="10" name="q3-title">
            <a:extLst xmlns:a="http://schemas.openxmlformats.org/drawingml/2006/main">
              <a:ext uri="{FF2B5EF4-FFF2-40B4-BE49-F238E27FC236}">
                <a16:creationId xmlns:a16="http://schemas.microsoft.com/office/drawing/2014/main" id="{B99DCDDE-EFCE-43CF-A9D7-7D466BD38F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事务与行锁 TRANSACTION / LOCK</a:t>
            </a:r>
            <a:endParaRPr sz="1500"/>
          </a:p>
        </p:txBody>
      </p:sp>
      <p:sp>
        <p:nvSpPr>
          <p:cNvPr id="11" name="q3-body">
            <a:extLst xmlns:a="http://schemas.openxmlformats.org/drawingml/2006/main">
              <a:ext uri="{FF2B5EF4-FFF2-40B4-BE49-F238E27FC236}">
                <a16:creationId xmlns:a16="http://schemas.microsoft.com/office/drawing/2014/main" id="{9800C88F-DDF6-4331-B9EC-643805A2D7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状态更新与日志写入在同一事务内提交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支付、退款和结算跨表写入失败时整体回滚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14 处 FOR UPDATE 语句保护抢单、审核与资金等热点数据</a:t>
            </a:r>
            <a:endParaRPr sz="1100"/>
          </a:p>
        </p:txBody>
      </p:sp>
      <p:sp>
        <p:nvSpPr>
          <p:cNvPr id="12" name="q4-title">
            <a:extLst xmlns:a="http://schemas.openxmlformats.org/drawingml/2006/main">
              <a:ext uri="{FF2B5EF4-FFF2-40B4-BE49-F238E27FC236}">
                <a16:creationId xmlns:a16="http://schemas.microsoft.com/office/drawing/2014/main" id="{BC3CD3F5-8D1F-456F-B0B3-D4430F0FFA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3759200"/>
            <a:ext cx="5080000" cy="2794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5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视图、过程与函数</a:t>
            </a:r>
            <a:endParaRPr sz="1500"/>
          </a:p>
        </p:txBody>
      </p:sp>
      <p:sp>
        <p:nvSpPr>
          <p:cNvPr id="13" name="q4-body">
            <a:extLst xmlns:a="http://schemas.openxmlformats.org/drawingml/2006/main">
              <a:ext uri="{FF2B5EF4-FFF2-40B4-BE49-F238E27FC236}">
                <a16:creationId xmlns:a16="http://schemas.microsoft.com/office/drawing/2014/main" id="{762F3DE5-5BFA-4AE3-8EB3-3897224792F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477000" y="4140200"/>
            <a:ext cx="5207000" cy="1778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4 个业务视图支撑任务、支付退款、跑腿员绩效与结算查询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4 个存储过程处理账号、默认地址、审核和原子接单</a:t>
            </a:r>
            <a:endParaRPr sz="1100"/>
          </a:p>
          <a:p xmlns:a="http://schemas.openxmlformats.org/drawingml/2006/main">
            <a:pPr>
              <a:lnSpc>
                <a:spcPct val="155000"/>
              </a:lnSpc>
              <a:spcBef>
                <a:spcPts val="600"/>
              </a:spcBef>
              <a:buNone/>
            </a:pPr>
            <a:r>
              <a:rPr sz="1050">
                <a:solidFill>
                  <a:srgbClr val="23272E"/>
                </a:solidFill>
                <a:latin typeface="JetBrains Mono"/>
                <a:ea typeface="JetBrains Mono"/>
                <a:cs typeface="JetBrains Mono"/>
              </a:rPr>
              <a:t>3 个函数负责价格、接单资格与服务节点规则，后端均有真实调用</a:t>
            </a:r>
            <a:endParaRPr sz="1100"/>
          </a:p>
        </p:txBody>
      </p:sp>
      <p:sp>
        <p:nvSpPr>
          <p:cNvPr id="14" name="h-div">
            <a:extLst xmlns:a="http://schemas.openxmlformats.org/drawingml/2006/main">
              <a:ext uri="{FF2B5EF4-FFF2-40B4-BE49-F238E27FC236}">
                <a16:creationId xmlns:a16="http://schemas.microsoft.com/office/drawing/2014/main" id="{81480BD0-3836-40DB-A35A-1FD2C6EBED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3581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5" name="v-div">
            <a:extLst xmlns:a="http://schemas.openxmlformats.org/drawingml/2006/main">
              <a:ext uri="{FF2B5EF4-FFF2-40B4-BE49-F238E27FC236}">
                <a16:creationId xmlns:a16="http://schemas.microsoft.com/office/drawing/2014/main" id="{8531EE6D-DE0E-43BC-82B0-5351831D9A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096000" y="1244600"/>
            <a:ext cx="12700" cy="46736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obj-concl">
            <a:extLst xmlns:a="http://schemas.openxmlformats.org/drawingml/2006/main">
              <a:ext uri="{FF2B5EF4-FFF2-40B4-BE49-F238E27FC236}">
                <a16:creationId xmlns:a16="http://schemas.microsoft.com/office/drawing/2014/main" id="{EF6A2CDC-C3A6-4682-927C-CB1EBEB1BE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070600"/>
            <a:ext cx="11176000" cy="254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2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真实对象规模：24 表 · 4 视图 · 4 过程 · 3 函数</a:t>
            </a:r>
            <a:endParaRPr sz="1200"/>
          </a:p>
        </p:txBody>
      </p:sp>
      <p:sp>
        <p:nvSpPr>
          <p:cNvPr id="17" name="ft-line">
            <a:extLst xmlns:a="http://schemas.openxmlformats.org/drawingml/2006/main">
              <a:ext uri="{FF2B5EF4-FFF2-40B4-BE49-F238E27FC236}">
                <a16:creationId xmlns:a16="http://schemas.microsoft.com/office/drawing/2014/main" id="{4DB75DCC-B8AC-4436-A4F0-4AADA87037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8" name="ft-brand">
            <a:extLst xmlns:a="http://schemas.openxmlformats.org/drawingml/2006/main">
              <a:ext uri="{FF2B5EF4-FFF2-40B4-BE49-F238E27FC236}">
                <a16:creationId xmlns:a16="http://schemas.microsoft.com/office/drawing/2014/main" id="{516408B9-5502-48F8-9A82-7AF2E412010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9" name="ft-page">
            <a:extLst xmlns:a="http://schemas.openxmlformats.org/drawingml/2006/main">
              <a:ext uri="{FF2B5EF4-FFF2-40B4-BE49-F238E27FC236}">
                <a16:creationId xmlns:a16="http://schemas.microsoft.com/office/drawing/2014/main" id="{DCDBEF02-776F-45D7-AC11-8575FBD6E5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12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312249865"/>
      </p:ext>
    </p:extLst>
  </p:cSld>
</p:sld>
</file>

<file path=ppt/slides/slide13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div-num">
            <a:extLst xmlns:a="http://schemas.openxmlformats.org/drawingml/2006/main">
              <a:ext uri="{FF2B5EF4-FFF2-40B4-BE49-F238E27FC236}">
                <a16:creationId xmlns:a16="http://schemas.microsoft.com/office/drawing/2014/main" id="{BB519441-177B-4443-B9DF-3A8AE2D501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524000"/>
            <a:ext cx="4064000" cy="215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04</a:t>
            </a:r>
            <a:endParaRPr sz="14000"/>
          </a:p>
        </p:txBody>
      </p:sp>
      <p:sp>
        <p:nvSpPr>
          <p:cNvPr id="3" name="div-line">
            <a:extLst xmlns:a="http://schemas.openxmlformats.org/drawingml/2006/main">
              <a:ext uri="{FF2B5EF4-FFF2-40B4-BE49-F238E27FC236}">
                <a16:creationId xmlns:a16="http://schemas.microsoft.com/office/drawing/2014/main" id="{D3D80672-A418-4BB3-A562-961670FCC4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0132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4" name="div-title">
            <a:extLst xmlns:a="http://schemas.openxmlformats.org/drawingml/2006/main">
              <a:ext uri="{FF2B5EF4-FFF2-40B4-BE49-F238E27FC236}">
                <a16:creationId xmlns:a16="http://schemas.microsoft.com/office/drawing/2014/main" id="{69B51E36-774C-458D-BAE3-FCBF6AF3694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4318000"/>
            <a:ext cx="6350000" cy="711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0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系统实现</a:t>
            </a:r>
            <a:endParaRPr sz="4000"/>
          </a:p>
        </p:txBody>
      </p:sp>
      <p:sp>
        <p:nvSpPr>
          <p:cNvPr id="5" name="div-sub">
            <a:extLst xmlns:a="http://schemas.openxmlformats.org/drawingml/2006/main">
              <a:ext uri="{FF2B5EF4-FFF2-40B4-BE49-F238E27FC236}">
                <a16:creationId xmlns:a16="http://schemas.microsoft.com/office/drawing/2014/main" id="{29749FCF-50D5-44A1-A8F5-89A2D87DC1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5156200"/>
            <a:ext cx="7874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400">
                <a:solidFill>
                  <a:srgbClr val="B9B2A6"/>
                </a:solidFill>
                <a:latin typeface="MiSans"/>
                <a:ea typeface="MiSans"/>
                <a:cs typeface="MiSans"/>
              </a:rPr>
              <a:t>真实界面 · 数据库对象调用 · 事务与行锁</a:t>
            </a:r>
            <a:endParaRPr sz="1400"/>
          </a:p>
        </p:txBody>
      </p:sp>
      <p:sp>
        <p:nvSpPr>
          <p:cNvPr id="6" name="div-progress">
            <a:extLst xmlns:a="http://schemas.openxmlformats.org/drawingml/2006/main">
              <a:ext uri="{FF2B5EF4-FFF2-40B4-BE49-F238E27FC236}">
                <a16:creationId xmlns:a16="http://schemas.microsoft.com/office/drawing/2014/main" id="{86FFE3CE-2049-4247-B24B-8D4CA28A6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762000"/>
            <a:ext cx="3810000" cy="228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00" spc="2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SECTION 04 / 05</a:t>
            </a:r>
            <a:endParaRPr sz="1100"/>
          </a:p>
        </p:txBody>
      </p:sp>
      <p:sp>
        <p:nvSpPr>
          <p:cNvPr id="7" name="div-brand">
            <a:extLst xmlns:a="http://schemas.openxmlformats.org/drawingml/2006/main">
              <a:ext uri="{FF2B5EF4-FFF2-40B4-BE49-F238E27FC236}">
                <a16:creationId xmlns:a16="http://schemas.microsoft.com/office/drawing/2014/main" id="{A6616F3C-8FAB-43E0-8B7E-01DEEE01067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6299200"/>
            <a:ext cx="3810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济跑跑 JIRUN · 数据库课程设计答辩</a:t>
            </a:r>
            <a:endParaRPr sz="1000"/>
          </a:p>
        </p:txBody>
      </p:sp>
      <p:sp>
        <p:nvSpPr>
          <p:cNvPr id="8" name="div-page">
            <a:extLst xmlns:a="http://schemas.openxmlformats.org/drawingml/2006/main">
              <a:ext uri="{FF2B5EF4-FFF2-40B4-BE49-F238E27FC236}">
                <a16:creationId xmlns:a16="http://schemas.microsoft.com/office/drawing/2014/main" id="{2F8AB4B3-BA0E-4A1A-A411-B0ADF5FE056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13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05241501"/>
      </p:ext>
    </p:extLst>
  </p:cSld>
</p:sld>
</file>

<file path=ppt/slides/slide14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27BF266F-CF73-4C5B-A308-144C96F217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D75BCF9F-F014-43E3-B116-FD0F901D74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系统功能界面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463208D7-8ADE-43FD-A785-3A312052D1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04 · 系统实现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C2EB4CB1-F213-4B7D-827D-5521AB7C0C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ph1">
            <a:extLst xmlns:a="http://schemas.openxmlformats.org/drawingml/2006/main">
              <a:ext uri="{FF2B5EF4-FFF2-40B4-BE49-F238E27FC236}">
                <a16:creationId xmlns:a16="http://schemas.microsoft.com/office/drawing/2014/main" id="{23DAB5AD-2B1A-46CC-83CB-A39D5C88A4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70000"/>
            <a:ext cx="54610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16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ph1-cap">
            <a:extLst xmlns:a="http://schemas.openxmlformats.org/drawingml/2006/main">
              <a:ext uri="{FF2B5EF4-FFF2-40B4-BE49-F238E27FC236}">
                <a16:creationId xmlns:a16="http://schemas.microsoft.com/office/drawing/2014/main" id="{622E5A7D-DDDE-4D8D-B32B-04533B76217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461000"/>
            <a:ext cx="546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 b="1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普通用户端　发布三类任务、跟踪状态、确认收货付款、评价与售后</a:t>
            </a:r>
            <a:endParaRPr sz="11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对应：tasks · payments · reviews · refunds · complaints</a:t>
            </a:r>
            <a:endParaRPr sz="1100"/>
          </a:p>
        </p:txBody>
      </p:sp>
      <p:sp>
        <p:nvSpPr>
          <p:cNvPr id="10" name="ph2">
            <a:extLst xmlns:a="http://schemas.openxmlformats.org/drawingml/2006/main">
              <a:ext uri="{FF2B5EF4-FFF2-40B4-BE49-F238E27FC236}">
                <a16:creationId xmlns:a16="http://schemas.microsoft.com/office/drawing/2014/main" id="{8FDBF941-CE7E-4B83-A73F-4A1AF3E6902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1270000"/>
            <a:ext cx="5461000" cy="4064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FFFFFF"/>
          </a:solidFill>
          <a:ln xmlns:a="http://schemas.openxmlformats.org/drawingml/2006/main" w="19050">
            <a:solidFill>
              <a:srgbClr val="77716A"/>
            </a:solidFill>
            <a:prstDash val="dash"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ph2-cap">
            <a:extLst xmlns:a="http://schemas.openxmlformats.org/drawingml/2006/main">
              <a:ext uri="{FF2B5EF4-FFF2-40B4-BE49-F238E27FC236}">
                <a16:creationId xmlns:a16="http://schemas.microsoft.com/office/drawing/2014/main" id="{233DA1E3-A9A3-4BAE-861D-CB43B2C255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223000" y="5461000"/>
            <a:ext cx="5461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 b="1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跑腿员与管理员端　任务大厅抢单、派单重派、配送状态、结算审计报表</a:t>
            </a:r>
            <a:endParaRPr sz="1100"/>
          </a:p>
          <a:p xmlns:a="http://schemas.openxmlformats.org/drawingml/2006/main">
            <a:pPr>
              <a:lnSpc>
                <a:spcPct val="145000"/>
              </a:lnSpc>
              <a:buNone/>
            </a:pPr>
            <a:r>
              <a:rPr sz="11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对应：assign_records · task_status_logs · settlements · audit_logs · reports</a:t>
            </a:r>
            <a:endParaRPr sz="1100"/>
          </a:p>
        </p:txBody>
      </p:sp>
      <p:sp>
        <p:nvSpPr>
          <p:cNvPr id="14" name="ui-note">
            <a:extLst xmlns:a="http://schemas.openxmlformats.org/drawingml/2006/main">
              <a:ext uri="{FF2B5EF4-FFF2-40B4-BE49-F238E27FC236}">
                <a16:creationId xmlns:a16="http://schemas.microsoft.com/office/drawing/2014/main" id="{B79CDC89-56AC-4AE9-907E-64492593385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121400"/>
            <a:ext cx="11176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5" name="ft-line">
            <a:extLst xmlns:a="http://schemas.openxmlformats.org/drawingml/2006/main">
              <a:ext uri="{FF2B5EF4-FFF2-40B4-BE49-F238E27FC236}">
                <a16:creationId xmlns:a16="http://schemas.microsoft.com/office/drawing/2014/main" id="{0839E60D-3A01-4702-944C-AD40F711A0A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ft-brand">
            <a:extLst xmlns:a="http://schemas.openxmlformats.org/drawingml/2006/main">
              <a:ext uri="{FF2B5EF4-FFF2-40B4-BE49-F238E27FC236}">
                <a16:creationId xmlns:a16="http://schemas.microsoft.com/office/drawing/2014/main" id="{1608B97C-1FFA-4BD0-B6B3-CD1A668FB26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7" name="ft-page">
            <a:extLst xmlns:a="http://schemas.openxmlformats.org/drawingml/2006/main">
              <a:ext uri="{FF2B5EF4-FFF2-40B4-BE49-F238E27FC236}">
                <a16:creationId xmlns:a16="http://schemas.microsoft.com/office/drawing/2014/main" id="{6DA7CD12-E5AD-4599-B380-154723EE2FD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14 / 17</a:t>
            </a:r>
            <a:endParaRPr sz="1000"/>
          </a:p>
        </p:txBody>
      </p:sp>
      <p:pic>
        <p:nvPicPr>
          <p:cNvPr id="35" name="图片 18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2f27f27ff694937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508000" y="1524000"/>
            <a:ext cx="11176000" cy="3623209"/>
          </a:xfrm>
          <a:prstGeom xmlns:a="http://schemas.openxmlformats.org/drawingml/2006/main" prst="rect">
            <a:avLst/>
          </a:prstGeom>
        </p:spPr>
      </p:pic>
      <p:pic>
        <p:nvPicPr>
          <p:cNvPr id="36" name="图片 20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fa1b5ef84f24fd1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711200" y="1689688"/>
            <a:ext cx="8426450" cy="4733546"/>
          </a:xfrm>
          <a:prstGeom xmlns:a="http://schemas.openxmlformats.org/drawingml/2006/main" prst="rect">
            <a:avLst/>
          </a:prstGeom>
        </p:spPr>
      </p:pic>
      <p:pic>
        <p:nvPicPr>
          <p:cNvPr id="37" name="图片 22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7fd03f5f063b4633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913617" y="1862618"/>
            <a:ext cx="5170201" cy="4612552"/>
          </a:xfrm>
          <a:prstGeom xmlns:a="http://schemas.openxmlformats.org/drawingml/2006/main" prst="rect">
            <a:avLst/>
          </a:prstGeom>
        </p:spPr>
      </p:pic>
      <p:pic>
        <p:nvPicPr>
          <p:cNvPr id="38" name="图片 24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484468565714bb2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143518" y="2106968"/>
            <a:ext cx="9124432" cy="4233138"/>
          </a:xfrm>
          <a:prstGeom xmlns:a="http://schemas.openxmlformats.org/drawingml/2006/main" prst="rect">
            <a:avLst/>
          </a:prstGeom>
        </p:spPr>
      </p:pic>
      <p:pic>
        <p:nvPicPr>
          <p:cNvPr id="39" name="图片 26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a8b051100d23468d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1419033" y="2324688"/>
            <a:ext cx="10254804" cy="3732076"/>
          </a:xfrm>
          <a:prstGeom xmlns:a="http://schemas.openxmlformats.org/drawingml/2006/main"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629999548"/>
      </p:ext>
    </p:extLst>
  </p:cSld>
</p:sld>
</file>

<file path=ppt/slides/slide15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67CC72B0-82FA-4F68-8E0C-D60FDA9303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F9418D14-994B-43D3-A132-AB9F834C653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原子接单：存储过程与事务边界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4E065283-4CAD-4E29-B420-701DB25AA00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04 · 系统实现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FAFE64F2-CB8B-4483-89E9-42CC76769F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6" name="code-panel">
            <a:extLst xmlns:a="http://schemas.openxmlformats.org/drawingml/2006/main">
              <a:ext uri="{FF2B5EF4-FFF2-40B4-BE49-F238E27FC236}">
                <a16:creationId xmlns:a16="http://schemas.microsoft.com/office/drawing/2014/main" id="{A054FD7C-E0A1-42E7-93DD-1C81A6A545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6604000" cy="497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7" name="code-tag">
            <a:extLst xmlns:a="http://schemas.openxmlformats.org/drawingml/2006/main">
              <a:ext uri="{FF2B5EF4-FFF2-40B4-BE49-F238E27FC236}">
                <a16:creationId xmlns:a16="http://schemas.microsoft.com/office/drawing/2014/main" id="{5E030D2A-F223-45DE-B176-0B4403DE250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1219200"/>
            <a:ext cx="63500" cy="49784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code-text">
            <a:extLst xmlns:a="http://schemas.openxmlformats.org/drawingml/2006/main">
              <a:ext uri="{FF2B5EF4-FFF2-40B4-BE49-F238E27FC236}">
                <a16:creationId xmlns:a16="http://schemas.microsoft.com/office/drawing/2014/main" id="{483CE3CF-D607-4C1C-B36C-444F44BBC5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2800" y="1422400"/>
            <a:ext cx="6096000" cy="4622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>
            <a:normAutofit fontScale="100000"/>
          </a:bodyPr>
          <a:lstStyle xmlns:a="http://schemas.openxmlformats.org/drawingml/2006/main"/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-- database-enhancement/03_procedures.sql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+CREATE OR REPLACE PROCEDURE sp_accept_task_atomic (...) AS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+BEGIN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SELECT task_status, publisher_user_id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  INTO v_task_status, v_publisher_user_id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  FROM tasks WHERE task_id = p_task_id FOR UPDATE;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IF v_task_status &lt;&gt; 'WAITING' THEN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  p_result_code := 'TASK_NOT_WAITING'; RETURN;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END IF;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UPDATE tasks SET task_status = 'ASSIGNED'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 WHERE task_id = p_task_id AND task_status = 'WAITING';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UPDATE runners SET work_status = 'BUSY'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 WHERE runner_id = p_runner_id;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INSERT INTO assign_records (...) RETURNING record_id INTO p_record_id;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INSERT INTO task_status_logs (...);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  p_result_code := 'SUCCESS';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+END;</a:t>
            </a:r>
            <a:endParaRPr sz="1000"/>
          </a:p>
          <a:p xmlns:a="http://schemas.openxmlformats.org/drawingml/2006/main">
            <a:pPr>
              <a:lnSpc>
                <a:spcPct val="142000"/>
              </a:lnSpc>
              <a:buNone/>
              <a:def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defRPr>
            </a:pPr>
            <a:r>
              <a:rPr sz="930">
                <a:solidFill>
                  <a:srgbClr val="F8F4EC"/>
                </a:solidFill>
                <a:latin typeface="JetBrains Mono"/>
                <a:ea typeface="JetBrains Mono"/>
                <a:cs typeface="JetBrains Mono"/>
              </a:rPr>
              <a:t>+-- AssignRepository 负责统一 COMMIT / ROLLBACK</a:t>
            </a:r>
            <a:endParaRPr sz="1000"/>
          </a:p>
        </p:txBody>
      </p:sp>
      <p:sp>
        <p:nvSpPr>
          <p:cNvPr id="10" name="anno1-n">
            <a:extLst xmlns:a="http://schemas.openxmlformats.org/drawingml/2006/main">
              <a:ext uri="{FF2B5EF4-FFF2-40B4-BE49-F238E27FC236}">
                <a16:creationId xmlns:a16="http://schemas.microsoft.com/office/drawing/2014/main" id="{5E7B3E30-8866-4A88-8ED9-52B946F330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1600200"/>
            <a:ext cx="40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①</a:t>
            </a:r>
            <a:endParaRPr sz="1600"/>
          </a:p>
        </p:txBody>
      </p:sp>
      <p:sp>
        <p:nvSpPr>
          <p:cNvPr id="11" name="anno1">
            <a:extLst xmlns:a="http://schemas.openxmlformats.org/drawingml/2006/main">
              <a:ext uri="{FF2B5EF4-FFF2-40B4-BE49-F238E27FC236}">
                <a16:creationId xmlns:a16="http://schemas.microsoft.com/office/drawing/2014/main" id="{0015CDAA-FD01-4AFD-8929-6F5645AD9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1574800"/>
            <a:ext cx="3606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存储过程统一入口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sp_accept_task_atomic 完成资格、操作者和任务状态校验</a:t>
            </a:r>
            <a:endParaRPr sz="1150"/>
          </a:p>
        </p:txBody>
      </p:sp>
      <p:sp>
        <p:nvSpPr>
          <p:cNvPr id="12" name="anno1-line">
            <a:extLst xmlns:a="http://schemas.openxmlformats.org/drawingml/2006/main">
              <a:ext uri="{FF2B5EF4-FFF2-40B4-BE49-F238E27FC236}">
                <a16:creationId xmlns:a16="http://schemas.microsoft.com/office/drawing/2014/main" id="{2BFF10F9-80E6-48C4-A704-5F3A0E5B64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641600"/>
            <a:ext cx="406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anno2-n">
            <a:extLst xmlns:a="http://schemas.openxmlformats.org/drawingml/2006/main">
              <a:ext uri="{FF2B5EF4-FFF2-40B4-BE49-F238E27FC236}">
                <a16:creationId xmlns:a16="http://schemas.microsoft.com/office/drawing/2014/main" id="{F6C6B28E-D125-417C-8AA6-C3113A08AF3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2870200"/>
            <a:ext cx="40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②</a:t>
            </a:r>
            <a:endParaRPr sz="1600"/>
          </a:p>
        </p:txBody>
      </p:sp>
      <p:sp>
        <p:nvSpPr>
          <p:cNvPr id="14" name="anno2">
            <a:extLst xmlns:a="http://schemas.openxmlformats.org/drawingml/2006/main">
              <a:ext uri="{FF2B5EF4-FFF2-40B4-BE49-F238E27FC236}">
                <a16:creationId xmlns:a16="http://schemas.microsoft.com/office/drawing/2014/main" id="{C95A9167-29AD-4E8A-A6C0-2ADC0079FE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2844800"/>
            <a:ext cx="3606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行锁防并发抢单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FOR UPDATE 锁定任务与账号数据，后到事务读取最新状态</a:t>
            </a:r>
            <a:endParaRPr sz="1150"/>
          </a:p>
        </p:txBody>
      </p:sp>
      <p:sp>
        <p:nvSpPr>
          <p:cNvPr id="15" name="anno2-line">
            <a:extLst xmlns:a="http://schemas.openxmlformats.org/drawingml/2006/main">
              <a:ext uri="{FF2B5EF4-FFF2-40B4-BE49-F238E27FC236}">
                <a16:creationId xmlns:a16="http://schemas.microsoft.com/office/drawing/2014/main" id="{B464EAFE-286E-42AF-9130-1FD209727D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3911600"/>
            <a:ext cx="406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6" name="anno3-n">
            <a:extLst xmlns:a="http://schemas.openxmlformats.org/drawingml/2006/main">
              <a:ext uri="{FF2B5EF4-FFF2-40B4-BE49-F238E27FC236}">
                <a16:creationId xmlns:a16="http://schemas.microsoft.com/office/drawing/2014/main" id="{CD93AD87-4993-4EBE-83EC-3B3D602D36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4140200"/>
            <a:ext cx="406400" cy="330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600" b="1">
                <a:solidFill>
                  <a:srgbClr val="E8551D"/>
                </a:solidFill>
                <a:latin typeface="MiSans"/>
                <a:ea typeface="MiSans"/>
                <a:cs typeface="MiSans"/>
              </a:rPr>
              <a:t>③</a:t>
            </a:r>
            <a:endParaRPr sz="1600"/>
          </a:p>
        </p:txBody>
      </p:sp>
      <p:sp>
        <p:nvSpPr>
          <p:cNvPr id="17" name="anno3">
            <a:extLst xmlns:a="http://schemas.openxmlformats.org/drawingml/2006/main">
              <a:ext uri="{FF2B5EF4-FFF2-40B4-BE49-F238E27FC236}">
                <a16:creationId xmlns:a16="http://schemas.microsoft.com/office/drawing/2014/main" id="{AEC507A1-CE8E-40D6-B699-96E5BEAE70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77200" y="4114800"/>
            <a:ext cx="3606800" cy="965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事务由调用方控制</a:t>
            </a:r>
            <a:endParaRPr sz="1150"/>
          </a:p>
          <a:p xmlns:a="http://schemas.openxmlformats.org/drawingml/2006/main">
            <a:pPr>
              <a:lnSpc>
                <a:spcPct val="150000"/>
              </a:lnSpc>
              <a:buNone/>
            </a:pPr>
            <a:r>
              <a:rPr sz="115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过程内部不提交，Repository 统一执行 COMMIT 或 ROLLBACK</a:t>
            </a:r>
            <a:endParaRPr sz="1150"/>
          </a:p>
        </p:txBody>
      </p:sp>
      <p:sp>
        <p:nvSpPr>
          <p:cNvPr id="18" name="anno3-line">
            <a:extLst xmlns:a="http://schemas.openxmlformats.org/drawingml/2006/main">
              <a:ext uri="{FF2B5EF4-FFF2-40B4-BE49-F238E27FC236}">
                <a16:creationId xmlns:a16="http://schemas.microsoft.com/office/drawing/2014/main" id="{C2D470E7-55D9-4057-81BE-73E20A7BCD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181600"/>
            <a:ext cx="4064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9" name="anno-note">
            <a:extLst xmlns:a="http://schemas.openxmlformats.org/drawingml/2006/main">
              <a:ext uri="{FF2B5EF4-FFF2-40B4-BE49-F238E27FC236}">
                <a16:creationId xmlns:a16="http://schemas.microsoft.com/office/drawing/2014/main" id="{A3D5D867-D043-4959-882E-2F16336CA9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0" y="5359400"/>
            <a:ext cx="406400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 i="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仓库证据：AssignRepository.cs + 03_procedures.sql</a:t>
            </a:r>
            <a:endParaRPr sz="1000"/>
          </a:p>
        </p:txBody>
      </p:sp>
      <p:sp>
        <p:nvSpPr>
          <p:cNvPr id="20" name="ft-line">
            <a:extLst xmlns:a="http://schemas.openxmlformats.org/drawingml/2006/main">
              <a:ext uri="{FF2B5EF4-FFF2-40B4-BE49-F238E27FC236}">
                <a16:creationId xmlns:a16="http://schemas.microsoft.com/office/drawing/2014/main" id="{5C6DBFEC-D0AE-44D4-8891-91504DBBCB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21" name="ft-brand">
            <a:extLst xmlns:a="http://schemas.openxmlformats.org/drawingml/2006/main">
              <a:ext uri="{FF2B5EF4-FFF2-40B4-BE49-F238E27FC236}">
                <a16:creationId xmlns:a16="http://schemas.microsoft.com/office/drawing/2014/main" id="{E08E9A55-78C3-4BF3-B8CF-0193A7A9D0A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22" name="ft-page">
            <a:extLst xmlns:a="http://schemas.openxmlformats.org/drawingml/2006/main">
              <a:ext uri="{FF2B5EF4-FFF2-40B4-BE49-F238E27FC236}">
                <a16:creationId xmlns:a16="http://schemas.microsoft.com/office/drawing/2014/main" id="{944A1D45-D71F-4C23-A461-C2A058CD7F6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15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1131084709"/>
      </p:ext>
    </p:extLst>
  </p:cSld>
</p:sld>
</file>

<file path=ppt/slides/slide16.xml><?xml version="1.0" encoding="utf-8"?>
<p:sld xmlns:p="http://schemas.openxmlformats.org/presentationml/2006/main">
  <p:cSld>
    <p:bg>
      <p:bgPr>
        <a:solidFill xmlns:a="http://schemas.openxmlformats.org/drawingml/2006/main">
          <a:srgbClr val="F8F4E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d-tick">
            <a:extLst xmlns:a="http://schemas.openxmlformats.org/drawingml/2006/main">
              <a:ext uri="{FF2B5EF4-FFF2-40B4-BE49-F238E27FC236}">
                <a16:creationId xmlns:a16="http://schemas.microsoft.com/office/drawing/2014/main" id="{34EA25CE-CD3F-451D-8611-98830C563F6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431800"/>
            <a:ext cx="63500" cy="304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hd-title">
            <a:extLst xmlns:a="http://schemas.openxmlformats.org/drawingml/2006/main">
              <a:ext uri="{FF2B5EF4-FFF2-40B4-BE49-F238E27FC236}">
                <a16:creationId xmlns:a16="http://schemas.microsoft.com/office/drawing/2014/main" id="{0437FDC5-AE74-422D-A8F8-9A44EB02525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81000"/>
            <a:ext cx="8382000" cy="431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5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系统测试</a:t>
            </a:r>
            <a:endParaRPr sz="2500"/>
          </a:p>
        </p:txBody>
      </p:sp>
      <p:sp>
        <p:nvSpPr>
          <p:cNvPr id="4" name="hd-sec">
            <a:extLst xmlns:a="http://schemas.openxmlformats.org/drawingml/2006/main">
              <a:ext uri="{FF2B5EF4-FFF2-40B4-BE49-F238E27FC236}">
                <a16:creationId xmlns:a16="http://schemas.microsoft.com/office/drawing/2014/main" id="{2DCB5582-4BE1-4E26-8507-230F204548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890000" y="533400"/>
            <a:ext cx="2794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100" spc="2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05 · 测试与总结</a:t>
            </a:r>
            <a:endParaRPr sz="1100"/>
          </a:p>
        </p:txBody>
      </p:sp>
      <p:sp>
        <p:nvSpPr>
          <p:cNvPr id="5" name="hd-line">
            <a:extLst xmlns:a="http://schemas.openxmlformats.org/drawingml/2006/main">
              <a:ext uri="{FF2B5EF4-FFF2-40B4-BE49-F238E27FC236}">
                <a16:creationId xmlns:a16="http://schemas.microsoft.com/office/drawing/2014/main" id="{80867035-A046-4700-8D1A-DB0A09E87B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9652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graphicFrame>
        <p:nvGraphicFramePr>
          <p:cNvPr id="20" name="test-table"/>
          <p:cNvGraphicFramePr/>
          <p:nvPr/>
        </p:nvGraphicFramePr>
        <p:xfrm>
          <a:off xmlns:a="http://schemas.openxmlformats.org/drawingml/2006/main" x="508000" y="1219200"/>
          <a:ext xmlns:a="http://schemas.openxmlformats.org/drawingml/2006/main" cx="11176000" cy="3937000"/>
        </p:xfrm>
        <a:graphic xmlns:a="http://schemas.openxmlformats.org/drawingml/2006/main">
          <a:graphicData uri="http://schemas.openxmlformats.org/drawingml/2006/table">
            <a:tbl>
              <a:tblPr/>
              <a:tblGrid>
                <a:gridCol w="894080"/>
                <a:gridCol w="3352800"/>
                <a:gridCol w="4693920"/>
                <a:gridCol w="2235200"/>
              </a:tblGrid>
              <a:tr h="472440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编号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测试场景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预期结果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验证机制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>
                      <a:solidFill>
                        <a:srgbClr val="23272E"/>
                      </a:solidFill>
                    </a:lnT>
                    <a:lnB w="19050">
                      <a:solidFill>
                        <a:srgbClr val="23272E"/>
                      </a:solidFill>
                    </a:lnB>
                    <a:solidFill>
                      <a:srgbClr val="F4DCCB"/>
                    </a:solidFill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T01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用户发布任务并确认付款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事务提交，tasks 与 payments 状态一致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事务原子性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9050" cmpd="sng">
                      <a:solidFill>
                        <a:srgbClr val="23272E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T02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两名跑腿员同时抢同一单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仅一人接单成功，另一人状态校验失败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行锁互斥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T03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已付款任务申请退款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refunds 记录与任务售后状态一致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退款与状态回退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8739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T04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管理员派单与重派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新增接派记录，任务状态与日志同步更新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事务与接派留痕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T05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用户提交评价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评分写入 reviews 并联动信誉分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信誉分联动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  <a:tr h="574802"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T06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投诉与管理员处理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>
                          <a:solidFill>
                            <a:srgbClr val="23272E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投诉状态流转可查，处理结果联动信誉分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  <a:tc>
                  <a:txBody>
                    <a:bodyPr/>
                    <a:lstStyle/>
                    <a:p>
                      <a:pPr algn="l">
                        <a:lnSpc>
                          <a:spcPct val="130000"/>
                        </a:lnSpc>
                        <a:buNone/>
                      </a:pPr>
                      <a:r>
                        <a:rPr sz="1100" b="1">
                          <a:solidFill>
                            <a:srgbClr val="3E6257"/>
                          </a:solidFill>
                          <a:latin typeface="Times New Roman"/>
                          <a:ea typeface="Times New Roman"/>
                          <a:cs typeface="Times New Roman"/>
                        </a:rPr>
                        <a:t>投诉处理流程</a:t>
                      </a:r>
                    </a:p>
                  </a:txBody>
                  <a:tcPr marL="91440" marR="91440" marT="45720" marB="45720" anchor="ctr">
                    <a:lnL>
                      <a:noFill/>
                    </a:lnL>
                    <a:lnR>
                      <a:noFill/>
                    </a:lnR>
                    <a:lnT w="12700" cmpd="sng">
                      <a:solidFill>
                        <a:srgbClr val="DCD5C6"/>
                      </a:solidFill>
                      <a:prstDash val="solid"/>
                    </a:lnT>
                    <a:lnB w="12700">
                      <a:solidFill>
                        <a:srgbClr val="DCD5C6"/>
                      </a:solidFill>
                    </a:lnB>
                    <a:noFill/>
                  </a:tcPr>
                </a:tc>
              </a:tr>
            </a:tbl>
          </a:graphicData>
        </a:graphic>
      </p:graphicFrame>
      <p:sp>
        <p:nvSpPr>
          <p:cNvPr id="7" name="test-env-icon">
            <a:extLst xmlns:a="http://schemas.openxmlformats.org/drawingml/2006/main">
              <a:ext uri="{FF2B5EF4-FFF2-40B4-BE49-F238E27FC236}">
                <a16:creationId xmlns:a16="http://schemas.microsoft.com/office/drawing/2014/main" id="{F9A08A4E-E68B-4D1F-9BDA-8C22F0360F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384800"/>
            <a:ext cx="177800" cy="177800"/>
          </a:xfrm>
          <a:custGeom xmlns:a="http://schemas.openxmlformats.org/drawingml/2006/main">
            <a:rect l="l" t="t" r="r" b="b"/>
            <a:pathLst>
              <a:path w="448" h="512">
                <a:moveTo>
                  <a:pt x="288" y="0"/>
                </a:moveTo>
                <a:lnTo>
                  <a:pt x="128" y="0"/>
                </a:lnTo>
                <a:cubicBezTo>
                  <a:pt x="110" y="0"/>
                  <a:pt x="96" y="14"/>
                  <a:pt x="96" y="32"/>
                </a:cubicBezTo>
                <a:cubicBezTo>
                  <a:pt x="96" y="50"/>
                  <a:pt x="110" y="64"/>
                  <a:pt x="128" y="64"/>
                </a:cubicBezTo>
                <a:lnTo>
                  <a:pt x="128" y="216"/>
                </a:lnTo>
                <a:lnTo>
                  <a:pt x="8" y="426"/>
                </a:lnTo>
                <a:cubicBezTo>
                  <a:pt x="3" y="435"/>
                  <a:pt x="0" y="445"/>
                  <a:pt x="0" y="455"/>
                </a:cubicBezTo>
                <a:cubicBezTo>
                  <a:pt x="0" y="486"/>
                  <a:pt x="26" y="512"/>
                  <a:pt x="57" y="512"/>
                </a:cubicBezTo>
                <a:lnTo>
                  <a:pt x="391" y="512"/>
                </a:lnTo>
                <a:cubicBezTo>
                  <a:pt x="422" y="512"/>
                  <a:pt x="448" y="486"/>
                  <a:pt x="448" y="455"/>
                </a:cubicBezTo>
                <a:cubicBezTo>
                  <a:pt x="448" y="445"/>
                  <a:pt x="445" y="435"/>
                  <a:pt x="441" y="426"/>
                </a:cubicBezTo>
                <a:lnTo>
                  <a:pt x="320" y="216"/>
                </a:lnTo>
                <a:lnTo>
                  <a:pt x="320" y="64"/>
                </a:lnTo>
                <a:cubicBezTo>
                  <a:pt x="338" y="64"/>
                  <a:pt x="352" y="50"/>
                  <a:pt x="352" y="32"/>
                </a:cubicBezTo>
                <a:cubicBezTo>
                  <a:pt x="352" y="14"/>
                  <a:pt x="338" y="0"/>
                  <a:pt x="320" y="0"/>
                </a:cubicBezTo>
                <a:lnTo>
                  <a:pt x="288" y="0"/>
                </a:lnTo>
                <a:close/>
                <a:moveTo>
                  <a:pt x="192" y="216"/>
                </a:moveTo>
                <a:lnTo>
                  <a:pt x="192" y="64"/>
                </a:lnTo>
                <a:lnTo>
                  <a:pt x="256" y="64"/>
                </a:lnTo>
                <a:lnTo>
                  <a:pt x="256" y="216"/>
                </a:lnTo>
                <a:cubicBezTo>
                  <a:pt x="256" y="227"/>
                  <a:pt x="259" y="238"/>
                  <a:pt x="264" y="247"/>
                </a:cubicBezTo>
                <a:lnTo>
                  <a:pt x="306" y="320"/>
                </a:lnTo>
                <a:lnTo>
                  <a:pt x="142" y="320"/>
                </a:lnTo>
                <a:lnTo>
                  <a:pt x="184" y="247"/>
                </a:lnTo>
                <a:cubicBezTo>
                  <a:pt x="189" y="238"/>
                  <a:pt x="192" y="227"/>
                  <a:pt x="192" y="216"/>
                </a:cubicBezTo>
                <a:close/>
              </a:path>
            </a:pathLst>
          </a:custGeom>
          <a:solidFill xmlns:a="http://schemas.openxmlformats.org/drawingml/2006/main">
            <a:srgbClr val="77716A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8" name="test-env">
            <a:extLst xmlns:a="http://schemas.openxmlformats.org/drawingml/2006/main">
              <a:ext uri="{FF2B5EF4-FFF2-40B4-BE49-F238E27FC236}">
                <a16:creationId xmlns:a16="http://schemas.microsoft.com/office/drawing/2014/main" id="{E17E8A4A-2ECE-4BE5-AD65-DD56E6D717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7400" y="5334000"/>
            <a:ext cx="10896600" cy="384048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150">
                <a:solidFill>
                  <a:srgbClr val="23272E"/>
                </a:solidFill>
                <a:latin typeface="MiSans"/>
                <a:ea typeface="MiSans"/>
                <a:cs typeface="MiSans"/>
              </a:rPr>
              <a:t>测试环境：Oracle 19c · .NET 9 · xUnit；60 项自动化测试全部通过，并保留 Oracle 端到端验证脚本与截图</a:t>
            </a:r>
            <a:endParaRPr sz="1150"/>
          </a:p>
        </p:txBody>
      </p:sp>
      <p:sp>
        <p:nvSpPr>
          <p:cNvPr id="9" name="test-line">
            <a:extLst xmlns:a="http://schemas.openxmlformats.org/drawingml/2006/main">
              <a:ext uri="{FF2B5EF4-FFF2-40B4-BE49-F238E27FC236}">
                <a16:creationId xmlns:a16="http://schemas.microsoft.com/office/drawing/2014/main" id="{3DB2CE04-38BA-40EC-93CA-2ACE1533CC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740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23272E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0" name="test-concl">
            <a:extLst xmlns:a="http://schemas.openxmlformats.org/drawingml/2006/main">
              <a:ext uri="{FF2B5EF4-FFF2-40B4-BE49-F238E27FC236}">
                <a16:creationId xmlns:a16="http://schemas.microsoft.com/office/drawing/2014/main" id="{D9D82CBD-F684-4C22-BED9-57BE3256B7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5892800"/>
            <a:ext cx="88900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1300" b="1">
                <a:solidFill>
                  <a:srgbClr val="23272E"/>
                </a:solidFill>
                <a:latin typeface="MiSans"/>
                <a:ea typeface="MiSans"/>
                <a:cs typeface="MiSans"/>
              </a:rPr>
              <a:t>结构门禁：24 张表 · 47/47 POST 防伪校验 · 14 处 FOR UPDATE · 分层边界检查通过</a:t>
            </a:r>
            <a:endParaRPr sz="1300"/>
          </a:p>
        </p:txBody>
      </p:sp>
      <p:sp>
        <p:nvSpPr>
          <p:cNvPr id="11" name="test-note">
            <a:extLst xmlns:a="http://schemas.openxmlformats.org/drawingml/2006/main">
              <a:ext uri="{FF2B5EF4-FFF2-40B4-BE49-F238E27FC236}">
                <a16:creationId xmlns:a16="http://schemas.microsoft.com/office/drawing/2014/main" id="{A53EA699-6BE4-4D63-A2F6-CBEB6F5F12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273800"/>
            <a:ext cx="889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endParaRPr sz="1000"/>
          </a:p>
        </p:txBody>
      </p:sp>
      <p:sp>
        <p:nvSpPr>
          <p:cNvPr id="12" name="ft-line">
            <a:extLst xmlns:a="http://schemas.openxmlformats.org/drawingml/2006/main">
              <a:ext uri="{FF2B5EF4-FFF2-40B4-BE49-F238E27FC236}">
                <a16:creationId xmlns:a16="http://schemas.microsoft.com/office/drawing/2014/main" id="{550BADF9-034F-4B33-B43D-C3A55D0AC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502400"/>
            <a:ext cx="11176000" cy="127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DCD5C6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13" name="ft-brand">
            <a:extLst xmlns:a="http://schemas.openxmlformats.org/drawingml/2006/main">
              <a:ext uri="{FF2B5EF4-FFF2-40B4-BE49-F238E27FC236}">
                <a16:creationId xmlns:a16="http://schemas.microsoft.com/office/drawing/2014/main" id="{19244351-98B4-4780-AC25-3B39D85C0B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08000" y="6604000"/>
            <a:ext cx="508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济跑跑 JIRUN · </a:t>
            </a: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校园综合跑腿与代取服务管理系统</a:t>
            </a:r>
            <a:endParaRPr sz="1000"/>
          </a:p>
        </p:txBody>
      </p:sp>
      <p:sp>
        <p:nvSpPr>
          <p:cNvPr id="14" name="ft-page">
            <a:extLst xmlns:a="http://schemas.openxmlformats.org/drawingml/2006/main">
              <a:ext uri="{FF2B5EF4-FFF2-40B4-BE49-F238E27FC236}">
                <a16:creationId xmlns:a16="http://schemas.microsoft.com/office/drawing/2014/main" id="{E9B14523-0FF1-4957-8F4F-DDC41A1C85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414000" y="6604000"/>
            <a:ext cx="1270000" cy="177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35000"/>
              </a:lnSpc>
              <a:buNone/>
            </a:pPr>
            <a:r>
              <a:rPr sz="1000">
                <a:solidFill>
                  <a:srgbClr val="77716A"/>
                </a:solidFill>
                <a:latin typeface="MiSans"/>
                <a:ea typeface="MiSans"/>
                <a:cs typeface="MiSans"/>
              </a:rPr>
              <a:t>16 / 17</a:t>
            </a:r>
            <a:endParaRPr sz="1000"/>
          </a:p>
        </p:txBody>
      </p:sp>
    </p:spTree>
    <p:extLst>
      <p:ext uri="{BB962C8B-B14F-4D97-AF65-F5344CB8AC3E}">
        <p14:creationId xmlns:p14="http://schemas.microsoft.com/office/powerpoint/2010/main" val="945162107"/>
      </p:ext>
    </p:extLst>
  </p:cSld>
</p:sld>
</file>

<file path=ppt/slides/slide17.xml><?xml version="1.0" encoding="utf-8"?>
<p:sld xmlns:p="http://schemas.openxmlformats.org/presentationml/2006/main">
  <p:cSld>
    <p:bg>
      <p:bgPr>
        <a:solidFill xmlns:a="http://schemas.openxmlformats.org/drawingml/2006/main">
          <a:srgbClr val="23272E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th-logo-box">
            <a:extLst xmlns:a="http://schemas.openxmlformats.org/drawingml/2006/main">
              <a:ext uri="{FF2B5EF4-FFF2-40B4-BE49-F238E27FC236}">
                <a16:creationId xmlns:a16="http://schemas.microsoft.com/office/drawing/2014/main" id="{A623E966-0C5D-4331-B687-4458B3A3FE7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219200"/>
            <a:ext cx="558800" cy="5588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3" name="th-logo">
            <a:extLst xmlns:a="http://schemas.openxmlformats.org/drawingml/2006/main">
              <a:ext uri="{FF2B5EF4-FFF2-40B4-BE49-F238E27FC236}">
                <a16:creationId xmlns:a16="http://schemas.microsoft.com/office/drawing/2014/main" id="{05B20125-E3A7-4657-8D23-AA00F7142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1219200"/>
            <a:ext cx="5588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ctr"/>
          <a:lstStyle xmlns:a="http://schemas.openxmlformats.org/drawingml/2006/main"/>
          <a:p xmlns:a="http://schemas.openxmlformats.org/drawingml/2006/main">
            <a:pPr algn="ctr">
              <a:lnSpc>
                <a:spcPct val="120000"/>
              </a:lnSpc>
              <a:buNone/>
            </a:pPr>
            <a:endParaRPr sz="2200"/>
          </a:p>
        </p:txBody>
      </p:sp>
      <p:sp>
        <p:nvSpPr>
          <p:cNvPr id="4" name="th-brand">
            <a:extLst xmlns:a="http://schemas.openxmlformats.org/drawingml/2006/main">
              <a:ext uri="{FF2B5EF4-FFF2-40B4-BE49-F238E27FC236}">
                <a16:creationId xmlns:a16="http://schemas.microsoft.com/office/drawing/2014/main" id="{6EF2BAD6-FB38-4B18-B88E-C08E41378C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2400" y="1219200"/>
            <a:ext cx="3048000" cy="558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square" lIns="0" tIns="0" rIns="0" bIns="0" anchor="ctr"/>
          <a:lstStyle xmlns:a="http://schemas.openxmlformats.org/drawingml/2006/main"/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16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济跑跑 JIRUN</a:t>
            </a:r>
            <a:endParaRPr sz="1600"/>
          </a:p>
          <a:p xmlns:a="http://schemas.openxmlformats.org/drawingml/2006/main">
            <a:pPr algn="l">
              <a:lnSpc>
                <a:spcPct val="130000"/>
              </a:lnSpc>
              <a:buNone/>
            </a:pPr>
            <a:r>
              <a:rPr sz="900">
                <a:solidFill>
                  <a:srgbClr val="8A8478"/>
                </a:solidFill>
                <a:latin typeface="MiSans"/>
                <a:ea typeface="MiSans"/>
                <a:cs typeface="MiSans"/>
              </a:rPr>
              <a:t>CAMPUS RUNNER</a:t>
            </a:r>
            <a:endParaRPr sz="1600"/>
          </a:p>
        </p:txBody>
      </p:sp>
      <p:sp>
        <p:nvSpPr>
          <p:cNvPr id="5" name="th-main">
            <a:extLst xmlns:a="http://schemas.openxmlformats.org/drawingml/2006/main">
              <a:ext uri="{FF2B5EF4-FFF2-40B4-BE49-F238E27FC236}">
                <a16:creationId xmlns:a16="http://schemas.microsoft.com/office/drawing/2014/main" id="{F7343A0B-1751-4034-AACE-0CDD138B555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2667000"/>
            <a:ext cx="8890000" cy="88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4400" b="1">
                <a:solidFill>
                  <a:srgbClr val="FFFFFF"/>
                </a:solidFill>
                <a:latin typeface="MiSans"/>
                <a:ea typeface="MiSans"/>
                <a:cs typeface="MiSans"/>
              </a:rPr>
              <a:t>恳请各位老师批评指正</a:t>
            </a:r>
            <a:endParaRPr sz="4400"/>
          </a:p>
        </p:txBody>
      </p:sp>
      <p:sp>
        <p:nvSpPr>
          <p:cNvPr id="6" name="th-qa">
            <a:extLst xmlns:a="http://schemas.openxmlformats.org/drawingml/2006/main">
              <a:ext uri="{FF2B5EF4-FFF2-40B4-BE49-F238E27FC236}">
                <a16:creationId xmlns:a16="http://schemas.microsoft.com/office/drawing/2014/main" id="{4FF020A2-D6C3-442F-8A7D-5CE340DB76E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1200" y="3759200"/>
            <a:ext cx="5080000" cy="762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/>
          <a:lstStyle xmlns:a="http://schemas.openxmlformats.org/drawingml/2006/main"/>
          <a:p xmlns:a="http://schemas.openxmlformats.org/drawingml/2006/main">
            <a:pPr>
              <a:lnSpc>
                <a:spcPct val="120000"/>
              </a:lnSpc>
              <a:buNone/>
            </a:pPr>
            <a:r>
              <a:rPr sz="2600" b="1" spc="4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Q&amp;</a:t>
            </a:r>
            <a:r>
              <a:rPr sz="2600" b="1" spc="4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A</a:t>
            </a:r>
            <a:endParaRPr sz="2600"/>
          </a:p>
        </p:txBody>
      </p:sp>
      <p:sp>
        <p:nvSpPr>
          <p:cNvPr id="7" name="th-line">
            <a:extLst xmlns:a="http://schemas.openxmlformats.org/drawingml/2006/main">
              <a:ext uri="{FF2B5EF4-FFF2-40B4-BE49-F238E27FC236}">
                <a16:creationId xmlns:a16="http://schemas.microsoft.com/office/drawing/2014/main" id="{609B41F1-BC17-4806-82C1-4941337FC2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4927600"/>
            <a:ext cx="1524000" cy="381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E8551D"/>
          </a:solidFill>
          <a:ln xmlns:a="http://schemas.openxmlformats.org/drawingml/2006/main">
            <a:noFill/>
          </a:ln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endParaRPr/>
          </a:p>
        </p:txBody>
      </p:sp>
      <p:sp>
        <p:nvSpPr>
          <p:cNvPr id="9" name="th-page">
            <a:extLst xmlns:a="http://schemas.openxmlformats.org/drawingml/2006/main">
              <a:ext uri="{FF2B5EF4-FFF2-40B4-BE49-F238E27FC236}">
                <a16:creationId xmlns:a16="http://schemas.microsoft.com/office/drawing/2014/main" id="{C2D4B84D-5AE0-4B64-96AD-17D292F7799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22000" y="6299200"/>
            <a:ext cx="762000" cy="203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>
            <a:noFill/>
          </a:ln>
        </p:spPr>
        <p:txBody>
          <a:bodyPr xmlns:a="http://schemas.openxmlformats.org/drawingml/2006/main" wrap="none" lIns="0" tIns="0" rIns="0" bIns="0" anchor="t"/>
          <a:lstStyle xmlns:a="http://schemas.openxmlformats.org/drawingml/2006/main"/>
          <a:p xmlns:a="http://schemas.openxmlformats.org/drawingml/2006/main">
            <a:pPr algn="r">
              <a:lnSpc>
                <a:spcPct val="120000"/>
              </a:lnSpc>
              <a:buNone/>
            </a:pPr>
            <a:r>
              <a:rPr sz="1000">
                <a:solidFill>
                  <a:srgbClr val="6E695F"/>
                </a:solidFill>
                <a:latin typeface="MiSans"/>
                <a:ea typeface="MiSans"/>
                <a:cs typeface="MiSans"/>
              </a:rPr>
              <a:t>17 / 17</a:t>
            </a:r>
            <a:endParaRPr sz="1000"/>
          </a:p>
        </p:txBody>
      </p:sp>
      <p:sp>
        <p:nvSpPr>
          <p:cNvPr id="10" name="TextBox 9">
            <a:extLst xmlns:a="http://schemas.openxmlformats.org/drawingml/2006/main">
              <a:ext uri="{FF2B5EF4-FFF2-40B4-BE49-F238E27FC236}">
                <a16:creationId xmlns:a16="http://schemas.microsoft.com/office/drawing/2014/main" id="{8B1319F7-F65E-43E2-8BC3-635A5DA9487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13232" y="5102352"/>
            <a:ext cx="6588342" cy="184666"/>
          </a:xfrm>
          <a:prstGeom xmlns:a="http://schemas.openxmlformats.org/drawingml/2006/main" prst="rect">
            <a:avLst/>
          </a:prstGeom>
          <a:noFill xmlns:a="http://schemas.openxmlformats.org/drawingml/2006/main"/>
        </p:spPr>
        <p:txBody>
          <a:bodyPr xmlns:a="http://schemas.openxmlformats.org/drawingml/2006/main" wrap="none" lIns="0" tIns="0" rIns="0" bIns="0">
            <a:spAutoFit/>
          </a:bodyPr>
          <a:lstStyle xmlns:a="http://schemas.openxmlformats.org/drawingml/2006/main"/>
          <a:p xmlns:a="http://schemas.openxmlformats.org/drawingml/2006/main"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小组成员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：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刘相成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薛毓哲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唐独彪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李柏言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韩昊苏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桑治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崔少坤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谢智行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蒋昊沄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 / </a:t>
            </a:r>
            <a:r>
              <a:rPr sz="1200">
                <a:solidFill>
                  <a:srgbClr val="E8551D"/>
                </a:solidFill>
                <a:latin typeface="MiSans"/>
                <a:ea typeface="MiSans"/>
                <a:cs typeface="MiSans"/>
              </a:rPr>
              <a:t>赵崇治</a:t>
            </a:r>
            <a:endParaRPr sz="1200">
              <a:solidFill>
                <a:srgbClr val="E8551D"/>
              </a:solidFill>
              <a:latin typeface="MiSans"/>
              <a:ea typeface="MiSans"/>
              <a:cs typeface="MiSans"/>
            </a:endParaRPr>
          </a:p>
        </p:txBody>
      </p:sp>
      <p:pic>
        <p:nvPicPr>
          <p:cNvPr id="20" name="logo-img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aa519f2c2f24f83"/>
          <a:srcRect xmlns:a="http://schemas.openxmlformats.org/drawingml/2006/main" l="0" t="0" r="0" b="0"/>
          <a:stretch xmlns:a="http://schemas.openxmlformats.org/drawingml/2006/main">
            <a:fillRect l="0" t="0" r="0" b="0"/>
          </a:stretch>
        </p:blipFill>
        <p:spPr>
          <a:xfrm xmlns:a="http://schemas.openxmlformats.org/drawingml/2006/main">
            <a:off x="628650" y="1155700"/>
            <a:ext cx="711200" cy="711200"/>
          </a:xfrm>
          <a:prstGeom xmlns:a="http://schemas.openxmlformats.org/drawingml/2006/main" prst="roundRect">
            <a:avLst>
              <a:gd name="adj" fmla="val 16667"/>
            </a:avLst>
          </a:prstGeom>
          <a:ln xmlns:a="http://schemas.openxmlformats.org/drawingml/2006/main">
            <a:noFill/>
          </a:ln>
          <a:effectLst xmlns:a="http://schemas.openxmlformats.org/drawingml/2006/main">
            <a:outerShdw blurRad="76200" dist="38100" dir="7800000" algn="tl" rotWithShape="0">
              <a:srgbClr val="000000">
                <a:alpha val="40000"/>
              </a:srgbClr>
            </a:outerShdw>
          </a:effectLst>
        </p:spPr>
      </p:pic>
    </p:spTree>
    <p:extLst>
      <p:ext uri="{BB962C8B-B14F-4D97-AF65-F5344CB8AC3E}">
        <p14:creationId xmlns:p14="http://schemas.microsoft.com/office/powerpoint/2010/main" val="1206534678"/>
      </p:ext>
    </p:extLst>
  </p:cSld>
</p:sld>
</file>

<file path=ppt/theme/theme1.xml><?xml version="1.0" encoding="utf-8"?>
<a:theme xmlns:a="http://schemas.openxmlformats.org/drawingml/2006/main" name="PPTD">
  <a:themeElements>
    <a:clrScheme name="PPTD">
      <a:dk1>
        <a:srgbClr val="000000"/>
      </a:dk1>
      <a:lt1>
        <a:srgbClr val="FFFFFF"/>
      </a:lt1>
      <a:dk2>
        <a:srgbClr val="1F2937"/>
      </a:dk2>
      <a:lt2>
        <a:srgbClr val="F3F4F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PPTD">
      <a:majorFont>
        <a:latin typeface="MiSans"/>
        <a:ea typeface="MiSans"/>
        <a:cs typeface="MiSans"/>
      </a:majorFont>
      <a:minorFont>
        <a:latin typeface="MiSans"/>
        <a:ea typeface="MiSans"/>
        <a:cs typeface="MiSans"/>
      </a:minorFont>
    </a:fontScheme>
    <a:fmtScheme name="PPTD">
      <a:fillStyleLst>
        <a:solidFill>
          <a:schemeClr val="accent1"/>
        </a:solidFill>
        <a:solidFill>
          <a:schemeClr val="accent2"/>
        </a:solidFill>
        <a:solidFill>
          <a:schemeClr val="accent3"/>
        </a:solidFill>
      </a:fillStyleLst>
      <a:lnStyleLst>
        <a:ln w="6350">
          <a:solidFill>
            <a:schemeClr val="accent1"/>
          </a:solidFill>
          <a:prstDash val="solid"/>
        </a:ln>
        <a:ln w="12700">
          <a:solidFill>
            <a:schemeClr val="accent1"/>
          </a:solidFill>
          <a:prstDash val="solid"/>
        </a:ln>
        <a:ln w="19050">
          <a:solidFill>
            <a:schemeClr val="accent1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/>
        </a:effectStyle>
      </a:effectStyleLst>
      <a:bgFillStyleLst>
        <a:solidFill>
          <a:schemeClr val="lt1"/>
        </a:solidFill>
        <a:solidFill>
          <a:schemeClr val="lt2"/>
        </a:solidFill>
        <a:solidFill>
          <a:schemeClr val="dk1"/>
        </a:soli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2026-09-10T08:36:44.2240000Z</dcterms:created>
  <dcterms:modified xsi:type="dcterms:W3CDTF">2026-09-10T08:36:44.2240000Z</dcterms:modified>
</coreProperties>
</file>